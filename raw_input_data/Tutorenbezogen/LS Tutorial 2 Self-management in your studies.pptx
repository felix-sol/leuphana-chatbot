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1A_B5F5EF6D.xml" ContentType="application/vnd.ms-powerpoint.comments+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 id="2147483656" r:id="rId5"/>
  </p:sldMasterIdLst>
  <p:notesMasterIdLst>
    <p:notesMasterId r:id="rId19"/>
  </p:notesMasterIdLst>
  <p:sldIdLst>
    <p:sldId id="256" r:id="rId6"/>
    <p:sldId id="257" r:id="rId7"/>
    <p:sldId id="258" r:id="rId8"/>
    <p:sldId id="272" r:id="rId9"/>
    <p:sldId id="273" r:id="rId10"/>
    <p:sldId id="274" r:id="rId11"/>
    <p:sldId id="275" r:id="rId12"/>
    <p:sldId id="279" r:id="rId13"/>
    <p:sldId id="280" r:id="rId14"/>
    <p:sldId id="277" r:id="rId15"/>
    <p:sldId id="278" r:id="rId16"/>
    <p:sldId id="282" r:id="rId17"/>
    <p:sldId id="281" r:id="rId18"/>
  </p:sldIdLst>
  <p:sldSz cx="18288000" cy="10287000"/>
  <p:notesSz cx="6858000" cy="9144000"/>
  <p:embeddedFontLst>
    <p:embeddedFont>
      <p:font typeface="Abadi" panose="020B0604020202020204" charset="0"/>
      <p:regular r:id="rId20"/>
      <p:bold r:id="rId21"/>
      <p:italic r:id="rId22"/>
      <p:boldItalic r:id="rId23"/>
    </p:embeddedFont>
    <p:embeddedFont>
      <p:font typeface="Arial Narrow" panose="020B0604020202020204" charset="0"/>
      <p:regular r:id="rId24"/>
      <p:bold r:id="rId25"/>
      <p:italic r:id="rId26"/>
      <p:boldItalic r:id="rId27"/>
    </p:embeddedFont>
    <p:embeddedFont>
      <p:font typeface="Liberation Sans" panose="020B0604020202020204"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6287E6-2D0B-5399-21B8-C5743DBCC9CE}" name="Wanja Tolksdorf" initials="WT" userId="S::Wanja.Tolksdorf@ms.leuphana.de::34943d69-ef16-4754-92a4-1851a1a3e90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B989"/>
    <a:srgbClr val="D7F7B6"/>
    <a:srgbClr val="257F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D1FC9F-2873-DB59-2E00-00FE9026251B}" v="50" dt="2025-11-05T11:38:16.181"/>
    <p1510:client id="{1B78A9F2-8AEF-99D1-ED85-933AB755078A}" v="82" dt="2025-11-05T11:43:01.1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6.fntdata"/><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5.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4.fntdata"/><Relationship Id="rId28" Type="http://schemas.openxmlformats.org/officeDocument/2006/relationships/font" Target="fonts/font9.fntdata"/><Relationship Id="rId36"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rle Warnecke" userId="S::merle.warnecke@stud.leuphana.de::deb58264-6464-4d0a-9ae8-d15f9a49624a" providerId="AD" clId="Web-{1B78A9F2-8AEF-99D1-ED85-933AB755078A}"/>
    <pc:docChg chg="modSld">
      <pc:chgData name="Merle Warnecke" userId="S::merle.warnecke@stud.leuphana.de::deb58264-6464-4d0a-9ae8-d15f9a49624a" providerId="AD" clId="Web-{1B78A9F2-8AEF-99D1-ED85-933AB755078A}" dt="2025-11-05T11:43:01.123" v="67" actId="1076"/>
      <pc:docMkLst>
        <pc:docMk/>
      </pc:docMkLst>
      <pc:sldChg chg="addSp modSp">
        <pc:chgData name="Merle Warnecke" userId="S::merle.warnecke@stud.leuphana.de::deb58264-6464-4d0a-9ae8-d15f9a49624a" providerId="AD" clId="Web-{1B78A9F2-8AEF-99D1-ED85-933AB755078A}" dt="2025-11-05T11:33:10.244" v="56" actId="1076"/>
        <pc:sldMkLst>
          <pc:docMk/>
          <pc:sldMk cId="2190947341" sldId="256"/>
        </pc:sldMkLst>
        <pc:spChg chg="mod">
          <ac:chgData name="Merle Warnecke" userId="S::merle.warnecke@stud.leuphana.de::deb58264-6464-4d0a-9ae8-d15f9a49624a" providerId="AD" clId="Web-{1B78A9F2-8AEF-99D1-ED85-933AB755078A}" dt="2025-11-05T11:29:33.636" v="35" actId="20577"/>
          <ac:spMkLst>
            <pc:docMk/>
            <pc:sldMk cId="2190947341" sldId="256"/>
            <ac:spMk id="3" creationId="{6CB3BB7D-61A1-DFC7-EA97-FDD7A6839BF1}"/>
          </ac:spMkLst>
        </pc:spChg>
        <pc:spChg chg="add mod">
          <ac:chgData name="Merle Warnecke" userId="S::merle.warnecke@stud.leuphana.de::deb58264-6464-4d0a-9ae8-d15f9a49624a" providerId="AD" clId="Web-{1B78A9F2-8AEF-99D1-ED85-933AB755078A}" dt="2025-11-05T11:33:10.244" v="56" actId="1076"/>
          <ac:spMkLst>
            <pc:docMk/>
            <pc:sldMk cId="2190947341" sldId="256"/>
            <ac:spMk id="4" creationId="{A1656D96-C536-B9F6-54B2-2D2250C5E574}"/>
          </ac:spMkLst>
        </pc:spChg>
      </pc:sldChg>
      <pc:sldChg chg="modSp">
        <pc:chgData name="Merle Warnecke" userId="S::merle.warnecke@stud.leuphana.de::deb58264-6464-4d0a-9ae8-d15f9a49624a" providerId="AD" clId="Web-{1B78A9F2-8AEF-99D1-ED85-933AB755078A}" dt="2025-11-05T11:27:11.821" v="18" actId="20577"/>
        <pc:sldMkLst>
          <pc:docMk/>
          <pc:sldMk cId="1223185513" sldId="277"/>
        </pc:sldMkLst>
        <pc:spChg chg="mod">
          <ac:chgData name="Merle Warnecke" userId="S::merle.warnecke@stud.leuphana.de::deb58264-6464-4d0a-9ae8-d15f9a49624a" providerId="AD" clId="Web-{1B78A9F2-8AEF-99D1-ED85-933AB755078A}" dt="2025-11-05T11:27:11.821" v="18" actId="20577"/>
          <ac:spMkLst>
            <pc:docMk/>
            <pc:sldMk cId="1223185513" sldId="277"/>
            <ac:spMk id="813494639" creationId="{00000000-0000-0000-0000-000000000000}"/>
          </ac:spMkLst>
        </pc:spChg>
      </pc:sldChg>
      <pc:sldChg chg="modSp">
        <pc:chgData name="Merle Warnecke" userId="S::merle.warnecke@stud.leuphana.de::deb58264-6464-4d0a-9ae8-d15f9a49624a" providerId="AD" clId="Web-{1B78A9F2-8AEF-99D1-ED85-933AB755078A}" dt="2025-11-05T11:43:01.123" v="67" actId="1076"/>
        <pc:sldMkLst>
          <pc:docMk/>
          <pc:sldMk cId="3052793709" sldId="282"/>
        </pc:sldMkLst>
        <pc:spChg chg="mod">
          <ac:chgData name="Merle Warnecke" userId="S::merle.warnecke@stud.leuphana.de::deb58264-6464-4d0a-9ae8-d15f9a49624a" providerId="AD" clId="Web-{1B78A9F2-8AEF-99D1-ED85-933AB755078A}" dt="2025-11-05T11:35:04.225" v="66" actId="20577"/>
          <ac:spMkLst>
            <pc:docMk/>
            <pc:sldMk cId="3052793709" sldId="282"/>
            <ac:spMk id="3" creationId="{5A4A4C81-F280-5525-00CE-92DA8E49C6B3}"/>
          </ac:spMkLst>
        </pc:spChg>
        <pc:spChg chg="mod">
          <ac:chgData name="Merle Warnecke" userId="S::merle.warnecke@stud.leuphana.de::deb58264-6464-4d0a-9ae8-d15f9a49624a" providerId="AD" clId="Web-{1B78A9F2-8AEF-99D1-ED85-933AB755078A}" dt="2025-11-05T11:43:01.123" v="67" actId="1076"/>
          <ac:spMkLst>
            <pc:docMk/>
            <pc:sldMk cId="3052793709" sldId="282"/>
            <ac:spMk id="5" creationId="{C72DFB73-9B3F-CD5B-CA7C-5658A0D8D9F9}"/>
          </ac:spMkLst>
        </pc:spChg>
      </pc:sldChg>
    </pc:docChg>
  </pc:docChgLst>
  <pc:docChgLst>
    <pc:chgData name="Sarah Nötzold" userId="S::sarah.noetzold@stud.leuphana.de::d67578aa-d4fe-451a-bbf0-f99538443fcc" providerId="AD" clId="Web-{14D1FC9F-2873-DB59-2E00-00FE9026251B}"/>
    <pc:docChg chg="modSld">
      <pc:chgData name="Sarah Nötzold" userId="S::sarah.noetzold@stud.leuphana.de::d67578aa-d4fe-451a-bbf0-f99538443fcc" providerId="AD" clId="Web-{14D1FC9F-2873-DB59-2E00-00FE9026251B}" dt="2025-11-05T11:38:16.181" v="49" actId="1076"/>
      <pc:docMkLst>
        <pc:docMk/>
      </pc:docMkLst>
      <pc:sldChg chg="modSp">
        <pc:chgData name="Sarah Nötzold" userId="S::sarah.noetzold@stud.leuphana.de::d67578aa-d4fe-451a-bbf0-f99538443fcc" providerId="AD" clId="Web-{14D1FC9F-2873-DB59-2E00-00FE9026251B}" dt="2025-11-05T11:34:09.239" v="48" actId="20577"/>
        <pc:sldMkLst>
          <pc:docMk/>
          <pc:sldMk cId="1223185513" sldId="277"/>
        </pc:sldMkLst>
        <pc:spChg chg="mod">
          <ac:chgData name="Sarah Nötzold" userId="S::sarah.noetzold@stud.leuphana.de::d67578aa-d4fe-451a-bbf0-f99538443fcc" providerId="AD" clId="Web-{14D1FC9F-2873-DB59-2E00-00FE9026251B}" dt="2025-11-05T11:34:09.239" v="48" actId="20577"/>
          <ac:spMkLst>
            <pc:docMk/>
            <pc:sldMk cId="1223185513" sldId="277"/>
            <ac:spMk id="813494639" creationId="{00000000-0000-0000-0000-000000000000}"/>
          </ac:spMkLst>
        </pc:spChg>
      </pc:sldChg>
      <pc:sldChg chg="modSp">
        <pc:chgData name="Sarah Nötzold" userId="S::sarah.noetzold@stud.leuphana.de::d67578aa-d4fe-451a-bbf0-f99538443fcc" providerId="AD" clId="Web-{14D1FC9F-2873-DB59-2E00-00FE9026251B}" dt="2025-11-05T11:38:16.181" v="49" actId="1076"/>
        <pc:sldMkLst>
          <pc:docMk/>
          <pc:sldMk cId="3052793709" sldId="282"/>
        </pc:sldMkLst>
        <pc:spChg chg="mod">
          <ac:chgData name="Sarah Nötzold" userId="S::sarah.noetzold@stud.leuphana.de::d67578aa-d4fe-451a-bbf0-f99538443fcc" providerId="AD" clId="Web-{14D1FC9F-2873-DB59-2E00-00FE9026251B}" dt="2025-11-05T11:38:16.181" v="49" actId="1076"/>
          <ac:spMkLst>
            <pc:docMk/>
            <pc:sldMk cId="3052793709" sldId="282"/>
            <ac:spMk id="3" creationId="{5A4A4C81-F280-5525-00CE-92DA8E49C6B3}"/>
          </ac:spMkLst>
        </pc:spChg>
      </pc:sldChg>
    </pc:docChg>
  </pc:docChgLst>
</pc:chgInfo>
</file>

<file path=ppt/comments/modernComment_11A_B5F5EF6D.xml><?xml version="1.0" encoding="utf-8"?>
<p188:cmLst xmlns:a="http://schemas.openxmlformats.org/drawingml/2006/main" xmlns:r="http://schemas.openxmlformats.org/officeDocument/2006/relationships" xmlns:p188="http://schemas.microsoft.com/office/powerpoint/2018/8/main">
  <p188:cm id="{47FB6D6E-0B12-4032-A8AB-9EC45AF719D5}" authorId="{BF6287E6-2D0B-5399-21B8-C5743DBCC9CE}" created="2024-08-15T19:54:19.217">
    <ac:txMkLst xmlns:ac="http://schemas.microsoft.com/office/drawing/2013/main/command">
      <pc:docMk xmlns:pc="http://schemas.microsoft.com/office/powerpoint/2013/main/command"/>
      <pc:sldMk xmlns:pc="http://schemas.microsoft.com/office/powerpoint/2013/main/command" cId="3052793709" sldId="282"/>
      <ac:spMk id="2" creationId="{34B35867-A04D-0588-319B-357E07D86F8B}"/>
      <ac:txMk cp="0" len="52">
        <ac:context len="53" hash="2087637611"/>
      </ac:txMk>
    </ac:txMkLst>
    <p188:pos x="14273660" y="733974"/>
    <p188:txBody>
      <a:bodyPr/>
      <a:lstStyle/>
      <a:p>
        <a:r>
          <a:rPr lang="en-GB"/>
          <a:t>An andere SHKs: Achtung: bisher nur meine persönlichen Tipps. Bitte recherchieren oder mit eigener Erfahrung gegenchecken und ändern/ergänzen.</a:t>
        </a:r>
      </a:p>
    </p188:txBody>
  </p188:cm>
</p188:cmLst>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574BCE-B4BA-40B7-966D-F8569860A283}" type="doc">
      <dgm:prSet loTypeId="urn:microsoft.com/office/officeart/2005/8/layout/default" loCatId="list" qsTypeId="urn:microsoft.com/office/officeart/2005/8/quickstyle/simple1" qsCatId="simple" csTypeId="urn:microsoft.com/office/officeart/2005/8/colors/accent1_4" csCatId="accent1" phldr="1"/>
      <dgm:spPr/>
      <dgm:t>
        <a:bodyPr/>
        <a:lstStyle/>
        <a:p>
          <a:endParaRPr lang="en-GB"/>
        </a:p>
      </dgm:t>
    </dgm:pt>
    <dgm:pt modelId="{EBF5A5C2-E091-46F3-8871-09D647AF790E}">
      <dgm:prSet phldrT="[Text]"/>
      <dgm:spPr/>
      <dgm:t>
        <a:bodyPr/>
        <a:lstStyle/>
        <a:p>
          <a:r>
            <a:rPr lang="en-AU" noProof="0"/>
            <a:t>Discipline /focus</a:t>
          </a:r>
        </a:p>
      </dgm:t>
    </dgm:pt>
    <dgm:pt modelId="{30368AD8-1E68-42C4-9F0D-1191F162E470}" type="sibTrans" cxnId="{1396738C-E5E1-44C2-A167-61F7708AC517}">
      <dgm:prSet/>
      <dgm:spPr/>
      <dgm:t>
        <a:bodyPr/>
        <a:lstStyle/>
        <a:p>
          <a:endParaRPr lang="de-DE" noProof="0"/>
        </a:p>
      </dgm:t>
    </dgm:pt>
    <dgm:pt modelId="{CCD333D5-5017-49AA-AB90-502B278A4646}" type="parTrans" cxnId="{1396738C-E5E1-44C2-A167-61F7708AC517}">
      <dgm:prSet/>
      <dgm:spPr/>
      <dgm:t>
        <a:bodyPr/>
        <a:lstStyle/>
        <a:p>
          <a:endParaRPr lang="de-DE" noProof="0"/>
        </a:p>
      </dgm:t>
    </dgm:pt>
    <dgm:pt modelId="{46A6BD6D-36E6-4092-9CFA-27214C53008D}">
      <dgm:prSet phldrT="[Text]"/>
      <dgm:spPr/>
      <dgm:t>
        <a:bodyPr/>
        <a:lstStyle/>
        <a:p>
          <a:r>
            <a:rPr lang="en-AU" noProof="0"/>
            <a:t>Learn to say „No“</a:t>
          </a:r>
        </a:p>
      </dgm:t>
    </dgm:pt>
    <dgm:pt modelId="{41DDF2C1-F25D-4731-943F-B0CB55A8ECF4}" type="sibTrans" cxnId="{22BE4E4D-3D43-4337-AEF1-D7147878A6F0}">
      <dgm:prSet/>
      <dgm:spPr/>
      <dgm:t>
        <a:bodyPr/>
        <a:lstStyle/>
        <a:p>
          <a:endParaRPr lang="de-DE" noProof="0"/>
        </a:p>
      </dgm:t>
    </dgm:pt>
    <dgm:pt modelId="{A2DF2C14-7E08-4F5D-ABAC-9A96F2EC292D}" type="parTrans" cxnId="{22BE4E4D-3D43-4337-AEF1-D7147878A6F0}">
      <dgm:prSet/>
      <dgm:spPr/>
      <dgm:t>
        <a:bodyPr/>
        <a:lstStyle/>
        <a:p>
          <a:endParaRPr lang="de-DE" noProof="0"/>
        </a:p>
      </dgm:t>
    </dgm:pt>
    <dgm:pt modelId="{0BFB1AFA-F238-49B5-AEEB-BD7181A71B57}">
      <dgm:prSet phldrT="[Text]"/>
      <dgm:spPr/>
      <dgm:t>
        <a:bodyPr/>
        <a:lstStyle/>
        <a:p>
          <a:r>
            <a:rPr lang="en-AU" noProof="0"/>
            <a:t>Self-care</a:t>
          </a:r>
        </a:p>
      </dgm:t>
    </dgm:pt>
    <dgm:pt modelId="{7421A97A-E546-4588-845E-853AA97B77B1}" type="sibTrans" cxnId="{07692DF5-FB7C-4378-8F13-FF1F28B84A75}">
      <dgm:prSet/>
      <dgm:spPr/>
      <dgm:t>
        <a:bodyPr/>
        <a:lstStyle/>
        <a:p>
          <a:endParaRPr lang="de-DE" noProof="0"/>
        </a:p>
      </dgm:t>
    </dgm:pt>
    <dgm:pt modelId="{515C2546-51E1-43A7-A261-F61609C57430}" type="parTrans" cxnId="{07692DF5-FB7C-4378-8F13-FF1F28B84A75}">
      <dgm:prSet/>
      <dgm:spPr/>
      <dgm:t>
        <a:bodyPr/>
        <a:lstStyle/>
        <a:p>
          <a:endParaRPr lang="de-DE" noProof="0"/>
        </a:p>
      </dgm:t>
    </dgm:pt>
    <dgm:pt modelId="{93CD0F63-E6FA-41DC-A951-3B67A426AA33}">
      <dgm:prSet phldrT="[Text]"/>
      <dgm:spPr/>
      <dgm:t>
        <a:bodyPr/>
        <a:lstStyle/>
        <a:p>
          <a:r>
            <a:rPr lang="en-AU" noProof="0"/>
            <a:t>Planning / Structuring / routine</a:t>
          </a:r>
        </a:p>
      </dgm:t>
    </dgm:pt>
    <dgm:pt modelId="{61DEB3FC-211B-4057-B16C-64E00957B5B8}" type="sibTrans" cxnId="{DF1EF7A0-C682-4E99-BEF7-69945C8D3863}">
      <dgm:prSet/>
      <dgm:spPr/>
      <dgm:t>
        <a:bodyPr/>
        <a:lstStyle/>
        <a:p>
          <a:endParaRPr lang="de-DE" noProof="0"/>
        </a:p>
      </dgm:t>
    </dgm:pt>
    <dgm:pt modelId="{73A4704F-2E7A-4971-A975-D9CC079FC8E9}" type="parTrans" cxnId="{DF1EF7A0-C682-4E99-BEF7-69945C8D3863}">
      <dgm:prSet/>
      <dgm:spPr/>
      <dgm:t>
        <a:bodyPr/>
        <a:lstStyle/>
        <a:p>
          <a:endParaRPr lang="de-DE" noProof="0"/>
        </a:p>
      </dgm:t>
    </dgm:pt>
    <dgm:pt modelId="{CBFC12A6-F610-4584-9DB4-9260CEA93823}">
      <dgm:prSet phldrT="[Text]"/>
      <dgm:spPr/>
      <dgm:t>
        <a:bodyPr/>
        <a:lstStyle/>
        <a:p>
          <a:r>
            <a:rPr lang="en-AU" noProof="0"/>
            <a:t>Goal setting</a:t>
          </a:r>
        </a:p>
      </dgm:t>
    </dgm:pt>
    <dgm:pt modelId="{0F57948C-6F0C-4406-BF24-F55DA7DB986E}" type="sibTrans" cxnId="{762FB42F-69D9-4AAB-9882-DAB07D115D20}">
      <dgm:prSet/>
      <dgm:spPr/>
      <dgm:t>
        <a:bodyPr/>
        <a:lstStyle/>
        <a:p>
          <a:endParaRPr lang="de-DE" noProof="0"/>
        </a:p>
      </dgm:t>
    </dgm:pt>
    <dgm:pt modelId="{3D257782-8445-471A-95A1-90ECB5F11A21}" type="parTrans" cxnId="{762FB42F-69D9-4AAB-9882-DAB07D115D20}">
      <dgm:prSet/>
      <dgm:spPr/>
      <dgm:t>
        <a:bodyPr/>
        <a:lstStyle/>
        <a:p>
          <a:endParaRPr lang="de-DE" noProof="0"/>
        </a:p>
      </dgm:t>
    </dgm:pt>
    <dgm:pt modelId="{F4DEB254-1FAE-47B0-80CE-5BD7F487FD66}">
      <dgm:prSet phldrT="[Text]"/>
      <dgm:spPr/>
      <dgm:t>
        <a:bodyPr/>
        <a:lstStyle/>
        <a:p>
          <a:r>
            <a:rPr lang="en-AU" noProof="0"/>
            <a:t>Prioritization</a:t>
          </a:r>
        </a:p>
      </dgm:t>
    </dgm:pt>
    <dgm:pt modelId="{D9482282-066C-46E4-A3AC-8F8C1D709589}" type="parTrans" cxnId="{93B3945A-F0EE-41EE-95C6-C427072B99DA}">
      <dgm:prSet/>
      <dgm:spPr/>
      <dgm:t>
        <a:bodyPr/>
        <a:lstStyle/>
        <a:p>
          <a:endParaRPr lang="de-DE" noProof="0"/>
        </a:p>
      </dgm:t>
    </dgm:pt>
    <dgm:pt modelId="{6FB0BDD8-255C-40EC-96B9-229BEA41E6CA}" type="sibTrans" cxnId="{93B3945A-F0EE-41EE-95C6-C427072B99DA}">
      <dgm:prSet/>
      <dgm:spPr/>
      <dgm:t>
        <a:bodyPr/>
        <a:lstStyle/>
        <a:p>
          <a:endParaRPr lang="de-DE" noProof="0"/>
        </a:p>
      </dgm:t>
    </dgm:pt>
    <dgm:pt modelId="{A2F81E58-B2AF-4CC4-BF7E-61F17F392458}">
      <dgm:prSet phldrT="[Text]"/>
      <dgm:spPr/>
      <dgm:t>
        <a:bodyPr/>
        <a:lstStyle/>
        <a:p>
          <a:r>
            <a:rPr lang="en-AU" noProof="0"/>
            <a:t>A System</a:t>
          </a:r>
        </a:p>
      </dgm:t>
    </dgm:pt>
    <dgm:pt modelId="{DE9CE5CB-6D8A-4467-85F0-9037214F55EC}" type="parTrans" cxnId="{67A11E06-4A77-4275-B252-A7EB49699E16}">
      <dgm:prSet/>
      <dgm:spPr/>
      <dgm:t>
        <a:bodyPr/>
        <a:lstStyle/>
        <a:p>
          <a:endParaRPr lang="de-DE" noProof="0"/>
        </a:p>
      </dgm:t>
    </dgm:pt>
    <dgm:pt modelId="{48F7756C-7F2F-4BFA-83AC-E9A2DD4E9F67}" type="sibTrans" cxnId="{67A11E06-4A77-4275-B252-A7EB49699E16}">
      <dgm:prSet/>
      <dgm:spPr/>
      <dgm:t>
        <a:bodyPr/>
        <a:lstStyle/>
        <a:p>
          <a:endParaRPr lang="de-DE" noProof="0"/>
        </a:p>
      </dgm:t>
    </dgm:pt>
    <dgm:pt modelId="{8E797B98-41DB-48B0-B4F9-E63CC1AB06DA}">
      <dgm:prSet phldrT="[Text]"/>
      <dgm:spPr/>
      <dgm:t>
        <a:bodyPr/>
        <a:lstStyle/>
        <a:p>
          <a:r>
            <a:rPr lang="en-AU" noProof="0"/>
            <a:t>Avoid procrastination</a:t>
          </a:r>
        </a:p>
      </dgm:t>
    </dgm:pt>
    <dgm:pt modelId="{62AA037A-4635-4B14-A318-F1BAFE631105}" type="parTrans" cxnId="{270CEA88-6EB5-4412-A388-381ECC88B07D}">
      <dgm:prSet/>
      <dgm:spPr/>
      <dgm:t>
        <a:bodyPr/>
        <a:lstStyle/>
        <a:p>
          <a:endParaRPr lang="de-DE" noProof="0"/>
        </a:p>
      </dgm:t>
    </dgm:pt>
    <dgm:pt modelId="{D0AF33C3-4FF8-4B74-8EB9-AA70A393B906}" type="sibTrans" cxnId="{270CEA88-6EB5-4412-A388-381ECC88B07D}">
      <dgm:prSet/>
      <dgm:spPr/>
      <dgm:t>
        <a:bodyPr/>
        <a:lstStyle/>
        <a:p>
          <a:endParaRPr lang="de-DE" noProof="0"/>
        </a:p>
      </dgm:t>
    </dgm:pt>
    <dgm:pt modelId="{5D945FA6-C358-48CD-9FC6-E0AADCA70394}" type="pres">
      <dgm:prSet presAssocID="{29574BCE-B4BA-40B7-966D-F8569860A283}" presName="diagram" presStyleCnt="0">
        <dgm:presLayoutVars>
          <dgm:dir/>
          <dgm:resizeHandles val="exact"/>
        </dgm:presLayoutVars>
      </dgm:prSet>
      <dgm:spPr/>
    </dgm:pt>
    <dgm:pt modelId="{553B38F3-B028-44AA-8B16-DB7095794017}" type="pres">
      <dgm:prSet presAssocID="{CBFC12A6-F610-4584-9DB4-9260CEA93823}" presName="node" presStyleLbl="node1" presStyleIdx="0" presStyleCnt="8">
        <dgm:presLayoutVars>
          <dgm:bulletEnabled val="1"/>
        </dgm:presLayoutVars>
      </dgm:prSet>
      <dgm:spPr/>
    </dgm:pt>
    <dgm:pt modelId="{7AB3BB53-5D45-4523-8032-6970E4E3BF65}" type="pres">
      <dgm:prSet presAssocID="{0F57948C-6F0C-4406-BF24-F55DA7DB986E}" presName="sibTrans" presStyleCnt="0"/>
      <dgm:spPr/>
    </dgm:pt>
    <dgm:pt modelId="{ED7583D0-B63D-43A0-977B-2B391B857F44}" type="pres">
      <dgm:prSet presAssocID="{93CD0F63-E6FA-41DC-A951-3B67A426AA33}" presName="node" presStyleLbl="node1" presStyleIdx="1" presStyleCnt="8">
        <dgm:presLayoutVars>
          <dgm:bulletEnabled val="1"/>
        </dgm:presLayoutVars>
      </dgm:prSet>
      <dgm:spPr/>
    </dgm:pt>
    <dgm:pt modelId="{51CA603A-1A7C-434A-BD06-0FA07FD206D1}" type="pres">
      <dgm:prSet presAssocID="{61DEB3FC-211B-4057-B16C-64E00957B5B8}" presName="sibTrans" presStyleCnt="0"/>
      <dgm:spPr/>
    </dgm:pt>
    <dgm:pt modelId="{97809766-24F6-40D3-9103-9B0F22BC821B}" type="pres">
      <dgm:prSet presAssocID="{0BFB1AFA-F238-49B5-AEEB-BD7181A71B57}" presName="node" presStyleLbl="node1" presStyleIdx="2" presStyleCnt="8">
        <dgm:presLayoutVars>
          <dgm:bulletEnabled val="1"/>
        </dgm:presLayoutVars>
      </dgm:prSet>
      <dgm:spPr/>
    </dgm:pt>
    <dgm:pt modelId="{227A4213-D116-4A8F-AADE-E9B0CA7D821D}" type="pres">
      <dgm:prSet presAssocID="{7421A97A-E546-4588-845E-853AA97B77B1}" presName="sibTrans" presStyleCnt="0"/>
      <dgm:spPr/>
    </dgm:pt>
    <dgm:pt modelId="{64CA66B2-67B1-42AC-8545-FBF122ED9EEF}" type="pres">
      <dgm:prSet presAssocID="{46A6BD6D-36E6-4092-9CFA-27214C53008D}" presName="node" presStyleLbl="node1" presStyleIdx="3" presStyleCnt="8">
        <dgm:presLayoutVars>
          <dgm:bulletEnabled val="1"/>
        </dgm:presLayoutVars>
      </dgm:prSet>
      <dgm:spPr/>
    </dgm:pt>
    <dgm:pt modelId="{FECB6EC9-E3F3-4073-8C5B-219CF8033F0C}" type="pres">
      <dgm:prSet presAssocID="{41DDF2C1-F25D-4731-943F-B0CB55A8ECF4}" presName="sibTrans" presStyleCnt="0"/>
      <dgm:spPr/>
    </dgm:pt>
    <dgm:pt modelId="{45B4926D-D3C3-4E40-AD09-02F2D50E5B22}" type="pres">
      <dgm:prSet presAssocID="{EBF5A5C2-E091-46F3-8871-09D647AF790E}" presName="node" presStyleLbl="node1" presStyleIdx="4" presStyleCnt="8">
        <dgm:presLayoutVars>
          <dgm:bulletEnabled val="1"/>
        </dgm:presLayoutVars>
      </dgm:prSet>
      <dgm:spPr/>
    </dgm:pt>
    <dgm:pt modelId="{ECBE10D4-D44C-409A-8717-2487C4559DA6}" type="pres">
      <dgm:prSet presAssocID="{30368AD8-1E68-42C4-9F0D-1191F162E470}" presName="sibTrans" presStyleCnt="0"/>
      <dgm:spPr/>
    </dgm:pt>
    <dgm:pt modelId="{62119217-D9A4-40D2-B4A7-C36761E5F666}" type="pres">
      <dgm:prSet presAssocID="{F4DEB254-1FAE-47B0-80CE-5BD7F487FD66}" presName="node" presStyleLbl="node1" presStyleIdx="5" presStyleCnt="8">
        <dgm:presLayoutVars>
          <dgm:bulletEnabled val="1"/>
        </dgm:presLayoutVars>
      </dgm:prSet>
      <dgm:spPr/>
    </dgm:pt>
    <dgm:pt modelId="{A824AE95-938F-438A-811A-A84F83F0ECEA}" type="pres">
      <dgm:prSet presAssocID="{6FB0BDD8-255C-40EC-96B9-229BEA41E6CA}" presName="sibTrans" presStyleCnt="0"/>
      <dgm:spPr/>
    </dgm:pt>
    <dgm:pt modelId="{1A8838D0-8582-44F2-9BB2-17580F580106}" type="pres">
      <dgm:prSet presAssocID="{A2F81E58-B2AF-4CC4-BF7E-61F17F392458}" presName="node" presStyleLbl="node1" presStyleIdx="6" presStyleCnt="8">
        <dgm:presLayoutVars>
          <dgm:bulletEnabled val="1"/>
        </dgm:presLayoutVars>
      </dgm:prSet>
      <dgm:spPr/>
    </dgm:pt>
    <dgm:pt modelId="{00E43B6C-3E1F-4E99-8B79-765035AE5C08}" type="pres">
      <dgm:prSet presAssocID="{48F7756C-7F2F-4BFA-83AC-E9A2DD4E9F67}" presName="sibTrans" presStyleCnt="0"/>
      <dgm:spPr/>
    </dgm:pt>
    <dgm:pt modelId="{DBB3F992-08A5-47E1-82FF-C31119EDF5E4}" type="pres">
      <dgm:prSet presAssocID="{8E797B98-41DB-48B0-B4F9-E63CC1AB06DA}" presName="node" presStyleLbl="node1" presStyleIdx="7" presStyleCnt="8">
        <dgm:presLayoutVars>
          <dgm:bulletEnabled val="1"/>
        </dgm:presLayoutVars>
      </dgm:prSet>
      <dgm:spPr/>
    </dgm:pt>
  </dgm:ptLst>
  <dgm:cxnLst>
    <dgm:cxn modelId="{21FE2C03-535B-4C94-BE34-FD934ADC12D2}" type="presOf" srcId="{A2F81E58-B2AF-4CC4-BF7E-61F17F392458}" destId="{1A8838D0-8582-44F2-9BB2-17580F580106}" srcOrd="0" destOrd="0" presId="urn:microsoft.com/office/officeart/2005/8/layout/default"/>
    <dgm:cxn modelId="{7983F903-2194-4A69-B26D-2824C6C7C678}" type="presOf" srcId="{0BFB1AFA-F238-49B5-AEEB-BD7181A71B57}" destId="{97809766-24F6-40D3-9103-9B0F22BC821B}" srcOrd="0" destOrd="0" presId="urn:microsoft.com/office/officeart/2005/8/layout/default"/>
    <dgm:cxn modelId="{67A11E06-4A77-4275-B252-A7EB49699E16}" srcId="{29574BCE-B4BA-40B7-966D-F8569860A283}" destId="{A2F81E58-B2AF-4CC4-BF7E-61F17F392458}" srcOrd="6" destOrd="0" parTransId="{DE9CE5CB-6D8A-4467-85F0-9037214F55EC}" sibTransId="{48F7756C-7F2F-4BFA-83AC-E9A2DD4E9F67}"/>
    <dgm:cxn modelId="{762FB42F-69D9-4AAB-9882-DAB07D115D20}" srcId="{29574BCE-B4BA-40B7-966D-F8569860A283}" destId="{CBFC12A6-F610-4584-9DB4-9260CEA93823}" srcOrd="0" destOrd="0" parTransId="{3D257782-8445-471A-95A1-90ECB5F11A21}" sibTransId="{0F57948C-6F0C-4406-BF24-F55DA7DB986E}"/>
    <dgm:cxn modelId="{BD40A169-2B1F-46BA-9495-73D85A966992}" type="presOf" srcId="{F4DEB254-1FAE-47B0-80CE-5BD7F487FD66}" destId="{62119217-D9A4-40D2-B4A7-C36761E5F666}" srcOrd="0" destOrd="0" presId="urn:microsoft.com/office/officeart/2005/8/layout/default"/>
    <dgm:cxn modelId="{22BE4E4D-3D43-4337-AEF1-D7147878A6F0}" srcId="{29574BCE-B4BA-40B7-966D-F8569860A283}" destId="{46A6BD6D-36E6-4092-9CFA-27214C53008D}" srcOrd="3" destOrd="0" parTransId="{A2DF2C14-7E08-4F5D-ABAC-9A96F2EC292D}" sibTransId="{41DDF2C1-F25D-4731-943F-B0CB55A8ECF4}"/>
    <dgm:cxn modelId="{6A565976-CA02-4126-9844-26975CCBFB69}" type="presOf" srcId="{29574BCE-B4BA-40B7-966D-F8569860A283}" destId="{5D945FA6-C358-48CD-9FC6-E0AADCA70394}" srcOrd="0" destOrd="0" presId="urn:microsoft.com/office/officeart/2005/8/layout/default"/>
    <dgm:cxn modelId="{9A6A3058-FFF9-4DB6-B898-74AA12938EC7}" type="presOf" srcId="{46A6BD6D-36E6-4092-9CFA-27214C53008D}" destId="{64CA66B2-67B1-42AC-8545-FBF122ED9EEF}" srcOrd="0" destOrd="0" presId="urn:microsoft.com/office/officeart/2005/8/layout/default"/>
    <dgm:cxn modelId="{93B3945A-F0EE-41EE-95C6-C427072B99DA}" srcId="{29574BCE-B4BA-40B7-966D-F8569860A283}" destId="{F4DEB254-1FAE-47B0-80CE-5BD7F487FD66}" srcOrd="5" destOrd="0" parTransId="{D9482282-066C-46E4-A3AC-8F8C1D709589}" sibTransId="{6FB0BDD8-255C-40EC-96B9-229BEA41E6CA}"/>
    <dgm:cxn modelId="{270CEA88-6EB5-4412-A388-381ECC88B07D}" srcId="{29574BCE-B4BA-40B7-966D-F8569860A283}" destId="{8E797B98-41DB-48B0-B4F9-E63CC1AB06DA}" srcOrd="7" destOrd="0" parTransId="{62AA037A-4635-4B14-A318-F1BAFE631105}" sibTransId="{D0AF33C3-4FF8-4B74-8EB9-AA70A393B906}"/>
    <dgm:cxn modelId="{1396738C-E5E1-44C2-A167-61F7708AC517}" srcId="{29574BCE-B4BA-40B7-966D-F8569860A283}" destId="{EBF5A5C2-E091-46F3-8871-09D647AF790E}" srcOrd="4" destOrd="0" parTransId="{CCD333D5-5017-49AA-AB90-502B278A4646}" sibTransId="{30368AD8-1E68-42C4-9F0D-1191F162E470}"/>
    <dgm:cxn modelId="{A897FB95-5CC3-4A06-A3A0-CE7524795E5C}" type="presOf" srcId="{8E797B98-41DB-48B0-B4F9-E63CC1AB06DA}" destId="{DBB3F992-08A5-47E1-82FF-C31119EDF5E4}" srcOrd="0" destOrd="0" presId="urn:microsoft.com/office/officeart/2005/8/layout/default"/>
    <dgm:cxn modelId="{DF1EF7A0-C682-4E99-BEF7-69945C8D3863}" srcId="{29574BCE-B4BA-40B7-966D-F8569860A283}" destId="{93CD0F63-E6FA-41DC-A951-3B67A426AA33}" srcOrd="1" destOrd="0" parTransId="{73A4704F-2E7A-4971-A975-D9CC079FC8E9}" sibTransId="{61DEB3FC-211B-4057-B16C-64E00957B5B8}"/>
    <dgm:cxn modelId="{2E707BA5-8CAC-4555-883D-76007D8FDEC8}" type="presOf" srcId="{93CD0F63-E6FA-41DC-A951-3B67A426AA33}" destId="{ED7583D0-B63D-43A0-977B-2B391B857F44}" srcOrd="0" destOrd="0" presId="urn:microsoft.com/office/officeart/2005/8/layout/default"/>
    <dgm:cxn modelId="{C56D05AC-9003-4B00-BDD3-4CF9C8DF727A}" type="presOf" srcId="{CBFC12A6-F610-4584-9DB4-9260CEA93823}" destId="{553B38F3-B028-44AA-8B16-DB7095794017}" srcOrd="0" destOrd="0" presId="urn:microsoft.com/office/officeart/2005/8/layout/default"/>
    <dgm:cxn modelId="{0B5E4AB8-A30A-487C-B3E5-36528F609567}" type="presOf" srcId="{EBF5A5C2-E091-46F3-8871-09D647AF790E}" destId="{45B4926D-D3C3-4E40-AD09-02F2D50E5B22}" srcOrd="0" destOrd="0" presId="urn:microsoft.com/office/officeart/2005/8/layout/default"/>
    <dgm:cxn modelId="{07692DF5-FB7C-4378-8F13-FF1F28B84A75}" srcId="{29574BCE-B4BA-40B7-966D-F8569860A283}" destId="{0BFB1AFA-F238-49B5-AEEB-BD7181A71B57}" srcOrd="2" destOrd="0" parTransId="{515C2546-51E1-43A7-A261-F61609C57430}" sibTransId="{7421A97A-E546-4588-845E-853AA97B77B1}"/>
    <dgm:cxn modelId="{3E8ABDFC-0EB9-4A93-AEB3-D5CCFE629850}" type="presParOf" srcId="{5D945FA6-C358-48CD-9FC6-E0AADCA70394}" destId="{553B38F3-B028-44AA-8B16-DB7095794017}" srcOrd="0" destOrd="0" presId="urn:microsoft.com/office/officeart/2005/8/layout/default"/>
    <dgm:cxn modelId="{A35A44D3-2170-4931-96CC-9072E4793A34}" type="presParOf" srcId="{5D945FA6-C358-48CD-9FC6-E0AADCA70394}" destId="{7AB3BB53-5D45-4523-8032-6970E4E3BF65}" srcOrd="1" destOrd="0" presId="urn:microsoft.com/office/officeart/2005/8/layout/default"/>
    <dgm:cxn modelId="{3FF355B7-974B-4F9B-951D-BA5752D3C60E}" type="presParOf" srcId="{5D945FA6-C358-48CD-9FC6-E0AADCA70394}" destId="{ED7583D0-B63D-43A0-977B-2B391B857F44}" srcOrd="2" destOrd="0" presId="urn:microsoft.com/office/officeart/2005/8/layout/default"/>
    <dgm:cxn modelId="{DD249FB1-13C3-4FAC-8A2E-90EE8B4CE223}" type="presParOf" srcId="{5D945FA6-C358-48CD-9FC6-E0AADCA70394}" destId="{51CA603A-1A7C-434A-BD06-0FA07FD206D1}" srcOrd="3" destOrd="0" presId="urn:microsoft.com/office/officeart/2005/8/layout/default"/>
    <dgm:cxn modelId="{F555265F-7271-4683-9AF8-6A8530A4B4F9}" type="presParOf" srcId="{5D945FA6-C358-48CD-9FC6-E0AADCA70394}" destId="{97809766-24F6-40D3-9103-9B0F22BC821B}" srcOrd="4" destOrd="0" presId="urn:microsoft.com/office/officeart/2005/8/layout/default"/>
    <dgm:cxn modelId="{1E3276EF-B641-4B54-99C1-F62E24B138E6}" type="presParOf" srcId="{5D945FA6-C358-48CD-9FC6-E0AADCA70394}" destId="{227A4213-D116-4A8F-AADE-E9B0CA7D821D}" srcOrd="5" destOrd="0" presId="urn:microsoft.com/office/officeart/2005/8/layout/default"/>
    <dgm:cxn modelId="{F2914B24-C641-44AE-991C-42D4F3303435}" type="presParOf" srcId="{5D945FA6-C358-48CD-9FC6-E0AADCA70394}" destId="{64CA66B2-67B1-42AC-8545-FBF122ED9EEF}" srcOrd="6" destOrd="0" presId="urn:microsoft.com/office/officeart/2005/8/layout/default"/>
    <dgm:cxn modelId="{1DA8534E-133C-4F3C-98E6-B49E199C4DAF}" type="presParOf" srcId="{5D945FA6-C358-48CD-9FC6-E0AADCA70394}" destId="{FECB6EC9-E3F3-4073-8C5B-219CF8033F0C}" srcOrd="7" destOrd="0" presId="urn:microsoft.com/office/officeart/2005/8/layout/default"/>
    <dgm:cxn modelId="{B7B46F13-7E6D-4680-9553-5E0EFF569792}" type="presParOf" srcId="{5D945FA6-C358-48CD-9FC6-E0AADCA70394}" destId="{45B4926D-D3C3-4E40-AD09-02F2D50E5B22}" srcOrd="8" destOrd="0" presId="urn:microsoft.com/office/officeart/2005/8/layout/default"/>
    <dgm:cxn modelId="{9291980D-AD09-49DA-AB53-F713659DD68D}" type="presParOf" srcId="{5D945FA6-C358-48CD-9FC6-E0AADCA70394}" destId="{ECBE10D4-D44C-409A-8717-2487C4559DA6}" srcOrd="9" destOrd="0" presId="urn:microsoft.com/office/officeart/2005/8/layout/default"/>
    <dgm:cxn modelId="{C4674364-8CD1-4011-A3EE-DE77287ED374}" type="presParOf" srcId="{5D945FA6-C358-48CD-9FC6-E0AADCA70394}" destId="{62119217-D9A4-40D2-B4A7-C36761E5F666}" srcOrd="10" destOrd="0" presId="urn:microsoft.com/office/officeart/2005/8/layout/default"/>
    <dgm:cxn modelId="{1EAA12BF-A5D2-4639-9D74-8AFD71BF11A2}" type="presParOf" srcId="{5D945FA6-C358-48CD-9FC6-E0AADCA70394}" destId="{A824AE95-938F-438A-811A-A84F83F0ECEA}" srcOrd="11" destOrd="0" presId="urn:microsoft.com/office/officeart/2005/8/layout/default"/>
    <dgm:cxn modelId="{4D222577-D900-4681-B0D2-B4198DE65BA9}" type="presParOf" srcId="{5D945FA6-C358-48CD-9FC6-E0AADCA70394}" destId="{1A8838D0-8582-44F2-9BB2-17580F580106}" srcOrd="12" destOrd="0" presId="urn:microsoft.com/office/officeart/2005/8/layout/default"/>
    <dgm:cxn modelId="{CE16F168-ADAC-49B8-8F64-5DEC247F915C}" type="presParOf" srcId="{5D945FA6-C358-48CD-9FC6-E0AADCA70394}" destId="{00E43B6C-3E1F-4E99-8B79-765035AE5C08}" srcOrd="13" destOrd="0" presId="urn:microsoft.com/office/officeart/2005/8/layout/default"/>
    <dgm:cxn modelId="{25D303E8-3E44-4ACF-B75D-75CC1752C094}" type="presParOf" srcId="{5D945FA6-C358-48CD-9FC6-E0AADCA70394}" destId="{DBB3F992-08A5-47E1-82FF-C31119EDF5E4}"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3B38F3-B028-44AA-8B16-DB7095794017}">
      <dsp:nvSpPr>
        <dsp:cNvPr id="0" name=""/>
        <dsp:cNvSpPr/>
      </dsp:nvSpPr>
      <dsp:spPr>
        <a:xfrm>
          <a:off x="0" y="270523"/>
          <a:ext cx="3517784" cy="2110670"/>
        </a:xfrm>
        <a:prstGeom prst="rect">
          <a:avLst/>
        </a:prstGeom>
        <a:solidFill>
          <a:schemeClr val="accent1">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Goal setting</a:t>
          </a:r>
        </a:p>
      </dsp:txBody>
      <dsp:txXfrm>
        <a:off x="0" y="270523"/>
        <a:ext cx="3517784" cy="2110670"/>
      </dsp:txXfrm>
    </dsp:sp>
    <dsp:sp modelId="{ED7583D0-B63D-43A0-977B-2B391B857F44}">
      <dsp:nvSpPr>
        <dsp:cNvPr id="0" name=""/>
        <dsp:cNvSpPr/>
      </dsp:nvSpPr>
      <dsp:spPr>
        <a:xfrm>
          <a:off x="3869563" y="270523"/>
          <a:ext cx="3517784" cy="2110670"/>
        </a:xfrm>
        <a:prstGeom prst="rect">
          <a:avLst/>
        </a:prstGeom>
        <a:solidFill>
          <a:schemeClr val="accent1">
            <a:shade val="50000"/>
            <a:hueOff val="151529"/>
            <a:satOff val="-16384"/>
            <a:lumOff val="136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Planning / Structuring / routine</a:t>
          </a:r>
        </a:p>
      </dsp:txBody>
      <dsp:txXfrm>
        <a:off x="3869563" y="270523"/>
        <a:ext cx="3517784" cy="2110670"/>
      </dsp:txXfrm>
    </dsp:sp>
    <dsp:sp modelId="{97809766-24F6-40D3-9103-9B0F22BC821B}">
      <dsp:nvSpPr>
        <dsp:cNvPr id="0" name=""/>
        <dsp:cNvSpPr/>
      </dsp:nvSpPr>
      <dsp:spPr>
        <a:xfrm>
          <a:off x="7739127" y="270523"/>
          <a:ext cx="3517784" cy="2110670"/>
        </a:xfrm>
        <a:prstGeom prst="rect">
          <a:avLst/>
        </a:prstGeom>
        <a:solidFill>
          <a:schemeClr val="accent1">
            <a:shade val="50000"/>
            <a:hueOff val="303058"/>
            <a:satOff val="-32768"/>
            <a:lumOff val="2735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Self-care</a:t>
          </a:r>
        </a:p>
      </dsp:txBody>
      <dsp:txXfrm>
        <a:off x="7739127" y="270523"/>
        <a:ext cx="3517784" cy="2110670"/>
      </dsp:txXfrm>
    </dsp:sp>
    <dsp:sp modelId="{64CA66B2-67B1-42AC-8545-FBF122ED9EEF}">
      <dsp:nvSpPr>
        <dsp:cNvPr id="0" name=""/>
        <dsp:cNvSpPr/>
      </dsp:nvSpPr>
      <dsp:spPr>
        <a:xfrm>
          <a:off x="0" y="2732972"/>
          <a:ext cx="3517784" cy="2110670"/>
        </a:xfrm>
        <a:prstGeom prst="rect">
          <a:avLst/>
        </a:prstGeom>
        <a:solidFill>
          <a:schemeClr val="accent1">
            <a:shade val="50000"/>
            <a:hueOff val="454587"/>
            <a:satOff val="-49152"/>
            <a:lumOff val="4103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Learn to say „No“</a:t>
          </a:r>
        </a:p>
      </dsp:txBody>
      <dsp:txXfrm>
        <a:off x="0" y="2732972"/>
        <a:ext cx="3517784" cy="2110670"/>
      </dsp:txXfrm>
    </dsp:sp>
    <dsp:sp modelId="{45B4926D-D3C3-4E40-AD09-02F2D50E5B22}">
      <dsp:nvSpPr>
        <dsp:cNvPr id="0" name=""/>
        <dsp:cNvSpPr/>
      </dsp:nvSpPr>
      <dsp:spPr>
        <a:xfrm>
          <a:off x="3869563" y="2732972"/>
          <a:ext cx="3517784" cy="2110670"/>
        </a:xfrm>
        <a:prstGeom prst="rect">
          <a:avLst/>
        </a:prstGeom>
        <a:solidFill>
          <a:schemeClr val="accent1">
            <a:shade val="50000"/>
            <a:hueOff val="606116"/>
            <a:satOff val="-65536"/>
            <a:lumOff val="5471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Discipline /focus</a:t>
          </a:r>
        </a:p>
      </dsp:txBody>
      <dsp:txXfrm>
        <a:off x="3869563" y="2732972"/>
        <a:ext cx="3517784" cy="2110670"/>
      </dsp:txXfrm>
    </dsp:sp>
    <dsp:sp modelId="{62119217-D9A4-40D2-B4A7-C36761E5F666}">
      <dsp:nvSpPr>
        <dsp:cNvPr id="0" name=""/>
        <dsp:cNvSpPr/>
      </dsp:nvSpPr>
      <dsp:spPr>
        <a:xfrm>
          <a:off x="7739127" y="2732972"/>
          <a:ext cx="3517784" cy="2110670"/>
        </a:xfrm>
        <a:prstGeom prst="rect">
          <a:avLst/>
        </a:prstGeom>
        <a:solidFill>
          <a:schemeClr val="accent1">
            <a:shade val="50000"/>
            <a:hueOff val="454587"/>
            <a:satOff val="-49152"/>
            <a:lumOff val="4103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Prioritization</a:t>
          </a:r>
        </a:p>
      </dsp:txBody>
      <dsp:txXfrm>
        <a:off x="7739127" y="2732972"/>
        <a:ext cx="3517784" cy="2110670"/>
      </dsp:txXfrm>
    </dsp:sp>
    <dsp:sp modelId="{1A8838D0-8582-44F2-9BB2-17580F580106}">
      <dsp:nvSpPr>
        <dsp:cNvPr id="0" name=""/>
        <dsp:cNvSpPr/>
      </dsp:nvSpPr>
      <dsp:spPr>
        <a:xfrm>
          <a:off x="1934781" y="5195421"/>
          <a:ext cx="3517784" cy="2110670"/>
        </a:xfrm>
        <a:prstGeom prst="rect">
          <a:avLst/>
        </a:prstGeom>
        <a:solidFill>
          <a:schemeClr val="accent1">
            <a:shade val="50000"/>
            <a:hueOff val="303058"/>
            <a:satOff val="-32768"/>
            <a:lumOff val="2735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A System</a:t>
          </a:r>
        </a:p>
      </dsp:txBody>
      <dsp:txXfrm>
        <a:off x="1934781" y="5195421"/>
        <a:ext cx="3517784" cy="2110670"/>
      </dsp:txXfrm>
    </dsp:sp>
    <dsp:sp modelId="{DBB3F992-08A5-47E1-82FF-C31119EDF5E4}">
      <dsp:nvSpPr>
        <dsp:cNvPr id="0" name=""/>
        <dsp:cNvSpPr/>
      </dsp:nvSpPr>
      <dsp:spPr>
        <a:xfrm>
          <a:off x="5804345" y="5195421"/>
          <a:ext cx="3517784" cy="2110670"/>
        </a:xfrm>
        <a:prstGeom prst="rect">
          <a:avLst/>
        </a:prstGeom>
        <a:solidFill>
          <a:schemeClr val="accent1">
            <a:shade val="50000"/>
            <a:hueOff val="151529"/>
            <a:satOff val="-16384"/>
            <a:lumOff val="136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Avoid procrastination</a:t>
          </a:r>
        </a:p>
      </dsp:txBody>
      <dsp:txXfrm>
        <a:off x="5804345" y="5195421"/>
        <a:ext cx="3517784" cy="211067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AB545-A7A2-C64E-BEC8-51F178C6B1AA}" type="datetimeFigureOut">
              <a:rPr lang="de-DE" smtClean="0"/>
              <a:t>05.11.2025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7837A-BE0C-8E44-AC6E-3BD867A160FB}" type="slidenum">
              <a:rPr lang="de-DE" smtClean="0"/>
              <a:t>‹#›</a:t>
            </a:fld>
            <a:endParaRPr lang="de-DE"/>
          </a:p>
        </p:txBody>
      </p:sp>
    </p:spTree>
    <p:extLst>
      <p:ext uri="{BB962C8B-B14F-4D97-AF65-F5344CB8AC3E}">
        <p14:creationId xmlns:p14="http://schemas.microsoft.com/office/powerpoint/2010/main" val="347103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solidFill>
                  <a:srgbClr val="000000"/>
                </a:solidFill>
                <a:effectLst/>
                <a:latin typeface="Arial" panose="020B0604020202020204" pitchFamily="34" charset="0"/>
              </a:rPr>
              <a:t>To You: Ask the students about their expectations. </a:t>
            </a:r>
            <a:r>
              <a:rPr lang="en-US" sz="1800">
                <a:solidFill>
                  <a:srgbClr val="000000"/>
                </a:solidFill>
                <a:effectLst/>
                <a:latin typeface="Liberation Sans" panose="020B0604020202020204" charset="0"/>
              </a:rPr>
              <a:t>If the response is little, try specifying for example exam phase and workload. If not mentioned, ask for differences regarding their secondary school and other comparable experiences.</a:t>
            </a:r>
            <a:endParaRPr lang="de-DE"/>
          </a:p>
          <a:p>
            <a:endParaRPr lang="en-GB"/>
          </a:p>
        </p:txBody>
      </p:sp>
      <p:sp>
        <p:nvSpPr>
          <p:cNvPr id="4" name="Slide Number Placeholder 3"/>
          <p:cNvSpPr>
            <a:spLocks noGrp="1"/>
          </p:cNvSpPr>
          <p:nvPr>
            <p:ph type="sldNum" sz="quarter" idx="5"/>
          </p:nvPr>
        </p:nvSpPr>
        <p:spPr/>
        <p:txBody>
          <a:bodyPr/>
          <a:lstStyle/>
          <a:p>
            <a:fld id="{91C7837A-BE0C-8E44-AC6E-3BD867A160FB}" type="slidenum">
              <a:rPr lang="de-DE" smtClean="0"/>
              <a:t>3</a:t>
            </a:fld>
            <a:endParaRPr lang="de-DE"/>
          </a:p>
        </p:txBody>
      </p:sp>
    </p:spTree>
    <p:extLst>
      <p:ext uri="{BB962C8B-B14F-4D97-AF65-F5344CB8AC3E}">
        <p14:creationId xmlns:p14="http://schemas.microsoft.com/office/powerpoint/2010/main" val="2733233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you: </a:t>
            </a:r>
            <a:r>
              <a:rPr lang="en-US" sz="1200" b="0" i="0" u="none">
                <a:solidFill>
                  <a:srgbClr val="000000"/>
                </a:solidFill>
                <a:latin typeface="Liberation Sans"/>
                <a:ea typeface="Liberation Sans"/>
                <a:cs typeface="Liberation Sans"/>
              </a:rPr>
              <a:t>Some classic reflections after the first semester are already listed here, add your own if necessary. Try not to frame the points as gloomy prophecies, but rather as situations that could possibly occur. If this is the case, then the first-year students are definitely not alone in this; many others are experiencing this and students before them have done so too. Please emphasize the last point in particular. Of course, you can't prevent some students from no longer coming to the tutorial. But try to convey the value of the tutorials and how they help first-year students to overcome the challenges that await them. We are convinced that the absence from tutorials will lead to considerable additional work and make the start of the semester unnecessarily difficult. Meaningful content is covered that is selected by students themselves.</a:t>
            </a:r>
            <a:endParaRPr lang="de-DE" b="0"/>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de-DE"/>
              <a:t>Time </a:t>
            </a:r>
            <a:r>
              <a:rPr lang="de-DE" err="1"/>
              <a:t>management</a:t>
            </a:r>
            <a:endParaRPr/>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de-DE" b="1" err="1"/>
              <a:t>To</a:t>
            </a:r>
            <a:r>
              <a:rPr lang="de-DE" b="1"/>
              <a:t> </a:t>
            </a:r>
            <a:r>
              <a:rPr lang="de-DE" b="1" err="1"/>
              <a:t>the</a:t>
            </a:r>
            <a:r>
              <a:rPr lang="de-DE" b="1"/>
              <a:t> </a:t>
            </a:r>
            <a:r>
              <a:rPr lang="de-DE" b="1" err="1"/>
              <a:t>students</a:t>
            </a:r>
            <a:r>
              <a:rPr lang="de-DE" b="1"/>
              <a:t>: </a:t>
            </a:r>
            <a:r>
              <a:rPr lang="en-US" sz="1800">
                <a:solidFill>
                  <a:srgbClr val="000000"/>
                </a:solidFill>
                <a:effectLst/>
                <a:latin typeface="Arial" panose="020B0604020202020204" pitchFamily="34" charset="0"/>
              </a:rPr>
              <a:t>Here are some aspects of effective time management that we find important.</a:t>
            </a:r>
            <a:endParaRPr lang="en-US">
              <a:effectLst/>
            </a:endParaRPr>
          </a:p>
        </p:txBody>
      </p:sp>
      <p:sp>
        <p:nvSpPr>
          <p:cNvPr id="4" name="Slide Number Placeholder 3"/>
          <p:cNvSpPr>
            <a:spLocks noGrp="1"/>
          </p:cNvSpPr>
          <p:nvPr>
            <p:ph type="sldNum" sz="quarter" idx="5"/>
          </p:nvPr>
        </p:nvSpPr>
        <p:spPr/>
        <p:txBody>
          <a:bodyPr/>
          <a:lstStyle/>
          <a:p>
            <a:fld id="{91C7837A-BE0C-8E44-AC6E-3BD867A160FB}" type="slidenum">
              <a:rPr lang="de-DE" smtClean="0"/>
              <a:t>6</a:t>
            </a:fld>
            <a:endParaRPr lang="de-DE"/>
          </a:p>
        </p:txBody>
      </p:sp>
    </p:spTree>
    <p:extLst>
      <p:ext uri="{BB962C8B-B14F-4D97-AF65-F5344CB8AC3E}">
        <p14:creationId xmlns:p14="http://schemas.microsoft.com/office/powerpoint/2010/main" val="2556347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the students: </a:t>
            </a:r>
            <a:r>
              <a:rPr lang="en-US" sz="1200" b="0" i="0" u="none">
                <a:solidFill>
                  <a:srgbClr val="000000"/>
                </a:solidFill>
                <a:latin typeface="Liberation Sans"/>
                <a:ea typeface="Liberation Sans"/>
                <a:cs typeface="Liberation Sans"/>
              </a:rPr>
              <a:t>You're always smarter afterwards and it's okay to miscalculate a lot of things in the first semester and also in the second semester, it's going to happen one way or another. You can save yourself stress and leave the others amazed if you follow the tips of higher semester students right from the start. This doesn't mean in the slightest that the typical student/social life has to take a back seat. In fact, you will have more free time if you increase your efficiency. </a:t>
            </a:r>
          </a:p>
          <a:p>
            <a:pPr marL="0" marR="0" lvl="0" indent="0" algn="l" defTabSz="914400" eaLnBrk="1" fontAlgn="auto" latinLnBrk="0" hangingPunct="1">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The most important thing is a systematic approach. This basically just means that you have an order where input and output are clearly regulated and organized. Whether the system is digital or analog, simple or complicated is up to you. You have to like the system so that it works for you.</a:t>
            </a:r>
            <a:endParaRPr lang="de-DE" b="0"/>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the students: </a:t>
            </a:r>
            <a:r>
              <a:rPr lang="en-US" sz="1200" b="0" i="0" u="none">
                <a:solidFill>
                  <a:srgbClr val="000000"/>
                </a:solidFill>
                <a:latin typeface="Liberation Sans"/>
                <a:ea typeface="Liberation Sans"/>
                <a:cs typeface="Liberation Sans"/>
              </a:rPr>
              <a:t>5 principles you can follow in your organizational system. There are also other guidelines.</a:t>
            </a:r>
          </a:p>
          <a:p>
            <a:pPr marL="0" marR="0" lvl="0" indent="0" algn="l" defTabSz="914400" eaLnBrk="1" fontAlgn="auto" latinLnBrk="0" hangingPunct="1">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As far as “capturing” is concerned, we recommend always leaving the email inbox empty. This means not only marking emails as read, but also creating a task based on the content of the email (if applicable). If the task can be completed in less than two minutes, it should be completed immediately and the email deleted. This way, you will never forget an email again. “Inbox Zero” is perfectly transferable to other areas of life and helps you stay organized and clear your head.</a:t>
            </a:r>
          </a:p>
          <a:p>
            <a:pPr marL="0" marR="0" lvl="0" indent="0" algn="l" defTabSz="914400" eaLnBrk="1" fontAlgn="auto" latinLnBrk="0" hangingPunct="1">
              <a:lnSpc>
                <a:spcPct val="100000"/>
              </a:lnSpc>
              <a:spcBef>
                <a:spcPts val="0"/>
              </a:spcBef>
              <a:spcAft>
                <a:spcPts val="0"/>
              </a:spcAft>
              <a:buClrTx/>
              <a:buSzTx/>
              <a:buFontTx/>
              <a:buNone/>
              <a:tabLst/>
              <a:defRPr/>
            </a:pPr>
            <a:endParaRPr lang="en-US" sz="1200" b="1" i="0" u="none">
              <a:solidFill>
                <a:srgbClr val="000000"/>
              </a:solidFill>
              <a:latin typeface="Liberation Sans"/>
              <a:ea typeface="Liberation Sans"/>
              <a:cs typeface="Liberation Sans"/>
            </a:endParaRPr>
          </a:p>
          <a:p>
            <a:pPr marL="0" marR="0" lvl="0" indent="0" algn="l" defTabSz="914400" eaLnBrk="1" fontAlgn="auto" latinLnBrk="0" hangingPunct="1">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you: </a:t>
            </a:r>
            <a:r>
              <a:rPr lang="en-US" sz="1200" b="0" i="0" u="none">
                <a:solidFill>
                  <a:srgbClr val="000000"/>
                </a:solidFill>
                <a:latin typeface="Liberation Sans"/>
                <a:ea typeface="Liberation Sans"/>
                <a:cs typeface="Liberation Sans"/>
              </a:rPr>
              <a:t>Feel free to tell us here what your own system looks like or give an example to give a more concrete idea of what an organizational system could look like.</a:t>
            </a:r>
            <a:endParaRPr b="0"/>
          </a:p>
        </p:txBody>
      </p:sp>
      <p:sp>
        <p:nvSpPr>
          <p:cNvPr id="4" name="Slide Number Placeholder 3"/>
          <p:cNvSpPr>
            <a:spLocks noGrp="1"/>
          </p:cNvSpPr>
          <p:nvPr>
            <p:ph type="sldNum" sz="quarter" idx="10"/>
          </p:nvPr>
        </p:nvSpPr>
        <p:spPr bwMode="auto"/>
        <p:txBody>
          <a:bodyPr/>
          <a:lstStyle/>
          <a:p>
            <a:pPr marL="0" marR="0" lvl="0" indent="0" algn="r" defTabSz="91440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endParaRPr>
          </a:p>
        </p:txBody>
      </p:sp>
    </p:spTree>
    <p:extLst>
      <p:ext uri="{BB962C8B-B14F-4D97-AF65-F5344CB8AC3E}">
        <p14:creationId xmlns:p14="http://schemas.microsoft.com/office/powerpoint/2010/main" val="1911535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you: </a:t>
            </a:r>
            <a:r>
              <a:rPr lang="en-US" sz="1200" b="0" i="0" u="none">
                <a:solidFill>
                  <a:srgbClr val="000000"/>
                </a:solidFill>
                <a:latin typeface="Liberation Sans"/>
                <a:ea typeface="Liberation Sans"/>
                <a:cs typeface="Liberation Sans"/>
              </a:rPr>
              <a:t>Encourage the exchange of organizational and time management methods among the students.</a:t>
            </a:r>
            <a:endParaRPr lang="en-GB" b="0"/>
          </a:p>
        </p:txBody>
      </p:sp>
      <p:sp>
        <p:nvSpPr>
          <p:cNvPr id="4" name="Slide Number Placeholder 3"/>
          <p:cNvSpPr>
            <a:spLocks noGrp="1"/>
          </p:cNvSpPr>
          <p:nvPr>
            <p:ph type="sldNum" sz="quarter" idx="5"/>
          </p:nvPr>
        </p:nvSpPr>
        <p:spPr/>
        <p:txBody>
          <a:bodyPr/>
          <a:lstStyle/>
          <a:p>
            <a:fld id="{91C7837A-BE0C-8E44-AC6E-3BD867A160FB}" type="slidenum">
              <a:rPr lang="de-DE" smtClean="0"/>
              <a:t>9</a:t>
            </a:fld>
            <a:endParaRPr lang="de-DE"/>
          </a:p>
        </p:txBody>
      </p:sp>
    </p:spTree>
    <p:extLst>
      <p:ext uri="{BB962C8B-B14F-4D97-AF65-F5344CB8AC3E}">
        <p14:creationId xmlns:p14="http://schemas.microsoft.com/office/powerpoint/2010/main" val="2250509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b="1"/>
              <a:t>To you: </a:t>
            </a:r>
            <a:r>
              <a:rPr lang="en-US" b="0"/>
              <a:t>Encourage exchange and present and collect ideas and experiences on the topic of self-organization during your studies. Share your own tips as a tutor. We have already started a list here, feel free to add to it. Ask for suggestions from which everyone can choose what works for them (e.g. </a:t>
            </a:r>
            <a:r>
              <a:rPr lang="en-US" b="1"/>
              <a:t>to the students</a:t>
            </a:r>
            <a:r>
              <a:rPr lang="en-US" b="0"/>
              <a:t>: We are collecting a few organizational strategies here that you can try out. In the end, you should pick what works for you. You're not stupid or lazy if a popular strategy doesn't work for you. Just try something else again!)</a:t>
            </a:r>
          </a:p>
          <a:p>
            <a:pPr marL="0" marR="0" lvl="0" indent="0" algn="l" defTabSz="914400" eaLnBrk="1" fontAlgn="auto" latinLnBrk="0" hangingPunct="1">
              <a:lnSpc>
                <a:spcPct val="100000"/>
              </a:lnSpc>
              <a:spcBef>
                <a:spcPts val="0"/>
              </a:spcBef>
              <a:spcAft>
                <a:spcPts val="0"/>
              </a:spcAft>
              <a:buClrTx/>
              <a:buSzTx/>
              <a:buFontTx/>
              <a:buNone/>
              <a:tabLst/>
              <a:defRPr/>
            </a:pPr>
            <a:endParaRPr lang="en-US" b="0"/>
          </a:p>
          <a:p>
            <a:pPr marL="0" marR="0" lvl="0" indent="0" algn="l" defTabSz="914400" eaLnBrk="1" fontAlgn="auto" latinLnBrk="0" hangingPunct="1">
              <a:lnSpc>
                <a:spcPct val="100000"/>
              </a:lnSpc>
              <a:spcBef>
                <a:spcPts val="0"/>
              </a:spcBef>
              <a:spcAft>
                <a:spcPts val="0"/>
              </a:spcAft>
              <a:buClrTx/>
              <a:buSzTx/>
              <a:buFontTx/>
              <a:buNone/>
              <a:tabLst/>
              <a:defRPr/>
            </a:pPr>
            <a:r>
              <a:rPr lang="en-US" b="0"/>
              <a:t>To-do list: simple but effective; tip: a list with everything you can think of and one with the 1-3 most important things you want to do today</a:t>
            </a:r>
          </a:p>
          <a:p>
            <a:pPr marL="0" marR="0" lvl="0" indent="0" algn="l" defTabSz="914400" eaLnBrk="1" fontAlgn="auto" latinLnBrk="0" hangingPunct="1">
              <a:lnSpc>
                <a:spcPct val="100000"/>
              </a:lnSpc>
              <a:spcBef>
                <a:spcPts val="0"/>
              </a:spcBef>
              <a:spcAft>
                <a:spcPts val="0"/>
              </a:spcAft>
              <a:buClrTx/>
              <a:buSzTx/>
              <a:buFontTx/>
              <a:buNone/>
              <a:tabLst/>
              <a:defRPr/>
            </a:pPr>
            <a:r>
              <a:rPr lang="en-US" b="0"/>
              <a:t>Eisenhower matrix: good for prioritizing; depending on whether the task is urgent and/or important, it is treated differently</a:t>
            </a:r>
          </a:p>
          <a:p>
            <a:pPr marL="0" marR="0" lvl="0" indent="0" algn="l" defTabSz="914400" eaLnBrk="1" fontAlgn="auto" latinLnBrk="0" hangingPunct="1">
              <a:lnSpc>
                <a:spcPct val="100000"/>
              </a:lnSpc>
              <a:spcBef>
                <a:spcPts val="0"/>
              </a:spcBef>
              <a:spcAft>
                <a:spcPts val="0"/>
              </a:spcAft>
              <a:buClrTx/>
              <a:buSzTx/>
              <a:buFontTx/>
              <a:buNone/>
              <a:tabLst/>
              <a:defRPr/>
            </a:pPr>
            <a:r>
              <a:rPr lang="en-US" b="0"/>
              <a:t>Time blocking: schedule blocks in the calendar for focused work, organization, but also leisure activities</a:t>
            </a:r>
          </a:p>
          <a:p>
            <a:pPr marL="0" marR="0" lvl="0" indent="0" algn="l" defTabSz="914400" eaLnBrk="1" fontAlgn="auto" latinLnBrk="0" hangingPunct="1">
              <a:lnSpc>
                <a:spcPct val="100000"/>
              </a:lnSpc>
              <a:spcBef>
                <a:spcPts val="0"/>
              </a:spcBef>
              <a:spcAft>
                <a:spcPts val="0"/>
              </a:spcAft>
              <a:buClrTx/>
              <a:buSzTx/>
              <a:buFontTx/>
              <a:buNone/>
              <a:tabLst/>
              <a:defRPr/>
            </a:pPr>
            <a:r>
              <a:rPr lang="en-US" b="0"/>
              <a:t>Pomodoro method: set a timer for 25 minutes and work, then take a 5-minute break (there are also apps that restrict cell phone use during this time); the exact length can of course be changed depending on your own workflow, e.g. some people prefer to work for 50 minutes at a time</a:t>
            </a:r>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the students: </a:t>
            </a:r>
            <a:r>
              <a:rPr lang="en-US" sz="1200" b="0" i="0" u="none">
                <a:solidFill>
                  <a:srgbClr val="000000"/>
                </a:solidFill>
                <a:latin typeface="Liberation Sans"/>
                <a:ea typeface="Liberation Sans"/>
                <a:cs typeface="Liberation Sans"/>
              </a:rPr>
              <a:t>System, system - what kind of system? Sounds like a computer program... But it doesn't have to be. And don't worry, you don't have to program anything. If you prefer a physical calendar and are comfortable keeping your to-do's in paper form, then go for it. But there are plenty of advantages to a digital approach and very few disadvantages. We recommend giving the Notion app a try. The program has been flourishing for students for a few years now and combines a writing program, calendar, to-do list and much more. What's more, the app costs nothing for </a:t>
            </a:r>
            <a:r>
              <a:rPr lang="en-US" sz="1200" b="0" i="0" u="none" err="1">
                <a:solidFill>
                  <a:srgbClr val="000000"/>
                </a:solidFill>
                <a:latin typeface="Liberation Sans"/>
                <a:ea typeface="Liberation Sans"/>
                <a:cs typeface="Liberation Sans"/>
              </a:rPr>
              <a:t>Leuphana</a:t>
            </a:r>
            <a:r>
              <a:rPr lang="en-US" sz="1200" b="0" i="0" u="none">
                <a:solidFill>
                  <a:srgbClr val="000000"/>
                </a:solidFill>
                <a:latin typeface="Liberation Sans"/>
                <a:ea typeface="Liberation Sans"/>
                <a:cs typeface="Liberation Sans"/>
              </a:rPr>
              <a:t> students and there is a template that was created especially for the </a:t>
            </a:r>
            <a:r>
              <a:rPr lang="en-US" sz="1200" b="0" i="0" u="none" err="1">
                <a:solidFill>
                  <a:srgbClr val="000000"/>
                </a:solidFill>
                <a:latin typeface="Liberation Sans"/>
                <a:ea typeface="Liberation Sans"/>
                <a:cs typeface="Liberation Sans"/>
              </a:rPr>
              <a:t>Leuphana</a:t>
            </a:r>
            <a:r>
              <a:rPr lang="en-US" sz="1200" b="0" i="0" u="none">
                <a:solidFill>
                  <a:srgbClr val="000000"/>
                </a:solidFill>
                <a:latin typeface="Liberation Sans"/>
                <a:ea typeface="Liberation Sans"/>
                <a:cs typeface="Liberation Sans"/>
              </a:rPr>
              <a:t> semester. </a:t>
            </a:r>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To the students: </a:t>
            </a:r>
            <a:r>
              <a:rPr lang="en-US" b="0"/>
              <a:t>You learn to distinguish the important from the unimportant from facts and information. It can help to ask questions such as “Why is the topic important?” or “What is the main message?”, as this allows you to keep the bigger picture in mind and take notes based on it. It might also help to pay attention to what the professor is focusing </a:t>
            </a:r>
            <a:r>
              <a:rPr lang="en-US" b="0" err="1"/>
              <a:t>on</a:t>
            </a:r>
            <a:r>
              <a:rPr lang="en-US" b="0"/>
              <a:t>. You learn the most when you really have to use your brain when taking notes, because you formulate things yourself, try to understand, recognize connections,...</a:t>
            </a:r>
            <a:endParaRPr lang="en-GB" b="0"/>
          </a:p>
        </p:txBody>
      </p:sp>
      <p:sp>
        <p:nvSpPr>
          <p:cNvPr id="4" name="Slide Number Placeholder 3"/>
          <p:cNvSpPr>
            <a:spLocks noGrp="1"/>
          </p:cNvSpPr>
          <p:nvPr>
            <p:ph type="sldNum" sz="quarter" idx="5"/>
          </p:nvPr>
        </p:nvSpPr>
        <p:spPr/>
        <p:txBody>
          <a:bodyPr/>
          <a:lstStyle/>
          <a:p>
            <a:fld id="{91C7837A-BE0C-8E44-AC6E-3BD867A160FB}" type="slidenum">
              <a:rPr lang="de-DE" smtClean="0"/>
              <a:t>12</a:t>
            </a:fld>
            <a:endParaRPr lang="de-DE"/>
          </a:p>
        </p:txBody>
      </p:sp>
    </p:spTree>
    <p:extLst>
      <p:ext uri="{BB962C8B-B14F-4D97-AF65-F5344CB8AC3E}">
        <p14:creationId xmlns:p14="http://schemas.microsoft.com/office/powerpoint/2010/main" val="3934854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To You: </a:t>
            </a:r>
            <a:r>
              <a:rPr lang="en-GB"/>
              <a:t>a collection of Wiki articles for further information</a:t>
            </a:r>
          </a:p>
        </p:txBody>
      </p:sp>
      <p:sp>
        <p:nvSpPr>
          <p:cNvPr id="4" name="Slide Number Placeholder 3"/>
          <p:cNvSpPr>
            <a:spLocks noGrp="1"/>
          </p:cNvSpPr>
          <p:nvPr>
            <p:ph type="sldNum" sz="quarter" idx="5"/>
          </p:nvPr>
        </p:nvSpPr>
        <p:spPr/>
        <p:txBody>
          <a:bodyPr/>
          <a:lstStyle/>
          <a:p>
            <a:fld id="{91C7837A-BE0C-8E44-AC6E-3BD867A160FB}" type="slidenum">
              <a:rPr lang="de-DE" smtClean="0"/>
              <a:t>13</a:t>
            </a:fld>
            <a:endParaRPr lang="de-DE"/>
          </a:p>
        </p:txBody>
      </p:sp>
    </p:spTree>
    <p:extLst>
      <p:ext uri="{BB962C8B-B14F-4D97-AF65-F5344CB8AC3E}">
        <p14:creationId xmlns:p14="http://schemas.microsoft.com/office/powerpoint/2010/main" val="420509062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8.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10" Type="http://schemas.openxmlformats.org/officeDocument/2006/relationships/image" Target="../media/image7.svg"/><Relationship Id="rId4" Type="http://schemas.openxmlformats.org/officeDocument/2006/relationships/image" Target="../media/image9.svg"/><Relationship Id="rId9"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1.jpeg"/><Relationship Id="rId4" Type="http://schemas.openxmlformats.org/officeDocument/2006/relationships/image" Target="../media/image2.png"/><Relationship Id="rId9"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jpeg"/><Relationship Id="rId4" Type="http://schemas.openxmlformats.org/officeDocument/2006/relationships/image" Target="../media/image4.png"/><Relationship Id="rId9"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peg"/><Relationship Id="rId1" Type="http://schemas.openxmlformats.org/officeDocument/2006/relationships/slideMaster" Target="../slideMasters/slideMaster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Master" Target="../slideMasters/slideMaster2.xml"/><Relationship Id="rId6" Type="http://schemas.openxmlformats.org/officeDocument/2006/relationships/image" Target="../media/image1.jpeg"/><Relationship Id="rId5" Type="http://schemas.openxmlformats.org/officeDocument/2006/relationships/image" Target="../media/image44.png"/><Relationship Id="rId4" Type="http://schemas.openxmlformats.org/officeDocument/2006/relationships/image" Target="../media/image4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Master" Target="../slideMasters/slideMaster2.xml"/><Relationship Id="rId6" Type="http://schemas.openxmlformats.org/officeDocument/2006/relationships/image" Target="../media/image1.jpeg"/><Relationship Id="rId5" Type="http://schemas.openxmlformats.org/officeDocument/2006/relationships/image" Target="../media/image41.png"/><Relationship Id="rId4" Type="http://schemas.openxmlformats.org/officeDocument/2006/relationships/image" Target="../media/image4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3581400"/>
          </a:xfrm>
        </p:spPr>
        <p:txBody>
          <a:bodyPr anchor="b"/>
          <a:lstStyle>
            <a:lvl1pPr algn="ctr">
              <a:defRPr sz="6000"/>
            </a:lvl1pPr>
          </a:lstStyle>
          <a:p>
            <a:r>
              <a:rPr lang="de-DE"/>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Tutor*in: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4" name="Untertitel 2">
            <a:extLst>
              <a:ext uri="{FF2B5EF4-FFF2-40B4-BE49-F238E27FC236}">
                <a16:creationId xmlns:a16="http://schemas.microsoft.com/office/drawing/2014/main" id="{098E5780-8526-6089-883C-304A7B1FEF87}"/>
              </a:ext>
            </a:extLst>
          </p:cNvPr>
          <p:cNvSpPr txBox="1">
            <a:spLocks/>
          </p:cNvSpPr>
          <p:nvPr userDrawn="1"/>
        </p:nvSpPr>
        <p:spPr>
          <a:xfrm>
            <a:off x="2205642" y="6228658"/>
            <a:ext cx="13716000" cy="12760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de-DE"/>
          </a:p>
        </p:txBody>
      </p:sp>
      <p:sp>
        <p:nvSpPr>
          <p:cNvPr id="5" name="Untertitel 2">
            <a:extLst>
              <a:ext uri="{FF2B5EF4-FFF2-40B4-BE49-F238E27FC236}">
                <a16:creationId xmlns:a16="http://schemas.microsoft.com/office/drawing/2014/main" id="{9A44B3A5-D45E-6AC8-EA59-A853F9E8010A}"/>
              </a:ext>
            </a:extLst>
          </p:cNvPr>
          <p:cNvSpPr txBox="1">
            <a:spLocks/>
          </p:cNvSpPr>
          <p:nvPr userDrawn="1"/>
        </p:nvSpPr>
        <p:spPr>
          <a:xfrm>
            <a:off x="9144000" y="7982337"/>
            <a:ext cx="6777643" cy="7831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a:t>Datum: </a:t>
            </a:r>
          </a:p>
        </p:txBody>
      </p:sp>
    </p:spTree>
    <p:extLst>
      <p:ext uri="{BB962C8B-B14F-4D97-AF65-F5344CB8AC3E}">
        <p14:creationId xmlns:p14="http://schemas.microsoft.com/office/powerpoint/2010/main" val="3538319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6000"/>
            </a:lvl1pPr>
          </a:lstStyle>
          <a:p>
            <a:r>
              <a:rPr lang="de-DE"/>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2018666" y="506518"/>
            <a:ext cx="2809405" cy="2643335"/>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562784" y="4424673"/>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1766" y="-260603"/>
            <a:ext cx="3894251" cy="4068485"/>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4998235" y="987245"/>
            <a:ext cx="3473526" cy="291463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4548476" y="-705407"/>
            <a:ext cx="3201123" cy="3188050"/>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366738" y="782145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050506" y="-563810"/>
            <a:ext cx="2158222" cy="2864923"/>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r>
              <a:rPr lang="de-DE"/>
              <a:t> </a:t>
            </a:r>
          </a:p>
          <a:p>
            <a:pPr lvl="1"/>
            <a:r>
              <a:rPr lang="de-DE"/>
              <a:t>  </a:t>
            </a:r>
          </a:p>
          <a:p>
            <a:pPr lvl="0"/>
            <a:r>
              <a:rPr lang="de-DE"/>
              <a:t>  </a:t>
            </a:r>
          </a:p>
          <a:p>
            <a:pPr lvl="1"/>
            <a:r>
              <a:rPr lang="de-DE"/>
              <a:t>  </a:t>
            </a:r>
          </a:p>
          <a:p>
            <a:pPr lvl="1"/>
            <a:r>
              <a:rPr lang="de-DE"/>
              <a:t> </a:t>
            </a:r>
          </a:p>
          <a:p>
            <a:pPr lvl="0"/>
            <a:r>
              <a:rPr lang="de-DE"/>
              <a:t>  </a:t>
            </a:r>
          </a:p>
          <a:p>
            <a:pPr lvl="1"/>
            <a:r>
              <a:rPr lang="de-DE"/>
              <a:t> </a:t>
            </a:r>
          </a:p>
          <a:p>
            <a:pPr lvl="1"/>
            <a:r>
              <a:rPr lang="de-DE"/>
              <a:t> </a:t>
            </a:r>
          </a:p>
          <a:p>
            <a:pPr lvl="1"/>
            <a:r>
              <a:rPr lang="de-DE"/>
              <a:t> </a:t>
            </a:r>
          </a:p>
          <a:p>
            <a:pPr lvl="0"/>
            <a:r>
              <a:rPr lang="de-DE"/>
              <a:t> </a:t>
            </a:r>
          </a:p>
          <a:p>
            <a:pPr lvl="0"/>
            <a:endParaRPr lang="de-DE"/>
          </a:p>
        </p:txBody>
      </p:sp>
    </p:spTree>
    <p:extLst>
      <p:ext uri="{BB962C8B-B14F-4D97-AF65-F5344CB8AC3E}">
        <p14:creationId xmlns:p14="http://schemas.microsoft.com/office/powerpoint/2010/main" val="3544296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483674"/>
          </a:xfrm>
        </p:spPr>
        <p:txBody>
          <a:bodyPr lIns="90000" anchor="ctr"/>
          <a:lstStyle>
            <a:lvl1pPr>
              <a:defRPr sz="6000"/>
            </a:lvl1pPr>
          </a:lstStyle>
          <a:p>
            <a:r>
              <a:rPr lang="de-DE"/>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9913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1944000" y="1301860"/>
            <a:ext cx="14400000" cy="1260000"/>
          </a:xfrm>
        </p:spPr>
        <p:txBody>
          <a:bodyPr/>
          <a:lstStyle/>
          <a:p>
            <a:r>
              <a:rPr lang="de-DE"/>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1944000" y="2738828"/>
            <a:ext cx="14400000" cy="64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806140" y="-803735"/>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5926566D-A50F-E915-FB4C-1392EE78A825}"/>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FD49F164-DAE8-6727-6DAB-B303AC9C1A18}"/>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16771767" y="216258"/>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15646620" y="-376703"/>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811538" y="3739758"/>
            <a:ext cx="2509961" cy="2095591"/>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17318415" y="2283638"/>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565003B8-E35C-4A98-29B0-022ACADD0DE8}"/>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Tree>
    <p:extLst>
      <p:ext uri="{BB962C8B-B14F-4D97-AF65-F5344CB8AC3E}">
        <p14:creationId xmlns:p14="http://schemas.microsoft.com/office/powerpoint/2010/main" val="2415485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3955611"/>
          </a:xfrm>
        </p:spPr>
        <p:txBody>
          <a:bodyPr lIns="90000" anchor="b"/>
          <a:lstStyle>
            <a:lvl1pPr>
              <a:defRPr sz="6000"/>
            </a:lvl1pPr>
          </a:lstStyle>
          <a:p>
            <a:r>
              <a:rPr lang="de-DE"/>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15376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229704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179945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1944000" y="1366765"/>
            <a:ext cx="14400000" cy="1260000"/>
          </a:xfrm>
        </p:spPr>
        <p:txBody>
          <a:bodyPr/>
          <a:lstStyle/>
          <a:p>
            <a:r>
              <a:rPr lang="de-DE"/>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19440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92202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92922934-2D9F-FFEA-894A-C9CB5345C80F}"/>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1653257" y="-539706"/>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407556" y="850423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243BE1EB-BFDE-6083-A284-87D7CF37DB8D}"/>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16401541" y="71447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16917043" y="6687679"/>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400313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1944000" y="1174623"/>
            <a:ext cx="14400000" cy="1260000"/>
          </a:xfrm>
        </p:spPr>
        <p:txBody>
          <a:bodyPr/>
          <a:lstStyle/>
          <a:p>
            <a:r>
              <a:rPr lang="de-DE"/>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1944000" y="3757613"/>
            <a:ext cx="7052362"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9258301" y="3757613"/>
            <a:ext cx="7085700"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4">
            <a:extLst>
              <a:ext uri="{FF2B5EF4-FFF2-40B4-BE49-F238E27FC236}">
                <a16:creationId xmlns:a16="http://schemas.microsoft.com/office/drawing/2014/main" id="{35889E93-2A5D-58AD-C395-D2FD5A443DED}"/>
              </a:ext>
            </a:extLst>
          </p:cNvPr>
          <p:cNvSpPr/>
          <p:nvPr userDrawn="1"/>
        </p:nvSpPr>
        <p:spPr>
          <a:xfrm>
            <a:off x="16605940" y="6291738"/>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16672693" y="5865697"/>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16710104" y="1053145"/>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15390336" y="-527401"/>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17157286" y="131932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1" name="Freeform 13">
            <a:extLst>
              <a:ext uri="{FF2B5EF4-FFF2-40B4-BE49-F238E27FC236}">
                <a16:creationId xmlns:a16="http://schemas.microsoft.com/office/drawing/2014/main" id="{ED978E30-DF37-EF1E-4EDA-D257DB52A802}"/>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2" name="Freeform 2">
            <a:extLst>
              <a:ext uri="{FF2B5EF4-FFF2-40B4-BE49-F238E27FC236}">
                <a16:creationId xmlns:a16="http://schemas.microsoft.com/office/drawing/2014/main" id="{BC28FAE3-EF77-16F7-D36F-89291BDBA23F}"/>
              </a:ext>
            </a:extLst>
          </p:cNvPr>
          <p:cNvSpPr/>
          <p:nvPr userDrawn="1"/>
        </p:nvSpPr>
        <p:spPr>
          <a:xfrm>
            <a:off x="-1249582" y="4137531"/>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755376" y="4673141"/>
            <a:ext cx="1600955" cy="1645696"/>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754582" y="-207773"/>
            <a:ext cx="1882775" cy="168495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25" name="Freeform 4">
            <a:extLst>
              <a:ext uri="{FF2B5EF4-FFF2-40B4-BE49-F238E27FC236}">
                <a16:creationId xmlns:a16="http://schemas.microsoft.com/office/drawing/2014/main" id="{64108208-23A2-8DFE-FE94-2A9E0DE10064}"/>
              </a:ext>
            </a:extLst>
          </p:cNvPr>
          <p:cNvSpPr/>
          <p:nvPr userDrawn="1"/>
        </p:nvSpPr>
        <p:spPr>
          <a:xfrm>
            <a:off x="-613526" y="-932654"/>
            <a:ext cx="2609805" cy="259339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Tree>
    <p:extLst>
      <p:ext uri="{BB962C8B-B14F-4D97-AF65-F5344CB8AC3E}">
        <p14:creationId xmlns:p14="http://schemas.microsoft.com/office/powerpoint/2010/main" val="157391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634233" y="-130796"/>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92944" y="603209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817599" y="-741416"/>
            <a:ext cx="2912187" cy="310971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5833994" y="712804"/>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296953" y="7886423"/>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Tree>
    <p:extLst>
      <p:ext uri="{BB962C8B-B14F-4D97-AF65-F5344CB8AC3E}">
        <p14:creationId xmlns:p14="http://schemas.microsoft.com/office/powerpoint/2010/main" val="201178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1848993" y="-392157"/>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5" name="Freeform 2">
            <a:extLst>
              <a:ext uri="{FF2B5EF4-FFF2-40B4-BE49-F238E27FC236}">
                <a16:creationId xmlns:a16="http://schemas.microsoft.com/office/drawing/2014/main" id="{7138968B-20AA-CAF8-700F-BAB93331E2BF}"/>
              </a:ext>
            </a:extLst>
          </p:cNvPr>
          <p:cNvSpPr/>
          <p:nvPr userDrawn="1"/>
        </p:nvSpPr>
        <p:spPr>
          <a:xfrm>
            <a:off x="351158" y="5589207"/>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7" name="Freeform 4">
            <a:extLst>
              <a:ext uri="{FF2B5EF4-FFF2-40B4-BE49-F238E27FC236}">
                <a16:creationId xmlns:a16="http://schemas.microsoft.com/office/drawing/2014/main" id="{9CF66559-D777-73EC-5EEC-F85C25559919}"/>
              </a:ext>
            </a:extLst>
          </p:cNvPr>
          <p:cNvSpPr/>
          <p:nvPr userDrawn="1"/>
        </p:nvSpPr>
        <p:spPr>
          <a:xfrm>
            <a:off x="-817599" y="-741417"/>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15358696" y="245178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702797" y="573633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15741562" y="989320"/>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14830585" y="-257242"/>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17027787" y="496651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619918" y="699121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16212870" y="1083509"/>
            <a:ext cx="2213171" cy="2273738"/>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3">
            <a:extLst>
              <a:ext uri="{FF2B5EF4-FFF2-40B4-BE49-F238E27FC236}">
                <a16:creationId xmlns:a16="http://schemas.microsoft.com/office/drawing/2014/main" id="{16DFAD4E-E1FC-D536-8781-C7766040C289}"/>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Tree>
    <p:extLst>
      <p:ext uri="{BB962C8B-B14F-4D97-AF65-F5344CB8AC3E}">
        <p14:creationId xmlns:p14="http://schemas.microsoft.com/office/powerpoint/2010/main" val="2780893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1944000" y="1481138"/>
            <a:ext cx="5235566" cy="1260000"/>
          </a:xfrm>
        </p:spPr>
        <p:txBody>
          <a:bodyPr anchor="b"/>
          <a:lstStyle>
            <a:lvl1pPr>
              <a:defRPr sz="3200"/>
            </a:lvl1pPr>
          </a:lstStyle>
          <a:p>
            <a:r>
              <a:rPr lang="de-DE"/>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22" name="Freeform 2">
            <a:extLst>
              <a:ext uri="{FF2B5EF4-FFF2-40B4-BE49-F238E27FC236}">
                <a16:creationId xmlns:a16="http://schemas.microsoft.com/office/drawing/2014/main" id="{B785267F-9B21-E2D1-8B7C-5852346519D4}"/>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4" name="Freeform 5">
            <a:extLst>
              <a:ext uri="{FF2B5EF4-FFF2-40B4-BE49-F238E27FC236}">
                <a16:creationId xmlns:a16="http://schemas.microsoft.com/office/drawing/2014/main" id="{A2353211-40FC-5740-32CD-1C4B636D7A37}"/>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de-DE"/>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de-DE"/>
          </a:p>
        </p:txBody>
      </p:sp>
    </p:spTree>
    <p:extLst>
      <p:ext uri="{BB962C8B-B14F-4D97-AF65-F5344CB8AC3E}">
        <p14:creationId xmlns:p14="http://schemas.microsoft.com/office/powerpoint/2010/main" val="141122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8" name="Freeform 2">
            <a:extLst>
              <a:ext uri="{FF2B5EF4-FFF2-40B4-BE49-F238E27FC236}">
                <a16:creationId xmlns:a16="http://schemas.microsoft.com/office/drawing/2014/main" id="{90BB0451-57CE-6C95-DCE7-EB3A0D295758}"/>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AAC90572-095E-D207-28CC-5CC7CE8AAB54}"/>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88CBCFF4-7254-B7D0-3D1F-F21E7E31B92C}"/>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0"/>
            <a:stretch>
              <a:fillRect/>
            </a:stretch>
          </a:blipFill>
        </p:spPr>
        <p:txBody>
          <a:bodyPr/>
          <a:lstStyle/>
          <a:p>
            <a:endParaRPr lang="de-DE"/>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1944000" y="1481138"/>
            <a:ext cx="5235566" cy="1260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1211507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30294"/>
          </a:xfrm>
        </p:spPr>
        <p:txBody>
          <a:bodyPr anchor="ctr"/>
          <a:lstStyle>
            <a:lvl1pPr algn="ctr">
              <a:defRPr sz="6000"/>
            </a:lvl1pPr>
          </a:lstStyle>
          <a:p>
            <a:r>
              <a:rPr lang="de-DE"/>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4168728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21384"/>
          </a:xfrm>
        </p:spPr>
        <p:txBody>
          <a:bodyPr anchor="ctr"/>
          <a:lstStyle>
            <a:lvl1pPr algn="ctr">
              <a:defRPr sz="6000"/>
            </a:lvl1pPr>
          </a:lstStyle>
          <a:p>
            <a:r>
              <a:rPr lang="de-DE"/>
              <a:t>Schön das Ihr da wart!</a:t>
            </a:r>
            <a:br>
              <a:rPr lang="de-DE"/>
            </a:br>
            <a:r>
              <a:rPr lang="de-DE"/>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a:p>
        </p:txBody>
      </p:sp>
    </p:spTree>
    <p:extLst>
      <p:ext uri="{BB962C8B-B14F-4D97-AF65-F5344CB8AC3E}">
        <p14:creationId xmlns:p14="http://schemas.microsoft.com/office/powerpoint/2010/main" val="3076106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15876905" y="4807323"/>
            <a:ext cx="2373813" cy="1592764"/>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12021566" y="6891802"/>
            <a:ext cx="1502640" cy="1592764"/>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13639800" y="6638689"/>
            <a:ext cx="1949303" cy="1592764"/>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9677723" y="6922092"/>
            <a:ext cx="2258684" cy="1592764"/>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11326904" y="5064484"/>
            <a:ext cx="2033866" cy="1592764"/>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14485268" y="3220983"/>
            <a:ext cx="1775341" cy="1592764"/>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16220430" y="8526750"/>
            <a:ext cx="2080242" cy="1592764"/>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2349260" y="4800008"/>
            <a:ext cx="2193219" cy="1592764"/>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16093202" y="3146603"/>
            <a:ext cx="2157516" cy="1592764"/>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2970519" y="3831316"/>
            <a:ext cx="1196899" cy="839754"/>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910516" y="742994"/>
            <a:ext cx="1205798" cy="1180532"/>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6088394" y="3574688"/>
            <a:ext cx="974938" cy="974938"/>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4514349" y="3536998"/>
            <a:ext cx="1005134" cy="1005134"/>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7906067" y="1750254"/>
            <a:ext cx="1622856" cy="1562899"/>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700124" y="890575"/>
            <a:ext cx="2921000" cy="2108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4529618" y="1217924"/>
            <a:ext cx="3721100" cy="2082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3755809" y="4850217"/>
            <a:ext cx="1726057" cy="14535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2232967" y="3095399"/>
            <a:ext cx="1887615" cy="17548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675959" y="5412782"/>
            <a:ext cx="2620189" cy="107481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417133" y="8901354"/>
            <a:ext cx="2390510" cy="115722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03731" y="6936730"/>
            <a:ext cx="2288833" cy="1587749"/>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16184729" y="6678395"/>
            <a:ext cx="1949303" cy="15194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5525448" y="6847298"/>
            <a:ext cx="1562381" cy="1577404"/>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9443146" y="9086104"/>
            <a:ext cx="1646901" cy="979116"/>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958330" y="8641236"/>
            <a:ext cx="1939938" cy="136379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7255942" y="8924883"/>
            <a:ext cx="1706562" cy="1137709"/>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cstate="print">
            <a:extLst>
              <a:ext uri="{28A0092B-C50C-407E-A947-70E740481C1C}">
                <a14:useLocalDpi xmlns:a14="http://schemas.microsoft.com/office/drawing/2010/main" val="0"/>
              </a:ext>
            </a:extLst>
          </a:blip>
          <a:srcRect/>
          <a:stretch>
            <a:fillRect/>
          </a:stretch>
        </p:blipFill>
        <p:spPr bwMode="auto">
          <a:xfrm>
            <a:off x="14059336" y="8424702"/>
            <a:ext cx="2033866" cy="1538664"/>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4693598" y="4800301"/>
            <a:ext cx="16637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cstate="print">
            <a:extLst>
              <a:ext uri="{28A0092B-C50C-407E-A947-70E740481C1C}">
                <a14:useLocalDpi xmlns:a14="http://schemas.microsoft.com/office/drawing/2010/main" val="0"/>
              </a:ext>
            </a:extLst>
          </a:blip>
          <a:srcRect/>
          <a:stretch>
            <a:fillRect/>
          </a:stretch>
        </p:blipFill>
        <p:spPr bwMode="auto">
          <a:xfrm>
            <a:off x="6494308" y="5049355"/>
            <a:ext cx="18034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cstate="print">
            <a:extLst>
              <a:ext uri="{28A0092B-C50C-407E-A947-70E740481C1C}">
                <a14:useLocalDpi xmlns:a14="http://schemas.microsoft.com/office/drawing/2010/main" val="0"/>
              </a:ext>
            </a:extLst>
          </a:blip>
          <a:srcRect/>
          <a:stretch>
            <a:fillRect/>
          </a:stretch>
        </p:blipFill>
        <p:spPr bwMode="auto">
          <a:xfrm>
            <a:off x="2382363" y="8468714"/>
            <a:ext cx="1658539" cy="1494652"/>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cstate="print">
            <a:extLst>
              <a:ext uri="{28A0092B-C50C-407E-A947-70E740481C1C}">
                <a14:useLocalDpi xmlns:a14="http://schemas.microsoft.com/office/drawing/2010/main" val="0"/>
              </a:ext>
            </a:extLst>
          </a:blip>
          <a:srcRect/>
          <a:stretch>
            <a:fillRect/>
          </a:stretch>
        </p:blipFill>
        <p:spPr bwMode="auto">
          <a:xfrm>
            <a:off x="2775411" y="6582177"/>
            <a:ext cx="2565400" cy="161290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9831262" y="2000770"/>
            <a:ext cx="1868862" cy="1211023"/>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cstate="print">
            <a:extLst>
              <a:ext uri="{28A0092B-C50C-407E-A947-70E740481C1C}">
                <a14:useLocalDpi xmlns:a14="http://schemas.microsoft.com/office/drawing/2010/main" val="0"/>
              </a:ext>
            </a:extLst>
          </a:blip>
          <a:srcRect/>
          <a:stretch>
            <a:fillRect/>
          </a:stretch>
        </p:blipFill>
        <p:spPr bwMode="auto">
          <a:xfrm>
            <a:off x="7359737" y="3540548"/>
            <a:ext cx="2377773" cy="131982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cstate="print">
            <a:extLst>
              <a:ext uri="{28A0092B-C50C-407E-A947-70E740481C1C}">
                <a14:useLocalDpi xmlns:a14="http://schemas.microsoft.com/office/drawing/2010/main" val="0"/>
              </a:ext>
            </a:extLst>
          </a:blip>
          <a:srcRect/>
          <a:stretch>
            <a:fillRect/>
          </a:stretch>
        </p:blipFill>
        <p:spPr bwMode="auto">
          <a:xfrm>
            <a:off x="197038" y="6967110"/>
            <a:ext cx="2098998" cy="1547746"/>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cstate="print">
            <a:extLst>
              <a:ext uri="{28A0092B-C50C-407E-A947-70E740481C1C}">
                <a14:useLocalDpi xmlns:a14="http://schemas.microsoft.com/office/drawing/2010/main" val="0"/>
              </a:ext>
            </a:extLst>
          </a:blip>
          <a:srcRect/>
          <a:stretch>
            <a:fillRect/>
          </a:stretch>
        </p:blipFill>
        <p:spPr bwMode="auto">
          <a:xfrm>
            <a:off x="27529" y="8712074"/>
            <a:ext cx="2167269" cy="1429476"/>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305392" y="2225969"/>
            <a:ext cx="2416046" cy="369332"/>
          </a:xfrm>
          <a:prstGeom prst="rect">
            <a:avLst/>
          </a:prstGeom>
          <a:noFill/>
        </p:spPr>
        <p:txBody>
          <a:bodyPr wrap="none" rtlCol="0">
            <a:spAutoFit/>
          </a:bodyPr>
          <a:lstStyle/>
          <a:p>
            <a:r>
              <a:rPr lang="de-DE"/>
              <a:t>Icon für extra Material</a:t>
            </a:r>
          </a:p>
        </p:txBody>
      </p:sp>
    </p:spTree>
    <p:extLst>
      <p:ext uri="{BB962C8B-B14F-4D97-AF65-F5344CB8AC3E}">
        <p14:creationId xmlns:p14="http://schemas.microsoft.com/office/powerpoint/2010/main" val="1633780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type="titleOnly" preserve="1" userDrawn="1">
  <p:cSld name="Nur Titel">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Mastertitelformat bearbeiten</a:t>
            </a:r>
            <a:endParaRPr/>
          </a:p>
        </p:txBody>
      </p:sp>
      <p:sp>
        <p:nvSpPr>
          <p:cNvPr id="17" name="Freeform 13"/>
          <p:cNvSpPr/>
          <p:nvPr userDrawn="1"/>
        </p:nvSpPr>
        <p:spPr bwMode="auto">
          <a:xfrm>
            <a:off x="7687909" y="30603"/>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1400"/>
          </a:p>
        </p:txBody>
      </p:sp>
      <p:sp>
        <p:nvSpPr>
          <p:cNvPr id="30" name="Freeform 10"/>
          <p:cNvSpPr/>
          <p:nvPr userDrawn="1"/>
        </p:nvSpPr>
        <p:spPr bwMode="auto">
          <a:xfrm rot="-2487859">
            <a:off x="634235" y="-130796"/>
            <a:ext cx="2100922"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1400"/>
          </a:p>
        </p:txBody>
      </p:sp>
      <p:sp>
        <p:nvSpPr>
          <p:cNvPr id="31" name="Freeform 2"/>
          <p:cNvSpPr/>
          <p:nvPr userDrawn="1"/>
        </p:nvSpPr>
        <p:spPr bwMode="auto">
          <a:xfrm>
            <a:off x="92944" y="6032093"/>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sz="1400"/>
          </a:p>
        </p:txBody>
      </p:sp>
      <p:sp>
        <p:nvSpPr>
          <p:cNvPr id="32" name="Freeform 3"/>
          <p:cNvSpPr/>
          <p:nvPr userDrawn="1"/>
        </p:nvSpPr>
        <p:spPr bwMode="auto">
          <a:xfrm rot="4680788">
            <a:off x="16257419" y="8270983"/>
            <a:ext cx="2635834" cy="2525610"/>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sz="1400"/>
          </a:p>
        </p:txBody>
      </p:sp>
      <p:sp>
        <p:nvSpPr>
          <p:cNvPr id="33" name="Freeform 4"/>
          <p:cNvSpPr/>
          <p:nvPr userDrawn="1"/>
        </p:nvSpPr>
        <p:spPr bwMode="auto">
          <a:xfrm>
            <a:off x="-817600" y="-741415"/>
            <a:ext cx="2912188" cy="310971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sz="1400"/>
          </a:p>
        </p:txBody>
      </p:sp>
      <p:sp>
        <p:nvSpPr>
          <p:cNvPr id="34" name="Freeform 5"/>
          <p:cNvSpPr/>
          <p:nvPr userDrawn="1"/>
        </p:nvSpPr>
        <p:spPr bwMode="auto">
          <a:xfrm rot="16008410">
            <a:off x="15833994" y="712804"/>
            <a:ext cx="2347588"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sz="1400"/>
          </a:p>
        </p:txBody>
      </p:sp>
      <p:sp>
        <p:nvSpPr>
          <p:cNvPr id="35" name="Freeform 6"/>
          <p:cNvSpPr/>
          <p:nvPr userDrawn="1"/>
        </p:nvSpPr>
        <p:spPr bwMode="auto">
          <a:xfrm rot="7860678">
            <a:off x="126546" y="7226320"/>
            <a:ext cx="1600956" cy="1490344"/>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sz="1400"/>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sz="1400"/>
          </a:p>
        </p:txBody>
      </p:sp>
      <p:sp>
        <p:nvSpPr>
          <p:cNvPr id="38" name="Freeform 9"/>
          <p:cNvSpPr/>
          <p:nvPr userDrawn="1"/>
        </p:nvSpPr>
        <p:spPr bwMode="auto">
          <a:xfrm rot="1296289">
            <a:off x="15384350" y="-545920"/>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sz="1400"/>
          </a:p>
        </p:txBody>
      </p:sp>
      <p:sp>
        <p:nvSpPr>
          <p:cNvPr id="39" name="Freeform 10"/>
          <p:cNvSpPr/>
          <p:nvPr userDrawn="1"/>
        </p:nvSpPr>
        <p:spPr bwMode="auto">
          <a:xfrm rot="-2487859">
            <a:off x="16952454" y="4767485"/>
            <a:ext cx="2033724" cy="1619754"/>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1400"/>
          </a:p>
        </p:txBody>
      </p:sp>
      <p:sp>
        <p:nvSpPr>
          <p:cNvPr id="40" name="Freeform 11"/>
          <p:cNvSpPr/>
          <p:nvPr userDrawn="1"/>
        </p:nvSpPr>
        <p:spPr bwMode="auto">
          <a:xfrm rot="1296289">
            <a:off x="296954" y="7886424"/>
            <a:ext cx="3294096" cy="275408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sz="1400"/>
          </a:p>
        </p:txBody>
      </p:sp>
      <p:sp>
        <p:nvSpPr>
          <p:cNvPr id="41" name="Freeform 12"/>
          <p:cNvSpPr/>
          <p:nvPr userDrawn="1"/>
        </p:nvSpPr>
        <p:spPr bwMode="auto">
          <a:xfrm rot="2046247">
            <a:off x="17723194" y="-357479"/>
            <a:ext cx="1707092"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sz="1400"/>
          </a:p>
        </p:txBody>
      </p:sp>
    </p:spTree>
    <p:extLst>
      <p:ext uri="{BB962C8B-B14F-4D97-AF65-F5344CB8AC3E}">
        <p14:creationId xmlns:p14="http://schemas.microsoft.com/office/powerpoint/2010/main" val="3548780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type="blank" preserve="1"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1848995" y="-392158"/>
            <a:ext cx="2100922"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1400"/>
          </a:p>
        </p:txBody>
      </p:sp>
      <p:sp>
        <p:nvSpPr>
          <p:cNvPr id="5" name="Freeform 2"/>
          <p:cNvSpPr/>
          <p:nvPr userDrawn="1"/>
        </p:nvSpPr>
        <p:spPr bwMode="auto">
          <a:xfrm>
            <a:off x="351158" y="5589209"/>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sz="1400"/>
          </a:p>
        </p:txBody>
      </p:sp>
      <p:sp>
        <p:nvSpPr>
          <p:cNvPr id="6" name="Freeform 3"/>
          <p:cNvSpPr/>
          <p:nvPr userDrawn="1"/>
        </p:nvSpPr>
        <p:spPr bwMode="auto">
          <a:xfrm rot="4680788">
            <a:off x="16257419" y="8270983"/>
            <a:ext cx="2635834" cy="2525610"/>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sz="1400"/>
          </a:p>
        </p:txBody>
      </p:sp>
      <p:sp>
        <p:nvSpPr>
          <p:cNvPr id="7" name="Freeform 4"/>
          <p:cNvSpPr/>
          <p:nvPr userDrawn="1"/>
        </p:nvSpPr>
        <p:spPr bwMode="auto">
          <a:xfrm>
            <a:off x="-817599" y="-741416"/>
            <a:ext cx="3505910" cy="3416668"/>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sz="1400"/>
          </a:p>
        </p:txBody>
      </p:sp>
      <p:sp>
        <p:nvSpPr>
          <p:cNvPr id="8" name="Freeform 5"/>
          <p:cNvSpPr/>
          <p:nvPr userDrawn="1"/>
        </p:nvSpPr>
        <p:spPr bwMode="auto">
          <a:xfrm rot="16008410">
            <a:off x="15358696" y="2451780"/>
            <a:ext cx="2347588"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1400"/>
          </a:p>
        </p:txBody>
      </p:sp>
      <p:sp>
        <p:nvSpPr>
          <p:cNvPr id="9" name="Freeform 6"/>
          <p:cNvSpPr/>
          <p:nvPr userDrawn="1"/>
        </p:nvSpPr>
        <p:spPr bwMode="auto">
          <a:xfrm rot="7860678">
            <a:off x="702798" y="5736336"/>
            <a:ext cx="1600956" cy="1490344"/>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sz="1400"/>
          </a:p>
        </p:txBody>
      </p:sp>
      <p:sp>
        <p:nvSpPr>
          <p:cNvPr id="10"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sz="1400"/>
          </a:p>
        </p:txBody>
      </p:sp>
      <p:sp>
        <p:nvSpPr>
          <p:cNvPr id="11" name="Freeform 8"/>
          <p:cNvSpPr/>
          <p:nvPr userDrawn="1"/>
        </p:nvSpPr>
        <p:spPr bwMode="auto">
          <a:xfrm rot="-458312">
            <a:off x="15741562" y="989321"/>
            <a:ext cx="3155792" cy="3023822"/>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sz="1400"/>
          </a:p>
        </p:txBody>
      </p:sp>
      <p:sp>
        <p:nvSpPr>
          <p:cNvPr id="12" name="Freeform 9"/>
          <p:cNvSpPr/>
          <p:nvPr userDrawn="1"/>
        </p:nvSpPr>
        <p:spPr bwMode="auto">
          <a:xfrm rot="1296289">
            <a:off x="14830584" y="-257242"/>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sz="1400"/>
          </a:p>
        </p:txBody>
      </p:sp>
      <p:sp>
        <p:nvSpPr>
          <p:cNvPr id="13" name="Freeform 10"/>
          <p:cNvSpPr/>
          <p:nvPr userDrawn="1"/>
        </p:nvSpPr>
        <p:spPr bwMode="auto">
          <a:xfrm rot="-2487859">
            <a:off x="17027788" y="4966512"/>
            <a:ext cx="1763768" cy="149439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1400"/>
          </a:p>
        </p:txBody>
      </p:sp>
      <p:sp>
        <p:nvSpPr>
          <p:cNvPr id="14" name="Freeform 11"/>
          <p:cNvSpPr/>
          <p:nvPr userDrawn="1"/>
        </p:nvSpPr>
        <p:spPr bwMode="auto">
          <a:xfrm rot="1296289">
            <a:off x="619918" y="6991212"/>
            <a:ext cx="3294096" cy="275408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sz="1400"/>
          </a:p>
        </p:txBody>
      </p:sp>
      <p:sp>
        <p:nvSpPr>
          <p:cNvPr id="15" name="Freeform 12"/>
          <p:cNvSpPr/>
          <p:nvPr userDrawn="1"/>
        </p:nvSpPr>
        <p:spPr bwMode="auto">
          <a:xfrm rot="2046247">
            <a:off x="16212870" y="1083511"/>
            <a:ext cx="2213172" cy="2273738"/>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sz="1400"/>
          </a:p>
        </p:txBody>
      </p:sp>
      <p:sp>
        <p:nvSpPr>
          <p:cNvPr id="16" name="Freeform 13"/>
          <p:cNvSpPr/>
          <p:nvPr userDrawn="1"/>
        </p:nvSpPr>
        <p:spPr bwMode="auto">
          <a:xfrm>
            <a:off x="7687909" y="30603"/>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1400"/>
          </a:p>
        </p:txBody>
      </p:sp>
    </p:spTree>
    <p:extLst>
      <p:ext uri="{BB962C8B-B14F-4D97-AF65-F5344CB8AC3E}">
        <p14:creationId xmlns:p14="http://schemas.microsoft.com/office/powerpoint/2010/main" val="36276022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type="obj" preserve="1" userDrawn="1">
  <p:cSld name="Titel und Inhalt">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1944000" y="1301860"/>
            <a:ext cx="14400000" cy="1260000"/>
          </a:xfrm>
        </p:spPr>
        <p:txBody>
          <a:bodyPr/>
          <a:lstStyle/>
          <a:p>
            <a:pPr>
              <a:defRPr/>
            </a:pPr>
            <a:r>
              <a:rPr lang="de-DE"/>
              <a:t>Mastertitelformat bearbeiten</a:t>
            </a:r>
            <a:endParaRPr/>
          </a:p>
        </p:txBody>
      </p:sp>
      <p:sp>
        <p:nvSpPr>
          <p:cNvPr id="3" name="Inhaltsplatzhalter 2"/>
          <p:cNvSpPr>
            <a:spLocks noGrp="1"/>
          </p:cNvSpPr>
          <p:nvPr>
            <p:ph idx="1"/>
          </p:nvPr>
        </p:nvSpPr>
        <p:spPr bwMode="auto">
          <a:xfrm>
            <a:off x="1944000" y="2738828"/>
            <a:ext cx="14400000" cy="648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806140" y="-803735"/>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1400"/>
          </a:p>
        </p:txBody>
      </p:sp>
      <p:sp>
        <p:nvSpPr>
          <p:cNvPr id="8" name="Freeform 3"/>
          <p:cNvSpPr/>
          <p:nvPr userDrawn="1"/>
        </p:nvSpPr>
        <p:spPr bwMode="auto">
          <a:xfrm rot="4680788">
            <a:off x="16257419" y="8270983"/>
            <a:ext cx="2635834" cy="2525610"/>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1400"/>
          </a:p>
        </p:txBody>
      </p:sp>
      <p:sp>
        <p:nvSpPr>
          <p:cNvPr id="9" name="Freeform 4"/>
          <p:cNvSpPr/>
          <p:nvPr userDrawn="1"/>
        </p:nvSpPr>
        <p:spPr bwMode="auto">
          <a:xfrm>
            <a:off x="15433703" y="7133472"/>
            <a:ext cx="3505910" cy="3416668"/>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1400"/>
          </a:p>
        </p:txBody>
      </p:sp>
      <p:sp>
        <p:nvSpPr>
          <p:cNvPr id="10" name="Freeform 5"/>
          <p:cNvSpPr/>
          <p:nvPr userDrawn="1"/>
        </p:nvSpPr>
        <p:spPr bwMode="auto">
          <a:xfrm>
            <a:off x="-241194" y="146187"/>
            <a:ext cx="2085372" cy="203229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1400"/>
          </a:p>
        </p:txBody>
      </p:sp>
      <p:sp>
        <p:nvSpPr>
          <p:cNvPr id="11" name="Freeform 6"/>
          <p:cNvSpPr/>
          <p:nvPr userDrawn="1"/>
        </p:nvSpPr>
        <p:spPr bwMode="auto">
          <a:xfrm rot="7860678">
            <a:off x="668732" y="930928"/>
            <a:ext cx="1600956" cy="1490344"/>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1400"/>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1400"/>
          </a:p>
        </p:txBody>
      </p:sp>
      <p:sp>
        <p:nvSpPr>
          <p:cNvPr id="13" name="Freeform 8"/>
          <p:cNvSpPr/>
          <p:nvPr userDrawn="1"/>
        </p:nvSpPr>
        <p:spPr bwMode="auto">
          <a:xfrm rot="-458312">
            <a:off x="16771768" y="216259"/>
            <a:ext cx="3155792" cy="3023822"/>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1400"/>
          </a:p>
        </p:txBody>
      </p:sp>
      <p:sp>
        <p:nvSpPr>
          <p:cNvPr id="14" name="Freeform 9"/>
          <p:cNvSpPr/>
          <p:nvPr userDrawn="1"/>
        </p:nvSpPr>
        <p:spPr bwMode="auto">
          <a:xfrm rot="1296289">
            <a:off x="15646620" y="-376703"/>
            <a:ext cx="2265600" cy="1919582"/>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1400"/>
          </a:p>
        </p:txBody>
      </p:sp>
      <p:sp>
        <p:nvSpPr>
          <p:cNvPr id="15" name="Freeform 10"/>
          <p:cNvSpPr/>
          <p:nvPr userDrawn="1"/>
        </p:nvSpPr>
        <p:spPr bwMode="auto">
          <a:xfrm rot="2310651">
            <a:off x="-811537" y="3739758"/>
            <a:ext cx="2509962" cy="209559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1400"/>
          </a:p>
        </p:txBody>
      </p:sp>
      <p:sp>
        <p:nvSpPr>
          <p:cNvPr id="17" name="Freeform 12"/>
          <p:cNvSpPr/>
          <p:nvPr userDrawn="1"/>
        </p:nvSpPr>
        <p:spPr bwMode="auto">
          <a:xfrm rot="7628196">
            <a:off x="17318416" y="2283639"/>
            <a:ext cx="1939168" cy="1805190"/>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1400"/>
          </a:p>
        </p:txBody>
      </p:sp>
      <p:sp>
        <p:nvSpPr>
          <p:cNvPr id="18" name="Freeform 13"/>
          <p:cNvSpPr/>
          <p:nvPr userDrawn="1"/>
        </p:nvSpPr>
        <p:spPr bwMode="auto">
          <a:xfrm>
            <a:off x="7687909" y="30603"/>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1400"/>
          </a:p>
        </p:txBody>
      </p:sp>
    </p:spTree>
    <p:extLst>
      <p:ext uri="{BB962C8B-B14F-4D97-AF65-F5344CB8AC3E}">
        <p14:creationId xmlns:p14="http://schemas.microsoft.com/office/powerpoint/2010/main" val="2420628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image" Target="../media/image1.jpe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1944000" y="1322140"/>
            <a:ext cx="14400000" cy="1260000"/>
          </a:xfrm>
          <a:prstGeom prst="rect">
            <a:avLst/>
          </a:prstGeom>
        </p:spPr>
        <p:txBody>
          <a:bodyPr vert="horz" lIns="91440" tIns="45720" rIns="91440" bIns="45720" rtlCol="0" anchor="ctr" anchorCtr="1">
            <a:normAutofit/>
          </a:bodyPr>
          <a:lstStyle/>
          <a:p>
            <a:r>
              <a:rPr lang="de-DE"/>
              <a:t>Mastertitelformat bearbeiten</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1944000" y="2769111"/>
            <a:ext cx="14400000" cy="64800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8"/>
            <a:stretch>
              <a:fillRect/>
            </a:stretch>
          </a:blipFill>
        </p:spPr>
        <p:txBody>
          <a:bodyPr/>
          <a:lstStyle/>
          <a:p>
            <a:endParaRPr lang="de-DE"/>
          </a:p>
        </p:txBody>
      </p:sp>
    </p:spTree>
    <p:extLst>
      <p:ext uri="{BB962C8B-B14F-4D97-AF65-F5344CB8AC3E}">
        <p14:creationId xmlns:p14="http://schemas.microsoft.com/office/powerpoint/2010/main" val="3020001494"/>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73" r:id="rId3"/>
    <p:sldLayoutId id="2147483678" r:id="rId4"/>
    <p:sldLayoutId id="2147483677" r:id="rId5"/>
    <p:sldLayoutId id="2147483671" r:id="rId6"/>
    <p:sldLayoutId id="2147483672" r:id="rId7"/>
    <p:sldLayoutId id="2147483664" r:id="rId8"/>
    <p:sldLayoutId id="2147483665" r:id="rId9"/>
    <p:sldLayoutId id="2147483666" r:id="rId10"/>
    <p:sldLayoutId id="2147483667" r:id="rId11"/>
    <p:sldLayoutId id="2147483668" r:id="rId12"/>
    <p:sldLayoutId id="2147483669" r:id="rId13"/>
    <p:sldLayoutId id="2147483674" r:id="rId14"/>
    <p:sldLayoutId id="2147483676" r:id="rId15"/>
    <p:sldLayoutId id="214748367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1944000" y="1322140"/>
            <a:ext cx="14400000" cy="1260000"/>
          </a:xfrm>
          <a:prstGeom prst="rect">
            <a:avLst/>
          </a:prstGeom>
        </p:spPr>
        <p:txBody>
          <a:bodyPr vert="horz" lIns="91440" tIns="45720" rIns="91440" bIns="45720" rtlCol="0" anchor="ctr">
            <a:normAutofit/>
          </a:bodyPr>
          <a:lstStyle/>
          <a:p>
            <a:pPr>
              <a:defRPr/>
            </a:pPr>
            <a:r>
              <a:rPr lang="de-DE"/>
              <a:t>Mastertitelformat bearbeiten</a:t>
            </a:r>
            <a:endParaRPr/>
          </a:p>
        </p:txBody>
      </p:sp>
      <p:sp>
        <p:nvSpPr>
          <p:cNvPr id="3" name="Textplatzhalter 2"/>
          <p:cNvSpPr>
            <a:spLocks noGrp="1"/>
          </p:cNvSpPr>
          <p:nvPr>
            <p:ph type="body" idx="1"/>
          </p:nvPr>
        </p:nvSpPr>
        <p:spPr bwMode="auto">
          <a:xfrm>
            <a:off x="1944000" y="2769110"/>
            <a:ext cx="14400000" cy="6480000"/>
          </a:xfrm>
          <a:prstGeom prst="rect">
            <a:avLst/>
          </a:prstGeom>
        </p:spPr>
        <p:txBody>
          <a:bodyPr vert="horz" lIns="91440" tIns="45720" rIns="91440" bIns="45720" rtlCol="0">
            <a:normAutofit/>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8" name="Freeform 13"/>
          <p:cNvSpPr/>
          <p:nvPr userDrawn="1"/>
        </p:nvSpPr>
        <p:spPr bwMode="auto">
          <a:xfrm>
            <a:off x="7687909" y="30603"/>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5"/>
            <a:stretch/>
          </a:blipFill>
        </p:spPr>
        <p:txBody>
          <a:bodyPr/>
          <a:lstStyle/>
          <a:p>
            <a:pPr>
              <a:defRPr/>
            </a:pPr>
            <a:endParaRPr lang="de-DE" sz="1400"/>
          </a:p>
        </p:txBody>
      </p:sp>
    </p:spTree>
    <p:extLst>
      <p:ext uri="{BB962C8B-B14F-4D97-AF65-F5344CB8AC3E}">
        <p14:creationId xmlns:p14="http://schemas.microsoft.com/office/powerpoint/2010/main" val="73175606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58" r:id="rId3"/>
  </p:sldLayoutIdLst>
  <p:txStyles>
    <p:titleStyle>
      <a:lvl1pPr algn="l" defTabSz="457200">
        <a:lnSpc>
          <a:spcPct val="90000"/>
        </a:lnSpc>
        <a:spcBef>
          <a:spcPts val="0"/>
        </a:spcBef>
        <a:buNone/>
        <a:defRPr sz="2200">
          <a:solidFill>
            <a:schemeClr val="tx1"/>
          </a:solidFill>
          <a:latin typeface="+mj-lt"/>
          <a:ea typeface="+mj-ea"/>
          <a:cs typeface="+mj-cs"/>
        </a:defRPr>
      </a:lvl1pPr>
    </p:titleStyle>
    <p:bodyStyle>
      <a:lvl1pPr marL="114300" indent="-114300" algn="l" defTabSz="457200">
        <a:lnSpc>
          <a:spcPct val="90000"/>
        </a:lnSpc>
        <a:spcBef>
          <a:spcPts val="500"/>
        </a:spcBef>
        <a:buFont typeface="Arial"/>
        <a:buChar char="•"/>
        <a:defRPr sz="1400">
          <a:solidFill>
            <a:schemeClr val="tx1"/>
          </a:solidFill>
          <a:latin typeface="+mn-lt"/>
          <a:ea typeface="+mn-ea"/>
          <a:cs typeface="+mn-cs"/>
        </a:defRPr>
      </a:lvl1pPr>
      <a:lvl2pPr marL="342900" indent="-114300" algn="l" defTabSz="457200">
        <a:lnSpc>
          <a:spcPct val="90000"/>
        </a:lnSpc>
        <a:spcBef>
          <a:spcPts val="250"/>
        </a:spcBef>
        <a:buFont typeface="Arial"/>
        <a:buChar char="•"/>
        <a:defRPr sz="1200">
          <a:solidFill>
            <a:schemeClr val="tx1"/>
          </a:solidFill>
          <a:latin typeface="+mn-lt"/>
          <a:ea typeface="+mn-ea"/>
          <a:cs typeface="+mn-cs"/>
        </a:defRPr>
      </a:lvl2pPr>
      <a:lvl3pPr marL="571500" indent="-114300" algn="l" defTabSz="457200">
        <a:lnSpc>
          <a:spcPct val="90000"/>
        </a:lnSpc>
        <a:spcBef>
          <a:spcPts val="250"/>
        </a:spcBef>
        <a:buFont typeface="Arial"/>
        <a:buChar char="•"/>
        <a:defRPr sz="1000">
          <a:solidFill>
            <a:schemeClr val="tx1"/>
          </a:solidFill>
          <a:latin typeface="+mn-lt"/>
          <a:ea typeface="+mn-ea"/>
          <a:cs typeface="+mn-cs"/>
        </a:defRPr>
      </a:lvl3pPr>
      <a:lvl4pPr marL="800100" indent="-114300" algn="l" defTabSz="457200">
        <a:lnSpc>
          <a:spcPct val="90000"/>
        </a:lnSpc>
        <a:spcBef>
          <a:spcPts val="250"/>
        </a:spcBef>
        <a:buFont typeface="Arial"/>
        <a:buChar char="•"/>
        <a:defRPr sz="900">
          <a:solidFill>
            <a:schemeClr val="tx1"/>
          </a:solidFill>
          <a:latin typeface="+mn-lt"/>
          <a:ea typeface="+mn-ea"/>
          <a:cs typeface="+mn-cs"/>
        </a:defRPr>
      </a:lvl4pPr>
      <a:lvl5pPr marL="1028700" indent="-114300" algn="l" defTabSz="457200">
        <a:lnSpc>
          <a:spcPct val="90000"/>
        </a:lnSpc>
        <a:spcBef>
          <a:spcPts val="250"/>
        </a:spcBef>
        <a:buFont typeface="Arial"/>
        <a:buChar char="•"/>
        <a:defRPr sz="900">
          <a:solidFill>
            <a:schemeClr val="tx1"/>
          </a:solidFill>
          <a:latin typeface="+mn-lt"/>
          <a:ea typeface="+mn-ea"/>
          <a:cs typeface="+mn-cs"/>
        </a:defRPr>
      </a:lvl5pPr>
      <a:lvl6pPr marL="1257300" indent="-114300" algn="l" defTabSz="457200">
        <a:lnSpc>
          <a:spcPct val="90000"/>
        </a:lnSpc>
        <a:spcBef>
          <a:spcPts val="250"/>
        </a:spcBef>
        <a:buFont typeface="Arial"/>
        <a:buChar char="•"/>
        <a:defRPr sz="900">
          <a:solidFill>
            <a:schemeClr val="tx1"/>
          </a:solidFill>
          <a:latin typeface="+mn-lt"/>
          <a:ea typeface="+mn-ea"/>
          <a:cs typeface="+mn-cs"/>
        </a:defRPr>
      </a:lvl6pPr>
      <a:lvl7pPr marL="1485900" indent="-114300" algn="l" defTabSz="457200">
        <a:lnSpc>
          <a:spcPct val="90000"/>
        </a:lnSpc>
        <a:spcBef>
          <a:spcPts val="250"/>
        </a:spcBef>
        <a:buFont typeface="Arial"/>
        <a:buChar char="•"/>
        <a:defRPr sz="900">
          <a:solidFill>
            <a:schemeClr val="tx1"/>
          </a:solidFill>
          <a:latin typeface="+mn-lt"/>
          <a:ea typeface="+mn-ea"/>
          <a:cs typeface="+mn-cs"/>
        </a:defRPr>
      </a:lvl7pPr>
      <a:lvl8pPr marL="1714500" indent="-114300" algn="l" defTabSz="457200">
        <a:lnSpc>
          <a:spcPct val="90000"/>
        </a:lnSpc>
        <a:spcBef>
          <a:spcPts val="250"/>
        </a:spcBef>
        <a:buFont typeface="Arial"/>
        <a:buChar char="•"/>
        <a:defRPr sz="900">
          <a:solidFill>
            <a:schemeClr val="tx1"/>
          </a:solidFill>
          <a:latin typeface="+mn-lt"/>
          <a:ea typeface="+mn-ea"/>
          <a:cs typeface="+mn-cs"/>
        </a:defRPr>
      </a:lvl8pPr>
      <a:lvl9pPr marL="1943100" indent="-114300" algn="l" defTabSz="457200">
        <a:lnSpc>
          <a:spcPct val="90000"/>
        </a:lnSpc>
        <a:spcBef>
          <a:spcPts val="250"/>
        </a:spcBef>
        <a:buFont typeface="Arial"/>
        <a:buChar char="•"/>
        <a:defRPr sz="900">
          <a:solidFill>
            <a:schemeClr val="tx1"/>
          </a:solidFill>
          <a:latin typeface="+mn-lt"/>
          <a:ea typeface="+mn-ea"/>
          <a:cs typeface="+mn-cs"/>
        </a:defRPr>
      </a:lvl9pPr>
    </p:bodyStyle>
    <p:otherStyle>
      <a:defPPr>
        <a:defRPr lang="de-DE"/>
      </a:defPPr>
      <a:lvl1pPr marL="0" algn="l" defTabSz="457200">
        <a:defRPr sz="900">
          <a:solidFill>
            <a:schemeClr val="tx1"/>
          </a:solidFill>
          <a:latin typeface="+mn-lt"/>
          <a:ea typeface="+mn-ea"/>
          <a:cs typeface="+mn-cs"/>
        </a:defRPr>
      </a:lvl1pPr>
      <a:lvl2pPr marL="228600" algn="l" defTabSz="457200">
        <a:defRPr sz="900">
          <a:solidFill>
            <a:schemeClr val="tx1"/>
          </a:solidFill>
          <a:latin typeface="+mn-lt"/>
          <a:ea typeface="+mn-ea"/>
          <a:cs typeface="+mn-cs"/>
        </a:defRPr>
      </a:lvl2pPr>
      <a:lvl3pPr marL="457200" algn="l" defTabSz="457200">
        <a:defRPr sz="900">
          <a:solidFill>
            <a:schemeClr val="tx1"/>
          </a:solidFill>
          <a:latin typeface="+mn-lt"/>
          <a:ea typeface="+mn-ea"/>
          <a:cs typeface="+mn-cs"/>
        </a:defRPr>
      </a:lvl3pPr>
      <a:lvl4pPr marL="685800" algn="l" defTabSz="457200">
        <a:defRPr sz="900">
          <a:solidFill>
            <a:schemeClr val="tx1"/>
          </a:solidFill>
          <a:latin typeface="+mn-lt"/>
          <a:ea typeface="+mn-ea"/>
          <a:cs typeface="+mn-cs"/>
        </a:defRPr>
      </a:lvl4pPr>
      <a:lvl5pPr marL="914400" algn="l" defTabSz="457200">
        <a:defRPr sz="900">
          <a:solidFill>
            <a:schemeClr val="tx1"/>
          </a:solidFill>
          <a:latin typeface="+mn-lt"/>
          <a:ea typeface="+mn-ea"/>
          <a:cs typeface="+mn-cs"/>
        </a:defRPr>
      </a:lvl5pPr>
      <a:lvl6pPr marL="1143000" algn="l" defTabSz="457200">
        <a:defRPr sz="900">
          <a:solidFill>
            <a:schemeClr val="tx1"/>
          </a:solidFill>
          <a:latin typeface="+mn-lt"/>
          <a:ea typeface="+mn-ea"/>
          <a:cs typeface="+mn-cs"/>
        </a:defRPr>
      </a:lvl6pPr>
      <a:lvl7pPr marL="1371600" algn="l" defTabSz="457200">
        <a:defRPr sz="900">
          <a:solidFill>
            <a:schemeClr val="tx1"/>
          </a:solidFill>
          <a:latin typeface="+mn-lt"/>
          <a:ea typeface="+mn-ea"/>
          <a:cs typeface="+mn-cs"/>
        </a:defRPr>
      </a:lvl7pPr>
      <a:lvl8pPr marL="1600200" algn="l" defTabSz="457200">
        <a:defRPr sz="900">
          <a:solidFill>
            <a:schemeClr val="tx1"/>
          </a:solidFill>
          <a:latin typeface="+mn-lt"/>
          <a:ea typeface="+mn-ea"/>
          <a:cs typeface="+mn-cs"/>
        </a:defRPr>
      </a:lvl8pPr>
      <a:lvl9pPr marL="1828800" algn="l" defTabSz="457200">
        <a:defRPr sz="9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jpe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50.png"/><Relationship Id="rId2" Type="http://schemas.openxmlformats.org/officeDocument/2006/relationships/slideLayout" Target="../slideLayouts/slideLayout10.xml"/><Relationship Id="rId1" Type="http://schemas.openxmlformats.org/officeDocument/2006/relationships/video" Target="https://www.youtube.com/embed/aA7si7AmPkY?feature=oembed" TargetMode="External"/><Relationship Id="rId6" Type="http://schemas.openxmlformats.org/officeDocument/2006/relationships/hyperlink" Target="https://lstemplates.notion.site/Leuphana-Templates-abb41bc9039a4263bfefc55c6701b77d?pvs=4" TargetMode="External"/><Relationship Id="rId5" Type="http://schemas.openxmlformats.org/officeDocument/2006/relationships/image" Target="../media/image49.jpeg"/><Relationship Id="rId4"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3" Type="http://schemas.microsoft.com/office/2018/10/relationships/comments" Target="../comments/modernComment_11A_B5F5EF6D.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sustainabilitymethods.org/index.php/Studying"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hyperlink" Target="https://sustainabilitymethods.org/index.php/Coping_with_psychological_problems" TargetMode="External"/><Relationship Id="rId5" Type="http://schemas.openxmlformats.org/officeDocument/2006/relationships/hyperlink" Target="https://sustainabilitymethods.org/index.php/Notion" TargetMode="External"/><Relationship Id="rId4" Type="http://schemas.openxmlformats.org/officeDocument/2006/relationships/hyperlink" Target="https://sustainabilitymethods.org/index.php/Pomodor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629D2E-CA01-9782-F867-19335E23C86D}"/>
              </a:ext>
            </a:extLst>
          </p:cNvPr>
          <p:cNvSpPr>
            <a:spLocks noGrp="1"/>
          </p:cNvSpPr>
          <p:nvPr>
            <p:ph type="ctrTitle"/>
          </p:nvPr>
        </p:nvSpPr>
        <p:spPr/>
        <p:txBody>
          <a:bodyPr/>
          <a:lstStyle/>
          <a:p>
            <a:r>
              <a:rPr lang="de-DE">
                <a:latin typeface="Arial"/>
              </a:rPr>
              <a:t>Self-management in </a:t>
            </a:r>
            <a:r>
              <a:rPr lang="de-DE" err="1">
                <a:latin typeface="Arial"/>
              </a:rPr>
              <a:t>your</a:t>
            </a:r>
            <a:r>
              <a:rPr lang="de-DE">
                <a:latin typeface="Arial"/>
              </a:rPr>
              <a:t> </a:t>
            </a:r>
            <a:r>
              <a:rPr lang="de-DE" err="1">
                <a:latin typeface="Arial"/>
              </a:rPr>
              <a:t>studies</a:t>
            </a:r>
            <a:endParaRPr lang="de-DE"/>
          </a:p>
        </p:txBody>
      </p:sp>
      <p:sp>
        <p:nvSpPr>
          <p:cNvPr id="3" name="Untertitel 2">
            <a:extLst>
              <a:ext uri="{FF2B5EF4-FFF2-40B4-BE49-F238E27FC236}">
                <a16:creationId xmlns:a16="http://schemas.microsoft.com/office/drawing/2014/main" id="{6CB3BB7D-61A1-DFC7-EA97-FDD7A6839BF1}"/>
              </a:ext>
            </a:extLst>
          </p:cNvPr>
          <p:cNvSpPr>
            <a:spLocks noGrp="1"/>
          </p:cNvSpPr>
          <p:nvPr>
            <p:ph type="subTitle" idx="1"/>
          </p:nvPr>
        </p:nvSpPr>
        <p:spPr/>
        <p:txBody>
          <a:bodyPr vert="horz" lIns="91440" tIns="45720" rIns="91440" bIns="45720" rtlCol="0" anchor="t">
            <a:normAutofit/>
          </a:bodyPr>
          <a:lstStyle/>
          <a:p>
            <a:r>
              <a:rPr lang="de-DE"/>
              <a:t>Tutor*in: Sahra, Ina, Merle</a:t>
            </a:r>
          </a:p>
        </p:txBody>
      </p:sp>
      <p:sp>
        <p:nvSpPr>
          <p:cNvPr id="4" name="Textfeld 3">
            <a:extLst>
              <a:ext uri="{FF2B5EF4-FFF2-40B4-BE49-F238E27FC236}">
                <a16:creationId xmlns:a16="http://schemas.microsoft.com/office/drawing/2014/main" id="{A1656D96-C536-B9F6-54B2-2D2250C5E574}"/>
              </a:ext>
            </a:extLst>
          </p:cNvPr>
          <p:cNvSpPr txBox="1"/>
          <p:nvPr/>
        </p:nvSpPr>
        <p:spPr>
          <a:xfrm>
            <a:off x="13111843" y="7984671"/>
            <a:ext cx="195942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de-DE" sz="2400">
                <a:cs typeface="Arial"/>
              </a:rPr>
              <a:t>12.11.2025</a:t>
            </a:r>
            <a:endParaRPr lang="de-DE" sz="2400"/>
          </a:p>
        </p:txBody>
      </p:sp>
    </p:spTree>
    <p:extLst>
      <p:ext uri="{BB962C8B-B14F-4D97-AF65-F5344CB8AC3E}">
        <p14:creationId xmlns:p14="http://schemas.microsoft.com/office/powerpoint/2010/main" val="219094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87BFC7-9BD2-7BD4-EFBA-90444924231E}"/>
              </a:ext>
            </a:extLst>
          </p:cNvPr>
          <p:cNvSpPr>
            <a:spLocks noGrp="1"/>
          </p:cNvSpPr>
          <p:nvPr>
            <p:ph type="title"/>
          </p:nvPr>
        </p:nvSpPr>
        <p:spPr/>
        <p:txBody>
          <a:bodyPr/>
          <a:lstStyle/>
          <a:p>
            <a:r>
              <a:rPr lang="de-DE"/>
              <a:t>Agenda</a:t>
            </a:r>
          </a:p>
        </p:txBody>
      </p:sp>
      <p:sp>
        <p:nvSpPr>
          <p:cNvPr id="3" name="Inhaltsplatzhalter 2">
            <a:extLst>
              <a:ext uri="{FF2B5EF4-FFF2-40B4-BE49-F238E27FC236}">
                <a16:creationId xmlns:a16="http://schemas.microsoft.com/office/drawing/2014/main" id="{AA8416EE-1AE2-5884-0E8D-F88CF0CF91A1}"/>
              </a:ext>
            </a:extLst>
          </p:cNvPr>
          <p:cNvSpPr>
            <a:spLocks noGrp="1"/>
          </p:cNvSpPr>
          <p:nvPr>
            <p:ph idx="1"/>
          </p:nvPr>
        </p:nvSpPr>
        <p:spPr>
          <a:xfrm>
            <a:off x="6934200" y="3086100"/>
            <a:ext cx="7474725" cy="6112392"/>
          </a:xfrm>
        </p:spPr>
        <p:txBody>
          <a:bodyPr/>
          <a:lstStyle/>
          <a:p>
            <a:pPr>
              <a:lnSpc>
                <a:spcPct val="150000"/>
              </a:lnSpc>
            </a:pPr>
            <a:r>
              <a:rPr lang="de-DE"/>
              <a:t> </a:t>
            </a:r>
            <a:r>
              <a:rPr lang="de-DE" err="1"/>
              <a:t>Expectations</a:t>
            </a:r>
            <a:r>
              <a:rPr lang="de-DE"/>
              <a:t> </a:t>
            </a:r>
          </a:p>
          <a:p>
            <a:pPr>
              <a:lnSpc>
                <a:spcPct val="150000"/>
              </a:lnSpc>
            </a:pPr>
            <a:r>
              <a:rPr lang="de-DE"/>
              <a:t> Time Management</a:t>
            </a:r>
          </a:p>
          <a:p>
            <a:pPr>
              <a:lnSpc>
                <a:spcPct val="150000"/>
              </a:lnSpc>
            </a:pPr>
            <a:r>
              <a:rPr lang="de-DE"/>
              <a:t> </a:t>
            </a:r>
            <a:r>
              <a:rPr lang="de-DE" err="1"/>
              <a:t>Getting</a:t>
            </a:r>
            <a:r>
              <a:rPr lang="de-DE"/>
              <a:t> </a:t>
            </a:r>
            <a:r>
              <a:rPr lang="de-DE" err="1"/>
              <a:t>things</a:t>
            </a:r>
            <a:r>
              <a:rPr lang="de-DE"/>
              <a:t> </a:t>
            </a:r>
            <a:r>
              <a:rPr lang="de-DE" err="1"/>
              <a:t>done</a:t>
            </a:r>
            <a:endParaRPr lang="de-DE"/>
          </a:p>
          <a:p>
            <a:pPr>
              <a:lnSpc>
                <a:spcPct val="150000"/>
              </a:lnSpc>
            </a:pPr>
            <a:r>
              <a:rPr lang="de-DE"/>
              <a:t> Notion</a:t>
            </a:r>
          </a:p>
          <a:p>
            <a:pPr>
              <a:lnSpc>
                <a:spcPct val="150000"/>
              </a:lnSpc>
            </a:pPr>
            <a:endParaRPr lang="de-DE"/>
          </a:p>
        </p:txBody>
      </p:sp>
    </p:spTree>
    <p:extLst>
      <p:ext uri="{BB962C8B-B14F-4D97-AF65-F5344CB8AC3E}">
        <p14:creationId xmlns:p14="http://schemas.microsoft.com/office/powerpoint/2010/main" val="1168306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54EE25-6DB5-A8B3-73ED-80E08B7CE1A5}"/>
              </a:ext>
            </a:extLst>
          </p:cNvPr>
          <p:cNvSpPr>
            <a:spLocks noGrp="1"/>
          </p:cNvSpPr>
          <p:nvPr>
            <p:ph type="title"/>
          </p:nvPr>
        </p:nvSpPr>
        <p:spPr/>
        <p:txBody>
          <a:bodyPr>
            <a:normAutofit/>
          </a:bodyPr>
          <a:lstStyle/>
          <a:p>
            <a:pPr algn="ctr"/>
            <a:r>
              <a:rPr lang="en-GB" sz="5400"/>
              <a:t>What do you expect to happen in your first semester?</a:t>
            </a:r>
            <a:endParaRPr lang="de-DE" sz="5400"/>
          </a:p>
        </p:txBody>
      </p:sp>
    </p:spTree>
    <p:extLst>
      <p:ext uri="{BB962C8B-B14F-4D97-AF65-F5344CB8AC3E}">
        <p14:creationId xmlns:p14="http://schemas.microsoft.com/office/powerpoint/2010/main" val="4098951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aphicFrame>
        <p:nvGraphicFramePr>
          <p:cNvPr id="2" name="Objekt 1"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2" name="Objekt 1" hidden="1"/>
                      <p:cNvPicPr/>
                      <p:nvPr/>
                    </p:nvPicPr>
                    <p:blipFill>
                      <a:blip/>
                      <a:stretch/>
                    </p:blipFill>
                    <p:spPr bwMode="auto">
                      <a:xfrm>
                        <a:off x="3175" y="3175"/>
                        <a:ext cx="2454" cy="3174"/>
                      </a:xfrm>
                      <a:prstGeom prst="rect">
                        <a:avLst/>
                      </a:prstGeom>
                    </p:spPr>
                  </p:pic>
                </p:oleObj>
              </mc:Fallback>
            </mc:AlternateContent>
          </a:graphicData>
        </a:graphic>
      </p:graphicFrame>
      <p:sp>
        <p:nvSpPr>
          <p:cNvPr id="5" name="Titel 4"/>
          <p:cNvSpPr>
            <a:spLocks noGrp="1"/>
          </p:cNvSpPr>
          <p:nvPr>
            <p:ph type="title"/>
          </p:nvPr>
        </p:nvSpPr>
        <p:spPr bwMode="auto">
          <a:xfrm>
            <a:off x="3448500" y="1478828"/>
            <a:ext cx="11391000" cy="1260000"/>
          </a:xfrm>
        </p:spPr>
        <p:txBody>
          <a:bodyPr vert="horz">
            <a:normAutofit fontScale="90000"/>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r>
              <a:rPr lang="en-US" sz="4400"/>
              <a:t>Experiences of previous </a:t>
            </a:r>
            <a:r>
              <a:rPr lang="en-US" sz="4400" b="0" i="0" u="none">
                <a:solidFill>
                  <a:srgbClr val="000000"/>
                </a:solidFill>
                <a:latin typeface="Liberation Sans"/>
                <a:ea typeface="Liberation Sans"/>
                <a:cs typeface="Liberation Sans"/>
              </a:rPr>
              <a:t>first-year students </a:t>
            </a:r>
            <a:r>
              <a:rPr lang="en-US" sz="4400"/>
              <a:t> </a:t>
            </a:r>
            <a:br>
              <a:rPr lang="en-US" sz="4400"/>
            </a:br>
            <a:r>
              <a:rPr lang="en-US" sz="4400"/>
              <a:t>What you can expect</a:t>
            </a:r>
            <a:endParaRPr lang="de-DE" sz="4400"/>
          </a:p>
        </p:txBody>
      </p:sp>
      <p:sp>
        <p:nvSpPr>
          <p:cNvPr id="6" name="Textplatzhalter 5"/>
          <p:cNvSpPr>
            <a:spLocks noGrp="1"/>
          </p:cNvSpPr>
          <p:nvPr>
            <p:ph idx="1"/>
          </p:nvPr>
        </p:nvSpPr>
        <p:spPr bwMode="auto">
          <a:xfrm>
            <a:off x="1944000" y="3314700"/>
            <a:ext cx="14400000" cy="4497473"/>
          </a:xfrm>
        </p:spPr>
        <p:txBody>
          <a:bodyPr>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571500" indent="-571500">
              <a:spcBef>
                <a:spcPts val="1200"/>
              </a:spcBef>
              <a:buFont typeface="Arial"/>
              <a:buChar char="•"/>
              <a:defRPr/>
            </a:pPr>
            <a:r>
              <a:rPr lang="en-US">
                <a:latin typeface="Arial" panose="020B0604020202020204" pitchFamily="34" charset="0"/>
                <a:cs typeface="Arial" panose="020B0604020202020204" pitchFamily="34" charset="0"/>
              </a:rPr>
              <a:t>More independence &amp; responsibility</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Homesickness - but also the chance to meet great new people and try things out for yourself</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Exciting experiences in your studies, work and free time - finding a balance</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Initial lack of clarity (Moodle, </a:t>
            </a:r>
            <a:r>
              <a:rPr lang="en-US" err="1">
                <a:latin typeface="Arial" panose="020B0604020202020204" pitchFamily="34" charset="0"/>
                <a:cs typeface="Arial" panose="020B0604020202020204" pitchFamily="34" charset="0"/>
              </a:rPr>
              <a:t>myStudy</a:t>
            </a:r>
            <a:r>
              <a:rPr lang="en-US">
                <a:latin typeface="Arial" panose="020B0604020202020204" pitchFamily="34" charset="0"/>
                <a:cs typeface="Arial" panose="020B0604020202020204" pitchFamily="34" charset="0"/>
              </a:rPr>
              <a:t> etc.) will give with time</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It can get stressful at times... but you will master that too</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Regular attendance at the tutorial saves a lot of time and effort and makes it easier to get started!</a:t>
            </a:r>
            <a:endParaRPr lang="de-DE" sz="2400"/>
          </a:p>
        </p:txBody>
      </p:sp>
    </p:spTree>
    <p:extLst>
      <p:ext uri="{BB962C8B-B14F-4D97-AF65-F5344CB8AC3E}">
        <p14:creationId xmlns:p14="http://schemas.microsoft.com/office/powerpoint/2010/main" val="1573025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aphicFrame>
        <p:nvGraphicFramePr>
          <p:cNvPr id="5" name="Objekt 4"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5" name="Objekt 4" hidden="1"/>
                      <p:cNvPicPr/>
                      <p:nvPr/>
                    </p:nvPicPr>
                    <p:blipFill>
                      <a:blip/>
                      <a:stretch/>
                    </p:blipFill>
                    <p:spPr bwMode="auto">
                      <a:xfrm>
                        <a:off x="3175" y="3175"/>
                        <a:ext cx="2454" cy="3174"/>
                      </a:xfrm>
                      <a:prstGeom prst="rect">
                        <a:avLst/>
                      </a:prstGeom>
                    </p:spPr>
                  </p:pic>
                </p:oleObj>
              </mc:Fallback>
            </mc:AlternateContent>
          </a:graphicData>
        </a:graphic>
      </p:graphicFrame>
      <p:sp>
        <p:nvSpPr>
          <p:cNvPr id="2" name="Titel 1"/>
          <p:cNvSpPr>
            <a:spLocks noGrp="1"/>
          </p:cNvSpPr>
          <p:nvPr>
            <p:ph type="title"/>
          </p:nvPr>
        </p:nvSpPr>
        <p:spPr bwMode="auto"/>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err="1"/>
              <a:t>Why</a:t>
            </a:r>
            <a:r>
              <a:rPr lang="de-DE" sz="4400"/>
              <a:t> time </a:t>
            </a:r>
            <a:r>
              <a:rPr lang="de-DE" sz="4400" err="1"/>
              <a:t>management</a:t>
            </a:r>
            <a:r>
              <a:rPr lang="de-DE" sz="4400"/>
              <a:t> </a:t>
            </a:r>
            <a:r>
              <a:rPr lang="de-DE" sz="4400" err="1"/>
              <a:t>matters</a:t>
            </a:r>
            <a:r>
              <a:rPr lang="de-DE" sz="4400"/>
              <a:t>!</a:t>
            </a:r>
          </a:p>
        </p:txBody>
      </p:sp>
      <p:sp>
        <p:nvSpPr>
          <p:cNvPr id="3" name="Textplatzhalter 2"/>
          <p:cNvSpPr>
            <a:spLocks noGrp="1"/>
          </p:cNvSpPr>
          <p:nvPr>
            <p:ph idx="1"/>
          </p:nvPr>
        </p:nvSpPr>
        <p:spPr bwMode="auto">
          <a:xfrm>
            <a:off x="3048000" y="2781300"/>
            <a:ext cx="12192000" cy="5452672"/>
          </a:xfrm>
        </p:spPr>
        <p:txBody>
          <a:bodyPr>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nSpc>
                <a:spcPct val="150000"/>
              </a:lnSpc>
            </a:pPr>
            <a:r>
              <a:rPr lang="en-US" sz="3600">
                <a:solidFill>
                  <a:srgbClr val="000000"/>
                </a:solidFill>
                <a:effectLst/>
                <a:latin typeface="+mn-lt"/>
              </a:rPr>
              <a:t>Deliberate planning and use of time</a:t>
            </a:r>
            <a:endParaRPr lang="en-US" sz="4800">
              <a:effectLst/>
              <a:latin typeface="+mn-lt"/>
            </a:endParaRPr>
          </a:p>
          <a:p>
            <a:pPr>
              <a:lnSpc>
                <a:spcPct val="150000"/>
              </a:lnSpc>
            </a:pPr>
            <a:r>
              <a:rPr lang="en-US" sz="3600">
                <a:solidFill>
                  <a:srgbClr val="000000"/>
                </a:solidFill>
                <a:effectLst/>
                <a:latin typeface="+mn-lt"/>
              </a:rPr>
              <a:t>Use your time better for university, work and private stuff</a:t>
            </a:r>
            <a:endParaRPr lang="en-US" sz="4800">
              <a:effectLst/>
              <a:latin typeface="+mn-lt"/>
            </a:endParaRPr>
          </a:p>
          <a:p>
            <a:pPr>
              <a:lnSpc>
                <a:spcPct val="150000"/>
              </a:lnSpc>
            </a:pPr>
            <a:r>
              <a:rPr lang="en-US" sz="3600">
                <a:solidFill>
                  <a:srgbClr val="000000"/>
                </a:solidFill>
                <a:effectLst/>
                <a:latin typeface="+mn-lt"/>
              </a:rPr>
              <a:t>Reduce your stress level to a minimum</a:t>
            </a:r>
            <a:endParaRPr lang="en-US" sz="4800">
              <a:effectLst/>
              <a:latin typeface="+mn-lt"/>
            </a:endParaRPr>
          </a:p>
          <a:p>
            <a:pPr>
              <a:lnSpc>
                <a:spcPct val="150000"/>
              </a:lnSpc>
            </a:pPr>
            <a:r>
              <a:rPr lang="en-US" sz="3600">
                <a:solidFill>
                  <a:srgbClr val="000000"/>
                </a:solidFill>
                <a:effectLst/>
                <a:latin typeface="+mn-lt"/>
              </a:rPr>
              <a:t>Reaching your academic and personal goals</a:t>
            </a:r>
            <a:endParaRPr lang="en-US" sz="4800">
              <a:effectLst/>
              <a:latin typeface="+mn-lt"/>
            </a:endParaRPr>
          </a:p>
        </p:txBody>
      </p:sp>
    </p:spTree>
    <p:extLst>
      <p:ext uri="{BB962C8B-B14F-4D97-AF65-F5344CB8AC3E}">
        <p14:creationId xmlns:p14="http://schemas.microsoft.com/office/powerpoint/2010/main" val="3579388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87EDEA2-EF51-E504-F9D1-4D90D31E3774}"/>
              </a:ext>
            </a:extLst>
          </p:cNvPr>
          <p:cNvGraphicFramePr/>
          <p:nvPr>
            <p:extLst>
              <p:ext uri="{D42A27DB-BD31-4B8C-83A1-F6EECF244321}">
                <p14:modId xmlns:p14="http://schemas.microsoft.com/office/powerpoint/2010/main" val="2063512047"/>
              </p:ext>
            </p:extLst>
          </p:nvPr>
        </p:nvGraphicFramePr>
        <p:xfrm>
          <a:off x="3515544" y="1355192"/>
          <a:ext cx="11256912" cy="75766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16775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aphicFrame>
        <p:nvGraphicFramePr>
          <p:cNvPr id="2" name="Objekt 1"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2" name="Objekt 1" hidden="1"/>
                      <p:cNvPicPr/>
                      <p:nvPr/>
                    </p:nvPicPr>
                    <p:blipFill>
                      <a:blip/>
                      <a:stretch/>
                    </p:blipFill>
                    <p:spPr bwMode="auto">
                      <a:xfrm>
                        <a:off x="3175" y="3175"/>
                        <a:ext cx="2454" cy="3174"/>
                      </a:xfrm>
                      <a:prstGeom prst="rect">
                        <a:avLst/>
                      </a:prstGeom>
                    </p:spPr>
                  </p:pic>
                </p:oleObj>
              </mc:Fallback>
            </mc:AlternateContent>
          </a:graphicData>
        </a:graphic>
      </p:graphicFrame>
      <p:sp>
        <p:nvSpPr>
          <p:cNvPr id="5" name="Titel 4"/>
          <p:cNvSpPr>
            <a:spLocks noGrp="1"/>
          </p:cNvSpPr>
          <p:nvPr>
            <p:ph type="title"/>
          </p:nvPr>
        </p:nvSpPr>
        <p:spPr bwMode="auto"/>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a:t>The power </a:t>
            </a:r>
            <a:r>
              <a:rPr lang="de-DE" sz="4400" err="1"/>
              <a:t>of</a:t>
            </a:r>
            <a:r>
              <a:rPr lang="de-DE" sz="4400"/>
              <a:t> a </a:t>
            </a:r>
            <a:r>
              <a:rPr lang="de-DE" sz="4400" err="1"/>
              <a:t>system</a:t>
            </a:r>
            <a:endParaRPr sz="4400"/>
          </a:p>
        </p:txBody>
      </p:sp>
      <p:sp>
        <p:nvSpPr>
          <p:cNvPr id="6" name="Textplatzhalter 5"/>
          <p:cNvSpPr>
            <a:spLocks noGrp="1"/>
          </p:cNvSpPr>
          <p:nvPr>
            <p:ph idx="1"/>
          </p:nvPr>
        </p:nvSpPr>
        <p:spPr bwMode="auto">
          <a:xfrm>
            <a:off x="1944000" y="2561860"/>
            <a:ext cx="14400000" cy="6656968"/>
          </a:xfrm>
        </p:spPr>
        <p:txBody>
          <a:bodyPr>
            <a:normAutofit lnSpcReduction="10000"/>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571500" indent="-571500">
              <a:buFont typeface="Arial"/>
              <a:buChar char="•"/>
              <a:defRPr/>
            </a:pPr>
            <a:r>
              <a:rPr lang="en-US" sz="3200"/>
              <a:t>You can be disciplined but still unproductive if you lack a system</a:t>
            </a:r>
          </a:p>
          <a:p>
            <a:pPr marL="571500" indent="-571500">
              <a:buFont typeface="Arial"/>
              <a:buChar char="•"/>
              <a:defRPr/>
            </a:pPr>
            <a:r>
              <a:rPr lang="en-US" sz="3200"/>
              <a:t>A system is a principle according to which something is structured/organized</a:t>
            </a:r>
            <a:endParaRPr lang="de-DE" sz="3200"/>
          </a:p>
          <a:p>
            <a:pPr marL="0" indent="0">
              <a:buNone/>
              <a:defRPr/>
            </a:pPr>
            <a:endParaRPr lang="de-DE" sz="3200"/>
          </a:p>
          <a:p>
            <a:pPr marL="0" indent="0">
              <a:buNone/>
              <a:defRPr/>
            </a:pPr>
            <a:endParaRPr lang="de-DE" sz="3200"/>
          </a:p>
          <a:p>
            <a:pPr marL="0" indent="0">
              <a:buNone/>
              <a:defRPr/>
            </a:pPr>
            <a:endParaRPr lang="de-DE" sz="3200"/>
          </a:p>
          <a:p>
            <a:pPr marL="0" indent="0">
              <a:buNone/>
              <a:defRPr/>
            </a:pPr>
            <a:endParaRPr lang="de-DE" sz="3200"/>
          </a:p>
          <a:p>
            <a:pPr marL="0" indent="0">
              <a:buNone/>
              <a:defRPr/>
            </a:pPr>
            <a:endParaRPr lang="de-DE" sz="3200"/>
          </a:p>
          <a:p>
            <a:pPr marL="0" indent="0">
              <a:buNone/>
              <a:defRPr/>
            </a:pPr>
            <a:endParaRPr lang="de-DE" sz="3200"/>
          </a:p>
          <a:p>
            <a:pPr marL="0" indent="0">
              <a:buNone/>
              <a:defRPr/>
            </a:pPr>
            <a:endParaRPr lang="de-DE" sz="3200"/>
          </a:p>
          <a:p>
            <a:pPr marL="0" indent="0">
              <a:buNone/>
              <a:defRPr/>
            </a:pPr>
            <a:endParaRPr lang="de-DE" sz="3200"/>
          </a:p>
          <a:p>
            <a:pPr marL="0" indent="0">
              <a:buNone/>
              <a:defRPr/>
            </a:pPr>
            <a:endParaRPr lang="de-DE" sz="3200"/>
          </a:p>
          <a:p>
            <a:pPr marL="0" indent="0">
              <a:buNone/>
              <a:defRPr/>
            </a:pPr>
            <a:endParaRPr lang="de-DE" sz="3200"/>
          </a:p>
          <a:p>
            <a:pPr marL="0" indent="0">
              <a:buNone/>
              <a:defRPr/>
            </a:pPr>
            <a:r>
              <a:rPr lang="en-US" sz="3200"/>
              <a:t>You have to like the system you follow in order to be efficient!</a:t>
            </a:r>
            <a:endParaRPr lang="de-DE" sz="3200"/>
          </a:p>
        </p:txBody>
      </p:sp>
      <p:pic>
        <p:nvPicPr>
          <p:cNvPr id="1028" name="Picture 4" descr="Atomic Habits - James Clear - Custom Branded Promotional Books - Swag.com">
            <a:extLst>
              <a:ext uri="{FF2B5EF4-FFF2-40B4-BE49-F238E27FC236}">
                <a16:creationId xmlns:a16="http://schemas.microsoft.com/office/drawing/2014/main" id="{0BBD6BAE-FAA0-9CA4-F0D5-EB63A1C49C01}"/>
              </a:ext>
            </a:extLst>
          </p:cNvPr>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b="-1770"/>
          <a:stretch/>
        </p:blipFill>
        <p:spPr bwMode="auto">
          <a:xfrm>
            <a:off x="4680389" y="4247284"/>
            <a:ext cx="2686809" cy="3516040"/>
          </a:xfrm>
          <a:prstGeom prst="rect">
            <a:avLst/>
          </a:prstGeom>
          <a:noFill/>
          <a:extLst>
            <a:ext uri="{909E8E84-426E-40DD-AFC4-6F175D3DCCD1}">
              <a14:hiddenFill xmlns:a14="http://schemas.microsoft.com/office/drawing/2010/main">
                <a:solidFill>
                  <a:srgbClr val="FFFFFF"/>
                </a:solidFill>
              </a14:hiddenFill>
            </a:ext>
          </a:extLst>
        </p:spPr>
      </p:pic>
      <p:pic>
        <p:nvPicPr>
          <p:cNvPr id="12" name="Grafik 11" descr="Schließendes Anführungszeichen mit einfarbiger Füllung">
            <a:extLst>
              <a:ext uri="{FF2B5EF4-FFF2-40B4-BE49-F238E27FC236}">
                <a16:creationId xmlns:a16="http://schemas.microsoft.com/office/drawing/2014/main" id="{38EC5AD5-97D3-6F48-BAB1-91F9032DC69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58433" y="4461708"/>
            <a:ext cx="1828800" cy="1828800"/>
          </a:xfrm>
          <a:prstGeom prst="rect">
            <a:avLst/>
          </a:prstGeom>
        </p:spPr>
      </p:pic>
      <p:sp>
        <p:nvSpPr>
          <p:cNvPr id="14" name="Textfeld 13">
            <a:extLst>
              <a:ext uri="{FF2B5EF4-FFF2-40B4-BE49-F238E27FC236}">
                <a16:creationId xmlns:a16="http://schemas.microsoft.com/office/drawing/2014/main" id="{878C8E03-FD15-99A7-F719-DB233F0621C9}"/>
              </a:ext>
            </a:extLst>
          </p:cNvPr>
          <p:cNvSpPr txBox="1"/>
          <p:nvPr/>
        </p:nvSpPr>
        <p:spPr>
          <a:xfrm>
            <a:off x="7367198" y="6006108"/>
            <a:ext cx="6811270" cy="1569660"/>
          </a:xfrm>
          <a:prstGeom prst="rect">
            <a:avLst/>
          </a:prstGeom>
          <a:noFill/>
        </p:spPr>
        <p:txBody>
          <a:bodyPr wrap="square">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0" indent="0" algn="ctr">
              <a:buClr>
                <a:schemeClr val="accent5">
                  <a:lumMod val="60000"/>
                  <a:lumOff val="40000"/>
                </a:schemeClr>
              </a:buClr>
              <a:buSzPct val="80000"/>
              <a:buFont typeface="Arial"/>
              <a:buNone/>
              <a:defRPr/>
            </a:pPr>
            <a:r>
              <a:rPr lang="de-DE" sz="3200" b="1" i="0" u="none" strike="noStrike" cap="none" spc="0" err="1">
                <a:solidFill>
                  <a:schemeClr val="tx1"/>
                </a:solidFill>
                <a:latin typeface="Arial Narrow"/>
                <a:ea typeface="Arial Narrow"/>
                <a:cs typeface="Arial Narrow"/>
              </a:rPr>
              <a:t>you</a:t>
            </a:r>
            <a:r>
              <a:rPr lang="de-DE" sz="3200" b="1" i="0" u="none" strike="noStrike" cap="none" spc="0">
                <a:solidFill>
                  <a:schemeClr val="tx1"/>
                </a:solidFill>
                <a:latin typeface="Arial Narrow"/>
                <a:ea typeface="Arial Narrow"/>
                <a:cs typeface="Arial Narrow"/>
              </a:rPr>
              <a:t> </a:t>
            </a:r>
            <a:r>
              <a:rPr lang="de-DE" sz="3200" b="1" i="0" u="none" strike="noStrike" cap="none" spc="0" err="1">
                <a:solidFill>
                  <a:schemeClr val="tx1"/>
                </a:solidFill>
                <a:latin typeface="Arial Narrow"/>
                <a:ea typeface="Arial Narrow"/>
                <a:cs typeface="Arial Narrow"/>
              </a:rPr>
              <a:t>don‘t</a:t>
            </a:r>
            <a:r>
              <a:rPr lang="de-DE" sz="3200" b="1" i="0" u="none" strike="noStrike" cap="none" spc="0">
                <a:solidFill>
                  <a:schemeClr val="tx1"/>
                </a:solidFill>
                <a:latin typeface="Arial Narrow"/>
                <a:ea typeface="Arial Narrow"/>
                <a:cs typeface="Arial Narrow"/>
              </a:rPr>
              <a:t> </a:t>
            </a:r>
            <a:r>
              <a:rPr lang="de-DE" sz="3200" b="1" i="0" u="none" strike="noStrike" cap="none" spc="0" err="1">
                <a:solidFill>
                  <a:schemeClr val="tx1"/>
                </a:solidFill>
                <a:latin typeface="Arial Narrow"/>
                <a:ea typeface="Arial Narrow"/>
                <a:cs typeface="Arial Narrow"/>
              </a:rPr>
              <a:t>rise</a:t>
            </a:r>
            <a:r>
              <a:rPr lang="de-DE" sz="3200" b="1" i="0" u="none" strike="noStrike" cap="none" spc="0">
                <a:solidFill>
                  <a:schemeClr val="tx1"/>
                </a:solidFill>
                <a:latin typeface="Arial Narrow"/>
                <a:ea typeface="Arial Narrow"/>
                <a:cs typeface="Arial Narrow"/>
              </a:rPr>
              <a:t> </a:t>
            </a:r>
            <a:r>
              <a:rPr lang="de-DE" sz="3200" b="1" i="0" u="none" strike="noStrike" cap="none" spc="0" err="1">
                <a:solidFill>
                  <a:schemeClr val="tx1"/>
                </a:solidFill>
                <a:latin typeface="Arial Narrow"/>
                <a:ea typeface="Arial Narrow"/>
                <a:cs typeface="Arial Narrow"/>
              </a:rPr>
              <a:t>to</a:t>
            </a:r>
            <a:r>
              <a:rPr lang="de-DE" sz="3200" b="1" i="0" u="none" strike="noStrike" cap="none" spc="0">
                <a:solidFill>
                  <a:schemeClr val="tx1"/>
                </a:solidFill>
                <a:latin typeface="Arial Narrow"/>
                <a:ea typeface="Arial Narrow"/>
                <a:cs typeface="Arial Narrow"/>
              </a:rPr>
              <a:t> </a:t>
            </a:r>
            <a:r>
              <a:rPr lang="de-DE" sz="3200" b="1" i="0" u="none" strike="noStrike" cap="none" spc="0" err="1">
                <a:solidFill>
                  <a:schemeClr val="tx1"/>
                </a:solidFill>
                <a:latin typeface="Arial Narrow"/>
                <a:ea typeface="Arial Narrow"/>
                <a:cs typeface="Arial Narrow"/>
              </a:rPr>
              <a:t>the</a:t>
            </a:r>
            <a:r>
              <a:rPr lang="de-DE" sz="3200" b="1" i="0" u="none" strike="noStrike" cap="none" spc="0">
                <a:solidFill>
                  <a:schemeClr val="tx1"/>
                </a:solidFill>
                <a:latin typeface="Arial Narrow"/>
                <a:ea typeface="Arial Narrow"/>
                <a:cs typeface="Arial Narrow"/>
              </a:rPr>
              <a:t> </a:t>
            </a:r>
            <a:r>
              <a:rPr lang="de-DE" sz="3200" b="1" i="0" u="none" strike="noStrike" cap="none" spc="0" err="1">
                <a:solidFill>
                  <a:schemeClr val="tx1"/>
                </a:solidFill>
                <a:latin typeface="Arial Narrow"/>
                <a:ea typeface="Arial Narrow"/>
                <a:cs typeface="Arial Narrow"/>
              </a:rPr>
              <a:t>level</a:t>
            </a:r>
            <a:r>
              <a:rPr lang="de-DE" sz="3200" b="1" i="0" u="none" strike="noStrike" cap="none" spc="0">
                <a:solidFill>
                  <a:schemeClr val="tx1"/>
                </a:solidFill>
                <a:latin typeface="Arial Narrow"/>
                <a:ea typeface="Arial Narrow"/>
                <a:cs typeface="Arial Narrow"/>
              </a:rPr>
              <a:t> </a:t>
            </a:r>
            <a:r>
              <a:rPr lang="de-DE" sz="3200" b="1" i="0" u="none" strike="noStrike" cap="none" spc="0" err="1">
                <a:solidFill>
                  <a:schemeClr val="tx1"/>
                </a:solidFill>
                <a:latin typeface="Arial Narrow"/>
                <a:ea typeface="Arial Narrow"/>
                <a:cs typeface="Arial Narrow"/>
              </a:rPr>
              <a:t>of</a:t>
            </a:r>
            <a:r>
              <a:rPr lang="de-DE" sz="3200" b="1" i="0" u="none" strike="noStrike" cap="none" spc="0">
                <a:solidFill>
                  <a:schemeClr val="tx1"/>
                </a:solidFill>
                <a:latin typeface="Arial Narrow"/>
                <a:ea typeface="Arial Narrow"/>
                <a:cs typeface="Arial Narrow"/>
              </a:rPr>
              <a:t> </a:t>
            </a:r>
            <a:r>
              <a:rPr lang="de-DE" sz="3200" b="1" i="0" u="none" strike="noStrike" cap="none" spc="0" err="1">
                <a:solidFill>
                  <a:schemeClr val="tx1"/>
                </a:solidFill>
                <a:latin typeface="Arial Narrow"/>
                <a:ea typeface="Arial Narrow"/>
                <a:cs typeface="Arial Narrow"/>
              </a:rPr>
              <a:t>your</a:t>
            </a:r>
            <a:r>
              <a:rPr lang="de-DE" sz="3200" b="1" i="0" u="none" strike="noStrike" cap="none" spc="0">
                <a:solidFill>
                  <a:schemeClr val="tx1"/>
                </a:solidFill>
                <a:latin typeface="Arial Narrow"/>
                <a:ea typeface="Arial Narrow"/>
                <a:cs typeface="Arial Narrow"/>
              </a:rPr>
              <a:t> </a:t>
            </a:r>
            <a:r>
              <a:rPr lang="de-DE" sz="3200" b="1" i="0" u="none" strike="noStrike" cap="none" spc="0" err="1">
                <a:solidFill>
                  <a:schemeClr val="tx1"/>
                </a:solidFill>
                <a:latin typeface="Arial Narrow"/>
                <a:ea typeface="Arial Narrow"/>
                <a:cs typeface="Arial Narrow"/>
              </a:rPr>
              <a:t>goals</a:t>
            </a:r>
            <a:r>
              <a:rPr lang="de-DE" sz="3200" b="1" i="0" u="none" strike="noStrike" cap="none" spc="0">
                <a:solidFill>
                  <a:schemeClr val="tx1"/>
                </a:solidFill>
                <a:latin typeface="Arial Narrow"/>
                <a:ea typeface="Arial Narrow"/>
                <a:cs typeface="Arial Narrow"/>
              </a:rPr>
              <a:t>, </a:t>
            </a:r>
            <a:br>
              <a:rPr lang="de-DE" sz="3200" b="1" i="0" u="none" strike="noStrike" cap="none" spc="0">
                <a:solidFill>
                  <a:schemeClr val="tx1"/>
                </a:solidFill>
                <a:latin typeface="Arial Narrow"/>
                <a:ea typeface="Arial Narrow"/>
                <a:cs typeface="Arial Narrow"/>
              </a:rPr>
            </a:br>
            <a:r>
              <a:rPr lang="de-DE" sz="3200" b="1" i="0" u="none" strike="noStrike" cap="none" spc="0" err="1">
                <a:solidFill>
                  <a:schemeClr val="tx1"/>
                </a:solidFill>
                <a:latin typeface="Arial Narrow"/>
                <a:ea typeface="Arial Narrow"/>
                <a:cs typeface="Arial Narrow"/>
              </a:rPr>
              <a:t>you</a:t>
            </a:r>
            <a:r>
              <a:rPr lang="de-DE" sz="3200" b="1" i="0" u="none" strike="noStrike" cap="none" spc="0">
                <a:solidFill>
                  <a:schemeClr val="tx1"/>
                </a:solidFill>
                <a:latin typeface="Arial Narrow"/>
                <a:ea typeface="Arial Narrow"/>
                <a:cs typeface="Arial Narrow"/>
              </a:rPr>
              <a:t> fall </a:t>
            </a:r>
            <a:r>
              <a:rPr lang="de-DE" sz="3200" b="1" i="0" u="none" strike="noStrike" cap="none" spc="0" err="1">
                <a:solidFill>
                  <a:schemeClr val="tx1"/>
                </a:solidFill>
                <a:latin typeface="Arial Narrow"/>
                <a:ea typeface="Arial Narrow"/>
                <a:cs typeface="Arial Narrow"/>
              </a:rPr>
              <a:t>to</a:t>
            </a:r>
            <a:r>
              <a:rPr lang="de-DE" sz="3200" b="1" i="0" u="none" strike="noStrike" cap="none" spc="0">
                <a:solidFill>
                  <a:schemeClr val="tx1"/>
                </a:solidFill>
                <a:latin typeface="Arial Narrow"/>
                <a:ea typeface="Arial Narrow"/>
                <a:cs typeface="Arial Narrow"/>
              </a:rPr>
              <a:t> </a:t>
            </a:r>
            <a:r>
              <a:rPr lang="de-DE" sz="3200" b="1" i="0" u="none" strike="noStrike" cap="none" spc="0" err="1">
                <a:solidFill>
                  <a:schemeClr val="tx1"/>
                </a:solidFill>
                <a:latin typeface="Arial Narrow"/>
                <a:ea typeface="Arial Narrow"/>
                <a:cs typeface="Arial Narrow"/>
              </a:rPr>
              <a:t>the</a:t>
            </a:r>
            <a:r>
              <a:rPr lang="de-DE" sz="3200" b="1" i="0" u="none" strike="noStrike" cap="none" spc="0">
                <a:solidFill>
                  <a:schemeClr val="tx1"/>
                </a:solidFill>
                <a:latin typeface="Arial Narrow"/>
                <a:ea typeface="Arial Narrow"/>
                <a:cs typeface="Arial Narrow"/>
              </a:rPr>
              <a:t> </a:t>
            </a:r>
            <a:r>
              <a:rPr lang="de-DE" sz="3200" b="1" i="0" u="none" strike="noStrike" cap="none" spc="0" err="1">
                <a:solidFill>
                  <a:schemeClr val="tx1"/>
                </a:solidFill>
                <a:latin typeface="Arial Narrow"/>
                <a:ea typeface="Arial Narrow"/>
                <a:cs typeface="Arial Narrow"/>
              </a:rPr>
              <a:t>level</a:t>
            </a:r>
            <a:r>
              <a:rPr lang="de-DE" sz="3200" b="1" i="0" u="none" strike="noStrike" cap="none" spc="0">
                <a:solidFill>
                  <a:schemeClr val="tx1"/>
                </a:solidFill>
                <a:latin typeface="Arial Narrow"/>
                <a:ea typeface="Arial Narrow"/>
                <a:cs typeface="Arial Narrow"/>
              </a:rPr>
              <a:t> </a:t>
            </a:r>
            <a:r>
              <a:rPr lang="de-DE" sz="3200" b="1" i="0" u="none" strike="noStrike" cap="none" spc="0" err="1">
                <a:solidFill>
                  <a:schemeClr val="tx1"/>
                </a:solidFill>
                <a:latin typeface="Arial Narrow"/>
                <a:ea typeface="Arial Narrow"/>
                <a:cs typeface="Arial Narrow"/>
              </a:rPr>
              <a:t>of</a:t>
            </a:r>
            <a:r>
              <a:rPr lang="de-DE" sz="3200" b="1" i="0" u="none" strike="noStrike" cap="none" spc="0">
                <a:solidFill>
                  <a:schemeClr val="tx1"/>
                </a:solidFill>
                <a:latin typeface="Arial Narrow"/>
                <a:ea typeface="Arial Narrow"/>
                <a:cs typeface="Arial Narrow"/>
              </a:rPr>
              <a:t> </a:t>
            </a:r>
            <a:r>
              <a:rPr lang="de-DE" sz="3200" b="1" i="0" u="none" strike="noStrike" cap="none" spc="0" err="1">
                <a:solidFill>
                  <a:schemeClr val="tx1"/>
                </a:solidFill>
                <a:latin typeface="Arial Narrow"/>
                <a:ea typeface="Arial Narrow"/>
                <a:cs typeface="Arial Narrow"/>
              </a:rPr>
              <a:t>your</a:t>
            </a:r>
            <a:r>
              <a:rPr lang="de-DE" sz="3200" b="1" i="0" u="none" strike="noStrike" cap="none" spc="0">
                <a:solidFill>
                  <a:schemeClr val="tx1"/>
                </a:solidFill>
                <a:latin typeface="Arial Narrow"/>
                <a:ea typeface="Arial Narrow"/>
                <a:cs typeface="Arial Narrow"/>
              </a:rPr>
              <a:t> </a:t>
            </a:r>
            <a:r>
              <a:rPr lang="de-DE" sz="3200" b="1" i="0" u="none" strike="noStrike" cap="none" spc="0" err="1">
                <a:solidFill>
                  <a:schemeClr val="tx1"/>
                </a:solidFill>
                <a:latin typeface="Arial Narrow"/>
                <a:ea typeface="Arial Narrow"/>
                <a:cs typeface="Arial Narrow"/>
              </a:rPr>
              <a:t>systems</a:t>
            </a:r>
            <a:br>
              <a:rPr lang="de-DE" sz="6000" b="1">
                <a:solidFill>
                  <a:schemeClr val="tx1"/>
                </a:solidFill>
                <a:latin typeface="Arial Narrow"/>
                <a:ea typeface="Arial Narrow"/>
                <a:cs typeface="Arial Narrow"/>
              </a:rPr>
            </a:br>
            <a:r>
              <a:rPr lang="de-DE" sz="3200" b="1" i="0" u="none" strike="noStrike" cap="none" spc="0">
                <a:solidFill>
                  <a:schemeClr val="tx1"/>
                </a:solidFill>
                <a:latin typeface="Arial Narrow"/>
                <a:ea typeface="Arial Narrow"/>
                <a:cs typeface="Arial Narrow"/>
              </a:rPr>
              <a:t> — James Clear, </a:t>
            </a:r>
            <a:r>
              <a:rPr lang="de-DE" sz="3200" b="1" i="0" u="none" strike="noStrike" cap="none" spc="0" err="1">
                <a:solidFill>
                  <a:schemeClr val="tx1"/>
                </a:solidFill>
                <a:latin typeface="Arial Narrow"/>
                <a:ea typeface="Arial Narrow"/>
                <a:cs typeface="Arial Narrow"/>
              </a:rPr>
              <a:t>Atomic</a:t>
            </a:r>
            <a:r>
              <a:rPr lang="de-DE" sz="3200" b="1" i="0" u="none" strike="noStrike" cap="none" spc="0">
                <a:solidFill>
                  <a:schemeClr val="tx1"/>
                </a:solidFill>
                <a:latin typeface="Arial Narrow"/>
                <a:ea typeface="Arial Narrow"/>
                <a:cs typeface="Arial Narrow"/>
              </a:rPr>
              <a:t> Habits</a:t>
            </a:r>
            <a:endParaRPr lang="de-DE" sz="6000">
              <a:solidFill>
                <a:schemeClr val="tx1"/>
              </a:solidFill>
            </a:endParaRPr>
          </a:p>
        </p:txBody>
      </p:sp>
    </p:spTree>
    <p:extLst>
      <p:ext uri="{BB962C8B-B14F-4D97-AF65-F5344CB8AC3E}">
        <p14:creationId xmlns:p14="http://schemas.microsoft.com/office/powerpoint/2010/main" val="1113687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aphicFrame>
        <p:nvGraphicFramePr>
          <p:cNvPr id="2" name="Objekt 1"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2" name="Objekt 1" hidden="1"/>
                      <p:cNvPicPr/>
                      <p:nvPr/>
                    </p:nvPicPr>
                    <p:blipFill>
                      <a:blip/>
                      <a:stretch/>
                    </p:blipFill>
                    <p:spPr bwMode="auto">
                      <a:xfrm>
                        <a:off x="3175" y="3175"/>
                        <a:ext cx="2454" cy="3174"/>
                      </a:xfrm>
                      <a:prstGeom prst="rect">
                        <a:avLst/>
                      </a:prstGeom>
                    </p:spPr>
                  </p:pic>
                </p:oleObj>
              </mc:Fallback>
            </mc:AlternateContent>
          </a:graphicData>
        </a:graphic>
      </p:graphicFrame>
      <p:sp>
        <p:nvSpPr>
          <p:cNvPr id="5" name="Titel 4"/>
          <p:cNvSpPr>
            <a:spLocks noGrp="1"/>
          </p:cNvSpPr>
          <p:nvPr>
            <p:ph type="title"/>
          </p:nvPr>
        </p:nvSpPr>
        <p:spPr bwMode="auto"/>
        <p:txBody>
          <a:bodyPr vert="horz"/>
          <a:lstStyle/>
          <a:p>
            <a:pPr>
              <a:defRPr/>
            </a:pPr>
            <a:r>
              <a:rPr lang="de-DE" err="1"/>
              <a:t>Getting</a:t>
            </a:r>
            <a:r>
              <a:rPr lang="de-DE"/>
              <a:t> </a:t>
            </a:r>
            <a:r>
              <a:rPr lang="de-DE" err="1"/>
              <a:t>things</a:t>
            </a:r>
            <a:r>
              <a:rPr lang="de-DE"/>
              <a:t> </a:t>
            </a:r>
            <a:r>
              <a:rPr lang="de-DE" err="1"/>
              <a:t>done</a:t>
            </a:r>
            <a:r>
              <a:rPr lang="de-DE"/>
              <a:t> (David Allen)</a:t>
            </a:r>
          </a:p>
        </p:txBody>
      </p:sp>
      <p:sp>
        <p:nvSpPr>
          <p:cNvPr id="3" name="Textfeld 2"/>
          <p:cNvSpPr txBox="1"/>
          <p:nvPr/>
        </p:nvSpPr>
        <p:spPr bwMode="auto">
          <a:xfrm>
            <a:off x="305928" y="8769696"/>
            <a:ext cx="12347366" cy="430887"/>
          </a:xfrm>
          <a:prstGeom prst="rect">
            <a:avLst/>
          </a:prstGeom>
          <a:noFill/>
        </p:spPr>
        <p:txBody>
          <a:bodyPr wrap="square" rtlCol="0">
            <a:spAutoFit/>
          </a:bodyPr>
          <a:lstStyle/>
          <a:p>
            <a:pPr defTabSz="1828800">
              <a:buClr>
                <a:srgbClr val="000000"/>
              </a:buClr>
              <a:defRPr/>
            </a:pPr>
            <a:r>
              <a:rPr lang="de-DE" sz="2200" kern="0">
                <a:solidFill>
                  <a:srgbClr val="000000"/>
                </a:solidFill>
                <a:latin typeface="Arial"/>
                <a:cs typeface="Arial"/>
              </a:rPr>
              <a:t>Source: https://evernote.com/blog/getting-started-with-gtd-templates/</a:t>
            </a:r>
            <a:endParaRPr sz="2800" kern="0">
              <a:solidFill>
                <a:srgbClr val="000000"/>
              </a:solidFill>
              <a:latin typeface="Arial"/>
              <a:cs typeface="Arial"/>
            </a:endParaRPr>
          </a:p>
        </p:txBody>
      </p:sp>
      <p:sp>
        <p:nvSpPr>
          <p:cNvPr id="10" name="Alternativer Prozess 9">
            <a:extLst>
              <a:ext uri="{FF2B5EF4-FFF2-40B4-BE49-F238E27FC236}">
                <a16:creationId xmlns:a16="http://schemas.microsoft.com/office/drawing/2014/main" id="{05D3D754-F33C-BE44-DFEC-3391FCEB4E3D}"/>
              </a:ext>
            </a:extLst>
          </p:cNvPr>
          <p:cNvSpPr/>
          <p:nvPr/>
        </p:nvSpPr>
        <p:spPr>
          <a:xfrm>
            <a:off x="305928" y="2695237"/>
            <a:ext cx="3599794"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pPr marL="0" lvl="1" defTabSz="1828800">
              <a:buClr>
                <a:srgbClr val="000000"/>
              </a:buClr>
              <a:defRPr/>
            </a:pPr>
            <a:r>
              <a:rPr lang="de-DE" sz="4000" b="1" kern="0">
                <a:solidFill>
                  <a:srgbClr val="FFC000"/>
                </a:solidFill>
                <a:latin typeface="Arial"/>
                <a:cs typeface="Arial"/>
              </a:rPr>
              <a:t>CAPTURE</a:t>
            </a:r>
          </a:p>
          <a:p>
            <a:pPr marL="0" lvl="1" defTabSz="1828800">
              <a:buClr>
                <a:srgbClr val="000000"/>
              </a:buClr>
              <a:defRPr/>
            </a:pPr>
            <a:r>
              <a:rPr lang="en-US" sz="3000">
                <a:solidFill>
                  <a:srgbClr val="000000"/>
                </a:solidFill>
                <a:latin typeface="Arial" panose="020B0604020202020204" pitchFamily="34" charset="0"/>
              </a:rPr>
              <a:t>every </a:t>
            </a:r>
            <a:r>
              <a:rPr lang="en-US" sz="2800">
                <a:solidFill>
                  <a:srgbClr val="000000"/>
                </a:solidFill>
                <a:latin typeface="Arial" panose="020B0604020202020204" pitchFamily="34" charset="0"/>
              </a:rPr>
              <a:t>commitment</a:t>
            </a:r>
            <a:r>
              <a:rPr lang="en-US" sz="3000">
                <a:solidFill>
                  <a:srgbClr val="000000"/>
                </a:solidFill>
                <a:latin typeface="Arial" panose="020B0604020202020204" pitchFamily="34" charset="0"/>
              </a:rPr>
              <a:t> in your life in a trusted place outside your head (like a software </a:t>
            </a:r>
          </a:p>
          <a:p>
            <a:pPr marL="0" lvl="1" defTabSz="1828800">
              <a:buClr>
                <a:srgbClr val="000000"/>
              </a:buClr>
              <a:defRPr/>
            </a:pPr>
            <a:r>
              <a:rPr lang="en-US" sz="3000">
                <a:solidFill>
                  <a:srgbClr val="000000"/>
                </a:solidFill>
                <a:latin typeface="Arial" panose="020B0604020202020204" pitchFamily="34" charset="0"/>
              </a:rPr>
              <a:t>program or a piece of paper)</a:t>
            </a:r>
          </a:p>
          <a:p>
            <a:pPr marL="0" lvl="1" defTabSz="1828800">
              <a:buClr>
                <a:srgbClr val="000000"/>
              </a:buClr>
              <a:defRPr/>
            </a:pPr>
            <a:endParaRPr lang="de-DE" sz="2400" kern="0">
              <a:solidFill>
                <a:srgbClr val="000000"/>
              </a:solidFill>
              <a:latin typeface="Arial"/>
              <a:cs typeface="Arial"/>
            </a:endParaRPr>
          </a:p>
        </p:txBody>
      </p:sp>
      <p:sp>
        <p:nvSpPr>
          <p:cNvPr id="12" name="Alternativer Prozess 11">
            <a:extLst>
              <a:ext uri="{FF2B5EF4-FFF2-40B4-BE49-F238E27FC236}">
                <a16:creationId xmlns:a16="http://schemas.microsoft.com/office/drawing/2014/main" id="{309D111C-F8C7-3C6A-F05F-C988AD06FAA6}"/>
              </a:ext>
            </a:extLst>
          </p:cNvPr>
          <p:cNvSpPr/>
          <p:nvPr/>
        </p:nvSpPr>
        <p:spPr>
          <a:xfrm>
            <a:off x="4057547" y="2695229"/>
            <a:ext cx="3866072"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pPr marL="0" lvl="1" defTabSz="1828800">
              <a:buClr>
                <a:srgbClr val="000000"/>
              </a:buClr>
              <a:defRPr/>
            </a:pPr>
            <a:r>
              <a:rPr lang="de-DE" sz="4000" b="1" kern="0">
                <a:solidFill>
                  <a:srgbClr val="000000">
                    <a:lumMod val="50000"/>
                    <a:lumOff val="50000"/>
                  </a:srgbClr>
                </a:solidFill>
                <a:latin typeface="Arial"/>
                <a:cs typeface="Arial"/>
              </a:rPr>
              <a:t>CLARIFY</a:t>
            </a:r>
            <a:r>
              <a:rPr lang="de-DE" sz="2800" kern="0">
                <a:solidFill>
                  <a:srgbClr val="000000"/>
                </a:solidFill>
                <a:latin typeface="Arial"/>
                <a:cs typeface="Arial"/>
              </a:rPr>
              <a:t> </a:t>
            </a:r>
            <a:r>
              <a:rPr lang="en-US" sz="3000" kern="0">
                <a:solidFill>
                  <a:srgbClr val="000000"/>
                </a:solidFill>
                <a:latin typeface="Arial"/>
                <a:cs typeface="Arial"/>
              </a:rPr>
              <a:t>exactly what each commitment  is, the desired</a:t>
            </a:r>
          </a:p>
          <a:p>
            <a:pPr marL="0" lvl="1" defTabSz="1828800">
              <a:buClr>
                <a:srgbClr val="000000"/>
              </a:buClr>
              <a:defRPr/>
            </a:pPr>
            <a:r>
              <a:rPr lang="en-US" sz="3000" kern="0">
                <a:solidFill>
                  <a:srgbClr val="000000"/>
                </a:solidFill>
                <a:latin typeface="Arial"/>
                <a:cs typeface="Arial"/>
              </a:rPr>
              <a:t>outcome of fulfilling it, and only</a:t>
            </a:r>
          </a:p>
          <a:p>
            <a:pPr marL="0" lvl="1" defTabSz="1828800">
              <a:buClr>
                <a:srgbClr val="000000"/>
              </a:buClr>
              <a:defRPr/>
            </a:pPr>
            <a:r>
              <a:rPr lang="en-US" sz="3000" kern="0">
                <a:solidFill>
                  <a:srgbClr val="000000"/>
                </a:solidFill>
                <a:latin typeface="Arial"/>
                <a:cs typeface="Arial"/>
              </a:rPr>
              <a:t>the very next </a:t>
            </a:r>
          </a:p>
          <a:p>
            <a:pPr marL="0" lvl="1" defTabSz="1828800">
              <a:buClr>
                <a:srgbClr val="000000"/>
              </a:buClr>
              <a:defRPr/>
            </a:pPr>
            <a:r>
              <a:rPr lang="en-US" sz="3000" kern="0">
                <a:solidFill>
                  <a:srgbClr val="000000"/>
                </a:solidFill>
                <a:latin typeface="Arial"/>
                <a:cs typeface="Arial"/>
              </a:rPr>
              <a:t>action required</a:t>
            </a:r>
          </a:p>
          <a:p>
            <a:pPr marL="0" lvl="1" defTabSz="1828800">
              <a:buClr>
                <a:srgbClr val="000000"/>
              </a:buClr>
              <a:defRPr/>
            </a:pPr>
            <a:endParaRPr lang="de-DE" sz="2800" kern="0">
              <a:solidFill>
                <a:srgbClr val="000000"/>
              </a:solidFill>
              <a:latin typeface="Arial"/>
              <a:cs typeface="Arial"/>
            </a:endParaRPr>
          </a:p>
        </p:txBody>
      </p:sp>
      <p:sp>
        <p:nvSpPr>
          <p:cNvPr id="13" name="Alternativer Prozess 12">
            <a:extLst>
              <a:ext uri="{FF2B5EF4-FFF2-40B4-BE49-F238E27FC236}">
                <a16:creationId xmlns:a16="http://schemas.microsoft.com/office/drawing/2014/main" id="{AE27E494-2A4B-F207-E84B-E0028911C0B5}"/>
              </a:ext>
            </a:extLst>
          </p:cNvPr>
          <p:cNvSpPr/>
          <p:nvPr/>
        </p:nvSpPr>
        <p:spPr>
          <a:xfrm>
            <a:off x="8075444" y="2676179"/>
            <a:ext cx="3123476"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pPr marL="0" lvl="1" defTabSz="1828800">
              <a:buClr>
                <a:srgbClr val="000000"/>
              </a:buClr>
              <a:defRPr/>
            </a:pPr>
            <a:r>
              <a:rPr lang="de-DE" sz="4000" b="1" kern="0" spc="-300">
                <a:solidFill>
                  <a:srgbClr val="92D050"/>
                </a:solidFill>
                <a:latin typeface="Arial"/>
                <a:cs typeface="Arial"/>
              </a:rPr>
              <a:t>ORGANIZE</a:t>
            </a:r>
            <a:r>
              <a:rPr lang="de-DE" sz="2800" kern="0">
                <a:solidFill>
                  <a:srgbClr val="000000"/>
                </a:solidFill>
                <a:latin typeface="Arial"/>
                <a:cs typeface="Arial"/>
              </a:rPr>
              <a:t> </a:t>
            </a:r>
            <a:r>
              <a:rPr lang="en-US" sz="3200">
                <a:solidFill>
                  <a:srgbClr val="000000"/>
                </a:solidFill>
                <a:effectLst/>
                <a:latin typeface="Arial" panose="020B0604020202020204" pitchFamily="34" charset="0"/>
              </a:rPr>
              <a:t> reminders of </a:t>
            </a:r>
          </a:p>
          <a:p>
            <a:pPr marL="0" lvl="1" defTabSz="1828800">
              <a:buClr>
                <a:srgbClr val="000000"/>
              </a:buClr>
              <a:defRPr/>
            </a:pPr>
            <a:r>
              <a:rPr lang="en-US" sz="3200">
                <a:solidFill>
                  <a:srgbClr val="000000"/>
                </a:solidFill>
                <a:effectLst/>
                <a:latin typeface="Arial" panose="020B0604020202020204" pitchFamily="34" charset="0"/>
              </a:rPr>
              <a:t>these actions in form of  a Project List</a:t>
            </a:r>
            <a:endParaRPr lang="en-US" sz="4400">
              <a:effectLst/>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p:txBody>
      </p:sp>
      <p:sp>
        <p:nvSpPr>
          <p:cNvPr id="14" name="Alternativer Prozess 13">
            <a:extLst>
              <a:ext uri="{FF2B5EF4-FFF2-40B4-BE49-F238E27FC236}">
                <a16:creationId xmlns:a16="http://schemas.microsoft.com/office/drawing/2014/main" id="{FAB5A4C0-08F2-6FBF-530B-902972E5A42E}"/>
              </a:ext>
            </a:extLst>
          </p:cNvPr>
          <p:cNvSpPr/>
          <p:nvPr/>
        </p:nvSpPr>
        <p:spPr>
          <a:xfrm>
            <a:off x="11315952" y="2695229"/>
            <a:ext cx="3274544"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pPr marL="0" lvl="1" defTabSz="1828800">
              <a:buClr>
                <a:srgbClr val="000000"/>
              </a:buClr>
              <a:defRPr/>
            </a:pPr>
            <a:r>
              <a:rPr lang="de-DE" sz="4000" b="1" kern="0">
                <a:solidFill>
                  <a:srgbClr val="00B0F0"/>
                </a:solidFill>
                <a:latin typeface="Arial"/>
                <a:cs typeface="Arial"/>
              </a:rPr>
              <a:t>REFLECT</a:t>
            </a:r>
            <a:r>
              <a:rPr lang="de-DE" sz="2800" kern="0">
                <a:solidFill>
                  <a:srgbClr val="000000"/>
                </a:solidFill>
                <a:latin typeface="Arial"/>
                <a:cs typeface="Arial"/>
              </a:rPr>
              <a:t> </a:t>
            </a:r>
          </a:p>
          <a:p>
            <a:r>
              <a:rPr lang="en-US" sz="3000">
                <a:solidFill>
                  <a:srgbClr val="000000"/>
                </a:solidFill>
                <a:effectLst/>
                <a:latin typeface="Arial" panose="020B0604020202020204" pitchFamily="34" charset="0"/>
              </a:rPr>
              <a:t>on your list on a weekly basis to make sure it’s </a:t>
            </a:r>
          </a:p>
          <a:p>
            <a:r>
              <a:rPr lang="en-US" sz="3000">
                <a:solidFill>
                  <a:srgbClr val="000000"/>
                </a:solidFill>
                <a:effectLst/>
                <a:latin typeface="Arial" panose="020B0604020202020204" pitchFamily="34" charset="0"/>
              </a:rPr>
              <a:t>clear, current, and complete</a:t>
            </a:r>
            <a:endParaRPr lang="en-US" sz="3000">
              <a:effectLst/>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p:txBody>
      </p:sp>
      <p:sp>
        <p:nvSpPr>
          <p:cNvPr id="15" name="Alternativer Prozess 14">
            <a:extLst>
              <a:ext uri="{FF2B5EF4-FFF2-40B4-BE49-F238E27FC236}">
                <a16:creationId xmlns:a16="http://schemas.microsoft.com/office/drawing/2014/main" id="{9B7306B6-9108-F0E4-9F6A-A4BE9E57614B}"/>
              </a:ext>
            </a:extLst>
          </p:cNvPr>
          <p:cNvSpPr/>
          <p:nvPr/>
        </p:nvSpPr>
        <p:spPr>
          <a:xfrm>
            <a:off x="14707528" y="2695229"/>
            <a:ext cx="3312948"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r>
              <a:rPr lang="de-DE" sz="4000" b="1" kern="0">
                <a:solidFill>
                  <a:srgbClr val="C00000"/>
                </a:solidFill>
                <a:latin typeface="Arial"/>
                <a:cs typeface="Arial"/>
              </a:rPr>
              <a:t>EXECUTE</a:t>
            </a:r>
            <a:r>
              <a:rPr lang="de-DE" sz="2800" kern="0">
                <a:solidFill>
                  <a:srgbClr val="000000"/>
                </a:solidFill>
                <a:latin typeface="Arial"/>
                <a:cs typeface="Arial"/>
              </a:rPr>
              <a:t> </a:t>
            </a:r>
            <a:r>
              <a:rPr lang="en-US" sz="3000">
                <a:solidFill>
                  <a:srgbClr val="000000"/>
                </a:solidFill>
                <a:effectLst/>
                <a:latin typeface="Arial" panose="020B0604020202020204" pitchFamily="34" charset="0"/>
              </a:rPr>
              <a:t>on your actions by making intuitive decisions about what to do next, trusting your </a:t>
            </a:r>
          </a:p>
          <a:p>
            <a:r>
              <a:rPr lang="en-US" sz="3000">
                <a:solidFill>
                  <a:srgbClr val="000000"/>
                </a:solidFill>
                <a:effectLst/>
                <a:latin typeface="Arial" panose="020B0604020202020204" pitchFamily="34" charset="0"/>
              </a:rPr>
              <a:t>system to not let anything fall through the </a:t>
            </a:r>
          </a:p>
          <a:p>
            <a:r>
              <a:rPr lang="en-US" sz="3000">
                <a:solidFill>
                  <a:srgbClr val="000000"/>
                </a:solidFill>
                <a:effectLst/>
                <a:latin typeface="Arial" panose="020B0604020202020204" pitchFamily="34" charset="0"/>
              </a:rPr>
              <a:t>cracks</a:t>
            </a:r>
            <a:endParaRPr lang="en-US" sz="3000">
              <a:effectLst/>
            </a:endParaRPr>
          </a:p>
          <a:p>
            <a:pPr marL="0" lvl="1" defTabSz="1828800">
              <a:buClr>
                <a:srgbClr val="000000"/>
              </a:buClr>
              <a:defRPr/>
            </a:pPr>
            <a:endParaRPr lang="de-DE" sz="2600" kern="0">
              <a:solidFill>
                <a:srgbClr val="000000"/>
              </a:solidFill>
              <a:latin typeface="Arial"/>
              <a:cs typeface="Arial"/>
            </a:endParaRPr>
          </a:p>
        </p:txBody>
      </p:sp>
    </p:spTree>
    <p:extLst>
      <p:ext uri="{BB962C8B-B14F-4D97-AF65-F5344CB8AC3E}">
        <p14:creationId xmlns:p14="http://schemas.microsoft.com/office/powerpoint/2010/main" val="3989471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54EE25-6DB5-A8B3-73ED-80E08B7CE1A5}"/>
              </a:ext>
            </a:extLst>
          </p:cNvPr>
          <p:cNvSpPr>
            <a:spLocks noGrp="1"/>
          </p:cNvSpPr>
          <p:nvPr>
            <p:ph type="title"/>
          </p:nvPr>
        </p:nvSpPr>
        <p:spPr/>
        <p:txBody>
          <a:bodyPr>
            <a:normAutofit/>
          </a:bodyPr>
          <a:lstStyle/>
          <a:p>
            <a:pPr algn="ctr"/>
            <a:r>
              <a:rPr lang="en-US" sz="5400"/>
              <a:t>What organizational and time management methods do you use?</a:t>
            </a:r>
            <a:endParaRPr lang="de-DE" sz="5400"/>
          </a:p>
        </p:txBody>
      </p:sp>
    </p:spTree>
    <p:extLst>
      <p:ext uri="{BB962C8B-B14F-4D97-AF65-F5344CB8AC3E}">
        <p14:creationId xmlns:p14="http://schemas.microsoft.com/office/powerpoint/2010/main" val="1823725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67471463" name="Google Shape;104;p17"/>
          <p:cNvSpPr txBox="1">
            <a:spLocks noGrp="1" noRot="1" noMove="1" noResize="1" noEditPoints="1" noAdjustHandles="1" noChangeArrowheads="1" noChangeShapeType="1"/>
          </p:cNvSpPr>
          <p:nvPr>
            <p:ph type="title"/>
          </p:nvPr>
        </p:nvSpPr>
        <p:spPr bwMode="auto">
          <a:prstGeom prst="rect">
            <a:avLst/>
          </a:prstGeom>
          <a:solidFill>
            <a:schemeClr val="bg1"/>
          </a:solidFill>
        </p:spPr>
        <p:txBody>
          <a:bodyPr spcFirstLastPara="1" wrap="square" lIns="182846" tIns="182846" rIns="182846" bIns="182846" anchor="ctr" anchorCtr="0">
            <a:no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r>
              <a:rPr sz="4400"/>
              <a:t>Ti</a:t>
            </a:r>
            <a:r>
              <a:rPr lang="de-DE" sz="4400"/>
              <a:t>ps &amp; Personal </a:t>
            </a:r>
            <a:r>
              <a:rPr lang="de-DE" sz="4400" err="1"/>
              <a:t>experiences</a:t>
            </a:r>
            <a:endParaRPr sz="4400"/>
          </a:p>
        </p:txBody>
      </p:sp>
      <p:sp>
        <p:nvSpPr>
          <p:cNvPr id="813494639" name="Google Shape;105;p17"/>
          <p:cNvSpPr txBox="1">
            <a:spLocks noGrp="1" noRot="1" noMove="1" noResize="1" noEditPoints="1" noAdjustHandles="1" noChangeArrowheads="1" noChangeShapeType="1"/>
          </p:cNvSpPr>
          <p:nvPr>
            <p:ph idx="1"/>
          </p:nvPr>
        </p:nvSpPr>
        <p:spPr bwMode="auto">
          <a:prstGeom prst="rect">
            <a:avLst/>
          </a:prstGeom>
        </p:spPr>
        <p:txBody>
          <a:bodyPr spcFirstLastPara="1" wrap="square" lIns="182846" tIns="182846" rIns="182846" bIns="182846" anchor="t" anchorCtr="0">
            <a:no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571500" indent="-571500">
              <a:spcBef>
                <a:spcPts val="1200"/>
              </a:spcBef>
              <a:buClrTx/>
              <a:buFont typeface="Arial" panose="020B0604020202020204" pitchFamily="34" charset="0"/>
              <a:buChar char="•"/>
              <a:defRPr/>
            </a:pPr>
            <a:r>
              <a:rPr lang="en-US"/>
              <a:t>To-do list</a:t>
            </a:r>
          </a:p>
          <a:p>
            <a:pPr marL="571500" indent="-571500">
              <a:spcBef>
                <a:spcPts val="1200"/>
              </a:spcBef>
              <a:buClrTx/>
              <a:buFont typeface="Arial" panose="020B0604020202020204" pitchFamily="34" charset="0"/>
              <a:buChar char="•"/>
              <a:defRPr/>
            </a:pPr>
            <a:r>
              <a:rPr lang="en-US"/>
              <a:t>Eisenhower matrix</a:t>
            </a:r>
          </a:p>
          <a:p>
            <a:pPr marL="571500" indent="-571500">
              <a:spcBef>
                <a:spcPts val="1200"/>
              </a:spcBef>
              <a:buClrTx/>
              <a:buFont typeface="Arial" panose="020B0604020202020204" pitchFamily="34" charset="0"/>
              <a:buChar char="•"/>
              <a:defRPr/>
            </a:pPr>
            <a:r>
              <a:rPr lang="en-US"/>
              <a:t>Visualize your time</a:t>
            </a:r>
          </a:p>
          <a:p>
            <a:pPr marL="571500" indent="-571500">
              <a:spcBef>
                <a:spcPts val="1200"/>
              </a:spcBef>
              <a:buClrTx/>
              <a:buFont typeface="Arial" panose="020B0604020202020204" pitchFamily="34" charset="0"/>
              <a:buChar char="•"/>
              <a:defRPr/>
            </a:pPr>
            <a:r>
              <a:rPr lang="en-US"/>
              <a:t>Separation of living and working space</a:t>
            </a:r>
          </a:p>
          <a:p>
            <a:pPr marL="571500" indent="-571500">
              <a:spcBef>
                <a:spcPts val="1200"/>
              </a:spcBef>
              <a:buClrTx/>
              <a:buFont typeface="Arial" panose="020B0604020202020204" pitchFamily="34" charset="0"/>
              <a:buChar char="•"/>
              <a:defRPr/>
            </a:pPr>
            <a:r>
              <a:rPr lang="en-US"/>
              <a:t>Time blocking in the calendar</a:t>
            </a:r>
          </a:p>
          <a:p>
            <a:pPr marL="571500" indent="-571500">
              <a:spcBef>
                <a:spcPts val="1200"/>
              </a:spcBef>
              <a:buClrTx/>
              <a:buFont typeface="Arial" panose="020B0604020202020204" pitchFamily="34" charset="0"/>
              <a:buChar char="•"/>
              <a:defRPr/>
            </a:pPr>
            <a:r>
              <a:rPr lang="en-US"/>
              <a:t>Pomodoro: 25 min work, 5 min break</a:t>
            </a:r>
          </a:p>
          <a:p>
            <a:pPr marL="571500" indent="-571500">
              <a:spcBef>
                <a:spcPts val="1200"/>
              </a:spcBef>
              <a:buClrTx/>
              <a:buFont typeface="Arial" panose="020B0604020202020204" pitchFamily="34" charset="0"/>
              <a:buChar char="•"/>
              <a:defRPr/>
            </a:pPr>
            <a:r>
              <a:rPr lang="en-US"/>
              <a:t>Networking</a:t>
            </a:r>
          </a:p>
          <a:p>
            <a:pPr marL="571500" indent="-571500">
              <a:spcBef>
                <a:spcPts val="1200"/>
              </a:spcBef>
              <a:buClrTx/>
              <a:buFont typeface="Arial" panose="020B0604020202020204" pitchFamily="34" charset="0"/>
              <a:buChar char="•"/>
              <a:defRPr/>
            </a:pPr>
            <a:r>
              <a:rPr lang="en-US"/>
              <a:t>Have fun</a:t>
            </a:r>
            <a:r>
              <a:rPr lang="de-DE"/>
              <a:t>…</a:t>
            </a:r>
          </a:p>
        </p:txBody>
      </p:sp>
      <p:pic>
        <p:nvPicPr>
          <p:cNvPr id="3" name="Picture 2" descr="A diagram of a diagram&#10;&#10;Description automatically generated with medium confidence">
            <a:extLst>
              <a:ext uri="{FF2B5EF4-FFF2-40B4-BE49-F238E27FC236}">
                <a16:creationId xmlns:a16="http://schemas.microsoft.com/office/drawing/2014/main" id="{AF85DB82-EDCB-DBCD-621A-FF4D6D1EA3D8}"/>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0744200" y="2561860"/>
            <a:ext cx="4495800" cy="4660900"/>
          </a:xfrm>
          <a:prstGeom prst="rect">
            <a:avLst/>
          </a:prstGeom>
        </p:spPr>
      </p:pic>
      <p:sp>
        <p:nvSpPr>
          <p:cNvPr id="4" name="TextBox 3">
            <a:extLst>
              <a:ext uri="{FF2B5EF4-FFF2-40B4-BE49-F238E27FC236}">
                <a16:creationId xmlns:a16="http://schemas.microsoft.com/office/drawing/2014/main" id="{4D7F65DF-E7B5-C964-C660-8F4382CDE057}"/>
              </a:ext>
            </a:extLst>
          </p:cNvPr>
          <p:cNvSpPr txBox="1">
            <a:spLocks noGrp="1" noRot="1" noMove="1" noResize="1" noEditPoints="1" noAdjustHandles="1" noChangeArrowheads="1" noChangeShapeType="1"/>
          </p:cNvSpPr>
          <p:nvPr/>
        </p:nvSpPr>
        <p:spPr>
          <a:xfrm>
            <a:off x="10744200" y="7015073"/>
            <a:ext cx="4495800" cy="830997"/>
          </a:xfrm>
          <a:prstGeom prst="rect">
            <a:avLst/>
          </a:prstGeom>
          <a:noFill/>
        </p:spPr>
        <p:txBody>
          <a:bodyPr wrap="square" rtlCol="0">
            <a:spAutoFit/>
          </a:bodyPr>
          <a:lstStyle/>
          <a:p>
            <a:r>
              <a:rPr lang="en-GB" sz="1200"/>
              <a:t>Source: https://www.orghandbuch.de/Webs/OHB/DE/OrganisationshandbuchNEU/4_MethodenUndTechniken/Methoden_A_bis_Z/Eisenhower_Matrix/Eisenhower_Matrix_node.html</a:t>
            </a:r>
          </a:p>
        </p:txBody>
      </p:sp>
      <p:sp>
        <p:nvSpPr>
          <p:cNvPr id="2" name="TextBox 1">
            <a:extLst>
              <a:ext uri="{FF2B5EF4-FFF2-40B4-BE49-F238E27FC236}">
                <a16:creationId xmlns:a16="http://schemas.microsoft.com/office/drawing/2014/main" id="{43489944-8945-2960-1B0F-A174834234A5}"/>
              </a:ext>
            </a:extLst>
          </p:cNvPr>
          <p:cNvSpPr txBox="1">
            <a:spLocks noGrp="1" noRot="1" noMove="1" noResize="1" noEditPoints="1" noAdjustHandles="1" noChangeArrowheads="1" noChangeShapeType="1"/>
          </p:cNvSpPr>
          <p:nvPr/>
        </p:nvSpPr>
        <p:spPr>
          <a:xfrm>
            <a:off x="11963400" y="2905047"/>
            <a:ext cx="1097280" cy="369332"/>
          </a:xfrm>
          <a:prstGeom prst="rect">
            <a:avLst/>
          </a:prstGeom>
          <a:solidFill>
            <a:schemeClr val="bg1"/>
          </a:solidFill>
        </p:spPr>
        <p:txBody>
          <a:bodyPr wrap="square" rtlCol="0">
            <a:spAutoFit/>
          </a:bodyPr>
          <a:lstStyle/>
          <a:p>
            <a:r>
              <a:rPr lang="de-DE">
                <a:solidFill>
                  <a:srgbClr val="A1B989"/>
                </a:solidFill>
                <a:latin typeface="Abadi" panose="020F0502020204030204" pitchFamily="34" charset="0"/>
              </a:rPr>
              <a:t>urgent</a:t>
            </a:r>
          </a:p>
        </p:txBody>
      </p:sp>
      <p:sp>
        <p:nvSpPr>
          <p:cNvPr id="6" name="TextBox 5">
            <a:extLst>
              <a:ext uri="{FF2B5EF4-FFF2-40B4-BE49-F238E27FC236}">
                <a16:creationId xmlns:a16="http://schemas.microsoft.com/office/drawing/2014/main" id="{601F52C3-6E6B-BBE5-6F99-4EAF840CC9FF}"/>
              </a:ext>
            </a:extLst>
          </p:cNvPr>
          <p:cNvSpPr txBox="1">
            <a:spLocks noGrp="1" noRot="1" noMove="1" noResize="1" noEditPoints="1" noAdjustHandles="1" noChangeArrowheads="1" noChangeShapeType="1"/>
          </p:cNvSpPr>
          <p:nvPr/>
        </p:nvSpPr>
        <p:spPr bwMode="auto">
          <a:xfrm>
            <a:off x="13502640" y="2892456"/>
            <a:ext cx="1295400" cy="369332"/>
          </a:xfrm>
          <a:prstGeom prst="rect">
            <a:avLst/>
          </a:prstGeom>
          <a:solidFill>
            <a:schemeClr val="bg1"/>
          </a:solidFill>
        </p:spPr>
        <p:txBody>
          <a:bodyPr wrap="square" rtlCol="0">
            <a:spAutoFit/>
          </a:bodyPr>
          <a:lstStyle/>
          <a:p>
            <a:r>
              <a:rPr lang="de-DE">
                <a:solidFill>
                  <a:srgbClr val="A1B989"/>
                </a:solidFill>
                <a:latin typeface="Abadi" panose="020F0502020204030204" pitchFamily="34" charset="0"/>
              </a:rPr>
              <a:t>not</a:t>
            </a:r>
            <a:r>
              <a:rPr lang="de-DE">
                <a:solidFill>
                  <a:srgbClr val="A1B989"/>
                </a:solidFill>
              </a:rPr>
              <a:t> </a:t>
            </a:r>
            <a:r>
              <a:rPr lang="de-DE">
                <a:solidFill>
                  <a:srgbClr val="A1B989"/>
                </a:solidFill>
                <a:latin typeface="Abadi" panose="020F0502020204030204" pitchFamily="34" charset="0"/>
              </a:rPr>
              <a:t>urgent</a:t>
            </a:r>
          </a:p>
        </p:txBody>
      </p:sp>
      <p:sp>
        <p:nvSpPr>
          <p:cNvPr id="7" name="TextBox 6">
            <a:extLst>
              <a:ext uri="{FF2B5EF4-FFF2-40B4-BE49-F238E27FC236}">
                <a16:creationId xmlns:a16="http://schemas.microsoft.com/office/drawing/2014/main" id="{96BF6256-612D-BF71-199F-387D5D5F98B8}"/>
              </a:ext>
            </a:extLst>
          </p:cNvPr>
          <p:cNvSpPr txBox="1">
            <a:spLocks noGrp="1" noRot="1" noMove="1" noResize="1" noEditPoints="1" noAdjustHandles="1" noChangeArrowheads="1" noChangeShapeType="1"/>
          </p:cNvSpPr>
          <p:nvPr/>
        </p:nvSpPr>
        <p:spPr bwMode="auto">
          <a:xfrm rot="16200000">
            <a:off x="10375120" y="5839228"/>
            <a:ext cx="1569720" cy="369332"/>
          </a:xfrm>
          <a:prstGeom prst="rect">
            <a:avLst/>
          </a:prstGeom>
          <a:solidFill>
            <a:schemeClr val="bg1"/>
          </a:solidFill>
        </p:spPr>
        <p:txBody>
          <a:bodyPr wrap="square" rtlCol="0">
            <a:spAutoFit/>
          </a:bodyPr>
          <a:lstStyle/>
          <a:p>
            <a:r>
              <a:rPr lang="de-DE">
                <a:solidFill>
                  <a:srgbClr val="A1B989"/>
                </a:solidFill>
                <a:latin typeface="Abadi" panose="020F0502020204030204" pitchFamily="34" charset="0"/>
              </a:rPr>
              <a:t>not</a:t>
            </a:r>
            <a:r>
              <a:rPr lang="de-DE">
                <a:solidFill>
                  <a:srgbClr val="A1B989"/>
                </a:solidFill>
              </a:rPr>
              <a:t> </a:t>
            </a:r>
            <a:r>
              <a:rPr lang="de-DE" err="1">
                <a:solidFill>
                  <a:srgbClr val="A1B989"/>
                </a:solidFill>
                <a:latin typeface="Abadi" panose="020F0502020204030204" pitchFamily="34" charset="0"/>
              </a:rPr>
              <a:t>important</a:t>
            </a:r>
            <a:endParaRPr lang="de-DE">
              <a:solidFill>
                <a:srgbClr val="A1B989"/>
              </a:solidFill>
              <a:latin typeface="Abadi" panose="020F0502020204030204" pitchFamily="34" charset="0"/>
            </a:endParaRPr>
          </a:p>
        </p:txBody>
      </p:sp>
      <p:sp>
        <p:nvSpPr>
          <p:cNvPr id="8" name="TextBox 7">
            <a:extLst>
              <a:ext uri="{FF2B5EF4-FFF2-40B4-BE49-F238E27FC236}">
                <a16:creationId xmlns:a16="http://schemas.microsoft.com/office/drawing/2014/main" id="{632D4AB3-136A-72C1-33B9-079CCADB8633}"/>
              </a:ext>
            </a:extLst>
          </p:cNvPr>
          <p:cNvSpPr txBox="1">
            <a:spLocks noGrp="1" noRot="1" noMove="1" noResize="1" noEditPoints="1" noAdjustHandles="1" noChangeArrowheads="1" noChangeShapeType="1"/>
          </p:cNvSpPr>
          <p:nvPr/>
        </p:nvSpPr>
        <p:spPr bwMode="auto">
          <a:xfrm rot="16200000">
            <a:off x="10505308" y="4053759"/>
            <a:ext cx="1295400" cy="369332"/>
          </a:xfrm>
          <a:prstGeom prst="rect">
            <a:avLst/>
          </a:prstGeom>
          <a:solidFill>
            <a:schemeClr val="bg1"/>
          </a:solidFill>
        </p:spPr>
        <p:txBody>
          <a:bodyPr wrap="square" rtlCol="0">
            <a:spAutoFit/>
          </a:bodyPr>
          <a:lstStyle/>
          <a:p>
            <a:r>
              <a:rPr lang="de-DE" err="1">
                <a:solidFill>
                  <a:srgbClr val="A1B989"/>
                </a:solidFill>
                <a:latin typeface="Abadi" panose="020F0502020204030204" pitchFamily="34" charset="0"/>
              </a:rPr>
              <a:t>important</a:t>
            </a:r>
            <a:endParaRPr lang="de-DE">
              <a:solidFill>
                <a:srgbClr val="A1B989"/>
              </a:solidFill>
              <a:latin typeface="Abadi" panose="020F0502020204030204" pitchFamily="34" charset="0"/>
            </a:endParaRPr>
          </a:p>
        </p:txBody>
      </p:sp>
      <p:sp>
        <p:nvSpPr>
          <p:cNvPr id="9" name="TextBox 8">
            <a:extLst>
              <a:ext uri="{FF2B5EF4-FFF2-40B4-BE49-F238E27FC236}">
                <a16:creationId xmlns:a16="http://schemas.microsoft.com/office/drawing/2014/main" id="{CC761CCF-1437-0190-DC53-05001F0DCBBA}"/>
              </a:ext>
            </a:extLst>
          </p:cNvPr>
          <p:cNvSpPr txBox="1">
            <a:spLocks noGrp="1" noRot="1" noMove="1" noResize="1" noEditPoints="1" noAdjustHandles="1" noChangeArrowheads="1" noChangeShapeType="1"/>
          </p:cNvSpPr>
          <p:nvPr/>
        </p:nvSpPr>
        <p:spPr>
          <a:xfrm>
            <a:off x="11734800" y="4441379"/>
            <a:ext cx="1325880" cy="307777"/>
          </a:xfrm>
          <a:prstGeom prst="rect">
            <a:avLst/>
          </a:prstGeom>
          <a:solidFill>
            <a:srgbClr val="D7F7B6"/>
          </a:solidFill>
        </p:spPr>
        <p:txBody>
          <a:bodyPr wrap="square" rtlCol="0">
            <a:spAutoFit/>
          </a:bodyPr>
          <a:lstStyle/>
          <a:p>
            <a:r>
              <a:rPr lang="de-DE" sz="1400">
                <a:solidFill>
                  <a:srgbClr val="257F1B"/>
                </a:solidFill>
                <a:latin typeface="Abadi" panose="020F0502020204030204" pitchFamily="34" charset="0"/>
              </a:rPr>
              <a:t>  </a:t>
            </a:r>
            <a:r>
              <a:rPr lang="de-DE" sz="1400">
                <a:solidFill>
                  <a:srgbClr val="A1B989"/>
                </a:solidFill>
                <a:latin typeface="Abadi" panose="020F0502020204030204" pitchFamily="34" charset="0"/>
              </a:rPr>
              <a:t>COMPLETE</a:t>
            </a:r>
            <a:endParaRPr lang="de-DE" sz="1200">
              <a:solidFill>
                <a:srgbClr val="A1B989"/>
              </a:solidFill>
              <a:latin typeface="Abadi" panose="020F0502020204030204" pitchFamily="34" charset="0"/>
            </a:endParaRPr>
          </a:p>
        </p:txBody>
      </p:sp>
      <p:sp>
        <p:nvSpPr>
          <p:cNvPr id="10" name="TextBox 9">
            <a:extLst>
              <a:ext uri="{FF2B5EF4-FFF2-40B4-BE49-F238E27FC236}">
                <a16:creationId xmlns:a16="http://schemas.microsoft.com/office/drawing/2014/main" id="{AAA6F9C8-81F4-CC9E-16D0-D4E37F761C61}"/>
              </a:ext>
            </a:extLst>
          </p:cNvPr>
          <p:cNvSpPr txBox="1">
            <a:spLocks noGrp="1" noRot="1" noMove="1" noResize="1" noEditPoints="1" noAdjustHandles="1" noChangeArrowheads="1" noChangeShapeType="1"/>
          </p:cNvSpPr>
          <p:nvPr/>
        </p:nvSpPr>
        <p:spPr>
          <a:xfrm>
            <a:off x="13350240" y="4395213"/>
            <a:ext cx="1600200" cy="400110"/>
          </a:xfrm>
          <a:prstGeom prst="rect">
            <a:avLst/>
          </a:prstGeom>
          <a:solidFill>
            <a:srgbClr val="D7F7B6"/>
          </a:solidFill>
        </p:spPr>
        <p:txBody>
          <a:bodyPr wrap="square" rtlCol="0">
            <a:spAutoFit/>
          </a:bodyPr>
          <a:lstStyle/>
          <a:p>
            <a:r>
              <a:rPr lang="de-DE" sz="2000">
                <a:solidFill>
                  <a:srgbClr val="257F1B"/>
                </a:solidFill>
                <a:latin typeface="Abadi" panose="020F0502020204030204" pitchFamily="34" charset="0"/>
              </a:rPr>
              <a:t>   </a:t>
            </a:r>
            <a:r>
              <a:rPr lang="de-DE" sz="1400">
                <a:solidFill>
                  <a:srgbClr val="A1B989"/>
                </a:solidFill>
                <a:latin typeface="Abadi" panose="020F0502020204030204" pitchFamily="34" charset="0"/>
              </a:rPr>
              <a:t>SCHEDULE</a:t>
            </a:r>
            <a:endParaRPr lang="de-DE" sz="2000">
              <a:solidFill>
                <a:srgbClr val="A1B989"/>
              </a:solidFill>
              <a:latin typeface="Abadi" panose="020F0502020204030204" pitchFamily="34" charset="0"/>
            </a:endParaRPr>
          </a:p>
        </p:txBody>
      </p:sp>
      <p:sp>
        <p:nvSpPr>
          <p:cNvPr id="11" name="TextBox 10">
            <a:extLst>
              <a:ext uri="{FF2B5EF4-FFF2-40B4-BE49-F238E27FC236}">
                <a16:creationId xmlns:a16="http://schemas.microsoft.com/office/drawing/2014/main" id="{11ACEC49-2BBF-2189-61DD-F7B3BEB1550A}"/>
              </a:ext>
            </a:extLst>
          </p:cNvPr>
          <p:cNvSpPr txBox="1">
            <a:spLocks noGrp="1" noRot="1" noMove="1" noResize="1" noEditPoints="1" noAdjustHandles="1" noChangeArrowheads="1" noChangeShapeType="1"/>
          </p:cNvSpPr>
          <p:nvPr/>
        </p:nvSpPr>
        <p:spPr>
          <a:xfrm>
            <a:off x="11734800" y="6297818"/>
            <a:ext cx="1402080" cy="307777"/>
          </a:xfrm>
          <a:prstGeom prst="rect">
            <a:avLst/>
          </a:prstGeom>
          <a:solidFill>
            <a:srgbClr val="A1B989"/>
          </a:solidFill>
        </p:spPr>
        <p:txBody>
          <a:bodyPr wrap="square" rtlCol="0">
            <a:spAutoFit/>
          </a:bodyPr>
          <a:lstStyle/>
          <a:p>
            <a:r>
              <a:rPr lang="de-DE" sz="1400">
                <a:solidFill>
                  <a:srgbClr val="D7F7B6"/>
                </a:solidFill>
                <a:latin typeface="Abadi" panose="020F0502020204030204" pitchFamily="34" charset="0"/>
              </a:rPr>
              <a:t>  DELEGATE</a:t>
            </a:r>
          </a:p>
        </p:txBody>
      </p:sp>
      <p:sp>
        <p:nvSpPr>
          <p:cNvPr id="12" name="TextBox 11">
            <a:extLst>
              <a:ext uri="{FF2B5EF4-FFF2-40B4-BE49-F238E27FC236}">
                <a16:creationId xmlns:a16="http://schemas.microsoft.com/office/drawing/2014/main" id="{DE701BC5-F6C9-7359-1C73-78DD33E162A9}"/>
              </a:ext>
            </a:extLst>
          </p:cNvPr>
          <p:cNvSpPr txBox="1">
            <a:spLocks noGrp="1" noRot="1" noMove="1" noResize="1" noEditPoints="1" noAdjustHandles="1" noChangeArrowheads="1" noChangeShapeType="1"/>
          </p:cNvSpPr>
          <p:nvPr/>
        </p:nvSpPr>
        <p:spPr bwMode="auto">
          <a:xfrm>
            <a:off x="13395960" y="6297818"/>
            <a:ext cx="1402080" cy="307777"/>
          </a:xfrm>
          <a:prstGeom prst="rect">
            <a:avLst/>
          </a:prstGeom>
          <a:solidFill>
            <a:srgbClr val="A1B989"/>
          </a:solidFill>
        </p:spPr>
        <p:txBody>
          <a:bodyPr wrap="square" rtlCol="0">
            <a:spAutoFit/>
          </a:bodyPr>
          <a:lstStyle/>
          <a:p>
            <a:r>
              <a:rPr lang="de-DE" sz="1400">
                <a:solidFill>
                  <a:srgbClr val="D7F7B6"/>
                </a:solidFill>
                <a:latin typeface="Abadi" panose="020F0502020204030204" pitchFamily="34" charset="0"/>
              </a:rPr>
              <a:t>  CROSS OUT</a:t>
            </a:r>
          </a:p>
        </p:txBody>
      </p:sp>
    </p:spTree>
    <p:extLst>
      <p:ext uri="{BB962C8B-B14F-4D97-AF65-F5344CB8AC3E}">
        <p14:creationId xmlns:p14="http://schemas.microsoft.com/office/powerpoint/2010/main" val="1223185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aphicFrame>
        <p:nvGraphicFramePr>
          <p:cNvPr id="2" name="Objekt 1"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2" name="Objekt 1" hidden="1"/>
                      <p:cNvPicPr/>
                      <p:nvPr/>
                    </p:nvPicPr>
                    <p:blipFill>
                      <a:blip/>
                      <a:stretch/>
                    </p:blipFill>
                    <p:spPr bwMode="auto">
                      <a:xfrm>
                        <a:off x="3175" y="3175"/>
                        <a:ext cx="2454" cy="3174"/>
                      </a:xfrm>
                      <a:prstGeom prst="rect">
                        <a:avLst/>
                      </a:prstGeom>
                    </p:spPr>
                  </p:pic>
                </p:oleObj>
              </mc:Fallback>
            </mc:AlternateContent>
          </a:graphicData>
        </a:graphic>
      </p:graphicFrame>
      <p:sp>
        <p:nvSpPr>
          <p:cNvPr id="5" name="Titel 4"/>
          <p:cNvSpPr>
            <a:spLocks noGrp="1"/>
          </p:cNvSpPr>
          <p:nvPr>
            <p:ph type="title"/>
          </p:nvPr>
        </p:nvSpPr>
        <p:spPr bwMode="auto"/>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a:t>Notion, </a:t>
            </a:r>
            <a:r>
              <a:rPr lang="de-DE" sz="4400" err="1"/>
              <a:t>the</a:t>
            </a:r>
            <a:r>
              <a:rPr lang="de-DE" sz="4400"/>
              <a:t> all-in-</a:t>
            </a:r>
            <a:r>
              <a:rPr lang="de-DE" sz="4400" err="1"/>
              <a:t>one</a:t>
            </a:r>
            <a:r>
              <a:rPr lang="de-DE" sz="4400"/>
              <a:t> </a:t>
            </a:r>
            <a:r>
              <a:rPr lang="de-DE" sz="4400" err="1"/>
              <a:t>workspace</a:t>
            </a:r>
            <a:endParaRPr lang="de-DE" sz="4400"/>
          </a:p>
        </p:txBody>
      </p:sp>
      <p:pic>
        <p:nvPicPr>
          <p:cNvPr id="10" name="Onlinemedien 9" descr="Notion Training: The Basics">
            <a:hlinkClick r:id="" action="ppaction://media"/>
            <a:extLst>
              <a:ext uri="{FF2B5EF4-FFF2-40B4-BE49-F238E27FC236}">
                <a16:creationId xmlns:a16="http://schemas.microsoft.com/office/drawing/2014/main" id="{A3D9B69A-756B-11F2-4BB5-F59783B12116}"/>
              </a:ext>
            </a:extLst>
          </p:cNvPr>
          <p:cNvPicPr>
            <a:picLocks noRot="1" noChangeAspect="1"/>
          </p:cNvPicPr>
          <p:nvPr>
            <a:videoFile r:link="rId1"/>
          </p:nvPr>
        </p:nvPicPr>
        <p:blipFill>
          <a:blip r:embed="rId5"/>
          <a:stretch>
            <a:fillRect/>
          </a:stretch>
        </p:blipFill>
        <p:spPr>
          <a:xfrm>
            <a:off x="3419872" y="2563964"/>
            <a:ext cx="11448256" cy="6468264"/>
          </a:xfrm>
          <a:prstGeom prst="rect">
            <a:avLst/>
          </a:prstGeom>
        </p:spPr>
      </p:pic>
      <p:sp>
        <p:nvSpPr>
          <p:cNvPr id="3" name="Parallelogramm 2">
            <a:extLst>
              <a:ext uri="{FF2B5EF4-FFF2-40B4-BE49-F238E27FC236}">
                <a16:creationId xmlns:a16="http://schemas.microsoft.com/office/drawing/2014/main" id="{D88FFED0-08D1-5005-5CF7-B6BB7DBF5E8B}"/>
              </a:ext>
            </a:extLst>
          </p:cNvPr>
          <p:cNvSpPr/>
          <p:nvPr/>
        </p:nvSpPr>
        <p:spPr bwMode="auto">
          <a:xfrm>
            <a:off x="15869592" y="-41309"/>
            <a:ext cx="2418408" cy="4120286"/>
          </a:xfrm>
          <a:prstGeom prst="parallelogram">
            <a:avLst>
              <a:gd name="adj" fmla="val 0"/>
            </a:avLst>
          </a:prstGeom>
          <a:solidFill>
            <a:srgbClr val="7E0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endParaRPr lang="de-DE">
              <a:solidFill>
                <a:schemeClr val="bg1"/>
              </a:solidFill>
              <a:hlinkClick r:id="rId6">
                <a:extLst>
                  <a:ext uri="{A12FA001-AC4F-418D-AE19-62706E023703}">
                    <ahyp:hlinkClr xmlns:ahyp="http://schemas.microsoft.com/office/drawing/2018/hyperlinkcolor" val="tx"/>
                  </a:ext>
                </a:extLst>
              </a:hlinkClick>
            </a:endParaRPr>
          </a:p>
          <a:p>
            <a:pPr algn="ctr"/>
            <a:endParaRPr lang="de-DE">
              <a:solidFill>
                <a:schemeClr val="bg1"/>
              </a:solidFill>
              <a:hlinkClick r:id="rId6">
                <a:extLst>
                  <a:ext uri="{A12FA001-AC4F-418D-AE19-62706E023703}">
                    <ahyp:hlinkClr xmlns:ahyp="http://schemas.microsoft.com/office/drawing/2018/hyperlinkcolor" val="tx"/>
                  </a:ext>
                </a:extLst>
              </a:hlinkClick>
            </a:endParaRPr>
          </a:p>
          <a:p>
            <a:pPr algn="ctr"/>
            <a:endParaRPr lang="de-DE">
              <a:solidFill>
                <a:schemeClr val="bg1"/>
              </a:solidFill>
              <a:hlinkClick r:id="rId6">
                <a:extLst>
                  <a:ext uri="{A12FA001-AC4F-418D-AE19-62706E023703}">
                    <ahyp:hlinkClr xmlns:ahyp="http://schemas.microsoft.com/office/drawing/2018/hyperlinkcolor" val="tx"/>
                  </a:ext>
                </a:extLst>
              </a:hlinkClick>
            </a:endParaRPr>
          </a:p>
          <a:p>
            <a:pPr algn="ctr"/>
            <a:r>
              <a:rPr lang="de-DE">
                <a:solidFill>
                  <a:schemeClr val="bg1"/>
                </a:solidFill>
                <a:hlinkClick r:id="rId6">
                  <a:extLst>
                    <a:ext uri="{A12FA001-AC4F-418D-AE19-62706E023703}">
                      <ahyp:hlinkClr xmlns:ahyp="http://schemas.microsoft.com/office/drawing/2018/hyperlinkcolor" val="tx"/>
                    </a:ext>
                  </a:extLst>
                </a:hlinkClick>
              </a:rPr>
              <a:t>Click here to get the Leuphana Semester Template</a:t>
            </a:r>
            <a:endParaRPr lang="de-DE">
              <a:solidFill>
                <a:schemeClr val="bg1"/>
              </a:solidFill>
            </a:endParaRPr>
          </a:p>
        </p:txBody>
      </p:sp>
      <p:pic>
        <p:nvPicPr>
          <p:cNvPr id="6" name="Grafik 5">
            <a:extLst>
              <a:ext uri="{FF2B5EF4-FFF2-40B4-BE49-F238E27FC236}">
                <a16:creationId xmlns:a16="http://schemas.microsoft.com/office/drawing/2014/main" id="{300885C9-0282-D717-1A21-F49BAD4BC37B}"/>
              </a:ext>
            </a:extLst>
          </p:cNvPr>
          <p:cNvPicPr>
            <a:picLocks noChangeAspect="1"/>
          </p:cNvPicPr>
          <p:nvPr/>
        </p:nvPicPr>
        <p:blipFill>
          <a:blip r:embed="rId7" cstate="print">
            <a:extLst>
              <a:ext uri="{28A0092B-C50C-407E-A947-70E740481C1C}">
                <a14:useLocalDpi xmlns:a14="http://schemas.microsoft.com/office/drawing/2010/main"/>
              </a:ext>
            </a:extLst>
          </a:blip>
          <a:stretch/>
        </p:blipFill>
        <p:spPr bwMode="auto">
          <a:xfrm>
            <a:off x="16325598" y="40760"/>
            <a:ext cx="1397000" cy="1397000"/>
          </a:xfrm>
          <a:prstGeom prst="rect">
            <a:avLst/>
          </a:prstGeom>
        </p:spPr>
      </p:pic>
    </p:spTree>
    <p:extLst>
      <p:ext uri="{BB962C8B-B14F-4D97-AF65-F5344CB8AC3E}">
        <p14:creationId xmlns:p14="http://schemas.microsoft.com/office/powerpoint/2010/main" val="931197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35867-A04D-0588-319B-357E07D86F8B}"/>
              </a:ext>
            </a:extLst>
          </p:cNvPr>
          <p:cNvSpPr>
            <a:spLocks noGrp="1"/>
          </p:cNvSpPr>
          <p:nvPr>
            <p:ph type="title"/>
          </p:nvPr>
        </p:nvSpPr>
        <p:spPr/>
        <p:txBody>
          <a:bodyPr>
            <a:normAutofit/>
          </a:bodyPr>
          <a:lstStyle/>
          <a:p>
            <a:pPr algn="ctr"/>
            <a:r>
              <a:rPr lang="en-GB" err="1"/>
              <a:t>Mitschreiben</a:t>
            </a:r>
            <a:r>
              <a:rPr lang="en-GB"/>
              <a:t>, </a:t>
            </a:r>
            <a:r>
              <a:rPr lang="en-GB" err="1"/>
              <a:t>Vor</a:t>
            </a:r>
            <a:r>
              <a:rPr lang="en-GB"/>
              <a:t>- und </a:t>
            </a:r>
            <a:r>
              <a:rPr lang="en-GB" err="1"/>
              <a:t>Nachbereitung</a:t>
            </a:r>
            <a:r>
              <a:rPr lang="en-GB"/>
              <a:t> von </a:t>
            </a:r>
            <a:r>
              <a:rPr lang="en-GB" err="1"/>
              <a:t>Vorlesungen</a:t>
            </a:r>
            <a:endParaRPr lang="en-GB"/>
          </a:p>
        </p:txBody>
      </p:sp>
      <p:sp>
        <p:nvSpPr>
          <p:cNvPr id="3" name="Content Placeholder 2">
            <a:extLst>
              <a:ext uri="{FF2B5EF4-FFF2-40B4-BE49-F238E27FC236}">
                <a16:creationId xmlns:a16="http://schemas.microsoft.com/office/drawing/2014/main" id="{5A4A4C81-F280-5525-00CE-92DA8E49C6B3}"/>
              </a:ext>
            </a:extLst>
          </p:cNvPr>
          <p:cNvSpPr>
            <a:spLocks noGrp="1"/>
          </p:cNvSpPr>
          <p:nvPr>
            <p:ph idx="1"/>
          </p:nvPr>
        </p:nvSpPr>
        <p:spPr>
          <a:xfrm>
            <a:off x="2890727" y="2565646"/>
            <a:ext cx="14400000" cy="6480000"/>
          </a:xfrm>
        </p:spPr>
        <p:txBody>
          <a:bodyPr vert="horz" lIns="91440" tIns="45720" rIns="91440" bIns="45720" rtlCol="0" anchor="t">
            <a:normAutofit fontScale="92500" lnSpcReduction="20000"/>
          </a:bodyPr>
          <a:lstStyle/>
          <a:p>
            <a:pPr marL="0" indent="0">
              <a:buNone/>
            </a:pPr>
            <a:r>
              <a:rPr lang="en-US" b="1"/>
              <a:t>Before the lecture:</a:t>
            </a:r>
          </a:p>
          <a:p>
            <a:r>
              <a:rPr lang="en-US"/>
              <a:t>Read texts</a:t>
            </a:r>
          </a:p>
          <a:p>
            <a:r>
              <a:rPr lang="en-US"/>
              <a:t>Download slides (if available)</a:t>
            </a:r>
          </a:p>
          <a:p>
            <a:r>
              <a:rPr lang="en-US"/>
              <a:t>Write down questions</a:t>
            </a:r>
          </a:p>
          <a:p>
            <a:pPr marL="0" indent="0">
              <a:buNone/>
            </a:pPr>
            <a:endParaRPr lang="en-US" b="1"/>
          </a:p>
          <a:p>
            <a:pPr marL="0" indent="0">
              <a:buNone/>
            </a:pPr>
            <a:r>
              <a:rPr lang="en-US" b="1"/>
              <a:t>Take notes during the lecture:</a:t>
            </a:r>
          </a:p>
          <a:p>
            <a:r>
              <a:rPr lang="en-US"/>
              <a:t>On paper / laptop (e.g. Notion, MS Word) / tablet (e.g. </a:t>
            </a:r>
            <a:r>
              <a:rPr lang="en-US" err="1"/>
              <a:t>GoodNotes</a:t>
            </a:r>
            <a:r>
              <a:rPr lang="en-US"/>
              <a:t>)</a:t>
            </a:r>
          </a:p>
          <a:p>
            <a:r>
              <a:rPr lang="en-US"/>
              <a:t>Add slides (if slides are available)</a:t>
            </a:r>
          </a:p>
          <a:p>
            <a:r>
              <a:rPr lang="en-US"/>
              <a:t>Not everything, just the important stuff!</a:t>
            </a:r>
          </a:p>
          <a:p>
            <a:r>
              <a:rPr lang="en-US"/>
              <a:t>Think for yourself</a:t>
            </a:r>
          </a:p>
          <a:p>
            <a:pPr marL="0" indent="0">
              <a:buNone/>
            </a:pPr>
            <a:endParaRPr lang="en-US" b="1"/>
          </a:p>
          <a:p>
            <a:pPr marL="0" indent="0">
              <a:buNone/>
            </a:pPr>
            <a:r>
              <a:rPr lang="en-US" b="1"/>
              <a:t>Follow-up:</a:t>
            </a:r>
          </a:p>
          <a:p>
            <a:r>
              <a:rPr lang="en-US"/>
              <a:t>If necessary, convert notes into legible form</a:t>
            </a:r>
          </a:p>
          <a:p>
            <a:r>
              <a:rPr lang="en-US"/>
              <a:t>Clarify gaps in understanding (internet research, ask fellow students)</a:t>
            </a:r>
          </a:p>
          <a:p>
            <a:r>
              <a:rPr lang="en-US"/>
              <a:t>Create notepads, index cards etc. to prepare for the exam</a:t>
            </a:r>
          </a:p>
          <a:p>
            <a:r>
              <a:rPr lang="en-US"/>
              <a:t>Make sample exercises (if available)</a:t>
            </a:r>
            <a:endParaRPr lang="en-GB"/>
          </a:p>
        </p:txBody>
      </p:sp>
      <p:sp>
        <p:nvSpPr>
          <p:cNvPr id="5" name="TextBox 4">
            <a:extLst>
              <a:ext uri="{FF2B5EF4-FFF2-40B4-BE49-F238E27FC236}">
                <a16:creationId xmlns:a16="http://schemas.microsoft.com/office/drawing/2014/main" id="{C72DFB73-9B3F-CD5B-CA7C-5658A0D8D9F9}"/>
              </a:ext>
            </a:extLst>
          </p:cNvPr>
          <p:cNvSpPr txBox="1"/>
          <p:nvPr/>
        </p:nvSpPr>
        <p:spPr>
          <a:xfrm>
            <a:off x="12561214" y="3461657"/>
            <a:ext cx="3962400" cy="1200329"/>
          </a:xfrm>
          <a:prstGeom prst="rect">
            <a:avLst/>
          </a:prstGeom>
          <a:solidFill>
            <a:schemeClr val="accent5"/>
          </a:solidFill>
        </p:spPr>
        <p:txBody>
          <a:bodyPr wrap="square" rtlCol="0">
            <a:spAutoFit/>
          </a:bodyPr>
          <a:lstStyle/>
          <a:p>
            <a:r>
              <a:rPr lang="en-US" sz="2400" b="1"/>
              <a:t>Tip: </a:t>
            </a:r>
            <a:r>
              <a:rPr lang="en-US" sz="2400"/>
              <a:t>Ask yourself questions</a:t>
            </a:r>
          </a:p>
          <a:p>
            <a:r>
              <a:rPr lang="en-US" sz="2400"/>
              <a:t>Why is this important? What is the main message? </a:t>
            </a:r>
            <a:endParaRPr lang="en-GB" sz="2400"/>
          </a:p>
        </p:txBody>
      </p:sp>
    </p:spTree>
    <p:extLst>
      <p:ext uri="{BB962C8B-B14F-4D97-AF65-F5344CB8AC3E}">
        <p14:creationId xmlns:p14="http://schemas.microsoft.com/office/powerpoint/2010/main" val="3052793709"/>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89E8F-EF2B-297B-4198-97179CF66BF4}"/>
              </a:ext>
            </a:extLst>
          </p:cNvPr>
          <p:cNvSpPr>
            <a:spLocks noGrp="1"/>
          </p:cNvSpPr>
          <p:nvPr>
            <p:ph type="title"/>
          </p:nvPr>
        </p:nvSpPr>
        <p:spPr/>
        <p:txBody>
          <a:bodyPr/>
          <a:lstStyle/>
          <a:p>
            <a:r>
              <a:rPr lang="en-GB" err="1"/>
              <a:t>Verwandte</a:t>
            </a:r>
            <a:r>
              <a:rPr lang="en-GB"/>
              <a:t> Wiki Artikel</a:t>
            </a:r>
          </a:p>
        </p:txBody>
      </p:sp>
      <p:sp>
        <p:nvSpPr>
          <p:cNvPr id="3" name="Content Placeholder 2">
            <a:extLst>
              <a:ext uri="{FF2B5EF4-FFF2-40B4-BE49-F238E27FC236}">
                <a16:creationId xmlns:a16="http://schemas.microsoft.com/office/drawing/2014/main" id="{09DF5BBF-BD24-C0DF-0F2B-6DC3F741DD0D}"/>
              </a:ext>
            </a:extLst>
          </p:cNvPr>
          <p:cNvSpPr>
            <a:spLocks noGrp="1"/>
          </p:cNvSpPr>
          <p:nvPr>
            <p:ph idx="1"/>
          </p:nvPr>
        </p:nvSpPr>
        <p:spPr/>
        <p:txBody>
          <a:bodyPr>
            <a:normAutofit/>
          </a:bodyPr>
          <a:lstStyle/>
          <a:p>
            <a:r>
              <a:rPr lang="en-GB"/>
              <a:t>Studying: </a:t>
            </a:r>
            <a:r>
              <a:rPr lang="en-GB">
                <a:hlinkClick r:id="rId3"/>
              </a:rPr>
              <a:t>https://sustainabilitymethods.org/index.php/Studying</a:t>
            </a:r>
            <a:endParaRPr lang="en-GB"/>
          </a:p>
          <a:p>
            <a:r>
              <a:rPr lang="en-GB"/>
              <a:t>Pomodoro: </a:t>
            </a:r>
            <a:r>
              <a:rPr lang="en-GB">
                <a:hlinkClick r:id="rId4"/>
              </a:rPr>
              <a:t>https://sustainabilitymethods.org/index.php/Pomodoro</a:t>
            </a:r>
            <a:endParaRPr lang="en-GB"/>
          </a:p>
          <a:p>
            <a:r>
              <a:rPr lang="en-GB"/>
              <a:t>Notion: </a:t>
            </a:r>
            <a:r>
              <a:rPr lang="en-GB">
                <a:hlinkClick r:id="rId5"/>
              </a:rPr>
              <a:t>https://sustainabilitymethods.org/index.php/Notion</a:t>
            </a:r>
            <a:endParaRPr lang="en-GB"/>
          </a:p>
          <a:p>
            <a:r>
              <a:rPr lang="en-GB"/>
              <a:t>Coping with psychological problems: </a:t>
            </a:r>
            <a:r>
              <a:rPr lang="en-GB">
                <a:hlinkClick r:id="rId6"/>
              </a:rPr>
              <a:t>https://sustainabilitymethods.org/index.php/Coping_with_psychological_problems</a:t>
            </a:r>
            <a:endParaRPr lang="en-GB"/>
          </a:p>
          <a:p>
            <a:endParaRPr lang="en-GB"/>
          </a:p>
          <a:p>
            <a:pPr marL="0" indent="0">
              <a:buNone/>
            </a:pPr>
            <a:endParaRPr lang="en-GB"/>
          </a:p>
          <a:p>
            <a:endParaRPr lang="en-GB"/>
          </a:p>
        </p:txBody>
      </p:sp>
    </p:spTree>
    <p:extLst>
      <p:ext uri="{BB962C8B-B14F-4D97-AF65-F5344CB8AC3E}">
        <p14:creationId xmlns:p14="http://schemas.microsoft.com/office/powerpoint/2010/main" val="14213831"/>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A71E891A511D040A52CA52D008DEB36" ma:contentTypeVersion="10" ma:contentTypeDescription="Create a new document." ma:contentTypeScope="" ma:versionID="f2c5278890231d37c3fc22e35ed49e66">
  <xsd:schema xmlns:xsd="http://www.w3.org/2001/XMLSchema" xmlns:xs="http://www.w3.org/2001/XMLSchema" xmlns:p="http://schemas.microsoft.com/office/2006/metadata/properties" xmlns:ns2="e0647eb4-fdd8-4a76-905c-ef029484ffcd" xmlns:ns3="884d299c-5010-4321-b642-613c40d795bb" targetNamespace="http://schemas.microsoft.com/office/2006/metadata/properties" ma:root="true" ma:fieldsID="7267d7745953879d823ecea1082e03e2" ns2:_="" ns3:_="">
    <xsd:import namespace="e0647eb4-fdd8-4a76-905c-ef029484ffcd"/>
    <xsd:import namespace="884d299c-5010-4321-b642-613c40d795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a07055-5ffd-4acb-bc18-97989f07bc2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84d299c-5010-4321-b642-613c40d795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b4c1be4-22e4-443a-8f9b-7129b2e79c72}" ma:internalName="TaxCatchAll" ma:showField="CatchAllData" ma:web="884d299c-5010-4321-b642-613c40d795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84d299c-5010-4321-b642-613c40d795bb" xsi:nil="true"/>
    <lcf76f155ced4ddcb4097134ff3c332f xmlns="e0647eb4-fdd8-4a76-905c-ef029484ffc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322B688-CE9F-4525-9207-023C6C3793E0}">
  <ds:schemaRefs>
    <ds:schemaRef ds:uri="http://schemas.microsoft.com/sharepoint/v3/contenttype/forms"/>
  </ds:schemaRefs>
</ds:datastoreItem>
</file>

<file path=customXml/itemProps2.xml><?xml version="1.0" encoding="utf-8"?>
<ds:datastoreItem xmlns:ds="http://schemas.openxmlformats.org/officeDocument/2006/customXml" ds:itemID="{25C2068B-7F6C-4C9E-BE03-6C68BA8056B4}">
  <ds:schemaRefs>
    <ds:schemaRef ds:uri="884d299c-5010-4321-b642-613c40d795bb"/>
    <ds:schemaRef ds:uri="e0647eb4-fdd8-4a76-905c-ef029484ff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3FBDA42-516C-49FB-B3B2-37CB51BE853B}">
  <ds:schemaRefs>
    <ds:schemaRef ds:uri="884d299c-5010-4321-b642-613c40d795bb"/>
    <ds:schemaRef ds:uri="e0647eb4-fdd8-4a76-905c-ef029484ffcd"/>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13</Slides>
  <Notes>11</Notes>
  <HiddenSlides>0</HiddenSlides>
  <ScaleCrop>false</ScaleCrop>
  <HeadingPairs>
    <vt:vector size="4" baseType="variant">
      <vt:variant>
        <vt:lpstr>Theme</vt:lpstr>
      </vt:variant>
      <vt:variant>
        <vt:i4>2</vt:i4>
      </vt:variant>
      <vt:variant>
        <vt:lpstr>Slide Titles</vt:lpstr>
      </vt:variant>
      <vt:variant>
        <vt:i4>13</vt:i4>
      </vt:variant>
    </vt:vector>
  </HeadingPairs>
  <TitlesOfParts>
    <vt:vector size="15" baseType="lpstr">
      <vt:lpstr>Benutzerdefiniertes Design</vt:lpstr>
      <vt:lpstr>Benutzerdefiniertes Design</vt:lpstr>
      <vt:lpstr>Self-management in your studies</vt:lpstr>
      <vt:lpstr>Agenda</vt:lpstr>
      <vt:lpstr>What do you expect to happen in your first semester?</vt:lpstr>
      <vt:lpstr>Experiences of previous first-year students   What you can expect</vt:lpstr>
      <vt:lpstr>Why time management matters!</vt:lpstr>
      <vt:lpstr>PowerPoint Presentation</vt:lpstr>
      <vt:lpstr>The power of a system</vt:lpstr>
      <vt:lpstr>Getting things done (David Allen)</vt:lpstr>
      <vt:lpstr>What organizational and time management methods do you use?</vt:lpstr>
      <vt:lpstr>Tips &amp; Personal experiences</vt:lpstr>
      <vt:lpstr>Notion, the all-in-one workspace</vt:lpstr>
      <vt:lpstr>Mitschreiben, Vor- und Nachbereitung von Vorlesungen</vt:lpstr>
      <vt:lpstr>Verwandte Wiki Artikel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2006-08-16T00:00:00Z</dcterms:created>
  <dcterms:modified xsi:type="dcterms:W3CDTF">2025-11-05T11:43:03Z</dcterms:modified>
  <dc:identifier>DAGKdR2DXUk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y fmtid="{D5CDD505-2E9C-101B-9397-08002B2CF9AE}" pid="3" name="MediaServiceImageTags">
    <vt:lpwstr/>
  </property>
</Properties>
</file>