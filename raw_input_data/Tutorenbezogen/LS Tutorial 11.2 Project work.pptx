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6"/>
  </p:notesMasterIdLst>
  <p:sldIdLst>
    <p:sldId id="256" r:id="rId5"/>
    <p:sldId id="257" r:id="rId6"/>
    <p:sldId id="259" r:id="rId7"/>
    <p:sldId id="272" r:id="rId8"/>
    <p:sldId id="264" r:id="rId9"/>
    <p:sldId id="273" r:id="rId10"/>
    <p:sldId id="274" r:id="rId11"/>
    <p:sldId id="275" r:id="rId12"/>
    <p:sldId id="277" r:id="rId13"/>
    <p:sldId id="276" r:id="rId14"/>
    <p:sldId id="278" r:id="rId15"/>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7C864-1ED5-4F1C-AE07-C936901B2145}" v="8" dt="2024-11-15T17:21:19.7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52" autoAdjust="0"/>
    <p:restoredTop sz="73381" autoAdjust="0"/>
  </p:normalViewPr>
  <p:slideViewPr>
    <p:cSldViewPr>
      <p:cViewPr varScale="1">
        <p:scale>
          <a:sx n="79" d="100"/>
          <a:sy n="79" d="100"/>
        </p:scale>
        <p:origin x="145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126B9-4876-4F29-BFE4-6F98C3E419E7}" type="doc">
      <dgm:prSet loTypeId="urn:microsoft.com/office/officeart/2005/8/layout/hProcess9" loCatId="process" qsTypeId="urn:microsoft.com/office/officeart/2005/8/quickstyle/simple1#1" qsCatId="simple" csTypeId="urn:microsoft.com/office/officeart/2005/8/colors/accent1_2" csCatId="accent1" phldr="1"/>
      <dgm:spPr bwMode="auto"/>
    </dgm:pt>
    <dgm:pt modelId="{799F71C8-0C6B-425F-A8CE-9BE1965D0644}">
      <dgm:prSet phldrT="[Text]" custT="1"/>
      <dgm:spPr bwMode="auto"/>
      <dgm:t>
        <a:bodyPr/>
        <a:lstStyle/>
        <a:p>
          <a:pPr>
            <a:defRPr/>
          </a:pPr>
          <a:r>
            <a:rPr lang="pt-BR" sz="2800" b="1" dirty="0"/>
            <a:t>Background and topic</a:t>
          </a:r>
          <a:endParaRPr lang="en-GB" sz="2800" b="1" dirty="0"/>
        </a:p>
      </dgm:t>
    </dgm:pt>
    <dgm:pt modelId="{8D86DB4F-F4A7-4DAF-80F2-4439AB6376DE}" type="parTrans" cxnId="{EAEADE0E-A7A3-429B-9F8C-75E2EB19A66C}">
      <dgm:prSet/>
      <dgm:spPr bwMode="auto"/>
      <dgm:t>
        <a:bodyPr/>
        <a:lstStyle/>
        <a:p>
          <a:pPr>
            <a:defRPr/>
          </a:pPr>
          <a:endParaRPr lang="en-GB"/>
        </a:p>
      </dgm:t>
    </dgm:pt>
    <dgm:pt modelId="{C90C7E8F-1DF7-4877-9A26-5FCAD82D2068}" type="sibTrans" cxnId="{EAEADE0E-A7A3-429B-9F8C-75E2EB19A66C}">
      <dgm:prSet/>
      <dgm:spPr bwMode="auto"/>
      <dgm:t>
        <a:bodyPr/>
        <a:lstStyle/>
        <a:p>
          <a:pPr>
            <a:defRPr/>
          </a:pPr>
          <a:endParaRPr lang="en-GB"/>
        </a:p>
      </dgm:t>
    </dgm:pt>
    <dgm:pt modelId="{ADFF37C9-8F0B-4547-87B3-0FE8B61834A8}">
      <dgm:prSet phldrT="[Text]" custT="1"/>
      <dgm:spPr bwMode="auto"/>
      <dgm:t>
        <a:bodyPr/>
        <a:lstStyle/>
        <a:p>
          <a:pPr>
            <a:defRPr/>
          </a:pPr>
          <a:r>
            <a:rPr lang="pt-BR" sz="2800" b="1" dirty="0"/>
            <a:t>Procedure</a:t>
          </a:r>
          <a:endParaRPr lang="en-GB" sz="2800" b="1" dirty="0"/>
        </a:p>
      </dgm:t>
    </dgm:pt>
    <dgm:pt modelId="{A22289B2-B09A-44F4-8636-F09604832A62}" type="parTrans" cxnId="{B8239B42-0E79-463E-ADBF-6120571E6009}">
      <dgm:prSet/>
      <dgm:spPr bwMode="auto"/>
      <dgm:t>
        <a:bodyPr/>
        <a:lstStyle/>
        <a:p>
          <a:pPr>
            <a:defRPr/>
          </a:pPr>
          <a:endParaRPr lang="en-GB"/>
        </a:p>
      </dgm:t>
    </dgm:pt>
    <dgm:pt modelId="{7AFE99B5-C93F-4663-B63E-EF87C58E2894}" type="sibTrans" cxnId="{B8239B42-0E79-463E-ADBF-6120571E6009}">
      <dgm:prSet/>
      <dgm:spPr bwMode="auto"/>
      <dgm:t>
        <a:bodyPr/>
        <a:lstStyle/>
        <a:p>
          <a:pPr>
            <a:defRPr/>
          </a:pPr>
          <a:endParaRPr lang="en-GB"/>
        </a:p>
      </dgm:t>
    </dgm:pt>
    <dgm:pt modelId="{B71DC8C6-2E9C-482D-A459-B752D5D87453}">
      <dgm:prSet phldrT="[Text]" custT="1"/>
      <dgm:spPr bwMode="auto"/>
      <dgm:t>
        <a:bodyPr/>
        <a:lstStyle/>
        <a:p>
          <a:pPr>
            <a:defRPr/>
          </a:pPr>
          <a:r>
            <a:rPr lang="pt-BR" sz="2800" b="1" dirty="0"/>
            <a:t>Research question</a:t>
          </a:r>
          <a:endParaRPr lang="en-GB" sz="2800" b="1" dirty="0"/>
        </a:p>
      </dgm:t>
    </dgm:pt>
    <dgm:pt modelId="{9B8F0654-5168-4EC0-9F5E-49AF55351C0C}" type="parTrans" cxnId="{91AB95F5-AA23-480D-BD0C-C3A9F7BCDF16}">
      <dgm:prSet/>
      <dgm:spPr bwMode="auto"/>
      <dgm:t>
        <a:bodyPr/>
        <a:lstStyle/>
        <a:p>
          <a:pPr>
            <a:defRPr/>
          </a:pPr>
          <a:endParaRPr lang="en-GB"/>
        </a:p>
      </dgm:t>
    </dgm:pt>
    <dgm:pt modelId="{33203D90-262F-4B3A-B927-C14C83AF0F61}" type="sibTrans" cxnId="{91AB95F5-AA23-480D-BD0C-C3A9F7BCDF16}">
      <dgm:prSet/>
      <dgm:spPr bwMode="auto"/>
      <dgm:t>
        <a:bodyPr/>
        <a:lstStyle/>
        <a:p>
          <a:pPr>
            <a:defRPr/>
          </a:pPr>
          <a:endParaRPr lang="en-GB"/>
        </a:p>
      </dgm:t>
    </dgm:pt>
    <dgm:pt modelId="{06CC83F6-26DA-4039-80FA-5EC83B0A69A5}" type="pres">
      <dgm:prSet presAssocID="{C5B126B9-4876-4F29-BFE4-6F98C3E419E7}" presName="CompostProcess" presStyleCnt="0">
        <dgm:presLayoutVars>
          <dgm:dir/>
          <dgm:resizeHandles val="exact"/>
        </dgm:presLayoutVars>
      </dgm:prSet>
      <dgm:spPr bwMode="auto"/>
    </dgm:pt>
    <dgm:pt modelId="{B0D0C5C4-2EEF-47B9-8D91-754F50219E66}" type="pres">
      <dgm:prSet presAssocID="{C5B126B9-4876-4F29-BFE4-6F98C3E419E7}" presName="arrow" presStyleLbl="bgShp" presStyleIdx="0" presStyleCnt="1" custLinFactNeighborX="-109"/>
      <dgm:spPr bwMode="auto"/>
    </dgm:pt>
    <dgm:pt modelId="{25099CCF-2F40-448F-8D96-266EE3AC4695}" type="pres">
      <dgm:prSet presAssocID="{C5B126B9-4876-4F29-BFE4-6F98C3E419E7}" presName="linearProcess" presStyleCnt="0"/>
      <dgm:spPr bwMode="auto"/>
    </dgm:pt>
    <dgm:pt modelId="{33B1AF6E-13E0-4668-AB9C-4B1CEEE6D11B}" type="pres">
      <dgm:prSet presAssocID="{799F71C8-0C6B-425F-A8CE-9BE1965D0644}" presName="textNode" presStyleLbl="node1" presStyleIdx="0" presStyleCnt="3" custLinFactNeighborX="161" custLinFactNeighborY="526">
        <dgm:presLayoutVars>
          <dgm:bulletEnabled val="1"/>
        </dgm:presLayoutVars>
      </dgm:prSet>
      <dgm:spPr bwMode="auto"/>
    </dgm:pt>
    <dgm:pt modelId="{50BC472A-4D57-484B-89C0-8A00B6B9791C}" type="pres">
      <dgm:prSet presAssocID="{C90C7E8F-1DF7-4877-9A26-5FCAD82D2068}" presName="sibTrans" presStyleCnt="0"/>
      <dgm:spPr bwMode="auto"/>
    </dgm:pt>
    <dgm:pt modelId="{3E988533-C24B-42C3-861A-F4922FD76781}" type="pres">
      <dgm:prSet presAssocID="{B71DC8C6-2E9C-482D-A459-B752D5D87453}" presName="textNode" presStyleLbl="node1" presStyleIdx="1" presStyleCnt="3" custScaleX="111183" custLinFactNeighborX="-14179" custLinFactNeighborY="526">
        <dgm:presLayoutVars>
          <dgm:bulletEnabled val="1"/>
        </dgm:presLayoutVars>
      </dgm:prSet>
      <dgm:spPr bwMode="auto"/>
    </dgm:pt>
    <dgm:pt modelId="{3949FA9B-6EE6-4D8B-BE53-7EE264A35CA2}" type="pres">
      <dgm:prSet presAssocID="{33203D90-262F-4B3A-B927-C14C83AF0F61}" presName="sibTrans" presStyleCnt="0"/>
      <dgm:spPr bwMode="auto"/>
    </dgm:pt>
    <dgm:pt modelId="{980BB19E-B361-4B21-B76C-39861D4234A7}" type="pres">
      <dgm:prSet presAssocID="{ADFF37C9-8F0B-4547-87B3-0FE8B61834A8}" presName="textNode" presStyleLbl="node1" presStyleIdx="2" presStyleCnt="3" custLinFactNeighborX="-38039" custLinFactNeighborY="648">
        <dgm:presLayoutVars>
          <dgm:bulletEnabled val="1"/>
        </dgm:presLayoutVars>
      </dgm:prSet>
      <dgm:spPr bwMode="auto"/>
    </dgm:pt>
  </dgm:ptLst>
  <dgm:cxnLst>
    <dgm:cxn modelId="{212C2609-E4C1-4F56-A221-D65BC520C505}" type="presOf" srcId="{B71DC8C6-2E9C-482D-A459-B752D5D87453}" destId="{3E988533-C24B-42C3-861A-F4922FD76781}" srcOrd="0" destOrd="0" presId="urn:microsoft.com/office/officeart/2005/8/layout/hProcess9"/>
    <dgm:cxn modelId="{EAEADE0E-A7A3-429B-9F8C-75E2EB19A66C}" srcId="{C5B126B9-4876-4F29-BFE4-6F98C3E419E7}" destId="{799F71C8-0C6B-425F-A8CE-9BE1965D0644}" srcOrd="0" destOrd="0" parTransId="{8D86DB4F-F4A7-4DAF-80F2-4439AB6376DE}" sibTransId="{C90C7E8F-1DF7-4877-9A26-5FCAD82D2068}"/>
    <dgm:cxn modelId="{B8239B42-0E79-463E-ADBF-6120571E6009}" srcId="{C5B126B9-4876-4F29-BFE4-6F98C3E419E7}" destId="{ADFF37C9-8F0B-4547-87B3-0FE8B61834A8}" srcOrd="2" destOrd="0" parTransId="{A22289B2-B09A-44F4-8636-F09604832A62}" sibTransId="{7AFE99B5-C93F-4663-B63E-EF87C58E2894}"/>
    <dgm:cxn modelId="{67590E4C-B294-45FF-9136-CD139A4B8BBB}" type="presOf" srcId="{799F71C8-0C6B-425F-A8CE-9BE1965D0644}" destId="{33B1AF6E-13E0-4668-AB9C-4B1CEEE6D11B}" srcOrd="0" destOrd="0" presId="urn:microsoft.com/office/officeart/2005/8/layout/hProcess9"/>
    <dgm:cxn modelId="{3CC52EB0-2CD8-4B33-A557-8F000D56C43C}" type="presOf" srcId="{C5B126B9-4876-4F29-BFE4-6F98C3E419E7}" destId="{06CC83F6-26DA-4039-80FA-5EC83B0A69A5}" srcOrd="0" destOrd="0" presId="urn:microsoft.com/office/officeart/2005/8/layout/hProcess9"/>
    <dgm:cxn modelId="{39298FC2-90C0-462B-B068-BB05BBC9E0F9}" type="presOf" srcId="{ADFF37C9-8F0B-4547-87B3-0FE8B61834A8}" destId="{980BB19E-B361-4B21-B76C-39861D4234A7}" srcOrd="0" destOrd="0" presId="urn:microsoft.com/office/officeart/2005/8/layout/hProcess9"/>
    <dgm:cxn modelId="{91AB95F5-AA23-480D-BD0C-C3A9F7BCDF16}" srcId="{C5B126B9-4876-4F29-BFE4-6F98C3E419E7}" destId="{B71DC8C6-2E9C-482D-A459-B752D5D87453}" srcOrd="1" destOrd="0" parTransId="{9B8F0654-5168-4EC0-9F5E-49AF55351C0C}" sibTransId="{33203D90-262F-4B3A-B927-C14C83AF0F61}"/>
    <dgm:cxn modelId="{37A7B685-8005-48ED-A37E-8D460454516B}" type="presParOf" srcId="{06CC83F6-26DA-4039-80FA-5EC83B0A69A5}" destId="{B0D0C5C4-2EEF-47B9-8D91-754F50219E66}" srcOrd="0" destOrd="0" presId="urn:microsoft.com/office/officeart/2005/8/layout/hProcess9"/>
    <dgm:cxn modelId="{158507FA-6856-4561-8969-232227BDFE60}" type="presParOf" srcId="{06CC83F6-26DA-4039-80FA-5EC83B0A69A5}" destId="{25099CCF-2F40-448F-8D96-266EE3AC4695}" srcOrd="1" destOrd="0" presId="urn:microsoft.com/office/officeart/2005/8/layout/hProcess9"/>
    <dgm:cxn modelId="{1A54308C-E48E-446D-936D-59A19DD6B6D5}" type="presParOf" srcId="{25099CCF-2F40-448F-8D96-266EE3AC4695}" destId="{33B1AF6E-13E0-4668-AB9C-4B1CEEE6D11B}" srcOrd="0" destOrd="0" presId="urn:microsoft.com/office/officeart/2005/8/layout/hProcess9"/>
    <dgm:cxn modelId="{7A43A983-36A7-448D-BDD5-5432399D35B3}" type="presParOf" srcId="{25099CCF-2F40-448F-8D96-266EE3AC4695}" destId="{50BC472A-4D57-484B-89C0-8A00B6B9791C}" srcOrd="1" destOrd="0" presId="urn:microsoft.com/office/officeart/2005/8/layout/hProcess9"/>
    <dgm:cxn modelId="{2214EFC6-2EAA-4E4C-96AD-006A10496601}" type="presParOf" srcId="{25099CCF-2F40-448F-8D96-266EE3AC4695}" destId="{3E988533-C24B-42C3-861A-F4922FD76781}" srcOrd="2" destOrd="0" presId="urn:microsoft.com/office/officeart/2005/8/layout/hProcess9"/>
    <dgm:cxn modelId="{AFE7066F-B656-4170-8FCA-7794C29427C7}" type="presParOf" srcId="{25099CCF-2F40-448F-8D96-266EE3AC4695}" destId="{3949FA9B-6EE6-4D8B-BE53-7EE264A35CA2}" srcOrd="3" destOrd="0" presId="urn:microsoft.com/office/officeart/2005/8/layout/hProcess9"/>
    <dgm:cxn modelId="{7A31A36B-63BE-443E-988C-02136652E8BA}" type="presParOf" srcId="{25099CCF-2F40-448F-8D96-266EE3AC4695}" destId="{980BB19E-B361-4B21-B76C-39861D4234A7}"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0C5C4-2EEF-47B9-8D91-754F50219E66}">
      <dsp:nvSpPr>
        <dsp:cNvPr id="0" name=""/>
        <dsp:cNvSpPr/>
      </dsp:nvSpPr>
      <dsp:spPr bwMode="auto">
        <a:xfrm>
          <a:off x="1024664" y="0"/>
          <a:ext cx="11758116" cy="6275461"/>
        </a:xfrm>
        <a:prstGeom prst="rightArrow">
          <a:avLst/>
        </a:prstGeom>
        <a:solidFill>
          <a:schemeClr val="accent1">
            <a:tint val="40000"/>
            <a:hueOff val="0"/>
            <a:satOff val="0"/>
            <a:lumOff val="0"/>
            <a:alphaOff val="0"/>
          </a:schemeClr>
        </a:solidFill>
        <a:ln>
          <a:noFill/>
        </a:ln>
        <a:effectLst/>
      </dsp:spPr>
      <dsp:style>
        <a:lnRef idx="0">
          <a:srgbClr val="000000"/>
        </a:lnRef>
        <a:fillRef idx="1">
          <a:srgbClr val="000000"/>
        </a:fillRef>
        <a:effectRef idx="0">
          <a:srgbClr val="000000"/>
        </a:effectRef>
        <a:fontRef idx="minor"/>
      </dsp:style>
    </dsp:sp>
    <dsp:sp modelId="{33B1AF6E-13E0-4668-AB9C-4B1CEEE6D11B}">
      <dsp:nvSpPr>
        <dsp:cNvPr id="0" name=""/>
        <dsp:cNvSpPr/>
      </dsp:nvSpPr>
      <dsp:spPr bwMode="auto">
        <a:xfrm>
          <a:off x="6388" y="1895842"/>
          <a:ext cx="4012132"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Background and topic</a:t>
          </a:r>
          <a:endParaRPr lang="en-GB" sz="2800" b="1" kern="1200" dirty="0"/>
        </a:p>
      </dsp:txBody>
      <dsp:txXfrm>
        <a:off x="128925" y="2018379"/>
        <a:ext cx="3767058" cy="2265110"/>
      </dsp:txXfrm>
    </dsp:sp>
    <dsp:sp modelId="{3E988533-C24B-42C3-861A-F4922FD76781}">
      <dsp:nvSpPr>
        <dsp:cNvPr id="0" name=""/>
        <dsp:cNvSpPr/>
      </dsp:nvSpPr>
      <dsp:spPr bwMode="auto">
        <a:xfrm>
          <a:off x="4591320" y="1895842"/>
          <a:ext cx="4460809"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Research question</a:t>
          </a:r>
          <a:endParaRPr lang="en-GB" sz="2800" b="1" kern="1200" dirty="0"/>
        </a:p>
      </dsp:txBody>
      <dsp:txXfrm>
        <a:off x="4713857" y="2018379"/>
        <a:ext cx="4215735" cy="2265110"/>
      </dsp:txXfrm>
    </dsp:sp>
    <dsp:sp modelId="{980BB19E-B361-4B21-B76C-39861D4234A7}">
      <dsp:nvSpPr>
        <dsp:cNvPr id="0" name=""/>
        <dsp:cNvSpPr/>
      </dsp:nvSpPr>
      <dsp:spPr bwMode="auto">
        <a:xfrm>
          <a:off x="9561270" y="1898904"/>
          <a:ext cx="4012132" cy="25101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a:pPr>
          <a:r>
            <a:rPr lang="pt-BR" sz="2800" b="1" kern="1200" dirty="0"/>
            <a:t>Procedure</a:t>
          </a:r>
          <a:endParaRPr lang="en-GB" sz="2800" b="1" kern="1200" dirty="0"/>
        </a:p>
      </dsp:txBody>
      <dsp:txXfrm>
        <a:off x="9683807" y="2021441"/>
        <a:ext cx="3767058" cy="226511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22.06.2026</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‹Nr.›</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leuphana.de/fileadmin/user_upload/sonstige_einrichtungen/Schreibzentrum/Knorr_2018_Cascade-model-academic-text-production.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F92545-A449-DB66-AD86-B8829FA33A24}"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Here you can introduce the students to the topic of the presentation.</a:t>
            </a:r>
          </a:p>
          <a:p>
            <a:pPr marL="171450" indent="-171450">
              <a:buFont typeface="Arial" panose="020B0604020202020204" pitchFamily="34" charset="0"/>
              <a:buChar char="•"/>
              <a:defRPr/>
            </a:pPr>
            <a:r>
              <a:rPr lang="de-DE" dirty="0"/>
              <a:t>The aim is to provide an overview of what project work is about, how to proceed and how to create a project outline.</a:t>
            </a:r>
          </a:p>
          <a:p>
            <a:pPr>
              <a:defRPr/>
            </a:pPr>
            <a:endParaRPr dirty="0"/>
          </a:p>
        </p:txBody>
      </p:sp>
      <p:sp>
        <p:nvSpPr>
          <p:cNvPr id="4" name="Slide Number Placeholder 3"/>
          <p:cNvSpPr>
            <a:spLocks noGrp="1"/>
          </p:cNvSpPr>
          <p:nvPr>
            <p:ph type="sldNum" sz="quarter" idx="10"/>
          </p:nvPr>
        </p:nvSpPr>
        <p:spPr bwMode="auto"/>
        <p:txBody>
          <a:bodyPr/>
          <a:lstStyle/>
          <a:p>
            <a:pPr>
              <a:defRPr/>
            </a:pPr>
            <a:fld id="{E728B066-5110-A3C5-54B0-06711937EB1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This is a blank slide that you can use to do an introductory activating activity with your group (if you start the session with this presentation). </a:t>
            </a:r>
          </a:p>
          <a:p>
            <a:pPr marL="0" indent="0">
              <a:buFont typeface="Arial" panose="020B0604020202020204" pitchFamily="34" charset="0"/>
              <a:buNone/>
              <a:defRPr/>
            </a:pPr>
            <a:endParaRPr lang="en-GB" dirty="0"/>
          </a:p>
          <a:p>
            <a:pPr>
              <a:defRPr/>
            </a:pPr>
            <a:endParaRPr lang="en-GB" dirty="0"/>
          </a:p>
          <a:p>
            <a:pP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slide, we present the research project to be completed in the "Responsibility" module. We recommend that tutors read the document "Guidelines for project work" in the module "Responsibility" so that they can get an idea of what is required of students in this assignment. </a:t>
            </a:r>
          </a:p>
          <a:p>
            <a:pPr marL="171450" indent="-171450">
              <a:buFont typeface="Arial" panose="020B0604020202020204" pitchFamily="34" charset="0"/>
              <a:buChar char="•"/>
              <a:defRPr/>
            </a:pPr>
            <a:r>
              <a:rPr lang="de-DE" b="1" dirty="0"/>
              <a:t>Tip: </a:t>
            </a:r>
            <a:r>
              <a:rPr lang="de-DE" dirty="0"/>
              <a:t>If you took part in the Leuphana Conference Week yourself, we encourage you to share your experiences with the students. </a:t>
            </a:r>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4</a:t>
            </a:fld>
            <a:endParaRPr/>
          </a:p>
        </p:txBody>
      </p:sp>
    </p:spTree>
    <p:extLst>
      <p:ext uri="{BB962C8B-B14F-4D97-AF65-F5344CB8AC3E}">
        <p14:creationId xmlns:p14="http://schemas.microsoft.com/office/powerpoint/2010/main" val="170353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and the following pages, we have compiled some valuable tips for writing your project report. Tutors are encouraged to share their own experiences and possible tips with students. </a:t>
            </a:r>
          </a:p>
          <a:p>
            <a:pPr marL="171450" indent="-171450">
              <a:buFont typeface="Arial" panose="020B0604020202020204" pitchFamily="34" charset="0"/>
              <a:buChar char="•"/>
              <a:defRPr/>
            </a:pPr>
            <a:r>
              <a:rPr lang="de-DE" b="1" dirty="0"/>
              <a:t>Tip: </a:t>
            </a:r>
            <a:r>
              <a:rPr lang="de-DE" b="0" dirty="0"/>
              <a:t>You can explore the MURAL tool with the students in the session. </a:t>
            </a:r>
          </a:p>
        </p:txBody>
      </p:sp>
      <p:sp>
        <p:nvSpPr>
          <p:cNvPr id="4" name="Slide Number Placeholder 3"/>
          <p:cNvSpPr>
            <a:spLocks noGrp="1"/>
          </p:cNvSpPr>
          <p:nvPr>
            <p:ph type="sldNum" sz="quarter" idx="10"/>
          </p:nvPr>
        </p:nvSpPr>
        <p:spPr bwMode="auto"/>
        <p:txBody>
          <a:bodyPr/>
          <a:lstStyle/>
          <a:p>
            <a:pPr>
              <a:defRPr/>
            </a:pPr>
            <a:fld id="{F7BAA48E-F113-0E56-999D-2423BC7A492B}"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3A95-2F70-064E-353F-527F70B81E22}"/>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CEF1EF6-F5FC-BA7D-7DD1-C8BB4BBA2753}"/>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505E6FE-8E86-A0F8-1EC9-70F73FCC63D9}"/>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b="0" dirty="0"/>
              <a:t>Continuation of the previous slide.</a:t>
            </a:r>
            <a:endParaRPr lang="de-DE" dirty="0"/>
          </a:p>
          <a:p>
            <a:pPr marL="171450" indent="-171450">
              <a:buFont typeface="Arial" panose="020B0604020202020204" pitchFamily="34" charset="0"/>
              <a:buChar char="•"/>
              <a:defRPr/>
            </a:pPr>
            <a:r>
              <a:rPr lang="de-DE" b="0" dirty="0" err="1"/>
              <a:t>Please</a:t>
            </a:r>
            <a:r>
              <a:rPr lang="de-DE" b="0" dirty="0"/>
              <a:t> refer to the document "Guidelines for project work in </a:t>
            </a:r>
            <a:r>
              <a:rPr lang="de-DE" b="0" dirty="0" err="1"/>
              <a:t>the</a:t>
            </a:r>
            <a:r>
              <a:rPr lang="de-DE" b="0" dirty="0"/>
              <a:t> "</a:t>
            </a:r>
            <a:r>
              <a:rPr lang="de-DE" b="0" dirty="0" err="1"/>
              <a:t>Responsibility</a:t>
            </a:r>
            <a:r>
              <a:rPr lang="de-DE" b="0" dirty="0"/>
              <a:t>„ </a:t>
            </a:r>
            <a:r>
              <a:rPr lang="de-DE" b="0" dirty="0" err="1"/>
              <a:t>Moodle</a:t>
            </a:r>
            <a:r>
              <a:rPr lang="de-DE" b="0" dirty="0"/>
              <a:t> </a:t>
            </a:r>
            <a:r>
              <a:rPr lang="de-DE" b="0" dirty="0" err="1"/>
              <a:t>course</a:t>
            </a:r>
            <a:r>
              <a:rPr lang="de-DE" b="0" dirty="0"/>
              <a:t> and its appendix.  </a:t>
            </a:r>
          </a:p>
        </p:txBody>
      </p:sp>
      <p:sp>
        <p:nvSpPr>
          <p:cNvPr id="4" name="Slide Number Placeholder 3">
            <a:extLst>
              <a:ext uri="{FF2B5EF4-FFF2-40B4-BE49-F238E27FC236}">
                <a16:creationId xmlns:a16="http://schemas.microsoft.com/office/drawing/2014/main" id="{D5B51A47-651B-B218-4E33-A6A4BFC97446}"/>
              </a:ext>
            </a:extLst>
          </p:cNvPr>
          <p:cNvSpPr>
            <a:spLocks noGrp="1"/>
          </p:cNvSpPr>
          <p:nvPr>
            <p:ph type="sldNum" sz="quarter" idx="10"/>
          </p:nvPr>
        </p:nvSpPr>
        <p:spPr bwMode="auto"/>
        <p:txBody>
          <a:bodyPr/>
          <a:lstStyle/>
          <a:p>
            <a:pPr>
              <a:defRPr/>
            </a:pPr>
            <a:fld id="{F7BAA48E-F113-0E56-999D-2423BC7A492B}" type="slidenum">
              <a:rPr/>
              <a:t>6</a:t>
            </a:fld>
            <a:endParaRPr/>
          </a:p>
        </p:txBody>
      </p:sp>
    </p:spTree>
    <p:extLst>
      <p:ext uri="{BB962C8B-B14F-4D97-AF65-F5344CB8AC3E}">
        <p14:creationId xmlns:p14="http://schemas.microsoft.com/office/powerpoint/2010/main" val="2860225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42579-01DD-0F8D-A6B9-8C090CFC3BDF}"/>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71E78287-29C4-6A73-8579-9DE4F8664F10}"/>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6D7A1C9-81DA-77D2-727F-6B76AE7E86EB}"/>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One of the tasks of the students before submitting the final thesis of the module is to create a project outline of their research work. This allows the lecturers to check whether the project is going in the "right" direction. The lecturer's opinion is more important in this context than the project outline template.</a:t>
            </a:r>
          </a:p>
          <a:p>
            <a:pPr marL="171450" indent="-171450">
              <a:buFont typeface="Arial" panose="020B0604020202020204" pitchFamily="34" charset="0"/>
              <a:buChar char="•"/>
              <a:defRPr/>
            </a:pPr>
            <a:r>
              <a:rPr lang="de-DE" dirty="0"/>
              <a:t>The project outline summarizes the most important points that should be clarified at the beginning of a scientific project. </a:t>
            </a:r>
          </a:p>
          <a:p>
            <a:pPr marL="171450" indent="-171450">
              <a:buFont typeface="Arial" panose="020B0604020202020204" pitchFamily="34" charset="0"/>
              <a:buChar char="•"/>
              <a:defRPr/>
            </a:pPr>
            <a:r>
              <a:rPr lang="de-DE" dirty="0"/>
              <a:t>It is basically an anticipation of the structure of the project. There are some similarities with the synopsis. </a:t>
            </a:r>
          </a:p>
          <a:p>
            <a:pPr marL="171450" indent="-171450">
              <a:buFont typeface="Arial" panose="020B0604020202020204" pitchFamily="34" charset="0"/>
              <a:buChar char="•"/>
              <a:defRPr/>
            </a:pPr>
            <a:r>
              <a:rPr lang="de-DE" dirty="0"/>
              <a:t>On the Responsibility </a:t>
            </a:r>
            <a:r>
              <a:rPr lang="de-DE" dirty="0" err="1"/>
              <a:t>Moodle </a:t>
            </a:r>
            <a:r>
              <a:rPr lang="de-DE" dirty="0"/>
              <a:t>course, all the important documents for writing the project paper are listed at the top of the page. </a:t>
            </a:r>
          </a:p>
          <a:p>
            <a:pPr marL="171450" indent="-171450">
              <a:buFont typeface="Arial" panose="020B0604020202020204" pitchFamily="34" charset="0"/>
              <a:buChar char="•"/>
              <a:defRPr/>
            </a:pPr>
            <a:endParaRPr dirty="0"/>
          </a:p>
        </p:txBody>
      </p:sp>
      <p:sp>
        <p:nvSpPr>
          <p:cNvPr id="4" name="Slide Number Placeholder 3">
            <a:extLst>
              <a:ext uri="{FF2B5EF4-FFF2-40B4-BE49-F238E27FC236}">
                <a16:creationId xmlns:a16="http://schemas.microsoft.com/office/drawing/2014/main" id="{914C2B0B-53D0-4A7D-9C6D-0FA38C1DE552}"/>
              </a:ext>
            </a:extLst>
          </p:cNvPr>
          <p:cNvSpPr>
            <a:spLocks noGrp="1"/>
          </p:cNvSpPr>
          <p:nvPr>
            <p:ph type="sldNum" sz="quarter" idx="10"/>
          </p:nvPr>
        </p:nvSpPr>
        <p:spPr bwMode="auto"/>
        <p:txBody>
          <a:bodyPr/>
          <a:lstStyle/>
          <a:p>
            <a:pPr>
              <a:defRPr/>
            </a:pPr>
            <a:fld id="{7471B3FE-3E19-9699-2082-F0DE2FB8F64F}" type="slidenum">
              <a:rPr/>
              <a:t>7</a:t>
            </a:fld>
            <a:endParaRPr/>
          </a:p>
        </p:txBody>
      </p:sp>
    </p:spTree>
    <p:extLst>
      <p:ext uri="{BB962C8B-B14F-4D97-AF65-F5344CB8AC3E}">
        <p14:creationId xmlns:p14="http://schemas.microsoft.com/office/powerpoint/2010/main" val="2647494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4A1C-8D7E-0DF2-822F-35211581874B}"/>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D5BA3C53-4B30-AE2E-F343-E37E40FE1661}"/>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3E273D8-CB5C-FD20-CC3B-F0B9E9A22155}"/>
              </a:ext>
            </a:extLst>
          </p:cNvPr>
          <p:cNvSpPr>
            <a:spLocks noGrp="1"/>
          </p:cNvSpPr>
          <p:nvPr>
            <p:ph type="body" idx="1"/>
          </p:nvPr>
        </p:nvSpPr>
        <p:spPr bwMode="auto"/>
        <p:txBody>
          <a:bodyPr/>
          <a:lstStyle/>
          <a:p>
            <a:pPr marL="171450" indent="-171450">
              <a:buFont typeface="Arial" panose="020B0604020202020204" pitchFamily="34" charset="0"/>
              <a:buChar char="•"/>
              <a:defRPr/>
            </a:pPr>
            <a:r>
              <a:rPr lang="de-DE" dirty="0"/>
              <a:t>Here is a diagram with the most important points of a project outline as highlighted in the document provided by Leuphana Semester. </a:t>
            </a:r>
          </a:p>
          <a:p>
            <a:pPr marL="171450" indent="-171450">
              <a:buFont typeface="Arial" panose="020B0604020202020204" pitchFamily="34" charset="0"/>
              <a:buChar char="•"/>
              <a:defRPr/>
            </a:pPr>
            <a:r>
              <a:rPr lang="de-DE" dirty="0"/>
              <a:t>We suggest that tutors take a look at the document before the session. </a:t>
            </a:r>
          </a:p>
          <a:p>
            <a:pPr marL="171450" indent="-171450">
              <a:buFont typeface="Arial" panose="020B0604020202020204" pitchFamily="34" charset="0"/>
              <a:buChar char="•"/>
              <a:defRPr/>
            </a:pPr>
            <a:r>
              <a:rPr lang="de-DE" dirty="0"/>
              <a:t>Note that much of the content of a project outline will be included in the final version of a scientific paper. </a:t>
            </a:r>
          </a:p>
          <a:p>
            <a:pPr marL="171450" indent="-171450">
              <a:buFont typeface="Arial" panose="020B0604020202020204" pitchFamily="34" charset="0"/>
              <a:buChar char="•"/>
              <a:defRPr/>
            </a:pPr>
            <a:r>
              <a:rPr lang="de-DE" dirty="0"/>
              <a:t>Remind students that the purpose of a project outline is to provide an initial structure for their research project. </a:t>
            </a:r>
          </a:p>
          <a:p>
            <a:pPr marL="171450" indent="-171450">
              <a:buFont typeface="Arial" panose="020B0604020202020204" pitchFamily="34" charset="0"/>
              <a:buChar char="•"/>
              <a:defRPr/>
            </a:pPr>
            <a:r>
              <a:rPr lang="de-DE" dirty="0"/>
              <a:t>Give students the opportunity to ask questions about the structure of a project outline. </a:t>
            </a:r>
          </a:p>
          <a:p>
            <a:pPr marL="171450" indent="-171450">
              <a:buFont typeface="Arial" panose="020B0604020202020204" pitchFamily="34" charset="0"/>
              <a:buChar char="•"/>
              <a:defRPr/>
            </a:pPr>
            <a:endParaRPr dirty="0"/>
          </a:p>
        </p:txBody>
      </p:sp>
      <p:sp>
        <p:nvSpPr>
          <p:cNvPr id="4" name="Slide Number Placeholder 3">
            <a:extLst>
              <a:ext uri="{FF2B5EF4-FFF2-40B4-BE49-F238E27FC236}">
                <a16:creationId xmlns:a16="http://schemas.microsoft.com/office/drawing/2014/main" id="{212DB468-3837-CF06-EB30-D1CD952D44F3}"/>
              </a:ext>
            </a:extLst>
          </p:cNvPr>
          <p:cNvSpPr>
            <a:spLocks noGrp="1"/>
          </p:cNvSpPr>
          <p:nvPr>
            <p:ph type="sldNum" sz="quarter" idx="10"/>
          </p:nvPr>
        </p:nvSpPr>
        <p:spPr bwMode="auto"/>
        <p:txBody>
          <a:bodyPr/>
          <a:lstStyle/>
          <a:p>
            <a:pPr>
              <a:defRPr/>
            </a:pPr>
            <a:fld id="{7471B3FE-3E19-9699-2082-F0DE2FB8F64F}" type="slidenum">
              <a:rPr/>
              <a:t>8</a:t>
            </a:fld>
            <a:endParaRPr/>
          </a:p>
        </p:txBody>
      </p:sp>
    </p:spTree>
    <p:extLst>
      <p:ext uri="{BB962C8B-B14F-4D97-AF65-F5344CB8AC3E}">
        <p14:creationId xmlns:p14="http://schemas.microsoft.com/office/powerpoint/2010/main" val="3755490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On this slide you will find some tips on how students can organize themselves to work as a group on a project. It is important to note that more detailed tips are part of the content of the specific tutorials for group work, time organization, etc. </a:t>
            </a:r>
          </a:p>
          <a:p>
            <a:pPr marL="171450" indent="-171450">
              <a:buFont typeface="Arial" panose="020B0604020202020204" pitchFamily="34" charset="0"/>
              <a:buChar char="•"/>
              <a:defRPr/>
            </a:pPr>
            <a:endParaRPr lang="de-DE" dirty="0"/>
          </a:p>
          <a:p>
            <a:pPr>
              <a:defRPr/>
            </a:pPr>
            <a:r>
              <a:rPr lang="de-DE" dirty="0"/>
              <a:t>Suggestion: Show the students the cascade model developed by Dr. Dagmar Knorr: </a:t>
            </a:r>
            <a:r>
              <a:rPr lang="de-DE" dirty="0">
                <a:hlinkClick r:id="rId3"/>
              </a:rPr>
              <a:t>https://www.leuphana.de/fileadmin/user_upload/sonstige_einrichtungen/Schreibzentrum/Knorr_2018_Cascade-model-academic-text-production.pdf </a:t>
            </a:r>
            <a:endParaRPr lang="de-DE" dirty="0"/>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9</a:t>
            </a:fld>
            <a:endParaRPr/>
          </a:p>
        </p:txBody>
      </p:sp>
    </p:spTree>
    <p:extLst>
      <p:ext uri="{BB962C8B-B14F-4D97-AF65-F5344CB8AC3E}">
        <p14:creationId xmlns:p14="http://schemas.microsoft.com/office/powerpoint/2010/main" val="3639237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171450" indent="-171450">
              <a:buFont typeface="Arial" panose="020B0604020202020204" pitchFamily="34" charset="0"/>
              <a:buChar char="•"/>
              <a:defRPr/>
            </a:pPr>
            <a:r>
              <a:rPr lang="de-DE" dirty="0"/>
              <a:t>This slide is not about the </a:t>
            </a:r>
            <a:r>
              <a:rPr lang="de-DE" dirty="0" err="1"/>
              <a:t>project</a:t>
            </a:r>
            <a:r>
              <a:rPr lang="de-DE" dirty="0"/>
              <a:t> </a:t>
            </a:r>
            <a:r>
              <a:rPr lang="de-DE" dirty="0" err="1"/>
              <a:t>sketch</a:t>
            </a:r>
            <a:r>
              <a:rPr lang="de-DE" dirty="0"/>
              <a:t>, but about the project report that is to be written for the "Responsibility" module.</a:t>
            </a:r>
          </a:p>
          <a:p>
            <a:pPr marL="171450" indent="-171450">
              <a:buFont typeface="Arial" panose="020B0604020202020204" pitchFamily="34" charset="0"/>
              <a:buChar char="•"/>
              <a:defRPr/>
            </a:pPr>
            <a:r>
              <a:rPr lang="de-DE" dirty="0"/>
              <a:t>In the document "Slides Impulse 03" in the </a:t>
            </a:r>
            <a:r>
              <a:rPr lang="de-DE" dirty="0" err="1"/>
              <a:t>Moodle </a:t>
            </a:r>
            <a:r>
              <a:rPr lang="de-DE" dirty="0"/>
              <a:t>of the module "Responsibility" you will find some information about the project report that the students have to write.</a:t>
            </a:r>
          </a:p>
          <a:p>
            <a:pPr marL="171450" indent="-171450">
              <a:buFont typeface="Arial" panose="020B0604020202020204" pitchFamily="34" charset="0"/>
              <a:buChar char="•"/>
              <a:defRPr/>
            </a:pPr>
            <a:r>
              <a:rPr lang="de-DE" dirty="0"/>
              <a:t>This document also contains an example of the structure of the project report (see image in the slide). </a:t>
            </a:r>
          </a:p>
          <a:p>
            <a:pPr marL="171450" indent="-171450">
              <a:buFont typeface="Arial" panose="020B0604020202020204" pitchFamily="34" charset="0"/>
              <a:buChar cha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10</a:t>
            </a:fld>
            <a:endParaRPr/>
          </a:p>
        </p:txBody>
      </p:sp>
    </p:spTree>
    <p:extLst>
      <p:ext uri="{BB962C8B-B14F-4D97-AF65-F5344CB8AC3E}">
        <p14:creationId xmlns:p14="http://schemas.microsoft.com/office/powerpoint/2010/main" val="3109862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GB" dirty="0"/>
              <a:t>- The </a:t>
            </a:r>
            <a:r>
              <a:rPr lang="en-GB" dirty="0" err="1"/>
              <a:t>documents from the </a:t>
            </a:r>
            <a:r>
              <a:rPr lang="en-GB" dirty="0"/>
              <a:t>SWC </a:t>
            </a:r>
            <a:r>
              <a:rPr lang="en-GB" dirty="0" err="1"/>
              <a:t>can no longer be found </a:t>
            </a:r>
            <a:r>
              <a:rPr lang="en-GB" dirty="0"/>
              <a:t>online (i.e. </a:t>
            </a:r>
            <a:r>
              <a:rPr lang="en-GB" dirty="0" err="1"/>
              <a:t>no longer accessible </a:t>
            </a:r>
            <a:r>
              <a:rPr lang="en-GB" dirty="0"/>
              <a:t>to </a:t>
            </a:r>
            <a:r>
              <a:rPr lang="en-GB" dirty="0" err="1"/>
              <a:t>students</a:t>
            </a:r>
            <a:r>
              <a:rPr lang="en-GB" dirty="0"/>
              <a:t>), </a:t>
            </a:r>
            <a:r>
              <a:rPr lang="en-GB" dirty="0" err="1"/>
              <a:t>but are stored </a:t>
            </a:r>
            <a:r>
              <a:rPr lang="en-GB" dirty="0"/>
              <a:t>in the </a:t>
            </a:r>
            <a:r>
              <a:rPr lang="en-GB" dirty="0" err="1"/>
              <a:t>materials on </a:t>
            </a:r>
            <a:r>
              <a:rPr lang="en-GB" dirty="0"/>
              <a:t>Moodle.</a:t>
            </a:r>
          </a:p>
          <a:p>
            <a:pPr>
              <a:defRPr/>
            </a:pPr>
            <a:endParaRPr dirty="0"/>
          </a:p>
        </p:txBody>
      </p:sp>
      <p:sp>
        <p:nvSpPr>
          <p:cNvPr id="4" name="Slide Number Placeholder 3"/>
          <p:cNvSpPr>
            <a:spLocks noGrp="1"/>
          </p:cNvSpPr>
          <p:nvPr>
            <p:ph type="sldNum" sz="quarter" idx="10"/>
          </p:nvPr>
        </p:nvSpPr>
        <p:spPr bwMode="auto"/>
        <p:txBody>
          <a:bodyPr/>
          <a:lstStyle/>
          <a:p>
            <a:pPr>
              <a:defRPr/>
            </a:pPr>
            <a:fld id="{7471B3FE-3E19-9699-2082-F0DE2FB8F64F}" type="slidenum">
              <a:rPr/>
              <a:t>11</a:t>
            </a:fld>
            <a:endParaRPr/>
          </a:p>
        </p:txBody>
      </p:sp>
    </p:spTree>
    <p:extLst>
      <p:ext uri="{BB962C8B-B14F-4D97-AF65-F5344CB8AC3E}">
        <p14:creationId xmlns:p14="http://schemas.microsoft.com/office/powerpoint/2010/main" val="424482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4" name="Untertitel 2"/>
          <p:cNvSpPr txBox="1"/>
          <p:nvPr userDrawn="1"/>
        </p:nvSpPr>
        <p:spPr bwMode="auto">
          <a:xfrm>
            <a:off x="2205642" y="6228658"/>
            <a:ext cx="13716000" cy="1276046"/>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Master-Untertitelformat bearbeiten</a:t>
            </a:r>
            <a:endParaRPr/>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hyperlink" Target="https://mural.co/?utm_medium=paid-search&amp;utm_source=adwords&amp;utm_campaign=201101-Core_Brand&amp;utm_adgroup=MURAL_-_Branded&amp;utm_campaign_id=11265145092&amp;utm_content=mural&amp;utm_adgroupid=109231331743&amp;gclid=Cj0KCQjwmdGYBhDRARIsABmSEeM-cSXH5EQ7wkbuaw1-qU-JawKzmjmu1XYOpbJ3ArcWNSdhg9dgs6saAn-iEALw_wcB"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heise.de/tipps-tricks/Projektmanagement-Tools-diese-gibt-es-kostenlos-5024239.html"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www.leuphana.de/fileadmin/user_upload/sonstige_einrichtungen/Schreibzentrum/Knorr_2018_Cascade-model-academic-text-production.pdf"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dirty="0"/>
              <a:t>Project work</a:t>
            </a:r>
          </a:p>
        </p:txBody>
      </p:sp>
      <p:sp>
        <p:nvSpPr>
          <p:cNvPr id="3" name="Untertitel 2"/>
          <p:cNvSpPr>
            <a:spLocks noGrp="1"/>
          </p:cNvSpPr>
          <p:nvPr>
            <p:ph type="subTitle" idx="1"/>
          </p:nvPr>
        </p:nvSpPr>
        <p:spPr bwMode="auto"/>
        <p:txBody>
          <a:bodyPr/>
          <a:lstStyle/>
          <a:p>
            <a:pPr>
              <a:defRPr/>
            </a:pPr>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Agenda</a:t>
            </a:r>
          </a:p>
        </p:txBody>
      </p:sp>
      <p:sp>
        <p:nvSpPr>
          <p:cNvPr id="3" name="Inhaltsplatzhalter 2"/>
          <p:cNvSpPr>
            <a:spLocks noGrp="1"/>
          </p:cNvSpPr>
          <p:nvPr>
            <p:ph idx="1"/>
          </p:nvPr>
        </p:nvSpPr>
        <p:spPr bwMode="auto"/>
        <p:txBody>
          <a:bodyPr>
            <a:normAutofit/>
          </a:bodyPr>
          <a:lstStyle/>
          <a:p>
            <a:pPr>
              <a:lnSpc>
                <a:spcPct val="150000"/>
              </a:lnSpc>
              <a:defRPr/>
            </a:pPr>
            <a:r>
              <a:rPr lang="de-DE" dirty="0"/>
              <a:t> What does the project work look like</a:t>
            </a:r>
          </a:p>
          <a:p>
            <a:pPr>
              <a:lnSpc>
                <a:spcPct val="150000"/>
              </a:lnSpc>
              <a:defRPr/>
            </a:pPr>
            <a:r>
              <a:rPr lang="de-DE" dirty="0"/>
              <a:t>Steps of the project work</a:t>
            </a:r>
          </a:p>
          <a:p>
            <a:pPr>
              <a:lnSpc>
                <a:spcPct val="150000"/>
              </a:lnSpc>
              <a:defRPr/>
            </a:pPr>
            <a:r>
              <a:rPr lang="de-DE" dirty="0"/>
              <a:t>Planning a project: Project outline</a:t>
            </a:r>
          </a:p>
          <a:p>
            <a:pPr>
              <a:lnSpc>
                <a:spcPct val="150000"/>
              </a:lnSpc>
              <a:defRPr/>
            </a:pPr>
            <a:r>
              <a:rPr lang="de-DE" dirty="0"/>
              <a:t>How should I proceed with my project?</a:t>
            </a:r>
          </a:p>
          <a:p>
            <a:pPr>
              <a:lnSpc>
                <a:spcPct val="150000"/>
              </a:lnSpc>
              <a:defRPr/>
            </a:pPr>
            <a:r>
              <a:rPr lang="de-DE" dirty="0"/>
              <a:t>How do I manage a project?</a:t>
            </a:r>
          </a:p>
          <a:p>
            <a:pPr>
              <a:lnSpc>
                <a:spcPct val="150000"/>
              </a:lnSpc>
              <a:defRPr/>
            </a:pPr>
            <a:r>
              <a:rPr lang="de-DE" dirty="0"/>
              <a:t>Conclusion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Welcome and arrival</a:t>
            </a:r>
          </a:p>
        </p:txBody>
      </p:sp>
      <p:sp>
        <p:nvSpPr>
          <p:cNvPr id="3" name="Inhaltsplatzhalter 2"/>
          <p:cNvSpPr>
            <a:spLocks noGrp="1"/>
          </p:cNvSpPr>
          <p:nvPr>
            <p:ph idx="1"/>
          </p:nvPr>
        </p:nvSpPr>
        <p:spPr bwMode="auto"/>
        <p:txBody>
          <a:bodyPr/>
          <a:lstStyle/>
          <a:p>
            <a:pPr>
              <a:defRPr/>
            </a:pPr>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6" name="Picture 5" descr="Icon&#10;&#10;Description automatically generated">
            <a:extLst>
              <a:ext uri="{FF2B5EF4-FFF2-40B4-BE49-F238E27FC236}">
                <a16:creationId xmlns:a16="http://schemas.microsoft.com/office/drawing/2014/main" id="{68F46713-38B1-4FD4-E433-3B6AF4E644D7}"/>
              </a:ext>
            </a:extLst>
          </p:cNvPr>
          <p:cNvPicPr>
            <a:picLocks noChangeAspect="1"/>
          </p:cNvPicPr>
          <p:nvPr/>
        </p:nvPicPr>
        <p:blipFill>
          <a:blip r:embed="rId3"/>
          <a:stretch/>
        </p:blipFill>
        <p:spPr bwMode="auto">
          <a:xfrm>
            <a:off x="12494950" y="5946154"/>
            <a:ext cx="3849050" cy="3238835"/>
          </a:xfrm>
          <a:prstGeom prst="rect">
            <a:avLst/>
          </a:prstGeom>
        </p:spPr>
      </p:pic>
      <p:sp>
        <p:nvSpPr>
          <p:cNvPr id="2" name="Titel 1"/>
          <p:cNvSpPr>
            <a:spLocks noGrp="1"/>
          </p:cNvSpPr>
          <p:nvPr>
            <p:ph type="title"/>
          </p:nvPr>
        </p:nvSpPr>
        <p:spPr bwMode="auto"/>
        <p:txBody>
          <a:bodyPr/>
          <a:lstStyle/>
          <a:p>
            <a:pPr>
              <a:defRPr/>
            </a:pPr>
            <a:r>
              <a:rPr lang="de-DE" dirty="0"/>
              <a:t>What does the project work look like?</a:t>
            </a:r>
          </a:p>
        </p:txBody>
      </p:sp>
      <p:sp>
        <p:nvSpPr>
          <p:cNvPr id="3" name="Inhaltsplatzhalter 2"/>
          <p:cNvSpPr>
            <a:spLocks noGrp="1"/>
          </p:cNvSpPr>
          <p:nvPr>
            <p:ph idx="1"/>
          </p:nvPr>
        </p:nvSpPr>
        <p:spPr bwMode="auto">
          <a:xfrm>
            <a:off x="1944000" y="2738828"/>
            <a:ext cx="14400000" cy="3696861"/>
          </a:xfrm>
        </p:spPr>
        <p:txBody>
          <a:bodyPr>
            <a:normAutofit fontScale="92500" lnSpcReduction="20000"/>
          </a:bodyPr>
          <a:lstStyle/>
          <a:p>
            <a:pPr marL="285750" indent="-285750">
              <a:lnSpc>
                <a:spcPct val="150000"/>
              </a:lnSpc>
              <a:spcAft>
                <a:spcPts val="1200"/>
              </a:spcAft>
              <a:buFont typeface="Arial"/>
              <a:buChar char="•"/>
              <a:defRPr/>
            </a:pPr>
            <a:r>
              <a:rPr lang="de-DE" dirty="0"/>
              <a:t>The aim of the project seminar in the "Responsibility" module is to immerse students in the world of science, explore the rules and experience self-organized research-based learning (Michelsen et al., 2018). </a:t>
            </a:r>
          </a:p>
          <a:p>
            <a:pPr marL="285750" indent="-285750">
              <a:lnSpc>
                <a:spcPct val="150000"/>
              </a:lnSpc>
              <a:spcAft>
                <a:spcPts val="1200"/>
              </a:spcAft>
              <a:buFont typeface="Arial"/>
              <a:buChar char="•"/>
              <a:defRPr/>
            </a:pPr>
            <a:r>
              <a:rPr lang="de-DE" dirty="0"/>
              <a:t>The work produced includes the project report and a presentation during </a:t>
            </a:r>
            <a:r>
              <a:rPr lang="de-DE" b="1" dirty="0">
                <a:solidFill>
                  <a:srgbClr val="7C0E31"/>
                </a:solidFill>
              </a:rPr>
              <a:t>the conference week </a:t>
            </a:r>
            <a:r>
              <a:rPr lang="de-DE" dirty="0"/>
              <a:t>(Michelsen et al., 2018). </a:t>
            </a:r>
          </a:p>
          <a:p>
            <a:pPr marL="285750" indent="-285750">
              <a:lnSpc>
                <a:spcPct val="150000"/>
              </a:lnSpc>
              <a:spcAft>
                <a:spcPts val="1200"/>
              </a:spcAft>
              <a:buFont typeface="Arial"/>
              <a:buChar char="•"/>
              <a:defRPr/>
            </a:pPr>
            <a:r>
              <a:rPr lang="de-DE" dirty="0"/>
              <a:t>The project is carried out in groups and is divided into 2 </a:t>
            </a:r>
            <a:r>
              <a:rPr lang="de-DE" dirty="0" err="1"/>
              <a:t>parts</a:t>
            </a:r>
            <a:r>
              <a:rPr lang="de-DE" dirty="0"/>
              <a:t>:</a:t>
            </a:r>
          </a:p>
        </p:txBody>
      </p:sp>
      <p:sp>
        <p:nvSpPr>
          <p:cNvPr id="7" name="TextBox 6">
            <a:extLst>
              <a:ext uri="{FF2B5EF4-FFF2-40B4-BE49-F238E27FC236}">
                <a16:creationId xmlns:a16="http://schemas.microsoft.com/office/drawing/2014/main" id="{E0CE047C-A61F-DDCE-4537-17B4806E4BD5}"/>
              </a:ext>
            </a:extLst>
          </p:cNvPr>
          <p:cNvSpPr txBox="1"/>
          <p:nvPr/>
        </p:nvSpPr>
        <p:spPr>
          <a:xfrm>
            <a:off x="2739840" y="6979342"/>
            <a:ext cx="5943600" cy="584775"/>
          </a:xfrm>
          <a:prstGeom prst="rect">
            <a:avLst/>
          </a:prstGeom>
          <a:noFill/>
        </p:spPr>
        <p:txBody>
          <a:bodyPr wrap="square">
            <a:spAutoFit/>
          </a:bodyPr>
          <a:lstStyle/>
          <a:p>
            <a:pPr>
              <a:defRPr/>
            </a:pPr>
            <a:r>
              <a:rPr lang="de-DE" sz="3200" b="1" dirty="0">
                <a:solidFill>
                  <a:srgbClr val="65979C"/>
                </a:solidFill>
              </a:rPr>
              <a:t>Part A - Planning a </a:t>
            </a:r>
            <a:r>
              <a:rPr lang="de-DE" sz="3200" b="1" dirty="0" err="1">
                <a:solidFill>
                  <a:srgbClr val="65979C"/>
                </a:solidFill>
              </a:rPr>
              <a:t>project</a:t>
            </a:r>
            <a:endParaRPr lang="de-DE" sz="3200" dirty="0"/>
          </a:p>
        </p:txBody>
      </p:sp>
      <p:sp>
        <p:nvSpPr>
          <p:cNvPr id="9" name="TextBox 8">
            <a:extLst>
              <a:ext uri="{FF2B5EF4-FFF2-40B4-BE49-F238E27FC236}">
                <a16:creationId xmlns:a16="http://schemas.microsoft.com/office/drawing/2014/main" id="{F8599530-624D-5BCF-D0E6-BC86B0E89115}"/>
              </a:ext>
            </a:extLst>
          </p:cNvPr>
          <p:cNvSpPr txBox="1"/>
          <p:nvPr/>
        </p:nvSpPr>
        <p:spPr>
          <a:xfrm>
            <a:off x="2739840" y="7916721"/>
            <a:ext cx="5943600" cy="1077218"/>
          </a:xfrm>
          <a:prstGeom prst="rect">
            <a:avLst/>
          </a:prstGeom>
          <a:noFill/>
        </p:spPr>
        <p:txBody>
          <a:bodyPr wrap="square">
            <a:spAutoFit/>
          </a:bodyPr>
          <a:lstStyle/>
          <a:p>
            <a:pPr>
              <a:defRPr/>
            </a:pPr>
            <a:r>
              <a:rPr lang="de-DE" sz="3200" b="1" dirty="0">
                <a:solidFill>
                  <a:srgbClr val="FFC000"/>
                </a:solidFill>
              </a:rPr>
              <a:t>Part B - Implementation and evaluation of a project</a:t>
            </a:r>
            <a:endParaRPr lang="en-GB" sz="3200" dirty="0"/>
          </a:p>
        </p:txBody>
      </p:sp>
      <p:sp>
        <p:nvSpPr>
          <p:cNvPr id="5" name="TextBox 4">
            <a:extLst>
              <a:ext uri="{FF2B5EF4-FFF2-40B4-BE49-F238E27FC236}">
                <a16:creationId xmlns:a16="http://schemas.microsoft.com/office/drawing/2014/main" id="{D4C8F99B-DBDA-ECC2-F984-0C15A022FB71}"/>
              </a:ext>
            </a:extLst>
          </p:cNvPr>
          <p:cNvSpPr txBox="1"/>
          <p:nvPr/>
        </p:nvSpPr>
        <p:spPr>
          <a:xfrm>
            <a:off x="12743075" y="5998818"/>
            <a:ext cx="3352800" cy="313350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252000" tIns="180000" rIns="324000" bIns="180000" rtlCol="0">
            <a:spAutoFit/>
          </a:bodyPr>
          <a:lstStyle/>
          <a:p>
            <a:r>
              <a:rPr lang="de-DE" sz="2000" dirty="0">
                <a:solidFill>
                  <a:schemeClr val="tx1">
                    <a:lumMod val="85000"/>
                    <a:lumOff val="15000"/>
                  </a:schemeClr>
                </a:solidFill>
              </a:rPr>
              <a:t>Detailed information on the responsibility module can be found in the video and presentation impulses in the </a:t>
            </a:r>
            <a:r>
              <a:rPr lang="de-DE" sz="2000" dirty="0" err="1">
                <a:solidFill>
                  <a:schemeClr val="tx1">
                    <a:lumMod val="85000"/>
                    <a:lumOff val="15000"/>
                  </a:schemeClr>
                </a:solidFill>
              </a:rPr>
              <a:t>Moodle </a:t>
            </a:r>
            <a:r>
              <a:rPr lang="de-DE" sz="2000" dirty="0">
                <a:solidFill>
                  <a:schemeClr val="tx1">
                    <a:lumMod val="85000"/>
                    <a:lumOff val="15000"/>
                  </a:schemeClr>
                </a:solidFill>
              </a:rPr>
              <a:t>course under Excursus: "The project work in the </a:t>
            </a:r>
          </a:p>
          <a:p>
            <a:r>
              <a:rPr lang="de-DE" sz="2000" dirty="0">
                <a:solidFill>
                  <a:schemeClr val="tx1">
                    <a:lumMod val="85000"/>
                    <a:lumOff val="15000"/>
                  </a:schemeClr>
                </a:solidFill>
              </a:rPr>
              <a:t>module".</a:t>
            </a:r>
          </a:p>
        </p:txBody>
      </p:sp>
    </p:spTree>
    <p:extLst>
      <p:ext uri="{BB962C8B-B14F-4D97-AF65-F5344CB8AC3E}">
        <p14:creationId xmlns:p14="http://schemas.microsoft.com/office/powerpoint/2010/main" val="212709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Steps of the project work</a:t>
            </a:r>
          </a:p>
        </p:txBody>
      </p:sp>
      <p:sp>
        <p:nvSpPr>
          <p:cNvPr id="3" name="Textplatzhalter 2"/>
          <p:cNvSpPr>
            <a:spLocks noGrp="1"/>
          </p:cNvSpPr>
          <p:nvPr>
            <p:ph type="body" idx="1"/>
          </p:nvPr>
        </p:nvSpPr>
        <p:spPr bwMode="auto">
          <a:xfrm>
            <a:off x="1727781" y="2612217"/>
            <a:ext cx="7052362" cy="1235075"/>
          </a:xfrm>
        </p:spPr>
        <p:txBody>
          <a:bodyPr>
            <a:normAutofit/>
          </a:bodyPr>
          <a:lstStyle/>
          <a:p>
            <a:pPr>
              <a:defRPr/>
            </a:pPr>
            <a:r>
              <a:rPr lang="en-GB" sz="2800" b="1" dirty="0" err="1">
                <a:solidFill>
                  <a:srgbClr val="83B0B3"/>
                </a:solidFill>
              </a:rPr>
              <a:t>Step </a:t>
            </a:r>
            <a:r>
              <a:rPr lang="en-GB" sz="2800" b="1" dirty="0">
                <a:solidFill>
                  <a:srgbClr val="83B0B3"/>
                </a:solidFill>
              </a:rPr>
              <a:t>1 - </a:t>
            </a:r>
            <a:r>
              <a:rPr lang="en-GB" sz="2800" b="1" dirty="0" err="1">
                <a:solidFill>
                  <a:srgbClr val="83B0B3"/>
                </a:solidFill>
              </a:rPr>
              <a:t>Get a </a:t>
            </a:r>
            <a:r>
              <a:rPr lang="en-GB" sz="2800" b="1" dirty="0">
                <a:solidFill>
                  <a:srgbClr val="83B0B3"/>
                </a:solidFill>
              </a:rPr>
              <a:t>picture</a:t>
            </a:r>
          </a:p>
          <a:p>
            <a:pPr>
              <a:defRPr/>
            </a:pPr>
            <a:endParaRPr lang="de-DE" sz="2800" dirty="0"/>
          </a:p>
        </p:txBody>
      </p:sp>
      <p:sp>
        <p:nvSpPr>
          <p:cNvPr id="4" name="Inhaltsplatzhalter 3"/>
          <p:cNvSpPr>
            <a:spLocks noGrp="1"/>
          </p:cNvSpPr>
          <p:nvPr>
            <p:ph sz="half" idx="2"/>
          </p:nvPr>
        </p:nvSpPr>
        <p:spPr bwMode="auto">
          <a:xfrm>
            <a:off x="1944000" y="3487474"/>
            <a:ext cx="7052362" cy="2952236"/>
          </a:xfrm>
        </p:spPr>
        <p:txBody>
          <a:bodyPr>
            <a:normAutofit fontScale="92500"/>
          </a:bodyPr>
          <a:lstStyle/>
          <a:p>
            <a:pPr marL="285750" indent="-285750" algn="just">
              <a:lnSpc>
                <a:spcPct val="150000"/>
              </a:lnSpc>
              <a:buFont typeface="Arial"/>
              <a:buChar char="•"/>
              <a:defRPr/>
            </a:pPr>
            <a:r>
              <a:rPr lang="de-DE" sz="2600" dirty="0"/>
              <a:t>Literature research, personal interests and current academic </a:t>
            </a:r>
            <a:r>
              <a:rPr lang="de-DE" sz="2600" dirty="0" err="1"/>
              <a:t>discussions</a:t>
            </a:r>
            <a:r>
              <a:rPr lang="de-DE" sz="2600" dirty="0"/>
              <a:t>.</a:t>
            </a:r>
          </a:p>
          <a:p>
            <a:pPr marL="285750" indent="-285750" algn="just">
              <a:lnSpc>
                <a:spcPct val="150000"/>
              </a:lnSpc>
              <a:buFont typeface="Arial"/>
              <a:buChar char="•"/>
              <a:defRPr/>
            </a:pPr>
            <a:r>
              <a:rPr lang="de-DE" sz="2600" dirty="0" err="1"/>
              <a:t>Mind</a:t>
            </a:r>
            <a:r>
              <a:rPr lang="de-DE" sz="2600" dirty="0"/>
              <a:t> </a:t>
            </a:r>
            <a:r>
              <a:rPr lang="de-DE" sz="2600" dirty="0" err="1"/>
              <a:t>maps</a:t>
            </a:r>
            <a:r>
              <a:rPr lang="de-DE" sz="2600" dirty="0"/>
              <a:t> or other visualization strategies can help to identify connections between different topics. </a:t>
            </a:r>
          </a:p>
        </p:txBody>
      </p:sp>
      <p:sp>
        <p:nvSpPr>
          <p:cNvPr id="5" name="Textplatzhalter 4"/>
          <p:cNvSpPr>
            <a:spLocks noGrp="1"/>
          </p:cNvSpPr>
          <p:nvPr>
            <p:ph type="body" sz="quarter" idx="3"/>
          </p:nvPr>
        </p:nvSpPr>
        <p:spPr bwMode="auto">
          <a:xfrm>
            <a:off x="9614079" y="2663223"/>
            <a:ext cx="7085700" cy="1235075"/>
          </a:xfrm>
        </p:spPr>
        <p:txBody>
          <a:bodyPr>
            <a:normAutofit/>
          </a:bodyPr>
          <a:lstStyle/>
          <a:p>
            <a:pPr>
              <a:defRPr/>
            </a:pPr>
            <a:r>
              <a:rPr lang="en-GB" sz="2800" b="1" dirty="0">
                <a:solidFill>
                  <a:srgbClr val="F6C782"/>
                </a:solidFill>
              </a:rPr>
              <a:t>Step 3: Thesis and hypothesis </a:t>
            </a:r>
            <a:endParaRPr lang="en-GB" sz="2800" dirty="0"/>
          </a:p>
          <a:p>
            <a:pPr>
              <a:defRPr/>
            </a:pPr>
            <a:endParaRPr lang="de-DE" sz="2800" dirty="0"/>
          </a:p>
        </p:txBody>
      </p:sp>
      <p:sp>
        <p:nvSpPr>
          <p:cNvPr id="6" name="Inhaltsplatzhalter 5"/>
          <p:cNvSpPr>
            <a:spLocks noGrp="1"/>
          </p:cNvSpPr>
          <p:nvPr>
            <p:ph sz="quarter" idx="4"/>
          </p:nvPr>
        </p:nvSpPr>
        <p:spPr bwMode="auto">
          <a:xfrm>
            <a:off x="9538339" y="3610071"/>
            <a:ext cx="7085700" cy="3214687"/>
          </a:xfrm>
        </p:spPr>
        <p:txBody>
          <a:bodyPr>
            <a:normAutofit fontScale="92500"/>
          </a:bodyPr>
          <a:lstStyle/>
          <a:p>
            <a:pPr marL="285750" indent="-285750" algn="just">
              <a:lnSpc>
                <a:spcPct val="150000"/>
              </a:lnSpc>
              <a:spcAft>
                <a:spcPts val="600"/>
              </a:spcAft>
              <a:buFont typeface="Arial"/>
              <a:buChar char="•"/>
              <a:defRPr/>
            </a:pPr>
            <a:r>
              <a:rPr lang="de-DE" sz="2600" dirty="0"/>
              <a:t>After reviewing the literature, one will develop an assumption about the direction of the answer to the research question (Michelsen et al., 2018). </a:t>
            </a:r>
          </a:p>
          <a:p>
            <a:pPr marL="285750" indent="-285750" algn="just">
              <a:lnSpc>
                <a:spcPct val="150000"/>
              </a:lnSpc>
              <a:spcAft>
                <a:spcPts val="600"/>
              </a:spcAft>
              <a:buFont typeface="Arial"/>
              <a:buChar char="•"/>
              <a:defRPr/>
            </a:pPr>
            <a:r>
              <a:rPr lang="de-DE" sz="2600" dirty="0"/>
              <a:t>One possibility now is to develop hypotheses that you will try out </a:t>
            </a:r>
            <a:r>
              <a:rPr lang="de-DE" sz="2600" dirty="0" err="1"/>
              <a:t>during</a:t>
            </a:r>
            <a:r>
              <a:rPr lang="de-DE" sz="2600" dirty="0"/>
              <a:t> your project.</a:t>
            </a:r>
          </a:p>
          <a:p>
            <a:pPr>
              <a:lnSpc>
                <a:spcPct val="150000"/>
              </a:lnSpc>
              <a:defRPr/>
            </a:pPr>
            <a:endParaRPr lang="de-DE" sz="2600" dirty="0"/>
          </a:p>
        </p:txBody>
      </p:sp>
      <p:sp>
        <p:nvSpPr>
          <p:cNvPr id="10" name="TextBox 9">
            <a:extLst>
              <a:ext uri="{FF2B5EF4-FFF2-40B4-BE49-F238E27FC236}">
                <a16:creationId xmlns:a16="http://schemas.microsoft.com/office/drawing/2014/main" id="{F12BCB6B-228D-114E-4FEA-417217947048}"/>
              </a:ext>
            </a:extLst>
          </p:cNvPr>
          <p:cNvSpPr txBox="1"/>
          <p:nvPr/>
        </p:nvSpPr>
        <p:spPr>
          <a:xfrm>
            <a:off x="1686415" y="7341562"/>
            <a:ext cx="8398219" cy="523220"/>
          </a:xfrm>
          <a:prstGeom prst="rect">
            <a:avLst/>
          </a:prstGeom>
          <a:noFill/>
        </p:spPr>
        <p:txBody>
          <a:bodyPr wrap="square">
            <a:spAutoFit/>
          </a:bodyPr>
          <a:lstStyle/>
          <a:p>
            <a:pPr>
              <a:defRPr/>
            </a:pPr>
            <a:r>
              <a:rPr lang="en-GB" sz="2800" b="1" dirty="0">
                <a:solidFill>
                  <a:schemeClr val="tx2"/>
                </a:solidFill>
              </a:rPr>
              <a:t>Step 2: From the idea </a:t>
            </a:r>
            <a:r>
              <a:rPr lang="en-GB" sz="2800" b="1" dirty="0" err="1">
                <a:solidFill>
                  <a:schemeClr val="tx2"/>
                </a:solidFill>
              </a:rPr>
              <a:t>to the research question</a:t>
            </a:r>
            <a:endParaRPr lang="en-GB" sz="2800" b="1" dirty="0">
              <a:solidFill>
                <a:schemeClr val="tx2"/>
              </a:solidFill>
            </a:endParaRPr>
          </a:p>
        </p:txBody>
      </p:sp>
      <p:sp>
        <p:nvSpPr>
          <p:cNvPr id="12" name="TextBox 11">
            <a:extLst>
              <a:ext uri="{FF2B5EF4-FFF2-40B4-BE49-F238E27FC236}">
                <a16:creationId xmlns:a16="http://schemas.microsoft.com/office/drawing/2014/main" id="{7C765A04-C7E9-5920-9632-31A5A19087AC}"/>
              </a:ext>
            </a:extLst>
          </p:cNvPr>
          <p:cNvSpPr txBox="1"/>
          <p:nvPr/>
        </p:nvSpPr>
        <p:spPr>
          <a:xfrm>
            <a:off x="2028318" y="7943186"/>
            <a:ext cx="9020682" cy="618311"/>
          </a:xfrm>
          <a:prstGeom prst="rect">
            <a:avLst/>
          </a:prstGeom>
          <a:noFill/>
        </p:spPr>
        <p:txBody>
          <a:bodyPr wrap="square">
            <a:spAutoFit/>
          </a:bodyPr>
          <a:lstStyle/>
          <a:p>
            <a:pPr marL="285750" indent="-285750">
              <a:lnSpc>
                <a:spcPct val="150000"/>
              </a:lnSpc>
              <a:buFont typeface="Arial"/>
              <a:buChar char="•"/>
              <a:defRPr/>
            </a:pPr>
            <a:r>
              <a:rPr lang="de-DE" sz="2600" dirty="0"/>
              <a:t>The review research question is at the heart of the project. </a:t>
            </a:r>
            <a:endParaRPr lang="en-GB" sz="2600" dirty="0"/>
          </a:p>
        </p:txBody>
      </p:sp>
      <p:pic>
        <p:nvPicPr>
          <p:cNvPr id="7" name="Picture 6" descr="Icon&#10;&#10;Description automatically generated">
            <a:extLst>
              <a:ext uri="{FF2B5EF4-FFF2-40B4-BE49-F238E27FC236}">
                <a16:creationId xmlns:a16="http://schemas.microsoft.com/office/drawing/2014/main" id="{11EC2696-4B5D-8DD6-969B-16726A028417}"/>
              </a:ext>
            </a:extLst>
          </p:cNvPr>
          <p:cNvPicPr>
            <a:picLocks noChangeAspect="1"/>
          </p:cNvPicPr>
          <p:nvPr/>
        </p:nvPicPr>
        <p:blipFill>
          <a:blip r:embed="rId3"/>
          <a:stretch/>
        </p:blipFill>
        <p:spPr bwMode="auto">
          <a:xfrm>
            <a:off x="381000" y="250894"/>
            <a:ext cx="2179734" cy="1759077"/>
          </a:xfrm>
          <a:prstGeom prst="rect">
            <a:avLst/>
          </a:prstGeom>
        </p:spPr>
      </p:pic>
      <p:sp>
        <p:nvSpPr>
          <p:cNvPr id="9" name="TextBox 8">
            <a:extLst>
              <a:ext uri="{FF2B5EF4-FFF2-40B4-BE49-F238E27FC236}">
                <a16:creationId xmlns:a16="http://schemas.microsoft.com/office/drawing/2014/main" id="{3574A726-F563-C170-7807-538309A7BE2C}"/>
              </a:ext>
            </a:extLst>
          </p:cNvPr>
          <p:cNvSpPr txBox="1"/>
          <p:nvPr/>
        </p:nvSpPr>
        <p:spPr>
          <a:xfrm>
            <a:off x="537867" y="508444"/>
            <a:ext cx="1866000" cy="1077218"/>
          </a:xfrm>
          <a:prstGeom prst="rect">
            <a:avLst/>
          </a:prstGeom>
          <a:noFill/>
        </p:spPr>
        <p:txBody>
          <a:bodyPr wrap="square">
            <a:spAutoFit/>
          </a:bodyPr>
          <a:lstStyle/>
          <a:p>
            <a:pPr>
              <a:defRPr/>
            </a:pPr>
            <a:r>
              <a:rPr lang="de-DE" sz="1600" b="1" dirty="0"/>
              <a:t>You can use </a:t>
            </a:r>
            <a:r>
              <a:rPr lang="de-DE" sz="1600" b="1" u="sng" dirty="0">
                <a:solidFill>
                  <a:schemeClr val="tx2"/>
                </a:solidFill>
                <a:hlinkClick r:id="rId4" tooltip="https://mural.co/?utm_medium=paid-search&amp;utm_source=adwords&amp;utm_campaign=201101-Core_Brand&amp;utm_adgroup=MURAL_-_Branded&amp;utm_campaign_id=11265145092&amp;utm_content=mural&amp;utm_adgroupid=109231331743&amp;gclid=Cj0KCQjwmdGYBhDRARIsABmSEeM-cSXH5EQ7wkbuaw1-qU-JawKzmjmu1XYOpbJ3ArcWNSdhg9dgs6saAn-iEALw_wcB">
                  <a:extLst>
                    <a:ext uri="{A12FA001-AC4F-418D-AE19-62706E023703}">
                      <ahyp:hlinkClr xmlns:ahyp="http://schemas.microsoft.com/office/drawing/2018/hyperlinkcolor" val="tx"/>
                    </a:ext>
                  </a:extLst>
                </a:hlinkClick>
              </a:rPr>
              <a:t>MURAL </a:t>
            </a:r>
            <a:r>
              <a:rPr lang="de-DE" sz="1600" b="1" dirty="0"/>
              <a:t>to create mind maps online!</a:t>
            </a:r>
            <a:endParaRPr lang="en-GB" sz="1600" b="1" dirty="0"/>
          </a:p>
        </p:txBody>
      </p:sp>
      <p:pic>
        <p:nvPicPr>
          <p:cNvPr id="16" name="Picture 15" descr="Icon&#10;&#10;Description automatically generated">
            <a:extLst>
              <a:ext uri="{FF2B5EF4-FFF2-40B4-BE49-F238E27FC236}">
                <a16:creationId xmlns:a16="http://schemas.microsoft.com/office/drawing/2014/main" id="{4BA0231D-36FF-2D09-E2F2-2DCBFDF4EAD0}"/>
              </a:ext>
            </a:extLst>
          </p:cNvPr>
          <p:cNvPicPr>
            <a:picLocks noChangeAspect="1"/>
          </p:cNvPicPr>
          <p:nvPr/>
        </p:nvPicPr>
        <p:blipFill>
          <a:blip r:embed="rId3"/>
          <a:stretch/>
        </p:blipFill>
        <p:spPr bwMode="auto">
          <a:xfrm>
            <a:off x="12149035" y="7525384"/>
            <a:ext cx="2827732" cy="2379433"/>
          </a:xfrm>
          <a:prstGeom prst="rect">
            <a:avLst/>
          </a:prstGeom>
        </p:spPr>
      </p:pic>
      <p:sp>
        <p:nvSpPr>
          <p:cNvPr id="15" name="TextBox 14">
            <a:extLst>
              <a:ext uri="{FF2B5EF4-FFF2-40B4-BE49-F238E27FC236}">
                <a16:creationId xmlns:a16="http://schemas.microsoft.com/office/drawing/2014/main" id="{5555090B-A493-0BF3-BDF0-0BA5D03E0892}"/>
              </a:ext>
            </a:extLst>
          </p:cNvPr>
          <p:cNvSpPr txBox="1"/>
          <p:nvPr/>
        </p:nvSpPr>
        <p:spPr>
          <a:xfrm>
            <a:off x="12129441" y="7603172"/>
            <a:ext cx="2847326" cy="1869743"/>
          </a:xfrm>
          <a:prstGeom prst="rect">
            <a:avLst/>
          </a:prstGeom>
          <a:noFill/>
        </p:spPr>
        <p:txBody>
          <a:bodyPr wrap="square">
            <a:spAutoFit/>
          </a:bodyPr>
          <a:lstStyle/>
          <a:p>
            <a:pPr>
              <a:defRPr/>
            </a:pPr>
            <a:r>
              <a:rPr lang="en-US" sz="1650" b="1" noProof="0"/>
              <a:t>Further tips on </a:t>
            </a:r>
            <a:br>
              <a:rPr lang="en-US" sz="1650" b="1" noProof="0"/>
            </a:br>
            <a:r>
              <a:rPr lang="en-US" sz="1650" b="1" noProof="0"/>
              <a:t>formulating your </a:t>
            </a:r>
          </a:p>
          <a:p>
            <a:pPr>
              <a:defRPr/>
            </a:pPr>
            <a:r>
              <a:rPr lang="en-US" sz="1650" b="1" noProof="0" dirty="0"/>
              <a:t>research question can be found in the </a:t>
            </a:r>
            <a:r>
              <a:rPr lang="en-US" sz="1650" b="1" noProof="0" dirty="0">
                <a:solidFill>
                  <a:srgbClr val="7C0E31"/>
                </a:solidFill>
              </a:rPr>
              <a:t>"Guidelines for project work in the Responsibility module" </a:t>
            </a:r>
          </a:p>
          <a:p>
            <a:pPr>
              <a:defRPr/>
            </a:pPr>
            <a:r>
              <a:rPr lang="en-US" sz="1650" b="1" noProof="0" dirty="0">
                <a:solidFill>
                  <a:schemeClr val="tx1">
                    <a:lumMod val="95000"/>
                    <a:lumOff val="5000"/>
                  </a:schemeClr>
                </a:solidFill>
              </a:rPr>
              <a:t>at Moodle.</a:t>
            </a:r>
            <a:endParaRPr lang="en-US" sz="1650" noProof="0" dirty="0">
              <a:solidFill>
                <a:schemeClr val="tx1">
                  <a:lumMod val="95000"/>
                  <a:lumOff val="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C396AA3-80CE-D25D-A4F8-7EBCA65AF89D}"/>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0B123B86-B90A-9DBC-268F-52215F19FE07}"/>
              </a:ext>
            </a:extLst>
          </p:cNvPr>
          <p:cNvSpPr>
            <a:spLocks noGrp="1"/>
          </p:cNvSpPr>
          <p:nvPr>
            <p:ph type="title"/>
          </p:nvPr>
        </p:nvSpPr>
        <p:spPr bwMode="auto"/>
        <p:txBody>
          <a:bodyPr/>
          <a:lstStyle/>
          <a:p>
            <a:pPr>
              <a:defRPr/>
            </a:pPr>
            <a:r>
              <a:rPr lang="de-DE" dirty="0"/>
              <a:t>Steps of the project work</a:t>
            </a:r>
          </a:p>
        </p:txBody>
      </p:sp>
      <p:sp>
        <p:nvSpPr>
          <p:cNvPr id="3" name="Textplatzhalter 2">
            <a:extLst>
              <a:ext uri="{FF2B5EF4-FFF2-40B4-BE49-F238E27FC236}">
                <a16:creationId xmlns:a16="http://schemas.microsoft.com/office/drawing/2014/main" id="{268ED447-9B10-F66B-4C86-245B43103AB7}"/>
              </a:ext>
            </a:extLst>
          </p:cNvPr>
          <p:cNvSpPr>
            <a:spLocks noGrp="1"/>
          </p:cNvSpPr>
          <p:nvPr>
            <p:ph type="body" idx="1"/>
          </p:nvPr>
        </p:nvSpPr>
        <p:spPr bwMode="auto">
          <a:xfrm>
            <a:off x="1441977" y="2575335"/>
            <a:ext cx="7052362" cy="620763"/>
          </a:xfrm>
        </p:spPr>
        <p:txBody>
          <a:bodyPr>
            <a:normAutofit/>
          </a:bodyPr>
          <a:lstStyle/>
          <a:p>
            <a:pPr>
              <a:defRPr/>
            </a:pPr>
            <a:r>
              <a:rPr lang="en-GB" sz="2800" b="1" dirty="0">
                <a:solidFill>
                  <a:srgbClr val="83B0B3"/>
                </a:solidFill>
              </a:rPr>
              <a:t>Step 4: </a:t>
            </a:r>
            <a:r>
              <a:rPr lang="en-GB" sz="2800" b="1" dirty="0" err="1">
                <a:solidFill>
                  <a:srgbClr val="83B0B3"/>
                </a:solidFill>
              </a:rPr>
              <a:t>Methods </a:t>
            </a:r>
            <a:r>
              <a:rPr lang="en-GB" sz="2800" b="1" dirty="0">
                <a:solidFill>
                  <a:srgbClr val="83B0B3"/>
                </a:solidFill>
              </a:rPr>
              <a:t>and </a:t>
            </a:r>
            <a:r>
              <a:rPr lang="en-GB" sz="2800" b="1" dirty="0" err="1">
                <a:solidFill>
                  <a:srgbClr val="83B0B3"/>
                </a:solidFill>
              </a:rPr>
              <a:t>work plan</a:t>
            </a:r>
            <a:endParaRPr lang="en-GB" sz="2800" b="1" dirty="0">
              <a:solidFill>
                <a:srgbClr val="83B0B3"/>
              </a:solidFill>
            </a:endParaRPr>
          </a:p>
        </p:txBody>
      </p:sp>
      <p:sp>
        <p:nvSpPr>
          <p:cNvPr id="4" name="Inhaltsplatzhalter 3">
            <a:extLst>
              <a:ext uri="{FF2B5EF4-FFF2-40B4-BE49-F238E27FC236}">
                <a16:creationId xmlns:a16="http://schemas.microsoft.com/office/drawing/2014/main" id="{9B1E0020-21DB-CF43-E468-3B8C129A556E}"/>
              </a:ext>
            </a:extLst>
          </p:cNvPr>
          <p:cNvSpPr>
            <a:spLocks noGrp="1"/>
          </p:cNvSpPr>
          <p:nvPr>
            <p:ph sz="half" idx="2"/>
          </p:nvPr>
        </p:nvSpPr>
        <p:spPr bwMode="auto">
          <a:xfrm>
            <a:off x="1633541" y="3261273"/>
            <a:ext cx="5980800" cy="3371530"/>
          </a:xfrm>
        </p:spPr>
        <p:txBody>
          <a:bodyPr>
            <a:noAutofit/>
          </a:bodyPr>
          <a:lstStyle/>
          <a:p>
            <a:pPr marL="285750" indent="-285750" algn="just">
              <a:lnSpc>
                <a:spcPct val="150000"/>
              </a:lnSpc>
              <a:buFont typeface="Arial"/>
              <a:buChar char="•"/>
              <a:defRPr/>
            </a:pPr>
            <a:r>
              <a:rPr lang="de-DE" sz="2600" dirty="0"/>
              <a:t>In this phase, a research design is to be developed that takes into account the organizational, temporal and contextual requirements (Michelsen et al., 2018).</a:t>
            </a:r>
            <a:endParaRPr lang="en-GB" sz="2600" dirty="0"/>
          </a:p>
        </p:txBody>
      </p:sp>
      <p:sp>
        <p:nvSpPr>
          <p:cNvPr id="5" name="Textplatzhalter 4">
            <a:extLst>
              <a:ext uri="{FF2B5EF4-FFF2-40B4-BE49-F238E27FC236}">
                <a16:creationId xmlns:a16="http://schemas.microsoft.com/office/drawing/2014/main" id="{E718FE08-B583-72B3-CF6A-F4DD5C242C7C}"/>
              </a:ext>
            </a:extLst>
          </p:cNvPr>
          <p:cNvSpPr>
            <a:spLocks noGrp="1"/>
          </p:cNvSpPr>
          <p:nvPr>
            <p:ph type="body" sz="quarter" idx="3"/>
          </p:nvPr>
        </p:nvSpPr>
        <p:spPr bwMode="auto">
          <a:xfrm>
            <a:off x="9443791" y="2640510"/>
            <a:ext cx="7085700" cy="620763"/>
          </a:xfrm>
        </p:spPr>
        <p:txBody>
          <a:bodyPr>
            <a:normAutofit/>
          </a:bodyPr>
          <a:lstStyle/>
          <a:p>
            <a:pPr>
              <a:defRPr/>
            </a:pPr>
            <a:r>
              <a:rPr lang="en-GB" sz="2800" b="1" dirty="0">
                <a:solidFill>
                  <a:srgbClr val="7E0D31"/>
                </a:solidFill>
              </a:rPr>
              <a:t>Step 6: </a:t>
            </a:r>
            <a:r>
              <a:rPr lang="en-GB" sz="2800" b="1" dirty="0" err="1">
                <a:solidFill>
                  <a:srgbClr val="7E0D31"/>
                </a:solidFill>
              </a:rPr>
              <a:t>Present </a:t>
            </a:r>
            <a:r>
              <a:rPr lang="en-GB" sz="2800" b="1" dirty="0">
                <a:solidFill>
                  <a:srgbClr val="7E0D31"/>
                </a:solidFill>
              </a:rPr>
              <a:t>and </a:t>
            </a:r>
            <a:r>
              <a:rPr lang="en-GB" sz="2800" b="1" dirty="0" err="1">
                <a:solidFill>
                  <a:srgbClr val="7E0D31"/>
                </a:solidFill>
              </a:rPr>
              <a:t>interpret results</a:t>
            </a:r>
            <a:endParaRPr lang="en-GB" sz="2800" b="1" dirty="0">
              <a:solidFill>
                <a:srgbClr val="7E0D31"/>
              </a:solidFill>
            </a:endParaRPr>
          </a:p>
        </p:txBody>
      </p:sp>
      <p:sp>
        <p:nvSpPr>
          <p:cNvPr id="6" name="Inhaltsplatzhalter 5">
            <a:extLst>
              <a:ext uri="{FF2B5EF4-FFF2-40B4-BE49-F238E27FC236}">
                <a16:creationId xmlns:a16="http://schemas.microsoft.com/office/drawing/2014/main" id="{BAA2CDAF-22FB-4402-6C9B-46FF277CD2A2}"/>
              </a:ext>
            </a:extLst>
          </p:cNvPr>
          <p:cNvSpPr>
            <a:spLocks noGrp="1"/>
          </p:cNvSpPr>
          <p:nvPr>
            <p:ph sz="quarter" idx="4"/>
          </p:nvPr>
        </p:nvSpPr>
        <p:spPr bwMode="auto">
          <a:xfrm>
            <a:off x="9586176" y="3339694"/>
            <a:ext cx="5980800" cy="3214687"/>
          </a:xfrm>
        </p:spPr>
        <p:txBody>
          <a:bodyPr>
            <a:normAutofit/>
          </a:bodyPr>
          <a:lstStyle/>
          <a:p>
            <a:pPr marL="285750" indent="-285750">
              <a:lnSpc>
                <a:spcPct val="150000"/>
              </a:lnSpc>
              <a:buFont typeface="Arial"/>
              <a:buChar char="•"/>
              <a:defRPr/>
            </a:pPr>
            <a:r>
              <a:rPr lang="de-DE" sz="2600" dirty="0"/>
              <a:t>Once you have your results, you need to sort them in a way that makes sense for the investigation. </a:t>
            </a:r>
          </a:p>
        </p:txBody>
      </p:sp>
      <p:sp>
        <p:nvSpPr>
          <p:cNvPr id="10" name="TextBox 9">
            <a:extLst>
              <a:ext uri="{FF2B5EF4-FFF2-40B4-BE49-F238E27FC236}">
                <a16:creationId xmlns:a16="http://schemas.microsoft.com/office/drawing/2014/main" id="{FB3F203C-E397-C9FE-7257-92BBC10804B2}"/>
              </a:ext>
            </a:extLst>
          </p:cNvPr>
          <p:cNvSpPr txBox="1"/>
          <p:nvPr/>
        </p:nvSpPr>
        <p:spPr>
          <a:xfrm>
            <a:off x="1633541" y="6838690"/>
            <a:ext cx="7052362" cy="523220"/>
          </a:xfrm>
          <a:prstGeom prst="rect">
            <a:avLst/>
          </a:prstGeom>
          <a:noFill/>
        </p:spPr>
        <p:txBody>
          <a:bodyPr wrap="square">
            <a:spAutoFit/>
          </a:bodyPr>
          <a:lstStyle/>
          <a:p>
            <a:pPr>
              <a:defRPr/>
            </a:pPr>
            <a:r>
              <a:rPr lang="en-GB" sz="2800" b="1" dirty="0">
                <a:solidFill>
                  <a:srgbClr val="FFC000"/>
                </a:solidFill>
              </a:rPr>
              <a:t>Step 5: </a:t>
            </a:r>
            <a:r>
              <a:rPr lang="de-DE" sz="2800" b="1" dirty="0" err="1">
                <a:solidFill>
                  <a:srgbClr val="FFC000"/>
                </a:solidFill>
              </a:rPr>
              <a:t>Carrying out </a:t>
            </a:r>
            <a:r>
              <a:rPr lang="de-DE" sz="2800" b="1" dirty="0">
                <a:solidFill>
                  <a:srgbClr val="FFC000"/>
                </a:solidFill>
              </a:rPr>
              <a:t>the examination</a:t>
            </a:r>
            <a:endParaRPr lang="en-GB" sz="2800" b="1" dirty="0">
              <a:solidFill>
                <a:srgbClr val="FFC000"/>
              </a:solidFill>
            </a:endParaRPr>
          </a:p>
        </p:txBody>
      </p:sp>
      <p:sp>
        <p:nvSpPr>
          <p:cNvPr id="12" name="TextBox 11">
            <a:extLst>
              <a:ext uri="{FF2B5EF4-FFF2-40B4-BE49-F238E27FC236}">
                <a16:creationId xmlns:a16="http://schemas.microsoft.com/office/drawing/2014/main" id="{238534A7-F645-BCD0-60AB-AFF5EB5CA035}"/>
              </a:ext>
            </a:extLst>
          </p:cNvPr>
          <p:cNvSpPr txBox="1"/>
          <p:nvPr/>
        </p:nvSpPr>
        <p:spPr>
          <a:xfrm>
            <a:off x="1633541" y="7299733"/>
            <a:ext cx="5980800" cy="1261820"/>
          </a:xfrm>
          <a:prstGeom prst="rect">
            <a:avLst/>
          </a:prstGeom>
          <a:noFill/>
        </p:spPr>
        <p:txBody>
          <a:bodyPr wrap="square">
            <a:spAutoFit/>
          </a:bodyPr>
          <a:lstStyle/>
          <a:p>
            <a:pPr marL="457200" indent="-457200">
              <a:lnSpc>
                <a:spcPct val="150000"/>
              </a:lnSpc>
              <a:buFont typeface="Arial" panose="020B0604020202020204" pitchFamily="34" charset="0"/>
              <a:buChar char="•"/>
              <a:defRPr/>
            </a:pPr>
            <a:r>
              <a:rPr lang="de-DE" sz="2600" dirty="0" err="1"/>
              <a:t>It</a:t>
            </a:r>
            <a:r>
              <a:rPr lang="de-DE" sz="2600" dirty="0"/>
              <a:t> is important to support the validity and reliability of your work. </a:t>
            </a:r>
            <a:endParaRPr lang="en-GB" sz="2600" dirty="0"/>
          </a:p>
        </p:txBody>
      </p:sp>
      <p:sp>
        <p:nvSpPr>
          <p:cNvPr id="8" name="TextBox 7">
            <a:extLst>
              <a:ext uri="{FF2B5EF4-FFF2-40B4-BE49-F238E27FC236}">
                <a16:creationId xmlns:a16="http://schemas.microsoft.com/office/drawing/2014/main" id="{7A04C0FD-A089-F626-C844-812D3836D1C9}"/>
              </a:ext>
            </a:extLst>
          </p:cNvPr>
          <p:cNvSpPr txBox="1"/>
          <p:nvPr/>
        </p:nvSpPr>
        <p:spPr>
          <a:xfrm>
            <a:off x="9474271" y="6456376"/>
            <a:ext cx="7486198" cy="954107"/>
          </a:xfrm>
          <a:prstGeom prst="rect">
            <a:avLst/>
          </a:prstGeom>
          <a:noFill/>
        </p:spPr>
        <p:txBody>
          <a:bodyPr wrap="square">
            <a:spAutoFit/>
          </a:bodyPr>
          <a:lstStyle/>
          <a:p>
            <a:pPr>
              <a:defRPr/>
            </a:pPr>
            <a:r>
              <a:rPr lang="de-DE" sz="2800" b="1" dirty="0">
                <a:solidFill>
                  <a:srgbClr val="83B0B3"/>
                </a:solidFill>
              </a:rPr>
              <a:t>Step 7: An answer to the research question and critical reflection.</a:t>
            </a:r>
            <a:endParaRPr lang="de-DE" sz="2800" dirty="0"/>
          </a:p>
        </p:txBody>
      </p:sp>
      <p:sp>
        <p:nvSpPr>
          <p:cNvPr id="11" name="TextBox 10">
            <a:extLst>
              <a:ext uri="{FF2B5EF4-FFF2-40B4-BE49-F238E27FC236}">
                <a16:creationId xmlns:a16="http://schemas.microsoft.com/office/drawing/2014/main" id="{B896AB7B-DCDF-2C84-7D6A-B079C57104B7}"/>
              </a:ext>
            </a:extLst>
          </p:cNvPr>
          <p:cNvSpPr txBox="1"/>
          <p:nvPr/>
        </p:nvSpPr>
        <p:spPr>
          <a:xfrm>
            <a:off x="9707368" y="7410483"/>
            <a:ext cx="5980801" cy="2508315"/>
          </a:xfrm>
          <a:prstGeom prst="rect">
            <a:avLst/>
          </a:prstGeom>
          <a:noFill/>
        </p:spPr>
        <p:txBody>
          <a:bodyPr wrap="square">
            <a:spAutoFit/>
          </a:bodyPr>
          <a:lstStyle/>
          <a:p>
            <a:pPr marL="285750" indent="-285750">
              <a:lnSpc>
                <a:spcPct val="150000"/>
              </a:lnSpc>
              <a:buFont typeface="Arial"/>
              <a:buChar char="•"/>
              <a:defRPr/>
            </a:pPr>
            <a:r>
              <a:rPr lang="de-DE" sz="2600" dirty="0"/>
              <a:t>In this phase, you should summarize your results in a conclusion (Michelsen et al., 2018).</a:t>
            </a:r>
          </a:p>
          <a:p>
            <a:pPr marL="285750" indent="-285750">
              <a:lnSpc>
                <a:spcPct val="150000"/>
              </a:lnSpc>
              <a:buFont typeface="Arial"/>
              <a:buChar char="•"/>
              <a:defRPr/>
            </a:pPr>
            <a:endParaRPr lang="de-DE" sz="2600" dirty="0"/>
          </a:p>
        </p:txBody>
      </p:sp>
    </p:spTree>
    <p:extLst>
      <p:ext uri="{BB962C8B-B14F-4D97-AF65-F5344CB8AC3E}">
        <p14:creationId xmlns:p14="http://schemas.microsoft.com/office/powerpoint/2010/main" val="426726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DFE4934-8221-E02B-32C2-495B48FB64E0}"/>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A5075BE6-22EB-9C10-2CBF-0D9D1B75D6AB}"/>
              </a:ext>
            </a:extLst>
          </p:cNvPr>
          <p:cNvSpPr>
            <a:spLocks noGrp="1"/>
          </p:cNvSpPr>
          <p:nvPr>
            <p:ph type="title"/>
          </p:nvPr>
        </p:nvSpPr>
        <p:spPr bwMode="auto"/>
        <p:txBody>
          <a:bodyPr>
            <a:normAutofit/>
          </a:bodyPr>
          <a:lstStyle/>
          <a:p>
            <a:pPr>
              <a:defRPr/>
            </a:pPr>
            <a:r>
              <a:rPr lang="en-US" dirty="0"/>
              <a:t>Planning a project: Project sketch</a:t>
            </a:r>
            <a:endParaRPr lang="de-DE" dirty="0"/>
          </a:p>
        </p:txBody>
      </p:sp>
      <p:sp>
        <p:nvSpPr>
          <p:cNvPr id="3" name="Inhaltsplatzhalter 2">
            <a:extLst>
              <a:ext uri="{FF2B5EF4-FFF2-40B4-BE49-F238E27FC236}">
                <a16:creationId xmlns:a16="http://schemas.microsoft.com/office/drawing/2014/main" id="{90B0DE71-976F-BD75-6DE8-9F5986CC4808}"/>
              </a:ext>
            </a:extLst>
          </p:cNvPr>
          <p:cNvSpPr>
            <a:spLocks noGrp="1"/>
          </p:cNvSpPr>
          <p:nvPr>
            <p:ph idx="1"/>
          </p:nvPr>
        </p:nvSpPr>
        <p:spPr bwMode="auto"/>
        <p:txBody>
          <a:bodyPr>
            <a:normAutofit fontScale="92500" lnSpcReduction="20000"/>
          </a:bodyPr>
          <a:lstStyle/>
          <a:p>
            <a:pPr marL="285750" indent="-285750">
              <a:lnSpc>
                <a:spcPct val="150000"/>
              </a:lnSpc>
              <a:spcAft>
                <a:spcPts val="1200"/>
              </a:spcAft>
              <a:buFont typeface="Arial"/>
              <a:buChar char="•"/>
              <a:defRPr/>
            </a:pPr>
            <a:r>
              <a:rPr lang="de-DE" sz="3200" dirty="0"/>
              <a:t>The </a:t>
            </a:r>
            <a:r>
              <a:rPr lang="de-DE" sz="3200" dirty="0" err="1"/>
              <a:t>project</a:t>
            </a:r>
            <a:r>
              <a:rPr lang="de-DE" sz="3200" dirty="0"/>
              <a:t> </a:t>
            </a:r>
            <a:r>
              <a:rPr lang="de-DE" sz="3200" dirty="0" err="1"/>
              <a:t>sketch</a:t>
            </a:r>
            <a:r>
              <a:rPr lang="de-DE" sz="3200" dirty="0"/>
              <a:t> summarizes the most important points that should be clarified at the beginning of a scientific project. </a:t>
            </a:r>
          </a:p>
          <a:p>
            <a:pPr marL="285750" indent="-285750">
              <a:lnSpc>
                <a:spcPct val="150000"/>
              </a:lnSpc>
              <a:spcAft>
                <a:spcPts val="1200"/>
              </a:spcAft>
              <a:buFont typeface="Arial"/>
              <a:buChar char="•"/>
              <a:defRPr/>
            </a:pPr>
            <a:r>
              <a:rPr lang="de-DE" sz="3200" dirty="0"/>
              <a:t>It provides an overview of the current status of the project (see: </a:t>
            </a:r>
            <a:r>
              <a:rPr lang="de-DE" sz="3200" dirty="0" err="1"/>
              <a:t>Moodle</a:t>
            </a:r>
            <a:r>
              <a:rPr lang="de-DE" sz="3200" dirty="0"/>
              <a:t> </a:t>
            </a:r>
            <a:r>
              <a:rPr lang="de-DE" sz="3200" dirty="0" err="1"/>
              <a:t>Responsibility</a:t>
            </a:r>
            <a:r>
              <a:rPr lang="de-DE" sz="3200" dirty="0"/>
              <a:t> – Materials for project work):</a:t>
            </a:r>
          </a:p>
          <a:p>
            <a:pPr marL="0" indent="0">
              <a:lnSpc>
                <a:spcPct val="150000"/>
              </a:lnSpc>
              <a:spcAft>
                <a:spcPts val="1200"/>
              </a:spcAft>
              <a:buNone/>
              <a:defRPr/>
            </a:pPr>
            <a:r>
              <a:rPr lang="de-DE" dirty="0"/>
              <a:t>(i) What </a:t>
            </a:r>
            <a:r>
              <a:rPr lang="de-DE" dirty="0" err="1"/>
              <a:t>question</a:t>
            </a:r>
            <a:r>
              <a:rPr lang="de-DE" dirty="0"/>
              <a:t> do </a:t>
            </a:r>
            <a:r>
              <a:rPr lang="de-DE" dirty="0" err="1"/>
              <a:t>you</a:t>
            </a:r>
            <a:r>
              <a:rPr lang="de-DE" dirty="0"/>
              <a:t> want to answer with your project;</a:t>
            </a:r>
            <a:endParaRPr lang="de-DE" sz="3200" dirty="0"/>
          </a:p>
          <a:p>
            <a:pPr marL="0" indent="0">
              <a:lnSpc>
                <a:spcPct val="150000"/>
              </a:lnSpc>
              <a:spcAft>
                <a:spcPts val="1200"/>
              </a:spcAft>
              <a:buNone/>
              <a:defRPr/>
            </a:pPr>
            <a:r>
              <a:rPr lang="de-DE" dirty="0"/>
              <a:t>(ii) How you plan to achieve this goal, how you plan to answer the question(s), and;</a:t>
            </a:r>
            <a:endParaRPr lang="de-DE" sz="3200" dirty="0"/>
          </a:p>
          <a:p>
            <a:pPr marL="0" indent="0">
              <a:lnSpc>
                <a:spcPct val="150000"/>
              </a:lnSpc>
              <a:spcAft>
                <a:spcPts val="1200"/>
              </a:spcAft>
              <a:buNone/>
              <a:defRPr/>
            </a:pPr>
            <a:r>
              <a:rPr lang="de-DE" dirty="0"/>
              <a:t>(iii) What concrete </a:t>
            </a:r>
            <a:r>
              <a:rPr lang="de-DE" dirty="0" err="1"/>
              <a:t>results</a:t>
            </a:r>
            <a:r>
              <a:rPr lang="de-DE" dirty="0"/>
              <a:t> do </a:t>
            </a:r>
            <a:r>
              <a:rPr lang="de-DE" dirty="0" err="1"/>
              <a:t>you</a:t>
            </a:r>
            <a:r>
              <a:rPr lang="de-DE" dirty="0"/>
              <a:t> expect </a:t>
            </a:r>
            <a:r>
              <a:rPr lang="de-DE" dirty="0" err="1"/>
              <a:t>to</a:t>
            </a:r>
            <a:r>
              <a:rPr lang="de-DE" dirty="0"/>
              <a:t> </a:t>
            </a:r>
            <a:r>
              <a:rPr lang="de-DE" dirty="0" err="1"/>
              <a:t>achieve</a:t>
            </a:r>
            <a:r>
              <a:rPr lang="de-DE" dirty="0"/>
              <a:t>?</a:t>
            </a:r>
            <a:endParaRPr lang="de-DE" sz="3200" dirty="0"/>
          </a:p>
          <a:p>
            <a:pPr marL="285750" indent="-285750">
              <a:lnSpc>
                <a:spcPct val="150000"/>
              </a:lnSpc>
              <a:spcAft>
                <a:spcPts val="1200"/>
              </a:spcAft>
              <a:buFont typeface="Arial"/>
              <a:buChar char="•"/>
              <a:defRPr/>
            </a:pPr>
            <a:r>
              <a:rPr lang="de-DE" sz="3200" dirty="0"/>
              <a:t>Creating a </a:t>
            </a:r>
            <a:r>
              <a:rPr lang="de-DE" sz="3200" dirty="0" err="1"/>
              <a:t>project</a:t>
            </a:r>
            <a:r>
              <a:rPr lang="de-DE" sz="3200" dirty="0"/>
              <a:t> </a:t>
            </a:r>
            <a:r>
              <a:rPr lang="de-DE" sz="3200" dirty="0" err="1"/>
              <a:t>outline</a:t>
            </a:r>
            <a:r>
              <a:rPr lang="de-DE" sz="3200" dirty="0"/>
              <a:t> </a:t>
            </a:r>
            <a:r>
              <a:rPr lang="de-DE" sz="3200" dirty="0" err="1"/>
              <a:t>is</a:t>
            </a:r>
            <a:r>
              <a:rPr lang="de-DE" sz="3200" dirty="0"/>
              <a:t> an anticipation of the structure of your project. </a:t>
            </a:r>
          </a:p>
          <a:p>
            <a:pPr>
              <a:lnSpc>
                <a:spcPct val="150000"/>
              </a:lnSpc>
              <a:defRPr/>
            </a:pPr>
            <a:endParaRPr lang="de-DE" sz="3200" dirty="0"/>
          </a:p>
        </p:txBody>
      </p:sp>
    </p:spTree>
    <p:extLst>
      <p:ext uri="{BB962C8B-B14F-4D97-AF65-F5344CB8AC3E}">
        <p14:creationId xmlns:p14="http://schemas.microsoft.com/office/powerpoint/2010/main" val="2791924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615302D-A413-00CB-B15D-15B6036A7C11}"/>
            </a:ext>
          </a:extLst>
        </p:cNvPr>
        <p:cNvGrpSpPr/>
        <p:nvPr/>
      </p:nvGrpSpPr>
      <p:grpSpPr bwMode="auto">
        <a:xfrm>
          <a:off x="0" y="0"/>
          <a:ext cx="0" cy="0"/>
          <a:chOff x="0" y="0"/>
          <a:chExt cx="0" cy="0"/>
        </a:xfrm>
      </p:grpSpPr>
      <p:sp>
        <p:nvSpPr>
          <p:cNvPr id="2" name="Titel 1">
            <a:extLst>
              <a:ext uri="{FF2B5EF4-FFF2-40B4-BE49-F238E27FC236}">
                <a16:creationId xmlns:a16="http://schemas.microsoft.com/office/drawing/2014/main" id="{CBBA470A-6DB5-0A95-B6B0-3979C2F7AC1E}"/>
              </a:ext>
            </a:extLst>
          </p:cNvPr>
          <p:cNvSpPr>
            <a:spLocks noGrp="1"/>
          </p:cNvSpPr>
          <p:nvPr>
            <p:ph type="title"/>
          </p:nvPr>
        </p:nvSpPr>
        <p:spPr bwMode="auto"/>
        <p:txBody>
          <a:bodyPr>
            <a:normAutofit/>
          </a:bodyPr>
          <a:lstStyle/>
          <a:p>
            <a:pPr>
              <a:defRPr/>
            </a:pPr>
            <a:r>
              <a:rPr lang="en-US" dirty="0"/>
              <a:t>Planning a project: Project sketch</a:t>
            </a:r>
            <a:endParaRPr lang="de-DE" dirty="0"/>
          </a:p>
        </p:txBody>
      </p:sp>
      <p:graphicFrame>
        <p:nvGraphicFramePr>
          <p:cNvPr id="4" name="Diagram 3">
            <a:extLst>
              <a:ext uri="{FF2B5EF4-FFF2-40B4-BE49-F238E27FC236}">
                <a16:creationId xmlns:a16="http://schemas.microsoft.com/office/drawing/2014/main" id="{FE35E216-6450-07B2-87ED-9982C2141423}"/>
              </a:ext>
            </a:extLst>
          </p:cNvPr>
          <p:cNvGraphicFramePr>
            <a:graphicFrameLocks/>
          </p:cNvGraphicFramePr>
          <p:nvPr>
            <p:extLst>
              <p:ext uri="{D42A27DB-BD31-4B8C-83A1-F6EECF244321}">
                <p14:modId xmlns:p14="http://schemas.microsoft.com/office/powerpoint/2010/main" val="3068740163"/>
              </p:ext>
            </p:extLst>
          </p:nvPr>
        </p:nvGraphicFramePr>
        <p:xfrm>
          <a:off x="1868733" y="2561860"/>
          <a:ext cx="13833078" cy="62754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47E5EFA-F160-DC80-E02C-82E5A9D40DE7}"/>
              </a:ext>
            </a:extLst>
          </p:cNvPr>
          <p:cNvSpPr txBox="1"/>
          <p:nvPr/>
        </p:nvSpPr>
        <p:spPr bwMode="auto">
          <a:xfrm>
            <a:off x="1944000" y="7359994"/>
            <a:ext cx="4044834" cy="1477328"/>
          </a:xfrm>
          <a:prstGeom prst="rect">
            <a:avLst/>
          </a:prstGeom>
          <a:noFill/>
        </p:spPr>
        <p:txBody>
          <a:bodyPr wrap="square" rtlCol="0">
            <a:spAutoFit/>
          </a:bodyPr>
          <a:lstStyle/>
          <a:p>
            <a:pPr>
              <a:defRPr/>
            </a:pPr>
            <a:r>
              <a:rPr lang="de-DE" sz="3000" dirty="0"/>
              <a:t>Brief description of why the planned work is topical and relevant</a:t>
            </a:r>
            <a:endParaRPr lang="en-GB" sz="3000" dirty="0"/>
          </a:p>
        </p:txBody>
      </p:sp>
      <p:sp>
        <p:nvSpPr>
          <p:cNvPr id="7" name="TextBox 6">
            <a:extLst>
              <a:ext uri="{FF2B5EF4-FFF2-40B4-BE49-F238E27FC236}">
                <a16:creationId xmlns:a16="http://schemas.microsoft.com/office/drawing/2014/main" id="{3084C0EE-99BC-005C-1807-55A5B0A691AC}"/>
              </a:ext>
            </a:extLst>
          </p:cNvPr>
          <p:cNvSpPr txBox="1"/>
          <p:nvPr/>
        </p:nvSpPr>
        <p:spPr>
          <a:xfrm>
            <a:off x="6460055" y="7345375"/>
            <a:ext cx="4650434" cy="2400657"/>
          </a:xfrm>
          <a:prstGeom prst="rect">
            <a:avLst/>
          </a:prstGeom>
          <a:noFill/>
        </p:spPr>
        <p:txBody>
          <a:bodyPr wrap="square">
            <a:spAutoFit/>
          </a:bodyPr>
          <a:lstStyle/>
          <a:p>
            <a:pPr>
              <a:defRPr/>
            </a:pPr>
            <a:r>
              <a:rPr lang="de-DE" sz="3000" dirty="0"/>
              <a:t>Try to state your guiding research question as clearly and precisely as possible in one sentence</a:t>
            </a:r>
          </a:p>
          <a:p>
            <a:pPr>
              <a:defRPr/>
            </a:pPr>
            <a:r>
              <a:rPr lang="de-DE" sz="3000" dirty="0"/>
              <a:t>formulate.</a:t>
            </a:r>
          </a:p>
        </p:txBody>
      </p:sp>
      <p:sp>
        <p:nvSpPr>
          <p:cNvPr id="9" name="TextBox 8">
            <a:extLst>
              <a:ext uri="{FF2B5EF4-FFF2-40B4-BE49-F238E27FC236}">
                <a16:creationId xmlns:a16="http://schemas.microsoft.com/office/drawing/2014/main" id="{F72F4C23-0E01-ABD0-569C-F94455431FC0}"/>
              </a:ext>
            </a:extLst>
          </p:cNvPr>
          <p:cNvSpPr txBox="1"/>
          <p:nvPr/>
        </p:nvSpPr>
        <p:spPr>
          <a:xfrm>
            <a:off x="11445240" y="7224450"/>
            <a:ext cx="4271811" cy="1938992"/>
          </a:xfrm>
          <a:prstGeom prst="rect">
            <a:avLst/>
          </a:prstGeom>
          <a:noFill/>
        </p:spPr>
        <p:txBody>
          <a:bodyPr wrap="square">
            <a:spAutoFit/>
          </a:bodyPr>
          <a:lstStyle/>
          <a:p>
            <a:pPr>
              <a:defRPr/>
            </a:pPr>
            <a:r>
              <a:rPr lang="de-DE" sz="3000" dirty="0"/>
              <a:t>Describe clearly how you want to proceed in order to answer your research </a:t>
            </a:r>
            <a:r>
              <a:rPr lang="de-DE" sz="3000" dirty="0" err="1"/>
              <a:t>question</a:t>
            </a:r>
            <a:r>
              <a:rPr lang="de-DE" sz="3000" dirty="0"/>
              <a:t>.</a:t>
            </a:r>
          </a:p>
        </p:txBody>
      </p:sp>
      <p:pic>
        <p:nvPicPr>
          <p:cNvPr id="3" name="Picture 2" descr="Icon&#10;&#10;Description automatically generated">
            <a:extLst>
              <a:ext uri="{FF2B5EF4-FFF2-40B4-BE49-F238E27FC236}">
                <a16:creationId xmlns:a16="http://schemas.microsoft.com/office/drawing/2014/main" id="{43A3A14B-E9F3-93AC-203B-0C3364C9E8DD}"/>
              </a:ext>
            </a:extLst>
          </p:cNvPr>
          <p:cNvPicPr>
            <a:picLocks noChangeAspect="1"/>
          </p:cNvPicPr>
          <p:nvPr/>
        </p:nvPicPr>
        <p:blipFill>
          <a:blip r:embed="rId8"/>
          <a:stretch/>
        </p:blipFill>
        <p:spPr bwMode="auto">
          <a:xfrm>
            <a:off x="14675675" y="2100650"/>
            <a:ext cx="2052273" cy="2052273"/>
          </a:xfrm>
          <a:prstGeom prst="rect">
            <a:avLst/>
          </a:prstGeom>
        </p:spPr>
      </p:pic>
      <p:sp>
        <p:nvSpPr>
          <p:cNvPr id="6" name="TextBox 5">
            <a:extLst>
              <a:ext uri="{FF2B5EF4-FFF2-40B4-BE49-F238E27FC236}">
                <a16:creationId xmlns:a16="http://schemas.microsoft.com/office/drawing/2014/main" id="{9D132FC0-12AF-B83A-4616-9C344E72EED1}"/>
              </a:ext>
            </a:extLst>
          </p:cNvPr>
          <p:cNvSpPr txBox="1"/>
          <p:nvPr/>
        </p:nvSpPr>
        <p:spPr>
          <a:xfrm>
            <a:off x="14812084" y="2318166"/>
            <a:ext cx="1915864" cy="1754326"/>
          </a:xfrm>
          <a:prstGeom prst="rect">
            <a:avLst/>
          </a:prstGeom>
          <a:noFill/>
        </p:spPr>
        <p:txBody>
          <a:bodyPr wrap="square" rtlCol="0">
            <a:spAutoFit/>
          </a:bodyPr>
          <a:lstStyle/>
          <a:p>
            <a:r>
              <a:rPr lang="de-DE" dirty="0"/>
              <a:t>You can find more information in the template for the </a:t>
            </a:r>
            <a:r>
              <a:rPr lang="de-DE" dirty="0" err="1"/>
              <a:t>project</a:t>
            </a:r>
            <a:r>
              <a:rPr lang="de-DE" dirty="0"/>
              <a:t> </a:t>
            </a:r>
            <a:r>
              <a:rPr lang="de-DE" dirty="0" err="1"/>
              <a:t>sketch</a:t>
            </a:r>
            <a:r>
              <a:rPr lang="de-DE" dirty="0"/>
              <a:t> on </a:t>
            </a:r>
            <a:r>
              <a:rPr lang="de-DE" dirty="0" err="1"/>
              <a:t>Moodle</a:t>
            </a:r>
            <a:endParaRPr lang="de-DE" dirty="0"/>
          </a:p>
        </p:txBody>
      </p:sp>
    </p:spTree>
    <p:extLst>
      <p:ext uri="{BB962C8B-B14F-4D97-AF65-F5344CB8AC3E}">
        <p14:creationId xmlns:p14="http://schemas.microsoft.com/office/powerpoint/2010/main" val="1486315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4134300" y="1625157"/>
            <a:ext cx="10019400" cy="1260000"/>
          </a:xfrm>
        </p:spPr>
        <p:txBody>
          <a:bodyPr anchor="b">
            <a:normAutofit fontScale="90000"/>
          </a:bodyPr>
          <a:lstStyle/>
          <a:p>
            <a:pPr>
              <a:defRPr/>
            </a:pPr>
            <a:r>
              <a:rPr lang="de-DE" sz="5600" dirty="0"/>
              <a:t>How should I proceed with my project?</a:t>
            </a:r>
          </a:p>
        </p:txBody>
      </p:sp>
      <p:pic>
        <p:nvPicPr>
          <p:cNvPr id="8" name="Picture 7">
            <a:extLst>
              <a:ext uri="{FF2B5EF4-FFF2-40B4-BE49-F238E27FC236}">
                <a16:creationId xmlns:a16="http://schemas.microsoft.com/office/drawing/2014/main" id="{42B1E081-F872-593F-C095-E53769EB19C4}"/>
              </a:ext>
            </a:extLst>
          </p:cNvPr>
          <p:cNvPicPr>
            <a:picLocks noChangeAspect="1"/>
          </p:cNvPicPr>
          <p:nvPr/>
        </p:nvPicPr>
        <p:blipFill>
          <a:blip r:embed="rId3"/>
          <a:stretch/>
        </p:blipFill>
        <p:spPr bwMode="auto">
          <a:xfrm>
            <a:off x="4868091" y="3640719"/>
            <a:ext cx="8060087" cy="6327168"/>
          </a:xfrm>
          <a:prstGeom prst="rect">
            <a:avLst/>
          </a:prstGeom>
          <a:noFill/>
        </p:spPr>
      </p:pic>
      <p:sp>
        <p:nvSpPr>
          <p:cNvPr id="11" name="TextBox 10">
            <a:extLst>
              <a:ext uri="{FF2B5EF4-FFF2-40B4-BE49-F238E27FC236}">
                <a16:creationId xmlns:a16="http://schemas.microsoft.com/office/drawing/2014/main" id="{28535968-E427-7BD4-0CCF-EC73C4BACCF0}"/>
              </a:ext>
            </a:extLst>
          </p:cNvPr>
          <p:cNvSpPr txBox="1"/>
          <p:nvPr/>
        </p:nvSpPr>
        <p:spPr>
          <a:xfrm>
            <a:off x="4876800" y="3348332"/>
            <a:ext cx="10309860" cy="584775"/>
          </a:xfrm>
          <a:prstGeom prst="rect">
            <a:avLst/>
          </a:prstGeom>
          <a:noFill/>
        </p:spPr>
        <p:txBody>
          <a:bodyPr wrap="square">
            <a:spAutoFit/>
          </a:bodyPr>
          <a:lstStyle/>
          <a:p>
            <a:pPr>
              <a:defRPr/>
            </a:pPr>
            <a:r>
              <a:rPr lang="en-GB" sz="3200" b="1" dirty="0">
                <a:solidFill>
                  <a:srgbClr val="7E0D31"/>
                </a:solidFill>
              </a:rPr>
              <a:t>Proposed structure </a:t>
            </a:r>
            <a:endParaRPr lang="en-GB" sz="3200" dirty="0"/>
          </a:p>
        </p:txBody>
      </p:sp>
    </p:spTree>
    <p:extLst>
      <p:ext uri="{BB962C8B-B14F-4D97-AF65-F5344CB8AC3E}">
        <p14:creationId xmlns:p14="http://schemas.microsoft.com/office/powerpoint/2010/main" val="2569384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How do I manage a project?</a:t>
            </a:r>
          </a:p>
        </p:txBody>
      </p:sp>
      <p:sp>
        <p:nvSpPr>
          <p:cNvPr id="3" name="Inhaltsplatzhalter 2"/>
          <p:cNvSpPr>
            <a:spLocks noGrp="1"/>
          </p:cNvSpPr>
          <p:nvPr>
            <p:ph idx="1"/>
          </p:nvPr>
        </p:nvSpPr>
        <p:spPr bwMode="auto"/>
        <p:txBody>
          <a:bodyPr>
            <a:normAutofit/>
          </a:bodyPr>
          <a:lstStyle/>
          <a:p>
            <a:pPr>
              <a:lnSpc>
                <a:spcPct val="150000"/>
              </a:lnSpc>
              <a:tabLst>
                <a:tab pos="1447800" algn="l"/>
              </a:tabLst>
              <a:defRPr/>
            </a:pPr>
            <a:r>
              <a:rPr lang="de-DE" sz="3100" dirty="0"/>
              <a:t>Goal setting and communication are essential. </a:t>
            </a:r>
          </a:p>
          <a:p>
            <a:pPr>
              <a:lnSpc>
                <a:spcPct val="150000"/>
              </a:lnSpc>
              <a:tabLst>
                <a:tab pos="1447800" algn="l"/>
              </a:tabLst>
              <a:defRPr/>
            </a:pPr>
            <a:r>
              <a:rPr lang="de-DE" sz="3100" b="1" dirty="0"/>
              <a:t>Project management tools </a:t>
            </a:r>
            <a:r>
              <a:rPr lang="de-DE" sz="3100" dirty="0"/>
              <a:t>to organize your group activities and divide tasks.</a:t>
            </a:r>
          </a:p>
          <a:p>
            <a:pPr lvl="1">
              <a:lnSpc>
                <a:spcPct val="150000"/>
              </a:lnSpc>
              <a:tabLst>
                <a:tab pos="1447800" algn="l"/>
              </a:tabLst>
              <a:defRPr/>
            </a:pPr>
            <a:r>
              <a:rPr lang="de-DE" sz="3100" u="sng" dirty="0">
                <a:hlinkClick r:id="rId3" tooltip="https://www.heise.de/tipps-tricks/Projektmanagement-Tools-diese-gibt-es-kostenlos-5024239.html"/>
              </a:rPr>
              <a:t>Here you will find a list of tools. </a:t>
            </a:r>
            <a:endParaRPr lang="de-DE" sz="3100" dirty="0"/>
          </a:p>
          <a:p>
            <a:pPr marL="457200" lvl="1" indent="-457200">
              <a:lnSpc>
                <a:spcPct val="150000"/>
              </a:lnSpc>
              <a:tabLst>
                <a:tab pos="1447800" algn="l"/>
              </a:tabLst>
              <a:defRPr/>
            </a:pPr>
            <a:r>
              <a:rPr lang="de-DE" sz="3100" dirty="0"/>
              <a:t>Use of collaborative writing tools or cloud files that can be easily accessed.</a:t>
            </a:r>
          </a:p>
          <a:p>
            <a:pPr marL="457200" lvl="1" indent="-457200">
              <a:lnSpc>
                <a:spcPct val="150000"/>
              </a:lnSpc>
              <a:tabLst>
                <a:tab pos="1447800" algn="l"/>
              </a:tabLst>
              <a:defRPr/>
            </a:pPr>
            <a:r>
              <a:rPr lang="de-DE" sz="3100" dirty="0"/>
              <a:t>An illustrative example of how scientific writing works is the cascade model developed by Dr. Dagmar Knorr. </a:t>
            </a:r>
          </a:p>
          <a:p>
            <a:pPr>
              <a:defRPr/>
            </a:pPr>
            <a:endParaRPr lang="de-DE" sz="5400" dirty="0"/>
          </a:p>
        </p:txBody>
      </p:sp>
    </p:spTree>
    <p:extLst>
      <p:ext uri="{BB962C8B-B14F-4D97-AF65-F5344CB8AC3E}">
        <p14:creationId xmlns:p14="http://schemas.microsoft.com/office/powerpoint/2010/main" val="1480087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Sources</a:t>
            </a:r>
          </a:p>
        </p:txBody>
      </p:sp>
      <p:sp>
        <p:nvSpPr>
          <p:cNvPr id="3" name="Inhaltsplatzhalter 2"/>
          <p:cNvSpPr>
            <a:spLocks noGrp="1"/>
          </p:cNvSpPr>
          <p:nvPr>
            <p:ph idx="1"/>
          </p:nvPr>
        </p:nvSpPr>
        <p:spPr bwMode="auto"/>
        <p:txBody>
          <a:bodyPr>
            <a:normAutofit/>
          </a:bodyPr>
          <a:lstStyle/>
          <a:p>
            <a:pPr>
              <a:lnSpc>
                <a:spcPct val="150000"/>
              </a:lnSpc>
              <a:defRPr/>
            </a:pPr>
            <a:r>
              <a:rPr lang="en-GB" sz="3100" dirty="0"/>
              <a:t>Michelsen, G. (Ed.). (2018). Guideline for the project work in the module "sustainability and responsibility." </a:t>
            </a:r>
            <a:r>
              <a:rPr lang="en-GB" sz="3100" dirty="0" err="1"/>
              <a:t>Leuphana </a:t>
            </a:r>
            <a:r>
              <a:rPr lang="en-GB" sz="3100" dirty="0"/>
              <a:t>University.</a:t>
            </a:r>
          </a:p>
          <a:p>
            <a:pPr>
              <a:lnSpc>
                <a:spcPct val="150000"/>
              </a:lnSpc>
              <a:defRPr/>
            </a:pPr>
            <a:r>
              <a:rPr lang="en-GB" sz="3100" dirty="0" err="1"/>
              <a:t>Writing in </a:t>
            </a:r>
            <a:r>
              <a:rPr lang="en-GB" sz="3100" dirty="0"/>
              <a:t>German - SWC Resources </a:t>
            </a:r>
          </a:p>
          <a:p>
            <a:pPr>
              <a:lnSpc>
                <a:spcPct val="150000"/>
              </a:lnSpc>
              <a:defRPr/>
            </a:pPr>
            <a:r>
              <a:rPr lang="de-DE" sz="3100" dirty="0" err="1"/>
              <a:t>Dr</a:t>
            </a:r>
            <a:r>
              <a:rPr lang="de-DE" sz="3100" dirty="0"/>
              <a:t> Dagmar Knorr Cascade model: </a:t>
            </a:r>
            <a:r>
              <a:rPr lang="de-DE" sz="3100" dirty="0">
                <a:hlinkClick r:id="rId3"/>
              </a:rPr>
              <a:t>https://www.leuphana.de/fileadmin/user_upload/sonstige_einrichtungen/Schreibzentrum/Knorr_2018_Cascade-model-academic-text-production.pdf </a:t>
            </a:r>
            <a:endParaRPr lang="de-DE" sz="3100" dirty="0"/>
          </a:p>
          <a:p>
            <a:pPr>
              <a:lnSpc>
                <a:spcPct val="150000"/>
              </a:lnSpc>
              <a:defRPr/>
            </a:pPr>
            <a:r>
              <a:rPr lang="en-GB" sz="3100" dirty="0"/>
              <a:t>All further information can be found on Moodle in the responsibility module</a:t>
            </a:r>
            <a:endParaRPr lang="de-DE" sz="3100" dirty="0"/>
          </a:p>
        </p:txBody>
      </p:sp>
    </p:spTree>
    <p:extLst>
      <p:ext uri="{BB962C8B-B14F-4D97-AF65-F5344CB8AC3E}">
        <p14:creationId xmlns:p14="http://schemas.microsoft.com/office/powerpoint/2010/main" val="3506880769"/>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B5EC0A-D77F-40CA-AE08-12A58E4088A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FD334AC-9C6F-4331-8FA3-3F6CBEC12D01}">
  <ds:schemaRefs>
    <ds:schemaRef ds:uri="http://schemas.microsoft.com/sharepoint/v3/contenttype/forms"/>
  </ds:schemaRefs>
</ds:datastoreItem>
</file>

<file path=customXml/itemProps3.xml><?xml version="1.0" encoding="utf-8"?>
<ds:datastoreItem xmlns:ds="http://schemas.openxmlformats.org/officeDocument/2006/customXml" ds:itemID="{F490FC4C-1BF3-440F-9E2E-CCF8EE4A6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1418</Words>
  <Application>Microsoft Office PowerPoint</Application>
  <DocSecurity>0</DocSecurity>
  <PresentationFormat>Benutzerdefiniert</PresentationFormat>
  <Paragraphs>105</Paragraphs>
  <Slides>11</Slides>
  <Notes>11</Notes>
  <HiddenSlides>1</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Aptos</vt:lpstr>
      <vt:lpstr>Arial</vt:lpstr>
      <vt:lpstr>Benutzerdefiniertes Design</vt:lpstr>
      <vt:lpstr>Project work</vt:lpstr>
      <vt:lpstr>Agenda</vt:lpstr>
      <vt:lpstr>Welcome and arrival</vt:lpstr>
      <vt:lpstr>What does the project work look like?</vt:lpstr>
      <vt:lpstr>Steps of the project work</vt:lpstr>
      <vt:lpstr>Steps of the project work</vt:lpstr>
      <vt:lpstr>Planning a project: Project sketch</vt:lpstr>
      <vt:lpstr>Planning a project: Project sketch</vt:lpstr>
      <vt:lpstr>How should I proceed with my project?</vt:lpstr>
      <vt:lpstr>How do I manage a project?</vt:lpstr>
      <vt:lpstr>Sources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docId:9763C6EAD92ED4FFD76CE4DC9914914A</cp:keywords>
  <dc:description/>
  <cp:lastModifiedBy>Felix Soltau</cp:lastModifiedBy>
  <cp:revision>9</cp:revision>
  <dcterms:created xsi:type="dcterms:W3CDTF">2006-08-16T00:00:00Z</dcterms:created>
  <dcterms:modified xsi:type="dcterms:W3CDTF">2026-06-22T20:40:35Z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