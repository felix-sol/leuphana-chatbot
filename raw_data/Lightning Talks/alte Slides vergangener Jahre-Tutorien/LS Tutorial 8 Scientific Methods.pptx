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59"/>
    <p:restoredTop sz="66309"/>
  </p:normalViewPr>
  <p:slideViewPr>
    <p:cSldViewPr snapToGrid="0">
      <p:cViewPr varScale="1">
        <p:scale>
          <a:sx n="68" d="100"/>
          <a:sy n="68" d="100"/>
        </p:scale>
        <p:origin x="19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E5657-AB53-F642-86A8-A8E5F7F5BFF4}" type="datetimeFigureOut">
              <a:rPr lang="de-DE" smtClean="0"/>
              <a:t>26.09.24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07D9B-016D-9E40-A04F-4EF6AB7C230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62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ask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</a:t>
            </a:r>
            <a:r>
              <a:rPr lang="de-DE" dirty="0" err="1"/>
              <a:t>whether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essentially</a:t>
            </a:r>
            <a:r>
              <a:rPr lang="de-DE" dirty="0"/>
              <a:t> </a:t>
            </a:r>
            <a:r>
              <a:rPr lang="de-DE" dirty="0" err="1"/>
              <a:t>understood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.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learnt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in </a:t>
            </a:r>
            <a:r>
              <a:rPr lang="de-DE" dirty="0" err="1"/>
              <a:t>week</a:t>
            </a:r>
            <a:r>
              <a:rPr lang="de-DE" dirty="0"/>
              <a:t> 2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lecture</a:t>
            </a:r>
            <a:r>
              <a:rPr lang="de-DE" dirty="0"/>
              <a:t>.</a:t>
            </a:r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still </a:t>
            </a:r>
            <a:r>
              <a:rPr lang="de-DE" dirty="0" err="1"/>
              <a:t>uncertainties</a:t>
            </a:r>
            <a:r>
              <a:rPr lang="de-DE" dirty="0"/>
              <a:t>, </a:t>
            </a:r>
            <a:r>
              <a:rPr lang="de-DE" dirty="0" err="1"/>
              <a:t>perhaps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answer</a:t>
            </a:r>
            <a:r>
              <a:rPr lang="de-DE" dirty="0"/>
              <a:t> </a:t>
            </a:r>
            <a:r>
              <a:rPr lang="de-DE" dirty="0" err="1"/>
              <a:t>questions</a:t>
            </a:r>
            <a:r>
              <a:rPr lang="de-DE" dirty="0"/>
              <a:t>. </a:t>
            </a:r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concept</a:t>
            </a:r>
            <a:r>
              <a:rPr lang="de-DE" dirty="0"/>
              <a:t> </a:t>
            </a:r>
            <a:r>
              <a:rPr lang="de-DE" dirty="0" err="1"/>
              <a:t>yourself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note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/</a:t>
            </a:r>
            <a:r>
              <a:rPr lang="de-DE" dirty="0" err="1"/>
              <a:t>generate</a:t>
            </a:r>
            <a:r>
              <a:rPr lang="de-DE" dirty="0"/>
              <a:t> different </a:t>
            </a:r>
            <a:r>
              <a:rPr lang="de-DE" dirty="0" err="1"/>
              <a:t>data</a:t>
            </a:r>
            <a:r>
              <a:rPr lang="de-DE" dirty="0"/>
              <a:t> and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therefore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different </a:t>
            </a:r>
            <a:r>
              <a:rPr lang="de-DE" dirty="0" err="1"/>
              <a:t>contexts</a:t>
            </a:r>
            <a:r>
              <a:rPr lang="de-DE" dirty="0"/>
              <a:t>,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required</a:t>
            </a:r>
            <a:r>
              <a:rPr lang="de-DE" dirty="0"/>
              <a:t>. As a </a:t>
            </a:r>
            <a:r>
              <a:rPr lang="de-DE" dirty="0" err="1"/>
              <a:t>refresher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: https://</a:t>
            </a:r>
            <a:r>
              <a:rPr lang="de-DE" dirty="0" err="1"/>
              <a:t>sustainabilitymethods.org</a:t>
            </a:r>
            <a:r>
              <a:rPr lang="de-DE" dirty="0"/>
              <a:t>/</a:t>
            </a:r>
            <a:r>
              <a:rPr lang="de-DE" dirty="0" err="1"/>
              <a:t>index.php</a:t>
            </a:r>
            <a:r>
              <a:rPr lang="de-DE" dirty="0"/>
              <a:t>/Design_Criteria_of_Methods#What_are_scientific_methods.3F (</a:t>
            </a:r>
            <a:r>
              <a:rPr lang="de-DE" dirty="0" err="1"/>
              <a:t>especially</a:t>
            </a:r>
            <a:r>
              <a:rPr lang="de-DE" dirty="0"/>
              <a:t> ‘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?’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subchapters</a:t>
            </a:r>
            <a:r>
              <a:rPr lang="de-DE" dirty="0"/>
              <a:t> Quantitative/Qualitative, </a:t>
            </a:r>
            <a:r>
              <a:rPr lang="de-DE" dirty="0" err="1"/>
              <a:t>Inductive</a:t>
            </a:r>
            <a:r>
              <a:rPr lang="de-DE" dirty="0"/>
              <a:t>/</a:t>
            </a:r>
            <a:r>
              <a:rPr lang="de-DE" dirty="0" err="1"/>
              <a:t>Deductive</a:t>
            </a:r>
            <a:r>
              <a:rPr lang="de-DE" dirty="0"/>
              <a:t>, </a:t>
            </a:r>
            <a:r>
              <a:rPr lang="de-DE" dirty="0" err="1"/>
              <a:t>Spatial</a:t>
            </a:r>
            <a:r>
              <a:rPr lang="de-DE" dirty="0"/>
              <a:t> and Temporal Scales).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illustration</a:t>
            </a:r>
            <a:r>
              <a:rPr lang="de-DE" dirty="0"/>
              <a:t> </a:t>
            </a:r>
            <a:r>
              <a:rPr lang="de-DE" dirty="0" err="1"/>
              <a:t>above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visualisation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645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.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examples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listed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These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presented</a:t>
            </a:r>
            <a:r>
              <a:rPr lang="de-DE" dirty="0"/>
              <a:t> at </a:t>
            </a:r>
            <a:r>
              <a:rPr lang="de-DE" dirty="0" err="1"/>
              <a:t>the</a:t>
            </a:r>
            <a:r>
              <a:rPr lang="de-DE" dirty="0"/>
              <a:t> 2024 </a:t>
            </a:r>
            <a:r>
              <a:rPr lang="de-DE" dirty="0" err="1"/>
              <a:t>conference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. 2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awarded</a:t>
            </a:r>
            <a:r>
              <a:rPr lang="de-DE" dirty="0"/>
              <a:t> a </a:t>
            </a:r>
            <a:r>
              <a:rPr lang="de-DE" dirty="0" err="1"/>
              <a:t>salt</a:t>
            </a:r>
            <a:r>
              <a:rPr lang="de-DE" dirty="0"/>
              <a:t> </a:t>
            </a:r>
            <a:r>
              <a:rPr lang="de-DE" dirty="0" err="1"/>
              <a:t>crystal</a:t>
            </a:r>
            <a:r>
              <a:rPr lang="de-DE" dirty="0"/>
              <a:t>.</a:t>
            </a:r>
          </a:p>
          <a:p>
            <a:r>
              <a:rPr lang="de-DE" dirty="0"/>
              <a:t>Go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and </a:t>
            </a:r>
            <a:r>
              <a:rPr lang="de-DE" dirty="0" err="1"/>
              <a:t>think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relevant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designing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. </a:t>
            </a:r>
            <a:r>
              <a:rPr lang="de-DE" dirty="0" err="1"/>
              <a:t>Sometimes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just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solution</a:t>
            </a:r>
            <a:r>
              <a:rPr lang="de-DE" dirty="0"/>
              <a:t>, but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suggest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categorisation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Inclusive </a:t>
            </a:r>
            <a:r>
              <a:rPr lang="de-DE" dirty="0" err="1"/>
              <a:t>living</a:t>
            </a:r>
            <a:r>
              <a:rPr lang="de-DE" dirty="0"/>
              <a:t> </a:t>
            </a:r>
            <a:r>
              <a:rPr lang="de-DE" dirty="0" err="1"/>
              <a:t>communities</a:t>
            </a:r>
            <a:r>
              <a:rPr lang="de-DE" dirty="0"/>
              <a:t>: qualitative - </a:t>
            </a:r>
            <a:r>
              <a:rPr lang="de-DE" dirty="0" err="1"/>
              <a:t>inductive</a:t>
            </a:r>
            <a:r>
              <a:rPr lang="de-DE" dirty="0"/>
              <a:t> - individual/</a:t>
            </a:r>
            <a:r>
              <a:rPr lang="de-DE" dirty="0" err="1"/>
              <a:t>system</a:t>
            </a:r>
            <a:r>
              <a:rPr lang="de-DE" dirty="0"/>
              <a:t> - </a:t>
            </a:r>
            <a:r>
              <a:rPr lang="de-DE" dirty="0" err="1"/>
              <a:t>present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Data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collected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. A social network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conceivable</a:t>
            </a:r>
            <a:r>
              <a:rPr lang="de-DE" dirty="0"/>
              <a:t> (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quantitative)</a:t>
            </a:r>
          </a:p>
          <a:p>
            <a:endParaRPr lang="de-DE" dirty="0"/>
          </a:p>
          <a:p>
            <a:r>
              <a:rPr lang="de-DE" dirty="0"/>
              <a:t>Headline </a:t>
            </a:r>
            <a:r>
              <a:rPr lang="de-DE" dirty="0" err="1"/>
              <a:t>spectacle</a:t>
            </a:r>
            <a:r>
              <a:rPr lang="de-DE" dirty="0"/>
              <a:t>: qualitative - </a:t>
            </a:r>
            <a:r>
              <a:rPr lang="de-DE" dirty="0" err="1"/>
              <a:t>inductive</a:t>
            </a:r>
            <a:r>
              <a:rPr lang="de-DE" dirty="0"/>
              <a:t> - </a:t>
            </a:r>
            <a:r>
              <a:rPr lang="de-DE" dirty="0" err="1"/>
              <a:t>system</a:t>
            </a:r>
            <a:r>
              <a:rPr lang="de-DE" dirty="0"/>
              <a:t> - </a:t>
            </a:r>
            <a:r>
              <a:rPr lang="de-DE" dirty="0" err="1"/>
              <a:t>past</a:t>
            </a:r>
            <a:endParaRPr lang="de-DE" dirty="0"/>
          </a:p>
          <a:p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A qualitative </a:t>
            </a:r>
            <a:r>
              <a:rPr lang="de-DE" dirty="0" err="1"/>
              <a:t>content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was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carried</a:t>
            </a:r>
            <a:r>
              <a:rPr lang="de-DE" dirty="0"/>
              <a:t> out 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analyse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narratives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articles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Chiquita: qualitative/quantitative - </a:t>
            </a:r>
            <a:r>
              <a:rPr lang="de-DE" dirty="0" err="1"/>
              <a:t>inductive</a:t>
            </a:r>
            <a:r>
              <a:rPr lang="de-DE" dirty="0"/>
              <a:t>/</a:t>
            </a:r>
            <a:r>
              <a:rPr lang="de-DE" dirty="0" err="1"/>
              <a:t>deductive</a:t>
            </a:r>
            <a:r>
              <a:rPr lang="de-DE" dirty="0"/>
              <a:t> - </a:t>
            </a:r>
            <a:r>
              <a:rPr lang="de-DE" dirty="0" err="1"/>
              <a:t>system</a:t>
            </a:r>
            <a:r>
              <a:rPr lang="de-DE" dirty="0"/>
              <a:t>/global - </a:t>
            </a:r>
            <a:r>
              <a:rPr lang="de-DE" dirty="0" err="1"/>
              <a:t>present</a:t>
            </a:r>
            <a:r>
              <a:rPr lang="de-DE" dirty="0"/>
              <a:t> 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ecological</a:t>
            </a:r>
            <a:r>
              <a:rPr lang="de-DE" dirty="0"/>
              <a:t> </a:t>
            </a:r>
            <a:r>
              <a:rPr lang="de-DE" dirty="0" err="1"/>
              <a:t>consequences</a:t>
            </a:r>
            <a:r>
              <a:rPr lang="de-DE" dirty="0"/>
              <a:t>, a </a:t>
            </a:r>
            <a:r>
              <a:rPr lang="de-DE" dirty="0" err="1"/>
              <a:t>life</a:t>
            </a:r>
            <a:r>
              <a:rPr lang="de-DE" dirty="0"/>
              <a:t> </a:t>
            </a:r>
            <a:r>
              <a:rPr lang="de-DE" dirty="0" err="1"/>
              <a:t>cycle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supply</a:t>
            </a:r>
            <a:r>
              <a:rPr lang="de-DE" dirty="0"/>
              <a:t> </a:t>
            </a:r>
            <a:r>
              <a:rPr lang="de-DE" dirty="0" err="1"/>
              <a:t>chain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(</a:t>
            </a:r>
            <a:r>
              <a:rPr lang="de-DE" dirty="0" err="1"/>
              <a:t>both</a:t>
            </a:r>
            <a:r>
              <a:rPr lang="de-DE" dirty="0"/>
              <a:t> quantitative)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.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human </a:t>
            </a:r>
            <a:r>
              <a:rPr lang="de-DE" dirty="0" err="1"/>
              <a:t>rights</a:t>
            </a:r>
            <a:r>
              <a:rPr lang="de-DE" dirty="0"/>
              <a:t> </a:t>
            </a:r>
            <a:r>
              <a:rPr lang="de-DE" dirty="0" err="1"/>
              <a:t>violations</a:t>
            </a:r>
            <a:r>
              <a:rPr lang="de-DE" dirty="0"/>
              <a:t>, a qualitative </a:t>
            </a:r>
            <a:r>
              <a:rPr lang="de-DE" dirty="0" err="1"/>
              <a:t>approach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 (e.g.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interviews</a:t>
            </a:r>
            <a:r>
              <a:rPr lang="de-DE" dirty="0"/>
              <a:t>)</a:t>
            </a:r>
          </a:p>
          <a:p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aim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exercise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familiarise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a </a:t>
            </a:r>
            <a:r>
              <a:rPr lang="de-DE" dirty="0" err="1"/>
              <a:t>feeling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fact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different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different </a:t>
            </a:r>
            <a:r>
              <a:rPr lang="de-DE" dirty="0" err="1"/>
              <a:t>objects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investigation</a:t>
            </a:r>
            <a:r>
              <a:rPr lang="de-DE" dirty="0"/>
              <a:t> and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also </a:t>
            </a:r>
            <a:r>
              <a:rPr lang="de-DE" dirty="0" err="1"/>
              <a:t>generate</a:t>
            </a:r>
            <a:r>
              <a:rPr lang="de-DE" dirty="0"/>
              <a:t> different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different </a:t>
            </a:r>
            <a:r>
              <a:rPr lang="de-DE" dirty="0" err="1"/>
              <a:t>methods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42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Please</a:t>
            </a:r>
            <a:r>
              <a:rPr lang="de-DE" dirty="0"/>
              <a:t> </a:t>
            </a:r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starter</a:t>
            </a:r>
            <a:r>
              <a:rPr lang="de-DE" dirty="0"/>
              <a:t> pack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. These </a:t>
            </a:r>
            <a:r>
              <a:rPr lang="de-DE" dirty="0" err="1"/>
              <a:t>are</a:t>
            </a:r>
            <a:r>
              <a:rPr lang="de-DE" dirty="0"/>
              <a:t> 16 </a:t>
            </a:r>
            <a:r>
              <a:rPr lang="de-DE" dirty="0" err="1"/>
              <a:t>selected</a:t>
            </a:r>
            <a:r>
              <a:rPr lang="de-DE" dirty="0"/>
              <a:t> </a:t>
            </a:r>
            <a:r>
              <a:rPr lang="de-DE" dirty="0" err="1"/>
              <a:t>methods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first-semester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learn</a:t>
            </a:r>
            <a:r>
              <a:rPr lang="de-DE" dirty="0"/>
              <a:t> and </a:t>
            </a:r>
            <a:r>
              <a:rPr lang="de-DE" dirty="0" err="1"/>
              <a:t>use</a:t>
            </a:r>
            <a:r>
              <a:rPr lang="de-DE" dirty="0"/>
              <a:t> in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.</a:t>
            </a:r>
          </a:p>
          <a:p>
            <a:r>
              <a:rPr lang="de-DE" dirty="0"/>
              <a:t>Show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students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projector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out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themselves</a:t>
            </a:r>
            <a:r>
              <a:rPr lang="de-DE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0609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 Studierenden sollen überlegen, welche Methoden Sie in ihren Projekten im Verantwortungsseminar anwenden können.</a:t>
            </a:r>
          </a:p>
          <a:p>
            <a:r>
              <a:rPr lang="de-DE" dirty="0"/>
              <a:t>Einige Studierende werden schon ein Thema/eine Methode haben, sie können dann die anderen beim Brainstormen unterstützen.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307D9B-016D-9E40-A04F-4EF6AB7C230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945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1.jpe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70429" y="5321558"/>
            <a:ext cx="4518429" cy="522128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6096000" y="5321558"/>
            <a:ext cx="4518429" cy="522128"/>
          </a:xfrm>
          <a:prstGeom prst="rect">
            <a:avLst/>
          </a:prstGeom>
        </p:spPr>
        <p:txBody>
          <a:bodyPr vert="horz" lIns="60960" tIns="30480" rIns="60960" bIns="3048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987424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4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1345778" y="337679"/>
            <a:ext cx="1872937" cy="176222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375189" y="2949782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177" y="-173735"/>
            <a:ext cx="2596167" cy="271232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9998823" y="658164"/>
            <a:ext cx="2315684" cy="194309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84365" y="4817547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9698984" y="-470272"/>
            <a:ext cx="2134082" cy="2125367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244492" y="5214302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1367004" y="-375873"/>
            <a:ext cx="1438815" cy="190994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11174" y="1812328"/>
            <a:ext cx="6494777" cy="4320000"/>
          </a:xfrm>
        </p:spPr>
        <p:txBody>
          <a:bodyPr/>
          <a:lstStyle>
            <a:lvl1pPr marL="342917" indent="-342917">
              <a:buFont typeface="+mj-lt"/>
              <a:buAutoNum type="arabicPeriod"/>
              <a:defRPr sz="2400"/>
            </a:lvl1pPr>
            <a:lvl2pPr marL="647732" indent="-342917">
              <a:buFont typeface="+mj-lt"/>
              <a:buAutoNum type="romanLcPeriod"/>
              <a:defRPr sz="24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19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263451" y="1455596"/>
            <a:ext cx="9599999" cy="4266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32244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7773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867907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0" y="1825885"/>
            <a:ext cx="9600000" cy="43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537427" y="-535823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160795" y="97457"/>
            <a:ext cx="1390247" cy="135485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1181178" y="144172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0431081" y="-251135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541025" y="2493172"/>
            <a:ext cx="1673307" cy="13970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1545610" y="1522426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9287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2637074"/>
          </a:xfrm>
        </p:spPr>
        <p:txBody>
          <a:bodyPr lIns="90000" anchor="b"/>
          <a:lstStyle>
            <a:lvl1pPr>
              <a:defRPr sz="4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1200" y="4327526"/>
            <a:ext cx="9600000" cy="1386543"/>
          </a:xfrm>
        </p:spPr>
        <p:txBody>
          <a:bodyPr lIns="90000"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770552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271200" y="1447800"/>
            <a:ext cx="9599999" cy="42662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26626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127149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271200" y="1447800"/>
            <a:ext cx="9599999" cy="42662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1200" y="1447800"/>
            <a:ext cx="9600000" cy="4266269"/>
          </a:xfrm>
        </p:spPr>
        <p:txBody>
          <a:bodyPr lIns="90000" anchor="ctr"/>
          <a:lstStyle>
            <a:lvl1pPr>
              <a:defRPr sz="4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562954" y="-128739"/>
            <a:ext cx="1540819" cy="197481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0806612" y="123095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0165601" y="169147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693417" y="-55561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369654" y="5785194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0064511" y="-32504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5266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911177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1825625"/>
            <a:ext cx="4749200" cy="43518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0" y="1825625"/>
            <a:ext cx="4749200" cy="43518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160795" y="97457"/>
            <a:ext cx="1390247" cy="135485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445822" y="620619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102172" y="-359804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271704" y="5669487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0934361" y="476314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1278029" y="445845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0256233" y="-363946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1815462" y="-238320"/>
            <a:ext cx="1138061" cy="129084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413939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783082"/>
            <a:ext cx="9600000" cy="84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1681692"/>
            <a:ext cx="4701575" cy="82338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6000" y="2505076"/>
            <a:ext cx="4701575" cy="3685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692"/>
            <a:ext cx="4723800" cy="823383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4723800" cy="3685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1070627" y="4194492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1115129" y="3910465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1140070" y="702097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0260225" y="-351601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1438191" y="879550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833055" y="2758354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503584" y="3115427"/>
            <a:ext cx="1067303" cy="1097131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503055" y="-138515"/>
            <a:ext cx="1255183" cy="1123304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409017" y="-621769"/>
            <a:ext cx="1739870" cy="1728931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07744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422822" y="-87197"/>
            <a:ext cx="1400614" cy="134694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61963" y="402139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545066" y="-494278"/>
            <a:ext cx="1941458" cy="207314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0555996" y="475203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84365" y="4817547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0256233" y="-363946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1301636" y="3178323"/>
            <a:ext cx="1355815" cy="10798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197969" y="5257616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1815462" y="-238320"/>
            <a:ext cx="1138061" cy="129084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632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232662" y="-261438"/>
            <a:ext cx="1400614" cy="134694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234106" y="3726138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545066" y="-49427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0239131" y="1634521"/>
            <a:ext cx="1565058" cy="153692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468532" y="382422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0494375" y="659547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9887057" y="-171495"/>
            <a:ext cx="1687997" cy="1436432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1351858" y="3311008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413279" y="4660808"/>
            <a:ext cx="2196063" cy="1836053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0808581" y="722340"/>
            <a:ext cx="1475447" cy="151582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036819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000" y="987425"/>
            <a:ext cx="3490377" cy="8400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5712283" cy="487362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6000" y="2057400"/>
            <a:ext cx="3476025" cy="3812117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229797" y="-69155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23260" y="11384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1286152" y="-190162"/>
            <a:ext cx="2103861" cy="2562178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0286107" y="-170363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161960" y="-71443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718667" y="3910239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1561859" y="805697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1363477" y="4490264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0834637" y="5457072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935327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5712283" cy="4873625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659211" y="4871355"/>
            <a:ext cx="1666109" cy="1596436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229797" y="-69155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23260" y="113844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1286152" y="-190162"/>
            <a:ext cx="2103861" cy="2562178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0286107" y="-170363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161960" y="-71443"/>
            <a:ext cx="1175845" cy="99626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718667" y="3910239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1561859" y="805697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296000" y="987425"/>
            <a:ext cx="3490377" cy="840000"/>
          </a:xfrm>
          <a:prstGeom prst="rect">
            <a:avLst/>
          </a:prstGeom>
        </p:spPr>
        <p:txBody>
          <a:bodyPr vert="horz" lIns="60960" tIns="30480" rIns="60960" bIns="3048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133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296000" y="2057400"/>
            <a:ext cx="3476025" cy="3812117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1363477" y="4490264"/>
            <a:ext cx="1865316" cy="16905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0834637" y="5457072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2451857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457521" y="1602086"/>
            <a:ext cx="9144000" cy="41586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4153529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1948174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470429" y="1596146"/>
            <a:ext cx="9144000" cy="415862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429" y="1607178"/>
            <a:ext cx="9144000" cy="4147589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842061" y="2802729"/>
            <a:ext cx="1666109" cy="3676509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0838279" y="5513989"/>
            <a:ext cx="1757223" cy="168373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0289135" y="4755648"/>
            <a:ext cx="2337273" cy="2277778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60795" y="97457"/>
            <a:ext cx="1875485" cy="185457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42202" y="210472"/>
            <a:ext cx="1067303" cy="99356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0620452" y="4921603"/>
            <a:ext cx="1495803" cy="1392456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0846215" y="-319118"/>
            <a:ext cx="2103861" cy="201588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0880003" y="1008399"/>
            <a:ext cx="1510399" cy="127972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196631" y="-184994"/>
            <a:ext cx="1441167" cy="1201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246506" y="5253195"/>
            <a:ext cx="1620187" cy="13727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0200567" y="373148"/>
            <a:ext cx="1292779" cy="120345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978974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4604" y="3204882"/>
            <a:ext cx="1582542" cy="106184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14377" y="4594535"/>
            <a:ext cx="1001760" cy="106184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93201" y="4425793"/>
            <a:ext cx="1299535" cy="106184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51816" y="4614728"/>
            <a:ext cx="1505789" cy="106184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551269" y="3376323"/>
            <a:ext cx="1355911" cy="1061843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656846" y="2147322"/>
            <a:ext cx="1183561" cy="106184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13620" y="5684500"/>
            <a:ext cx="1386828" cy="106184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66174" y="3200005"/>
            <a:ext cx="1462146" cy="1061843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728801" y="2097735"/>
            <a:ext cx="1438344" cy="1061843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980346" y="2554211"/>
            <a:ext cx="797933" cy="559836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7011" y="495329"/>
            <a:ext cx="803865" cy="787021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058929" y="2383125"/>
            <a:ext cx="649959" cy="649959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009566" y="2357999"/>
            <a:ext cx="670089" cy="670089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4150043" y="1149861"/>
            <a:ext cx="830626" cy="1066149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3320626" y="1142033"/>
            <a:ext cx="602618" cy="1044048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270711" y="1166836"/>
            <a:ext cx="1081904" cy="1041933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6761483" y="2434516"/>
            <a:ext cx="1150705" cy="77228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083" y="593717"/>
            <a:ext cx="1947333" cy="140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412" y="811950"/>
            <a:ext cx="2480733" cy="138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540" y="3233478"/>
            <a:ext cx="1150705" cy="96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312" y="2063599"/>
            <a:ext cx="1258410" cy="116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973" y="3608522"/>
            <a:ext cx="1746793" cy="71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422" y="5934236"/>
            <a:ext cx="1593673" cy="77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154" y="4624487"/>
            <a:ext cx="1525889" cy="105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820" y="4452264"/>
            <a:ext cx="1299535" cy="101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633" y="4564865"/>
            <a:ext cx="1041587" cy="105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5431" y="6057403"/>
            <a:ext cx="109793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553" y="5760824"/>
            <a:ext cx="1293292" cy="90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295" y="5949922"/>
            <a:ext cx="1137708" cy="75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891" y="5616468"/>
            <a:ext cx="1355911" cy="10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66" y="3200201"/>
            <a:ext cx="1109133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539" y="3366237"/>
            <a:ext cx="1202267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242" y="5645809"/>
            <a:ext cx="1105693" cy="99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274" y="4388118"/>
            <a:ext cx="1710267" cy="107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175" y="1333847"/>
            <a:ext cx="1245908" cy="80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92" y="2360366"/>
            <a:ext cx="1585182" cy="87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59" y="4644740"/>
            <a:ext cx="1399332" cy="103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3" y="5808049"/>
            <a:ext cx="1444846" cy="95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203595" y="1483980"/>
            <a:ext cx="16706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881427"/>
            <a:ext cx="9600000" cy="84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1846074"/>
            <a:ext cx="9600000" cy="432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5125272" y="20401"/>
            <a:ext cx="1941457" cy="674775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82306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-methods.vercel.app/starter-packa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ustainabilitymethods.org/index.php/Methods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DD64F0-FB1F-0416-6EC0-883CB0DE3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Scientific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1BCF318-2A31-23D5-A5FD-E459ECD6F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89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3909-5D2A-8296-54EA-81D3925A6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1129624"/>
            <a:ext cx="9600000" cy="840000"/>
          </a:xfrm>
        </p:spPr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29D66-9C67-BA78-0714-403EEDF5F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4669" y="2457131"/>
            <a:ext cx="6494777" cy="4320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dirty="0"/>
              <a:t>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Methods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Applying</a:t>
            </a:r>
            <a:r>
              <a:rPr lang="de-DE" dirty="0"/>
              <a:t> Design </a:t>
            </a:r>
            <a:r>
              <a:rPr lang="de-DE" dirty="0" err="1"/>
              <a:t>Criteria</a:t>
            </a:r>
            <a:endParaRPr lang="de-DE" dirty="0"/>
          </a:p>
          <a:p>
            <a:pPr>
              <a:lnSpc>
                <a:spcPct val="150000"/>
              </a:lnSpc>
            </a:pPr>
            <a:r>
              <a:rPr lang="de-DE" dirty="0"/>
              <a:t>Methods Starter Package</a:t>
            </a:r>
          </a:p>
          <a:p>
            <a:pPr>
              <a:lnSpc>
                <a:spcPct val="150000"/>
              </a:lnSpc>
            </a:pPr>
            <a:r>
              <a:rPr lang="de-DE" dirty="0"/>
              <a:t>Methods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Module</a:t>
            </a:r>
          </a:p>
          <a:p>
            <a:pPr>
              <a:lnSpc>
                <a:spcPct val="150000"/>
              </a:lnSpc>
            </a:pPr>
            <a:r>
              <a:rPr lang="de-DE" dirty="0" err="1"/>
              <a:t>Ressources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862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33C2C7-9606-1269-19CF-FF8A553B1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Criteria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Methods</a:t>
            </a:r>
          </a:p>
        </p:txBody>
      </p:sp>
      <p:pic>
        <p:nvPicPr>
          <p:cNvPr id="7" name="Picture 6" descr="A black and white image of symbols&#10;&#10;Description automatically generated">
            <a:extLst>
              <a:ext uri="{FF2B5EF4-FFF2-40B4-BE49-F238E27FC236}">
                <a16:creationId xmlns:a16="http://schemas.microsoft.com/office/drawing/2014/main" id="{90A680E7-FD0F-F729-736C-7B8B874F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958" y="2037805"/>
            <a:ext cx="4694084" cy="440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1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3ADE-0F26-4211-EB60-8A8FEA73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Conference Week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C00A9-F24A-9EF8-8B9B-0DC61ABC1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000" y="1825884"/>
            <a:ext cx="9600000" cy="5538301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‘Inclusive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residential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communities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social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integration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personal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’	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research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focusses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inspiring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stories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people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different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backgrounds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abilities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who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live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housing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live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successfully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b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‘Headline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spectacle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around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Last Generation’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analyse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framing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narratives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newspaper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articles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have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reported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Last Generation.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reporting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remain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neutral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readers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a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certain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direction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br>
              <a:rPr lang="de-DE" sz="2133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133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‘Human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violations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environmental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global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agricultural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supply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chains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example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Chiquita Group’</a:t>
            </a:r>
          </a:p>
          <a:p>
            <a:pPr marL="304815" lvl="1">
              <a:spcBef>
                <a:spcPts val="0"/>
              </a:spcBef>
            </a:pP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Swiss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company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Chiquita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leaders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banana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trade. But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does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come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conditions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harvested</a:t>
            </a:r>
            <a:r>
              <a:rPr lang="de-DE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7057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ECE7-9517-E271-36D7-8CD42E98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Starter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2EC0C-9A3F-98CE-82A0-93A7EC440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sz="2800" dirty="0"/>
          </a:p>
          <a:p>
            <a:endParaRPr lang="de-DE" sz="2800" dirty="0"/>
          </a:p>
          <a:p>
            <a:r>
              <a:rPr lang="de-DE" sz="2800" dirty="0"/>
              <a:t>Simple </a:t>
            </a:r>
            <a:r>
              <a:rPr lang="de-DE" sz="2800" dirty="0" err="1"/>
              <a:t>methods</a:t>
            </a:r>
            <a:r>
              <a:rPr lang="de-DE" sz="2800" dirty="0"/>
              <a:t> </a:t>
            </a:r>
            <a:r>
              <a:rPr lang="de-DE" sz="2800" dirty="0" err="1"/>
              <a:t>which</a:t>
            </a:r>
            <a:r>
              <a:rPr lang="de-DE" sz="2800" dirty="0"/>
              <a:t> </a:t>
            </a:r>
            <a:r>
              <a:rPr lang="de-DE" sz="2800" dirty="0" err="1"/>
              <a:t>can</a:t>
            </a:r>
            <a:r>
              <a:rPr lang="de-DE" sz="2800" dirty="0"/>
              <a:t> </a:t>
            </a:r>
            <a:r>
              <a:rPr lang="de-DE" sz="2800" dirty="0" err="1"/>
              <a:t>be</a:t>
            </a:r>
            <a:r>
              <a:rPr lang="de-DE" sz="2800" dirty="0"/>
              <a:t> </a:t>
            </a:r>
            <a:r>
              <a:rPr lang="de-DE" sz="2800" dirty="0" err="1"/>
              <a:t>learned</a:t>
            </a:r>
            <a:r>
              <a:rPr lang="de-DE" sz="2800" dirty="0"/>
              <a:t> in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first</a:t>
            </a:r>
            <a:r>
              <a:rPr lang="de-DE" sz="2800" dirty="0"/>
              <a:t> </a:t>
            </a:r>
            <a:r>
              <a:rPr lang="de-DE" sz="2800" dirty="0" err="1"/>
              <a:t>semester</a:t>
            </a:r>
            <a:endParaRPr lang="de-DE" sz="2800" dirty="0"/>
          </a:p>
          <a:p>
            <a:pPr lvl="1"/>
            <a:r>
              <a:rPr lang="de-DE" sz="2400" dirty="0"/>
              <a:t>Can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applied</a:t>
            </a:r>
            <a:r>
              <a:rPr lang="de-DE" sz="2400" dirty="0"/>
              <a:t> in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Responsibility</a:t>
            </a:r>
            <a:r>
              <a:rPr lang="de-DE" sz="2400" dirty="0"/>
              <a:t> Project</a:t>
            </a:r>
          </a:p>
          <a:p>
            <a:pPr lvl="1"/>
            <a:endParaRPr lang="de-DE" sz="2400" dirty="0"/>
          </a:p>
          <a:p>
            <a:pPr marL="0" indent="0">
              <a:buNone/>
            </a:pPr>
            <a:endParaRPr lang="de-DE" sz="2667" dirty="0">
              <a:hlinkClick r:id="rId3"/>
            </a:endParaRPr>
          </a:p>
          <a:p>
            <a:pPr marL="0" indent="0">
              <a:buNone/>
            </a:pPr>
            <a:r>
              <a:rPr lang="de-DE" sz="2667" dirty="0">
                <a:hlinkClick r:id="rId3"/>
              </a:rPr>
              <a:t>https://wiki-methods.vercel.app/starter-package</a:t>
            </a:r>
            <a:r>
              <a:rPr lang="de-DE" sz="2667" dirty="0"/>
              <a:t>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84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F64C-B1CA-AB2F-DB4D-F39CF055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Methods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66E3-8D67-2A7F-972A-D0B21070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Get</a:t>
            </a:r>
            <a:r>
              <a:rPr lang="de-DE" sz="2400" dirty="0"/>
              <a:t> </a:t>
            </a:r>
            <a:r>
              <a:rPr lang="de-DE" sz="2400" dirty="0" err="1"/>
              <a:t>together</a:t>
            </a:r>
            <a:r>
              <a:rPr lang="de-DE" sz="2400" dirty="0"/>
              <a:t> in </a:t>
            </a:r>
            <a:r>
              <a:rPr lang="de-DE" sz="2400" dirty="0" err="1"/>
              <a:t>small</a:t>
            </a:r>
            <a:r>
              <a:rPr lang="de-DE" sz="2400" dirty="0"/>
              <a:t> </a:t>
            </a:r>
            <a:r>
              <a:rPr lang="de-DE" sz="2400" dirty="0" err="1"/>
              <a:t>groups</a:t>
            </a:r>
            <a:r>
              <a:rPr lang="de-DE" sz="2400" dirty="0"/>
              <a:t> (3-4)</a:t>
            </a:r>
          </a:p>
          <a:p>
            <a:r>
              <a:rPr lang="de-DE" sz="2400" dirty="0" err="1"/>
              <a:t>Which</a:t>
            </a:r>
            <a:r>
              <a:rPr lang="de-DE" sz="2400" dirty="0"/>
              <a:t> </a:t>
            </a:r>
            <a:r>
              <a:rPr lang="de-DE" sz="2400" dirty="0" err="1"/>
              <a:t>methods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starter</a:t>
            </a:r>
            <a:r>
              <a:rPr lang="de-DE" sz="2400" dirty="0"/>
              <a:t> </a:t>
            </a:r>
            <a:r>
              <a:rPr lang="de-DE" sz="2400" dirty="0" err="1"/>
              <a:t>package</a:t>
            </a:r>
            <a:r>
              <a:rPr lang="de-DE" sz="2400" dirty="0"/>
              <a:t> </a:t>
            </a:r>
            <a:r>
              <a:rPr lang="de-DE" sz="2400" dirty="0" err="1"/>
              <a:t>could</a:t>
            </a:r>
            <a:r>
              <a:rPr lang="de-DE" sz="2400" dirty="0"/>
              <a:t> </a:t>
            </a: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use</a:t>
            </a:r>
            <a:r>
              <a:rPr lang="de-DE" sz="2400" dirty="0"/>
              <a:t> in </a:t>
            </a:r>
            <a:r>
              <a:rPr lang="de-DE" sz="2400" dirty="0" err="1"/>
              <a:t>your</a:t>
            </a:r>
            <a:r>
              <a:rPr lang="de-DE" sz="2400" dirty="0"/>
              <a:t> </a:t>
            </a:r>
            <a:r>
              <a:rPr lang="de-DE" sz="2400" dirty="0" err="1"/>
              <a:t>responsibility</a:t>
            </a:r>
            <a:r>
              <a:rPr lang="de-DE" sz="2400" dirty="0"/>
              <a:t> </a:t>
            </a:r>
            <a:r>
              <a:rPr lang="de-DE" sz="2400" dirty="0" err="1"/>
              <a:t>project</a:t>
            </a:r>
            <a:r>
              <a:rPr lang="de-DE" sz="2400" dirty="0"/>
              <a:t>?</a:t>
            </a:r>
          </a:p>
          <a:p>
            <a:r>
              <a:rPr lang="de-DE" sz="2400" dirty="0" err="1"/>
              <a:t>Examples</a:t>
            </a:r>
            <a:r>
              <a:rPr lang="de-DE" sz="2400" dirty="0"/>
              <a:t>:</a:t>
            </a:r>
          </a:p>
          <a:p>
            <a:pPr lvl="1"/>
            <a:r>
              <a:rPr lang="de-DE" sz="2000" dirty="0"/>
              <a:t>Seminar: Climate </a:t>
            </a:r>
            <a:r>
              <a:rPr lang="de-DE" sz="2000" dirty="0" err="1"/>
              <a:t>adaptation</a:t>
            </a:r>
            <a:r>
              <a:rPr lang="de-DE" sz="2000" dirty="0"/>
              <a:t> in Hamburg. -&gt; </a:t>
            </a:r>
            <a:r>
              <a:rPr lang="de-DE" sz="2000" dirty="0" err="1"/>
              <a:t>future-oriented</a:t>
            </a:r>
            <a:r>
              <a:rPr lang="de-DE" sz="2000" dirty="0"/>
              <a:t> </a:t>
            </a:r>
            <a:r>
              <a:rPr lang="de-DE" sz="2000" dirty="0" err="1"/>
              <a:t>method</a:t>
            </a:r>
            <a:endParaRPr lang="de-DE" sz="2000" dirty="0"/>
          </a:p>
          <a:p>
            <a:pPr lvl="1"/>
            <a:r>
              <a:rPr lang="de-DE" sz="2000" dirty="0"/>
              <a:t>Seminar: </a:t>
            </a:r>
            <a:r>
              <a:rPr lang="de-DE" sz="2000" dirty="0" err="1"/>
              <a:t>Sustainable</a:t>
            </a:r>
            <a:r>
              <a:rPr lang="de-DE" sz="2000" dirty="0"/>
              <a:t> </a:t>
            </a:r>
            <a:r>
              <a:rPr lang="de-DE" sz="2000" dirty="0" err="1"/>
              <a:t>supply</a:t>
            </a:r>
            <a:r>
              <a:rPr lang="de-DE" sz="2000" dirty="0"/>
              <a:t> </a:t>
            </a:r>
            <a:r>
              <a:rPr lang="de-DE" sz="2000" dirty="0" err="1"/>
              <a:t>chains</a:t>
            </a:r>
            <a:r>
              <a:rPr lang="de-DE" sz="2000" dirty="0"/>
              <a:t> in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technology</a:t>
            </a:r>
            <a:r>
              <a:rPr lang="de-DE" sz="2000" dirty="0"/>
              <a:t> </a:t>
            </a:r>
            <a:r>
              <a:rPr lang="de-DE" sz="2000" dirty="0" err="1"/>
              <a:t>sector</a:t>
            </a:r>
            <a:r>
              <a:rPr lang="de-DE" sz="2000" dirty="0"/>
              <a:t>. -&gt; </a:t>
            </a:r>
            <a:r>
              <a:rPr lang="de-DE" sz="2000" dirty="0" err="1"/>
              <a:t>system</a:t>
            </a:r>
            <a:r>
              <a:rPr lang="de-DE" sz="2000" dirty="0"/>
              <a:t> </a:t>
            </a:r>
            <a:r>
              <a:rPr lang="de-DE" sz="2000" dirty="0" err="1"/>
              <a:t>level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67677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C4BD-0D8B-D565-C0BC-09F0A2CA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Ressources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33A93-BD1C-8596-D1AC-641397183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More Methods: </a:t>
            </a:r>
            <a:r>
              <a:rPr lang="de-DE" dirty="0">
                <a:hlinkClick r:id="rId2"/>
              </a:rPr>
              <a:t>https://sustainabilitymethods.org/index.php/Methods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2223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A4FE91-87FA-D358-88D3-2115F891AF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5383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2318D-64F3-9DEC-FA08-7DF858B63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See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2144532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BD7FC8-2971-4DE0-BC1F-2FE4E8E32D5E}"/>
</file>

<file path=customXml/itemProps2.xml><?xml version="1.0" encoding="utf-8"?>
<ds:datastoreItem xmlns:ds="http://schemas.openxmlformats.org/officeDocument/2006/customXml" ds:itemID="{8251FF06-4D60-4343-BF87-18CAEEF801A3}"/>
</file>

<file path=customXml/itemProps3.xml><?xml version="1.0" encoding="utf-8"?>
<ds:datastoreItem xmlns:ds="http://schemas.openxmlformats.org/officeDocument/2006/customXml" ds:itemID="{A37D87AC-6883-4D88-9169-D69DD1418F8E}"/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766</Words>
  <Application>Microsoft Macintosh PowerPoint</Application>
  <PresentationFormat>Widescreen</PresentationFormat>
  <Paragraphs>56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Wingdings</vt:lpstr>
      <vt:lpstr>Benutzerdefiniertes Design</vt:lpstr>
      <vt:lpstr>Scientific Methods</vt:lpstr>
      <vt:lpstr>Agenda</vt:lpstr>
      <vt:lpstr>Design Criteria for Methods</vt:lpstr>
      <vt:lpstr>Projects of the Conference Week 2024</vt:lpstr>
      <vt:lpstr>Methods Starter Package</vt:lpstr>
      <vt:lpstr>Methods in the Responsibility Project</vt:lpstr>
      <vt:lpstr>Ressources</vt:lpstr>
      <vt:lpstr>Questions?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 Kruegermeier</dc:creator>
  <cp:lastModifiedBy>Carlo Kruegermeier</cp:lastModifiedBy>
  <cp:revision>6</cp:revision>
  <dcterms:created xsi:type="dcterms:W3CDTF">2024-08-29T13:57:01Z</dcterms:created>
  <dcterms:modified xsi:type="dcterms:W3CDTF">2024-09-26T14:18:26Z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