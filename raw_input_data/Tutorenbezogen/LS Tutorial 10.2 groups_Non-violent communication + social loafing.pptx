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notesMasterIdLst>
    <p:notesMasterId r:id="rId17"/>
  </p:notesMasterIdLst>
  <p:sldIdLst>
    <p:sldId id="256" r:id="rId5"/>
    <p:sldId id="257" r:id="rId6"/>
    <p:sldId id="258" r:id="rId7"/>
    <p:sldId id="272" r:id="rId8"/>
    <p:sldId id="263" r:id="rId9"/>
    <p:sldId id="261" r:id="rId10"/>
    <p:sldId id="275" r:id="rId11"/>
    <p:sldId id="259" r:id="rId12"/>
    <p:sldId id="273" r:id="rId13"/>
    <p:sldId id="276" r:id="rId14"/>
    <p:sldId id="280" r:id="rId15"/>
    <p:sldId id="282" r:id="rId16"/>
  </p:sldIdLst>
  <p:sldSz cx="18288000" cy="10287000"/>
  <p:notesSz cx="6858000" cy="9144000"/>
  <p:embeddedFontLst>
    <p:embeddedFont>
      <p:font typeface="Lora" pitchFamily="2" charset="0"/>
      <p:regular r:id="rId18"/>
      <p:bold r:id="rId19"/>
      <p:italic r:id="rId20"/>
      <p:boldItalic r:id="rId21"/>
    </p:embeddedFont>
    <p:embeddedFont>
      <p:font typeface="Quattrocento Sans" panose="020B05020500000200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6" autoAdjust="0"/>
    <p:restoredTop sz="66718" autoAdjust="0"/>
  </p:normalViewPr>
  <p:slideViewPr>
    <p:cSldViewPr>
      <p:cViewPr varScale="1">
        <p:scale>
          <a:sx n="72" d="100"/>
          <a:sy n="72" d="100"/>
        </p:scale>
        <p:origin x="272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22.06.2026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Tutors: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 also be divided thematically into two parts as desired and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Exercises can be shortened or skipped if time is short.</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1</a:t>
            </a:fld>
            <a:endParaRPr lang="de-DE"/>
          </a:p>
        </p:txBody>
      </p:sp>
    </p:spTree>
    <p:extLst>
      <p:ext uri="{BB962C8B-B14F-4D97-AF65-F5344CB8AC3E}">
        <p14:creationId xmlns:p14="http://schemas.microsoft.com/office/powerpoint/2010/main" val="944432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Communication is the be-all and end-all in group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case misunderstandings arise and conflicts arise, I will introduce Nonviolent Communication today.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can help you to speak better with each other and to pay attention to the needs of others.</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2</a:t>
            </a:fld>
            <a:endParaRPr lang="de-DE"/>
          </a:p>
        </p:txBody>
      </p:sp>
    </p:spTree>
    <p:extLst>
      <p:ext uri="{BB962C8B-B14F-4D97-AF65-F5344CB8AC3E}">
        <p14:creationId xmlns:p14="http://schemas.microsoft.com/office/powerpoint/2010/main" val="1267558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in plenary: brainstorming on verbal violence, experiences, also reference to current group work</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00162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de-DE" dirty="0" err="1"/>
              <a:t>For</a:t>
            </a:r>
            <a:r>
              <a:rPr lang="de-DE" dirty="0"/>
              <a:t> Tutors = Input</a:t>
            </a:r>
          </a:p>
          <a:p>
            <a:pPr marL="171450" indent="-171450">
              <a:buFont typeface="Arial" panose="020B0604020202020204" pitchFamily="34" charset="0"/>
              <a:buChar char="•"/>
              <a:defRPr/>
            </a:pPr>
            <a:r>
              <a:rPr lang="de-DE" dirty="0"/>
              <a:t>The </a:t>
            </a:r>
            <a:r>
              <a:rPr lang="de-DE" dirty="0" err="1"/>
              <a:t>concept</a:t>
            </a:r>
            <a:r>
              <a:rPr lang="de-DE" dirty="0"/>
              <a:t> was </a:t>
            </a:r>
            <a:r>
              <a:rPr lang="de-DE" dirty="0" err="1"/>
              <a:t>developed</a:t>
            </a:r>
            <a:r>
              <a:rPr lang="de-DE" dirty="0"/>
              <a:t> </a:t>
            </a:r>
            <a:r>
              <a:rPr lang="de-DE" dirty="0" err="1"/>
              <a:t>by</a:t>
            </a:r>
            <a:r>
              <a:rPr lang="de-DE" dirty="0"/>
              <a:t> Marshall Rosenberg and </a:t>
            </a:r>
            <a:r>
              <a:rPr lang="de-DE" dirty="0" err="1"/>
              <a:t>aims</a:t>
            </a:r>
            <a:r>
              <a:rPr lang="de-DE" dirty="0"/>
              <a:t> at </a:t>
            </a:r>
            <a:r>
              <a:rPr lang="de-DE" dirty="0" err="1"/>
              <a:t>appreciative</a:t>
            </a:r>
            <a:r>
              <a:rPr lang="de-DE" dirty="0"/>
              <a:t> </a:t>
            </a:r>
            <a:r>
              <a:rPr lang="de-DE" dirty="0" err="1"/>
              <a:t>communication</a:t>
            </a:r>
            <a:r>
              <a:rPr lang="de-DE" dirty="0"/>
              <a:t>. The </a:t>
            </a:r>
            <a:r>
              <a:rPr lang="de-DE" dirty="0" err="1"/>
              <a:t>concept</a:t>
            </a:r>
            <a:r>
              <a:rPr lang="de-DE" dirty="0"/>
              <a:t> </a:t>
            </a:r>
            <a:r>
              <a:rPr lang="de-DE" dirty="0" err="1"/>
              <a:t>is</a:t>
            </a:r>
            <a:r>
              <a:rPr lang="de-DE" dirty="0"/>
              <a:t> </a:t>
            </a:r>
            <a:r>
              <a:rPr lang="de-DE" dirty="0" err="1"/>
              <a:t>helpful</a:t>
            </a:r>
            <a:r>
              <a:rPr lang="de-DE" dirty="0"/>
              <a:t> </a:t>
            </a:r>
            <a:r>
              <a:rPr lang="de-DE" dirty="0" err="1"/>
              <a:t>for</a:t>
            </a:r>
            <a:r>
              <a:rPr lang="de-DE" dirty="0"/>
              <a:t> </a:t>
            </a:r>
            <a:r>
              <a:rPr lang="de-DE" dirty="0" err="1"/>
              <a:t>everyday</a:t>
            </a:r>
            <a:r>
              <a:rPr lang="de-DE" dirty="0"/>
              <a:t> </a:t>
            </a:r>
            <a:r>
              <a:rPr lang="de-DE" dirty="0" err="1"/>
              <a:t>life</a:t>
            </a:r>
            <a:r>
              <a:rPr lang="de-DE" dirty="0"/>
              <a:t> </a:t>
            </a:r>
            <a:r>
              <a:rPr lang="de-DE" dirty="0" err="1"/>
              <a:t>as</a:t>
            </a:r>
            <a:r>
              <a:rPr lang="de-DE" dirty="0"/>
              <a:t> </a:t>
            </a:r>
            <a:r>
              <a:rPr lang="de-DE" dirty="0" err="1"/>
              <a:t>well</a:t>
            </a:r>
            <a:r>
              <a:rPr lang="de-DE" dirty="0"/>
              <a:t> </a:t>
            </a:r>
            <a:r>
              <a:rPr lang="de-DE" dirty="0" err="1"/>
              <a:t>as</a:t>
            </a:r>
            <a:r>
              <a:rPr lang="de-DE" dirty="0"/>
              <a:t> professional and </a:t>
            </a:r>
            <a:r>
              <a:rPr lang="de-DE" dirty="0" err="1"/>
              <a:t>political</a:t>
            </a:r>
            <a:r>
              <a:rPr lang="de-DE" dirty="0"/>
              <a:t> </a:t>
            </a:r>
            <a:r>
              <a:rPr lang="de-DE" dirty="0" err="1"/>
              <a:t>conflicts</a:t>
            </a:r>
            <a:r>
              <a:rPr lang="de-DE" dirty="0"/>
              <a:t>.</a:t>
            </a:r>
          </a:p>
          <a:p>
            <a:pPr marL="171450" indent="-171450">
              <a:buFont typeface="Arial" panose="020B0604020202020204" pitchFamily="34" charset="0"/>
              <a:buChar char="•"/>
              <a:defRPr/>
            </a:pPr>
            <a:r>
              <a:rPr lang="de-DE" dirty="0" err="1"/>
              <a:t>There</a:t>
            </a:r>
            <a:r>
              <a:rPr lang="de-DE" dirty="0"/>
              <a:t> </a:t>
            </a:r>
            <a:r>
              <a:rPr lang="de-DE" dirty="0" err="1"/>
              <a:t>are</a:t>
            </a:r>
            <a:r>
              <a:rPr lang="de-DE" dirty="0"/>
              <a:t> </a:t>
            </a:r>
            <a:r>
              <a:rPr lang="de-DE" dirty="0" err="1"/>
              <a:t>two</a:t>
            </a:r>
            <a:r>
              <a:rPr lang="de-DE" dirty="0"/>
              <a:t> </a:t>
            </a:r>
            <a:r>
              <a:rPr lang="de-DE" dirty="0" err="1"/>
              <a:t>types</a:t>
            </a:r>
            <a:r>
              <a:rPr lang="de-DE" dirty="0"/>
              <a:t> </a:t>
            </a:r>
            <a:r>
              <a:rPr lang="de-DE" dirty="0" err="1"/>
              <a:t>of</a:t>
            </a:r>
            <a:r>
              <a:rPr lang="de-DE" dirty="0"/>
              <a:t> </a:t>
            </a:r>
            <a:r>
              <a:rPr lang="de-DE" dirty="0" err="1"/>
              <a:t>communication</a:t>
            </a:r>
            <a:r>
              <a:rPr lang="de-DE" dirty="0"/>
              <a:t>: </a:t>
            </a:r>
            <a:r>
              <a:rPr lang="de-DE" dirty="0" err="1"/>
              <a:t>life</a:t>
            </a:r>
            <a:r>
              <a:rPr lang="de-DE" dirty="0"/>
              <a:t> </a:t>
            </a:r>
            <a:r>
              <a:rPr lang="de-DE" dirty="0" err="1"/>
              <a:t>alienating</a:t>
            </a:r>
            <a:r>
              <a:rPr lang="de-DE" dirty="0"/>
              <a:t> </a:t>
            </a:r>
            <a:r>
              <a:rPr lang="de-DE" dirty="0" err="1"/>
              <a:t>communication</a:t>
            </a:r>
            <a:r>
              <a:rPr lang="de-DE" dirty="0"/>
              <a:t> and non-violent </a:t>
            </a:r>
            <a:r>
              <a:rPr lang="de-DE" dirty="0" err="1"/>
              <a:t>communication</a:t>
            </a:r>
            <a:r>
              <a:rPr lang="de-DE" dirty="0"/>
              <a:t>.</a:t>
            </a:r>
          </a:p>
          <a:p>
            <a:pPr marL="628650" lvl="1" indent="-171450">
              <a:buFont typeface="Arial" panose="020B0604020202020204" pitchFamily="34" charset="0"/>
              <a:buChar char="•"/>
              <a:defRPr/>
            </a:pPr>
            <a:r>
              <a:rPr lang="de-DE" b="1" dirty="0" err="1"/>
              <a:t>Alienated</a:t>
            </a:r>
            <a:r>
              <a:rPr lang="de-DE" b="1" dirty="0"/>
              <a:t> </a:t>
            </a:r>
            <a:r>
              <a:rPr lang="de-DE" b="1" dirty="0" err="1"/>
              <a:t>from</a:t>
            </a:r>
            <a:r>
              <a:rPr lang="de-DE" b="1" dirty="0"/>
              <a:t> </a:t>
            </a:r>
            <a:r>
              <a:rPr lang="de-DE" b="1" dirty="0" err="1"/>
              <a:t>life</a:t>
            </a:r>
            <a:r>
              <a:rPr lang="de-DE" dirty="0"/>
              <a:t>: </a:t>
            </a:r>
            <a:r>
              <a:rPr lang="de-DE" dirty="0" err="1"/>
              <a:t>for</a:t>
            </a:r>
            <a:r>
              <a:rPr lang="de-DE" dirty="0"/>
              <a:t> </a:t>
            </a:r>
            <a:r>
              <a:rPr lang="de-DE" dirty="0" err="1"/>
              <a:t>example</a:t>
            </a:r>
            <a:r>
              <a:rPr lang="de-DE" dirty="0"/>
              <a:t>, </a:t>
            </a:r>
            <a:r>
              <a:rPr lang="de-DE" dirty="0" err="1"/>
              <a:t>judging</a:t>
            </a:r>
            <a:r>
              <a:rPr lang="de-DE" dirty="0"/>
              <a:t> </a:t>
            </a:r>
            <a:r>
              <a:rPr lang="de-DE" dirty="0" err="1"/>
              <a:t>communication</a:t>
            </a:r>
            <a:r>
              <a:rPr lang="de-DE" dirty="0"/>
              <a:t> </a:t>
            </a:r>
            <a:r>
              <a:rPr lang="de-DE" dirty="0" err="1"/>
              <a:t>partners</a:t>
            </a:r>
            <a:r>
              <a:rPr lang="de-DE" dirty="0"/>
              <a:t> </a:t>
            </a:r>
            <a:r>
              <a:rPr lang="de-DE" dirty="0" err="1"/>
              <a:t>or</a:t>
            </a:r>
            <a:r>
              <a:rPr lang="de-DE" dirty="0"/>
              <a:t> </a:t>
            </a:r>
            <a:r>
              <a:rPr lang="de-DE" dirty="0" err="1"/>
              <a:t>denying</a:t>
            </a:r>
            <a:r>
              <a:rPr lang="de-DE" dirty="0"/>
              <a:t> </a:t>
            </a:r>
            <a:r>
              <a:rPr lang="de-DE" dirty="0" err="1"/>
              <a:t>one's</a:t>
            </a:r>
            <a:r>
              <a:rPr lang="de-DE" dirty="0"/>
              <a:t> own </a:t>
            </a:r>
            <a:r>
              <a:rPr lang="de-DE" dirty="0" err="1"/>
              <a:t>responsibility</a:t>
            </a:r>
            <a:r>
              <a:rPr lang="de-DE" dirty="0"/>
              <a:t>. Can </a:t>
            </a:r>
            <a:r>
              <a:rPr lang="de-DE" dirty="0" err="1"/>
              <a:t>lead</a:t>
            </a:r>
            <a:r>
              <a:rPr lang="de-DE" dirty="0"/>
              <a:t> </a:t>
            </a:r>
            <a:r>
              <a:rPr lang="de-DE" dirty="0" err="1"/>
              <a:t>to</a:t>
            </a:r>
            <a:r>
              <a:rPr lang="de-DE" dirty="0"/>
              <a:t> </a:t>
            </a:r>
            <a:r>
              <a:rPr lang="de-DE" dirty="0" err="1"/>
              <a:t>physical</a:t>
            </a:r>
            <a:r>
              <a:rPr lang="de-DE" dirty="0"/>
              <a:t> and/</a:t>
            </a:r>
            <a:r>
              <a:rPr lang="de-DE" dirty="0" err="1"/>
              <a:t>or</a:t>
            </a:r>
            <a:r>
              <a:rPr lang="de-DE" dirty="0"/>
              <a:t> </a:t>
            </a:r>
            <a:r>
              <a:rPr lang="de-DE" dirty="0" err="1"/>
              <a:t>psychological</a:t>
            </a:r>
            <a:r>
              <a:rPr lang="de-DE" dirty="0"/>
              <a:t> </a:t>
            </a:r>
            <a:r>
              <a:rPr lang="de-DE" dirty="0" err="1"/>
              <a:t>violence</a:t>
            </a:r>
            <a:endParaRPr lang="de-DE" b="0" dirty="0"/>
          </a:p>
          <a:p>
            <a:pPr marL="628650" lvl="1" indent="-171450">
              <a:buFont typeface="Arial" panose="020B0604020202020204" pitchFamily="34" charset="0"/>
              <a:buChar char="•"/>
              <a:defRPr/>
            </a:pPr>
            <a:r>
              <a:rPr lang="de-DE" b="1" dirty="0" err="1"/>
              <a:t>Nonviolent</a:t>
            </a:r>
            <a:r>
              <a:rPr lang="de-DE" b="1" dirty="0"/>
              <a:t> </a:t>
            </a:r>
            <a:r>
              <a:rPr lang="de-DE" b="1" dirty="0" err="1"/>
              <a:t>communication</a:t>
            </a:r>
            <a:r>
              <a:rPr lang="de-DE" dirty="0"/>
              <a:t>: </a:t>
            </a:r>
            <a:r>
              <a:rPr lang="de-DE" dirty="0" err="1"/>
              <a:t>clear</a:t>
            </a:r>
            <a:r>
              <a:rPr lang="de-DE" dirty="0"/>
              <a:t> and honest </a:t>
            </a:r>
            <a:r>
              <a:rPr lang="de-DE" dirty="0" err="1"/>
              <a:t>expression</a:t>
            </a:r>
            <a:r>
              <a:rPr lang="de-DE" dirty="0"/>
              <a:t>; </a:t>
            </a:r>
            <a:r>
              <a:rPr lang="de-DE" dirty="0" err="1"/>
              <a:t>listening</a:t>
            </a:r>
            <a:r>
              <a:rPr lang="de-DE" dirty="0"/>
              <a:t> </a:t>
            </a:r>
            <a:r>
              <a:rPr lang="de-DE" dirty="0" err="1"/>
              <a:t>empathetically</a:t>
            </a:r>
            <a:r>
              <a:rPr lang="de-DE" dirty="0"/>
              <a:t> </a:t>
            </a:r>
            <a:r>
              <a:rPr lang="de-DE" dirty="0" err="1"/>
              <a:t>to</a:t>
            </a:r>
            <a:r>
              <a:rPr lang="de-DE" dirty="0"/>
              <a:t> </a:t>
            </a:r>
            <a:r>
              <a:rPr lang="de-DE" dirty="0" err="1"/>
              <a:t>the</a:t>
            </a:r>
            <a:r>
              <a:rPr lang="de-DE" dirty="0"/>
              <a:t> </a:t>
            </a:r>
            <a:r>
              <a:rPr lang="de-DE" dirty="0" err="1"/>
              <a:t>partner</a:t>
            </a:r>
            <a:endParaRPr lang="de-DE" dirty="0"/>
          </a:p>
          <a:p>
            <a:pPr marL="457200" lvl="1" indent="0">
              <a:buFont typeface="Arial" panose="020B0604020202020204" pitchFamily="34" charset="0"/>
              <a:buNone/>
              <a:defRPr/>
            </a:pPr>
            <a:endParaRPr lang="de-DE" dirty="0"/>
          </a:p>
          <a:p>
            <a:pPr lvl="0">
              <a:defRPr/>
            </a:pPr>
            <a:r>
              <a:rPr lang="de-DE" dirty="0" err="1"/>
              <a:t>Four</a:t>
            </a:r>
            <a:r>
              <a:rPr lang="de-DE" dirty="0"/>
              <a:t> </a:t>
            </a:r>
            <a:r>
              <a:rPr lang="de-DE" dirty="0" err="1"/>
              <a:t>steps</a:t>
            </a:r>
            <a:r>
              <a:rPr lang="de-DE" dirty="0"/>
              <a:t> </a:t>
            </a:r>
            <a:r>
              <a:rPr lang="de-DE" dirty="0" err="1"/>
              <a:t>of</a:t>
            </a:r>
            <a:r>
              <a:rPr lang="de-DE" dirty="0"/>
              <a:t> </a:t>
            </a:r>
            <a:r>
              <a:rPr lang="de-DE" dirty="0" err="1"/>
              <a:t>nonviolent</a:t>
            </a:r>
            <a:r>
              <a:rPr lang="de-DE" dirty="0"/>
              <a:t> </a:t>
            </a:r>
            <a:r>
              <a:rPr lang="de-DE" dirty="0" err="1"/>
              <a:t>communication</a:t>
            </a:r>
            <a:r>
              <a:rPr lang="de-DE" dirty="0"/>
              <a:t>:</a:t>
            </a:r>
          </a:p>
          <a:p>
            <a:pPr marL="628650" lvl="1" indent="-171450">
              <a:buFont typeface="Arial" panose="020B0604020202020204" pitchFamily="34" charset="0"/>
              <a:buChar char="•"/>
              <a:defRPr/>
            </a:pPr>
            <a:r>
              <a:rPr lang="de-DE" dirty="0" err="1"/>
              <a:t>Formulate</a:t>
            </a:r>
            <a:r>
              <a:rPr lang="de-DE" dirty="0"/>
              <a:t> </a:t>
            </a:r>
            <a:r>
              <a:rPr lang="de-DE" dirty="0" err="1"/>
              <a:t>observation</a:t>
            </a:r>
            <a:endParaRPr lang="de-DE" dirty="0"/>
          </a:p>
          <a:p>
            <a:pPr marL="628650" lvl="1" indent="-171450">
              <a:buFont typeface="Arial" panose="020B0604020202020204" pitchFamily="34" charset="0"/>
              <a:buChar char="•"/>
              <a:defRPr/>
            </a:pPr>
            <a:r>
              <a:rPr lang="de-DE" dirty="0"/>
              <a:t>Name </a:t>
            </a:r>
            <a:r>
              <a:rPr lang="de-DE" dirty="0" err="1"/>
              <a:t>connected</a:t>
            </a:r>
            <a:r>
              <a:rPr lang="de-DE" dirty="0"/>
              <a:t> </a:t>
            </a:r>
            <a:r>
              <a:rPr lang="de-DE" dirty="0" err="1"/>
              <a:t>feeling</a:t>
            </a:r>
            <a:endParaRPr lang="de-DE" dirty="0"/>
          </a:p>
          <a:p>
            <a:pPr marL="628650" lvl="1" indent="-171450">
              <a:buFont typeface="Arial" panose="020B0604020202020204" pitchFamily="34" charset="0"/>
              <a:buChar char="•"/>
              <a:defRPr/>
            </a:pPr>
            <a:r>
              <a:rPr lang="de-DE" dirty="0"/>
              <a:t>Express </a:t>
            </a:r>
            <a:r>
              <a:rPr lang="de-DE" dirty="0" err="1"/>
              <a:t>needs</a:t>
            </a:r>
            <a:endParaRPr lang="de-DE" dirty="0"/>
          </a:p>
          <a:p>
            <a:pPr marL="628650" lvl="1" indent="-171450">
              <a:buFont typeface="Arial" panose="020B0604020202020204" pitchFamily="34" charset="0"/>
              <a:buChar char="•"/>
              <a:defRPr/>
            </a:pPr>
            <a:r>
              <a:rPr lang="de-DE" dirty="0"/>
              <a:t>Request express</a:t>
            </a:r>
          </a:p>
        </p:txBody>
      </p:sp>
      <p:sp>
        <p:nvSpPr>
          <p:cNvPr id="4" name="Foliennummernplatzhalter 3"/>
          <p:cNvSpPr>
            <a:spLocks noGrp="1"/>
          </p:cNvSpPr>
          <p:nvPr>
            <p:ph type="sldNum" sz="quarter" idx="5"/>
          </p:nvPr>
        </p:nvSpPr>
        <p:spPr/>
        <p:txBody>
          <a:bodyPr/>
          <a:lstStyle/>
          <a:p>
            <a:fld id="{91C7837A-BE0C-8E44-AC6E-3BD867A160FB}" type="slidenum">
              <a:rPr lang="de-DE" smtClean="0"/>
              <a:t>4</a:t>
            </a:fld>
            <a:endParaRPr lang="de-DE"/>
          </a:p>
        </p:txBody>
      </p:sp>
    </p:spTree>
    <p:extLst>
      <p:ext uri="{BB962C8B-B14F-4D97-AF65-F5344CB8AC3E}">
        <p14:creationId xmlns:p14="http://schemas.microsoft.com/office/powerpoint/2010/main" val="1562228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When these four steps, distinguished by expression and listening, are formulated, we recognize the following components....</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5</a:t>
            </a:fld>
            <a:endParaRPr lang="de-DE"/>
          </a:p>
        </p:txBody>
      </p:sp>
    </p:spTree>
    <p:extLst>
      <p:ext uri="{BB962C8B-B14F-4D97-AF65-F5344CB8AC3E}">
        <p14:creationId xmlns:p14="http://schemas.microsoft.com/office/powerpoint/2010/main" val="2397052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39700" marR="0" lvl="0" indent="0" algn="l" defTabSz="914400">
              <a:lnSpc>
                <a:spcPct val="100000"/>
              </a:lnSpc>
              <a:spcBef>
                <a:spcPts val="0"/>
              </a:spcBef>
              <a:spcAft>
                <a:spcPts val="0"/>
              </a:spcAft>
              <a:buClr>
                <a:srgbClr val="000000"/>
              </a:buClr>
              <a:buSzPts val="1400"/>
              <a:buFont typeface="Arial"/>
              <a:buNone/>
              <a:defRPr/>
            </a:pPr>
            <a:r>
              <a:rPr lang="en-US" dirty="0"/>
              <a:t>Exercise 1: The following sentences are to be converted into statements corresponding to nonviolent communication.</a:t>
            </a:r>
          </a:p>
          <a:p>
            <a:pPr marL="457200" marR="0" lvl="0" indent="-317500" algn="l" defTabSz="914400">
              <a:lnSpc>
                <a:spcPct val="100000"/>
              </a:lnSpc>
              <a:spcBef>
                <a:spcPts val="0"/>
              </a:spcBef>
              <a:spcAft>
                <a:spcPts val="0"/>
              </a:spcAft>
              <a:buClr>
                <a:srgbClr val="000000"/>
              </a:buClr>
              <a:buSzPts val="1400"/>
              <a:buFont typeface="Arial"/>
              <a:buChar char="●"/>
              <a:defRPr/>
            </a:pPr>
            <a:r>
              <a:rPr lang="en-US" dirty="0"/>
              <a:t>Practice in individual work or partner work</a:t>
            </a:r>
          </a:p>
          <a:p>
            <a:pPr marL="457200" marR="0" lvl="0" indent="-317499" algn="l" defTabSz="914400">
              <a:lnSpc>
                <a:spcPct val="100000"/>
              </a:lnSpc>
              <a:spcBef>
                <a:spcPts val="0"/>
              </a:spcBef>
              <a:spcAft>
                <a:spcPts val="0"/>
              </a:spcAft>
              <a:buClr>
                <a:srgbClr val="000000"/>
              </a:buClr>
              <a:buSzPts val="1400"/>
              <a:buFont typeface="Arial"/>
              <a:buChar char="●"/>
              <a:defRPr/>
            </a:pPr>
            <a:r>
              <a:rPr lang="en-US" dirty="0"/>
              <a:t>Collect and discuss replacement sentences in plenary</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6</a:t>
            </a:fld>
            <a:endParaRPr lang="de-DE"/>
          </a:p>
        </p:txBody>
      </p:sp>
    </p:spTree>
    <p:extLst>
      <p:ext uri="{BB962C8B-B14F-4D97-AF65-F5344CB8AC3E}">
        <p14:creationId xmlns:p14="http://schemas.microsoft.com/office/powerpoint/2010/main" val="1089283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Exercise 2: Transforming enemy images</a:t>
            </a:r>
          </a:p>
          <a:p>
            <a:pPr>
              <a:defRPr/>
            </a:pPr>
            <a:r>
              <a:rPr lang="en-US" dirty="0"/>
              <a:t>If no conflict has arisen with group members, friends, relatives, acquaintances can also be considered.</a:t>
            </a:r>
          </a:p>
          <a:p>
            <a:pPr>
              <a:defRPr/>
            </a:pPr>
            <a:r>
              <a:rPr lang="en-US" dirty="0"/>
              <a:t>Show the next question only after an answer has been written down/ thought about.</a:t>
            </a:r>
          </a:p>
          <a:p>
            <a:pPr>
              <a:defRPr/>
            </a:pPr>
            <a:r>
              <a:rPr lang="en-US" dirty="0"/>
              <a:t>at the end: has your judgment from the beginning eased?</a:t>
            </a:r>
          </a:p>
        </p:txBody>
      </p:sp>
      <p:sp>
        <p:nvSpPr>
          <p:cNvPr id="4" name="Foliennummernplatzhalter 3"/>
          <p:cNvSpPr>
            <a:spLocks noGrp="1"/>
          </p:cNvSpPr>
          <p:nvPr>
            <p:ph type="sldNum" sz="quarter" idx="5"/>
          </p:nvPr>
        </p:nvSpPr>
        <p:spPr/>
        <p:txBody>
          <a:bodyPr/>
          <a:lstStyle/>
          <a:p>
            <a:fld id="{91C7837A-BE0C-8E44-AC6E-3BD867A160FB}" type="slidenum">
              <a:rPr lang="de-DE" smtClean="0"/>
              <a:t>7</a:t>
            </a:fld>
            <a:endParaRPr lang="de-DE"/>
          </a:p>
        </p:txBody>
      </p:sp>
    </p:spTree>
    <p:extLst>
      <p:ext uri="{BB962C8B-B14F-4D97-AF65-F5344CB8AC3E}">
        <p14:creationId xmlns:p14="http://schemas.microsoft.com/office/powerpoint/2010/main" val="1463006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sz="1050" dirty="0"/>
              <a:t>If the whole group is going full throttle, but one member is putting on the handbrake, you may be dealing with social free-riding. Nonviolent communication can help us find a solution to this all-too-common problem.</a:t>
            </a:r>
            <a:endParaRPr lang="en-US" dirty="0"/>
          </a:p>
          <a:p>
            <a:pPr>
              <a:defRPr/>
            </a:pPr>
            <a:endParaRPr lang="en-US" sz="1050" dirty="0"/>
          </a:p>
          <a:p>
            <a:pPr>
              <a:defRPr/>
            </a:pPr>
            <a:r>
              <a:rPr lang="en-US" sz="1050" dirty="0"/>
              <a:t>First, the question of what social free-riding is all about.</a:t>
            </a:r>
            <a:endParaRPr lang="en-US" dirty="0"/>
          </a:p>
          <a:p>
            <a:pPr marL="628650" lvl="1" indent="-171450">
              <a:buFont typeface="Arial" panose="020B0604020202020204" pitchFamily="34" charset="0"/>
              <a:buChar char="•"/>
              <a:defRPr/>
            </a:pPr>
            <a:r>
              <a:rPr lang="en-US" sz="1050" dirty="0"/>
              <a:t>&gt; "Social free riding summarizes behaviors that individuals in social groups deliberately use to gain as many advantages (benefits) as possible with as little of their own effort (cost) as possible.“</a:t>
            </a:r>
            <a:endParaRPr lang="en-US" sz="1200" dirty="0"/>
          </a:p>
          <a:p>
            <a:pPr marL="628650" lvl="1" indent="-171450">
              <a:buFont typeface="Arial" panose="020B0604020202020204" pitchFamily="34" charset="0"/>
              <a:buChar char="•"/>
              <a:defRPr/>
            </a:pPr>
            <a:r>
              <a:rPr lang="en-US" sz="1050" dirty="0"/>
              <a:t>That is, individuals consciously reduce their effort in the group, passively reaping the fruits of others' labor.</a:t>
            </a:r>
            <a:endParaRPr lang="en-US" dirty="0"/>
          </a:p>
          <a:p>
            <a:pPr lvl="0">
              <a:defRPr/>
            </a:pPr>
            <a:r>
              <a:rPr lang="en-US" sz="1050" dirty="0"/>
              <a:t>You can recognize slackers by the following actions:</a:t>
            </a:r>
            <a:endParaRPr lang="en-US" dirty="0"/>
          </a:p>
          <a:p>
            <a:pPr marL="628650" lvl="1" indent="-171450">
              <a:buFont typeface="Arial" panose="020B0604020202020204" pitchFamily="34" charset="0"/>
              <a:buChar char="•"/>
              <a:defRPr/>
            </a:pPr>
            <a:r>
              <a:rPr lang="en-US" sz="1050" dirty="0"/>
              <a:t>They delegate tasks away from themselves or avoid work altogether.</a:t>
            </a:r>
          </a:p>
          <a:p>
            <a:pPr marL="628650" lvl="1" indent="-171450">
              <a:buFont typeface="Arial" panose="020B0604020202020204" pitchFamily="34" charset="0"/>
              <a:buChar char="•"/>
              <a:defRPr/>
            </a:pPr>
            <a:r>
              <a:rPr lang="en-US" sz="1050" dirty="0"/>
              <a:t>They look for excuses not to attend meetings, for example.</a:t>
            </a:r>
          </a:p>
          <a:p>
            <a:pPr marL="628650" lvl="1" indent="-171450">
              <a:buFont typeface="Arial" panose="020B0604020202020204" pitchFamily="34" charset="0"/>
              <a:buChar char="•"/>
              <a:defRPr/>
            </a:pPr>
            <a:r>
              <a:rPr lang="en-US" sz="1050" dirty="0"/>
              <a:t>In addition, they take little or no personal responsibility.</a:t>
            </a:r>
            <a:endParaRPr lang="en-US" dirty="0"/>
          </a:p>
        </p:txBody>
      </p:sp>
      <p:sp>
        <p:nvSpPr>
          <p:cNvPr id="4" name="Foliennummernplatzhalter 3"/>
          <p:cNvSpPr>
            <a:spLocks noGrp="1"/>
          </p:cNvSpPr>
          <p:nvPr>
            <p:ph type="sldNum" sz="quarter" idx="5"/>
          </p:nvPr>
        </p:nvSpPr>
        <p:spPr/>
        <p:txBody>
          <a:bodyPr/>
          <a:lstStyle/>
          <a:p>
            <a:fld id="{91C7837A-BE0C-8E44-AC6E-3BD867A160FB}" type="slidenum">
              <a:rPr lang="de-DE" smtClean="0"/>
              <a:t>8</a:t>
            </a:fld>
            <a:endParaRPr lang="de-DE"/>
          </a:p>
        </p:txBody>
      </p:sp>
    </p:spTree>
    <p:extLst>
      <p:ext uri="{BB962C8B-B14F-4D97-AF65-F5344CB8AC3E}">
        <p14:creationId xmlns:p14="http://schemas.microsoft.com/office/powerpoint/2010/main" val="104537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en-US" sz="1100" dirty="0"/>
              <a:t>But be careful: the line to involuntary, low productivity is fluid. If tasks are not clearly distributed and a person simply does not know what he or she has to do, it can also appear as laziness. It is not enough here to simply complain that nothing is being done. The question must be asked why she is not doing anything in the group, and whether it is really </a:t>
            </a:r>
            <a:r>
              <a:rPr lang="en-US" sz="1100" i="1" dirty="0"/>
              <a:t>conscious </a:t>
            </a:r>
            <a:r>
              <a:rPr lang="en-US" sz="1100" i="0" dirty="0"/>
              <a:t>social freeloading, or "just" </a:t>
            </a:r>
            <a:r>
              <a:rPr lang="en-US" sz="1100" b="1" i="0" dirty="0"/>
              <a:t>lazing around</a:t>
            </a:r>
            <a:r>
              <a:rPr lang="en-US" sz="1100" i="0" dirty="0"/>
              <a:t>.</a:t>
            </a:r>
            <a:endParaRPr lang="en-US" dirty="0"/>
          </a:p>
          <a:p>
            <a:pPr marL="628650" lvl="1" indent="-171450">
              <a:buFont typeface="Arial" panose="020B0604020202020204" pitchFamily="34" charset="0"/>
              <a:buChar char="•"/>
              <a:defRPr/>
            </a:pPr>
            <a:r>
              <a:rPr lang="en-US" i="0" dirty="0"/>
              <a:t>On a higher level, this phenomenon belongs to the Ringelmann effect. Maximilien Ringelmann found out in 1913 that individuals change their performance when they work in groups. He had people pull on a rope and read off the weight they moved. A single person pulled an average of 68kg, but a group of 3 pulled only 160kg (instead of the 204kg assumed). Eight individuals pulled 248kg, instead of a possible 544kg. This reduction in power compared to the individual power was called the </a:t>
            </a:r>
            <a:r>
              <a:rPr lang="en-US" b="1" i="0" dirty="0"/>
              <a:t>Ringelmann effect. </a:t>
            </a:r>
            <a:r>
              <a:rPr lang="en-US" b="0" i="0" dirty="0"/>
              <a:t>It is very broadly defined and includes social loafing as well as free-riding.</a:t>
            </a:r>
            <a:endParaRPr lang="en-US" b="1" i="0" dirty="0"/>
          </a:p>
          <a:p>
            <a:pPr marL="628650" lvl="1" indent="-171450">
              <a:buFont typeface="Arial" panose="020B0604020202020204" pitchFamily="34" charset="0"/>
              <a:buChar char="•"/>
              <a:defRPr/>
            </a:pPr>
            <a:r>
              <a:rPr lang="en-US" b="0" i="0" dirty="0"/>
              <a:t>Later, people wanted to find out why this effect occurs. Later studies showed that it was enough for individuals to merely </a:t>
            </a:r>
            <a:r>
              <a:rPr lang="en-US" b="0" i="1" dirty="0"/>
              <a:t>suspect </a:t>
            </a:r>
            <a:r>
              <a:rPr lang="en-US" b="0" i="0" dirty="0"/>
              <a:t>the presence of others that they automatically and unconsciously reduced their performance. Thus, the concept of </a:t>
            </a:r>
            <a:r>
              <a:rPr lang="en-US" b="1" i="0" dirty="0"/>
              <a:t>social laziness </a:t>
            </a:r>
            <a:r>
              <a:rPr lang="en-US" b="0" i="0" dirty="0"/>
              <a:t>was introduced.</a:t>
            </a:r>
            <a:endParaRPr lang="en-US" dirty="0"/>
          </a:p>
          <a:p>
            <a:pPr marL="628650" lvl="1" indent="-171450">
              <a:buFont typeface="Arial" panose="020B0604020202020204" pitchFamily="34" charset="0"/>
              <a:buChar char="•"/>
              <a:defRPr/>
            </a:pPr>
            <a:r>
              <a:rPr lang="en-US" b="0" i="0" dirty="0"/>
              <a:t>We have just learned about consciously reducing performance as </a:t>
            </a:r>
            <a:r>
              <a:rPr lang="en-US" b="1" i="0" dirty="0"/>
              <a:t>free-riding.</a:t>
            </a:r>
            <a:r>
              <a:rPr lang="en-US" b="0" i="0" dirty="0"/>
              <a:t> Here, then, it is crucial to decide quite decisively against group work.</a:t>
            </a:r>
            <a:endParaRPr lang="en-US" b="0" dirty="0"/>
          </a:p>
        </p:txBody>
      </p:sp>
      <p:sp>
        <p:nvSpPr>
          <p:cNvPr id="4" name="Foliennummernplatzhalter 3"/>
          <p:cNvSpPr>
            <a:spLocks noGrp="1"/>
          </p:cNvSpPr>
          <p:nvPr>
            <p:ph type="sldNum" sz="quarter" idx="5"/>
          </p:nvPr>
        </p:nvSpPr>
        <p:spPr/>
        <p:txBody>
          <a:bodyPr/>
          <a:lstStyle/>
          <a:p>
            <a:fld id="{91C7837A-BE0C-8E44-AC6E-3BD867A160FB}" type="slidenum">
              <a:rPr lang="de-DE" smtClean="0"/>
              <a:t>9</a:t>
            </a:fld>
            <a:endParaRPr lang="de-DE"/>
          </a:p>
        </p:txBody>
      </p:sp>
    </p:spTree>
    <p:extLst>
      <p:ext uri="{BB962C8B-B14F-4D97-AF65-F5344CB8AC3E}">
        <p14:creationId xmlns:p14="http://schemas.microsoft.com/office/powerpoint/2010/main" val="3460719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en-US" sz="1600" dirty="0"/>
              <a:t>What is the concrete problem with free riders? It is definitely not useful to simply drag them along through the entire group work. Psychologists have studied the phenomenon and identified various risks.</a:t>
            </a:r>
          </a:p>
          <a:p>
            <a:pPr marL="171450" indent="-171450">
              <a:buFont typeface="Arial" panose="020B0604020202020204" pitchFamily="34" charset="0"/>
              <a:buChar char="•"/>
              <a:defRPr/>
            </a:pPr>
            <a:r>
              <a:rPr lang="en-US" sz="1600" dirty="0"/>
              <a:t>Initially, there is an acute risk of contagion, and a vicious circle can develop. As soon as someone recognizes or suspects that another is not making enough effort, this affects satisfaction and cohesion. They often react by reducing their own performance. After all, they don't want to be exploited. This free-rider effect is also called the "sucker effect".</a:t>
            </a:r>
          </a:p>
          <a:p>
            <a:pPr marL="171450" indent="-171450">
              <a:buFont typeface="Arial" panose="020B0604020202020204" pitchFamily="34" charset="0"/>
              <a:buChar char="•"/>
              <a:defRPr/>
            </a:pPr>
            <a:r>
              <a:rPr lang="en-US" sz="1600" dirty="0"/>
              <a:t>On the other hand, it has been observed that feelings of revenge develop among other members - not only towards the individual slackers, but towards the whole project/team. These feelings often result in behavior that harms the group. In extreme cases, members would rather let a project fail than be exploited.</a:t>
            </a:r>
          </a:p>
          <a:p>
            <a:pPr marL="171450" indent="-171450">
              <a:buFont typeface="Arial" panose="020B0604020202020204" pitchFamily="34" charset="0"/>
              <a:buChar char="•"/>
              <a:defRPr/>
            </a:pPr>
            <a:r>
              <a:rPr lang="en-US" sz="1600" dirty="0"/>
              <a:t>So the first thing to do is to counteract social laziness and, in an emergency, to address free riders. The first can be prevented by the following aspects, which you can all influence:</a:t>
            </a:r>
          </a:p>
          <a:p>
            <a:pPr marL="628650" lvl="1" indent="-171450">
              <a:buFont typeface="Arial" panose="020B0604020202020204" pitchFamily="34" charset="0"/>
              <a:buChar char="•"/>
              <a:defRPr/>
            </a:pPr>
            <a:r>
              <a:rPr lang="en-US" sz="1600" dirty="0"/>
              <a:t>The greater the cohesion, the less idleness there is. If there is great cohesion, the members are happy to be part of the group. They value the groups, make an effort, want to perform tasks reliably.</a:t>
            </a:r>
          </a:p>
          <a:p>
            <a:pPr marL="628650" lvl="1" indent="-171450">
              <a:buFont typeface="Arial" panose="020B0604020202020204" pitchFamily="34" charset="0"/>
              <a:buChar char="•"/>
              <a:defRPr/>
            </a:pPr>
            <a:r>
              <a:rPr lang="en-US" sz="1600" dirty="0"/>
              <a:t>Make performance contributions transparent- Once individual performance contributions are visible, laziness is reduced.</a:t>
            </a:r>
          </a:p>
          <a:p>
            <a:pPr marL="628650" lvl="1" indent="-171450">
              <a:buFont typeface="Arial" panose="020B0604020202020204" pitchFamily="34" charset="0"/>
              <a:buChar char="•"/>
              <a:defRPr/>
            </a:pPr>
            <a:r>
              <a:rPr lang="en-US" sz="1600" dirty="0"/>
              <a:t>The more clearly the roles and tasks are distributed, the easier it is to complete them. It is all the more helpful if the roles have been assigned according to the characters, and people therefore identify with them relatively well. The more clearly the roles are distributed, the less free-riding occurs.</a:t>
            </a:r>
          </a:p>
          <a:p>
            <a:pPr marL="628650" lvl="1" indent="-171450">
              <a:buFont typeface="Arial" panose="020B0604020202020204" pitchFamily="34" charset="0"/>
              <a:buChar char="•"/>
              <a:defRPr/>
            </a:pPr>
            <a:r>
              <a:rPr lang="en-US" sz="1600" dirty="0"/>
              <a:t>Clear rules. Rules regulate, also the behavior in the team. The clearer they are and the greater the cohesion, the less dispersion there is in behavior. The creation of a </a:t>
            </a:r>
            <a:r>
              <a:rPr lang="en-US" sz="1600" b="1" dirty="0"/>
              <a:t>team canvas will </a:t>
            </a:r>
            <a:r>
              <a:rPr lang="en-US" sz="1600" dirty="0"/>
              <a:t>help you here.</a:t>
            </a:r>
          </a:p>
          <a:p>
            <a:pPr marL="628650" lvl="1" indent="-171450">
              <a:buFont typeface="Arial" panose="020B0604020202020204" pitchFamily="34" charset="0"/>
              <a:buChar char="•"/>
              <a:defRPr/>
            </a:pPr>
            <a:r>
              <a:rPr lang="en-US" sz="1600" b="0" dirty="0"/>
              <a:t>And last, of course: open, direct communication, which brings us to the first point of our session. When team members speak clearly about observations, problems, expectations and experiences, there are fewer free-rider problems. It often helps to start each session/meeting with a little check-in: How is everyone doing right now? What capacities does everyone have, do they have more projects besides the group work that might be causing problems? How is this group work progressing?</a:t>
            </a:r>
            <a:endParaRPr lang="en-US" sz="1600" dirty="0"/>
          </a:p>
        </p:txBody>
      </p:sp>
      <p:sp>
        <p:nvSpPr>
          <p:cNvPr id="4" name="Foliennummernplatzhalter 3"/>
          <p:cNvSpPr>
            <a:spLocks noGrp="1"/>
          </p:cNvSpPr>
          <p:nvPr>
            <p:ph type="sldNum" sz="quarter" idx="5"/>
          </p:nvPr>
        </p:nvSpPr>
        <p:spPr/>
        <p:txBody>
          <a:bodyPr/>
          <a:lstStyle/>
          <a:p>
            <a:fld id="{91C7837A-BE0C-8E44-AC6E-3BD867A160FB}" type="slidenum">
              <a:rPr lang="de-DE" smtClean="0"/>
              <a:t>10</a:t>
            </a:fld>
            <a:endParaRPr lang="de-DE"/>
          </a:p>
        </p:txBody>
      </p:sp>
    </p:spTree>
    <p:extLst>
      <p:ext uri="{BB962C8B-B14F-4D97-AF65-F5344CB8AC3E}">
        <p14:creationId xmlns:p14="http://schemas.microsoft.com/office/powerpoint/2010/main" val="1789436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en-US" b="0" dirty="0"/>
              <a:t>In the case of a loafing-problem, we may end up using the Nonviolent Communication we learned about earlier as a helpful skill to solve it.</a:t>
            </a:r>
            <a:endParaRPr lang="en-US" dirty="0"/>
          </a:p>
          <a:p>
            <a:pPr marL="171450" indent="-171450">
              <a:buFont typeface="Arial" panose="020B0604020202020204" pitchFamily="34" charset="0"/>
              <a:buChar char="•"/>
              <a:defRPr/>
            </a:pPr>
            <a:r>
              <a:rPr lang="en-US" b="0" dirty="0"/>
              <a:t>You suspect that you have a free rider in your team? Your first impulse should be to talk to other group members and find out if they have made similar observations. Think about whether it is deliberate free-riding or whether the under-performer has other problems: were tasks not clearly distributed? Or has the person reported private problems?</a:t>
            </a:r>
            <a:endParaRPr lang="en-US" dirty="0"/>
          </a:p>
          <a:p>
            <a:pPr marL="171450" indent="-171450">
              <a:buFont typeface="Arial" panose="020B0604020202020204" pitchFamily="34" charset="0"/>
              <a:buChar char="•"/>
              <a:defRPr/>
            </a:pPr>
            <a:r>
              <a:rPr lang="en-US" b="0" dirty="0"/>
              <a:t>If the suspicion is confirmed that it really is a deliberate reduction in performance, you should seek a discussion. In doing so, you should make sure that it is well dosed and balanced. You can orientate yourself very well on the four steps of nonviolent communication: </a:t>
            </a:r>
          </a:p>
          <a:p>
            <a:pPr marL="628650" lvl="1" indent="-171450">
              <a:buFont typeface="Arial" panose="020B0604020202020204" pitchFamily="34" charset="0"/>
              <a:buChar char="•"/>
              <a:defRPr/>
            </a:pPr>
            <a:r>
              <a:rPr lang="en-US" sz="1200" dirty="0">
                <a:solidFill>
                  <a:schemeClr val="tx2"/>
                </a:solidFill>
              </a:rPr>
              <a:t>Formulate observation</a:t>
            </a:r>
          </a:p>
          <a:p>
            <a:pPr marL="628650" lvl="1" indent="-171450">
              <a:buFont typeface="Arial" panose="020B0604020202020204" pitchFamily="34" charset="0"/>
              <a:buChar char="•"/>
              <a:defRPr/>
            </a:pPr>
            <a:r>
              <a:rPr lang="en-US" sz="1200" dirty="0">
                <a:solidFill>
                  <a:schemeClr val="tx2"/>
                </a:solidFill>
              </a:rPr>
              <a:t>Name connected feeling</a:t>
            </a:r>
          </a:p>
          <a:p>
            <a:pPr marL="628650" lvl="1" indent="-171450">
              <a:buFont typeface="Arial" panose="020B0604020202020204" pitchFamily="34" charset="0"/>
              <a:buChar char="•"/>
              <a:defRPr/>
            </a:pPr>
            <a:r>
              <a:rPr lang="en-US" sz="1200" dirty="0">
                <a:solidFill>
                  <a:schemeClr val="tx2"/>
                </a:solidFill>
              </a:rPr>
              <a:t>Express needs</a:t>
            </a:r>
          </a:p>
          <a:p>
            <a:pPr marL="628650" lvl="1" indent="-171450">
              <a:buFont typeface="Arial" panose="020B0604020202020204" pitchFamily="34" charset="0"/>
              <a:buChar char="•"/>
              <a:defRPr/>
            </a:pPr>
            <a:r>
              <a:rPr lang="en-US" sz="1200" dirty="0">
                <a:solidFill>
                  <a:schemeClr val="tx2"/>
                </a:solidFill>
              </a:rPr>
              <a:t>Request express</a:t>
            </a:r>
          </a:p>
          <a:p>
            <a:pPr marL="457200" lvl="1" indent="0">
              <a:buFont typeface="Arial" panose="020B0604020202020204" pitchFamily="34" charset="0"/>
              <a:buNone/>
              <a:defRPr/>
            </a:pPr>
            <a:endParaRPr lang="en-US" b="0" dirty="0"/>
          </a:p>
          <a:p>
            <a:pPr marL="171450" lvl="0" indent="-171450">
              <a:buFont typeface="Arial" panose="020B0604020202020204" pitchFamily="34" charset="0"/>
              <a:buChar char="•"/>
              <a:defRPr/>
            </a:pPr>
            <a:r>
              <a:rPr lang="en-US" b="0" dirty="0"/>
              <a:t>It is important that you do not judge. Communicate about your needs, and do not make accusations. This very often leads to defensive behavior and rarely helps problem solving. Try not to judge, generalize, or moralize.</a:t>
            </a:r>
            <a:endParaRPr lang="en-US" dirty="0"/>
          </a:p>
        </p:txBody>
      </p:sp>
      <p:sp>
        <p:nvSpPr>
          <p:cNvPr id="4" name="Foliennummernplatzhalter 3"/>
          <p:cNvSpPr>
            <a:spLocks noGrp="1"/>
          </p:cNvSpPr>
          <p:nvPr>
            <p:ph type="sldNum" sz="quarter" idx="5"/>
          </p:nvPr>
        </p:nvSpPr>
        <p:spPr/>
        <p:txBody>
          <a:bodyPr/>
          <a:lstStyle/>
          <a:p>
            <a:fld id="{91C7837A-BE0C-8E44-AC6E-3BD867A160FB}" type="slidenum">
              <a:rPr lang="de-DE" smtClean="0"/>
              <a:t>11</a:t>
            </a:fld>
            <a:endParaRPr lang="de-DE"/>
          </a:p>
        </p:txBody>
      </p:sp>
    </p:spTree>
    <p:extLst>
      <p:ext uri="{BB962C8B-B14F-4D97-AF65-F5344CB8AC3E}">
        <p14:creationId xmlns:p14="http://schemas.microsoft.com/office/powerpoint/2010/main" val="3580093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Exercise: Have these sentences classified into "constructive" criticism (using principles of nonviolent communication) and destructive criticism.</a:t>
            </a:r>
          </a:p>
          <a:p>
            <a:pPr>
              <a:defRPr/>
            </a:pPr>
            <a:r>
              <a:rPr lang="en-US" dirty="0"/>
              <a:t>If there‘s enough time: re-formulate the destructive sentences into constructive criticism.</a:t>
            </a:r>
          </a:p>
        </p:txBody>
      </p:sp>
      <p:sp>
        <p:nvSpPr>
          <p:cNvPr id="4" name="Foliennummernplatzhalter 3"/>
          <p:cNvSpPr>
            <a:spLocks noGrp="1"/>
          </p:cNvSpPr>
          <p:nvPr>
            <p:ph type="sldNum" sz="quarter" idx="5"/>
          </p:nvPr>
        </p:nvSpPr>
        <p:spPr/>
        <p:txBody>
          <a:bodyPr/>
          <a:lstStyle/>
          <a:p>
            <a:fld id="{91C7837A-BE0C-8E44-AC6E-3BD867A160FB}" type="slidenum">
              <a:rPr lang="de-DE" smtClean="0"/>
              <a:t>12</a:t>
            </a:fld>
            <a:endParaRPr lang="de-DE"/>
          </a:p>
        </p:txBody>
      </p:sp>
    </p:spTree>
    <p:extLst>
      <p:ext uri="{BB962C8B-B14F-4D97-AF65-F5344CB8AC3E}">
        <p14:creationId xmlns:p14="http://schemas.microsoft.com/office/powerpoint/2010/main" val="1057929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sv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Master-Untertitelformat bearbeiten</a:t>
            </a:r>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www.coolstuff49ja.com/2015/02/how-to-be-successful-lazy-blogger.html"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41.jpg"/><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sz="6000" dirty="0" err="1">
                <a:latin typeface="Lora"/>
              </a:rPr>
              <a:t>Nonviolent</a:t>
            </a:r>
            <a:r>
              <a:rPr lang="de-DE" sz="6000" dirty="0">
                <a:latin typeface="Lora"/>
              </a:rPr>
              <a:t> Communication </a:t>
            </a:r>
            <a:br>
              <a:rPr lang="de-DE" sz="6000" dirty="0">
                <a:latin typeface="Lora"/>
              </a:rPr>
            </a:br>
            <a:r>
              <a:rPr lang="de-DE" sz="6000" dirty="0">
                <a:latin typeface="Lora"/>
              </a:rPr>
              <a:t>&amp; </a:t>
            </a:r>
            <a:r>
              <a:rPr lang="de-DE" sz="6000" dirty="0" err="1">
                <a:latin typeface="Lora"/>
              </a:rPr>
              <a:t>Social</a:t>
            </a:r>
            <a:r>
              <a:rPr lang="de-DE" sz="6000" dirty="0">
                <a:latin typeface="Lora"/>
              </a:rPr>
              <a:t> </a:t>
            </a:r>
            <a:r>
              <a:rPr lang="de-DE" sz="6000" dirty="0" err="1">
                <a:latin typeface="Lora"/>
              </a:rPr>
              <a:t>Loafing</a:t>
            </a:r>
            <a:endParaRPr lang="de-DE" dirty="0"/>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p:txBody>
          <a:bodyPr>
            <a:normAutofit/>
          </a:bodyPr>
          <a:lstStyle/>
          <a:p>
            <a:pPr marL="0" indent="0">
              <a:lnSpc>
                <a:spcPct val="150000"/>
              </a:lnSpc>
              <a:buNone/>
              <a:defRPr/>
            </a:pPr>
            <a:endParaRPr lang="de-DE" dirty="0"/>
          </a:p>
          <a:p>
            <a:pPr marL="342900" indent="-342900">
              <a:lnSpc>
                <a:spcPct val="150000"/>
              </a:lnSpc>
              <a:buFont typeface="+mj-lt"/>
              <a:buAutoNum type="arabicPeriod"/>
              <a:defRPr/>
            </a:pPr>
            <a:r>
              <a:rPr lang="de-DE" sz="3600" dirty="0" err="1">
                <a:latin typeface="+mn-lt"/>
              </a:rPr>
              <a:t>What</a:t>
            </a:r>
            <a:r>
              <a:rPr lang="de-DE" sz="3600" dirty="0">
                <a:latin typeface="+mn-lt"/>
              </a:rPr>
              <a:t> </a:t>
            </a:r>
            <a:r>
              <a:rPr lang="de-DE" sz="3600" dirty="0" err="1">
                <a:latin typeface="+mn-lt"/>
              </a:rPr>
              <a:t>is</a:t>
            </a:r>
            <a:r>
              <a:rPr lang="de-DE" sz="3600" dirty="0">
                <a:latin typeface="+mn-lt"/>
              </a:rPr>
              <a:t> </a:t>
            </a:r>
            <a:r>
              <a:rPr lang="de-DE" sz="3600" dirty="0" err="1">
                <a:latin typeface="+mn-lt"/>
              </a:rPr>
              <a:t>Nonviolent</a:t>
            </a:r>
            <a:r>
              <a:rPr lang="de-DE" sz="3600" dirty="0">
                <a:latin typeface="+mn-lt"/>
              </a:rPr>
              <a:t> Communication?</a:t>
            </a:r>
            <a:endParaRPr lang="de-DE" sz="3200" dirty="0">
              <a:latin typeface="+mn-lt"/>
            </a:endParaRPr>
          </a:p>
          <a:p>
            <a:pPr marL="342900" indent="-342900">
              <a:lnSpc>
                <a:spcPct val="150000"/>
              </a:lnSpc>
              <a:buFont typeface="+mj-lt"/>
              <a:buAutoNum type="arabicPeriod"/>
              <a:defRPr/>
            </a:pPr>
            <a:r>
              <a:rPr lang="de-DE" sz="3600" dirty="0" err="1">
                <a:latin typeface="+mn-lt"/>
              </a:rPr>
              <a:t>How</a:t>
            </a:r>
            <a:r>
              <a:rPr lang="de-DE" sz="3600" dirty="0">
                <a:latin typeface="+mn-lt"/>
              </a:rPr>
              <a:t> </a:t>
            </a:r>
            <a:r>
              <a:rPr lang="de-DE" sz="3600" dirty="0" err="1">
                <a:latin typeface="+mn-lt"/>
              </a:rPr>
              <a:t>to</a:t>
            </a:r>
            <a:r>
              <a:rPr lang="de-DE" sz="3600" dirty="0">
                <a:latin typeface="+mn-lt"/>
              </a:rPr>
              <a:t> deal </a:t>
            </a:r>
            <a:r>
              <a:rPr lang="de-DE" sz="3600" dirty="0" err="1">
                <a:latin typeface="+mn-lt"/>
              </a:rPr>
              <a:t>with</a:t>
            </a:r>
            <a:r>
              <a:rPr lang="de-DE" sz="3600" dirty="0">
                <a:latin typeface="+mn-lt"/>
              </a:rPr>
              <a:t> social </a:t>
            </a:r>
            <a:r>
              <a:rPr lang="de-DE" sz="3600" dirty="0" err="1">
                <a:latin typeface="+mn-lt"/>
              </a:rPr>
              <a:t>loafing</a:t>
            </a:r>
            <a:r>
              <a:rPr lang="de-DE" sz="3600" dirty="0">
                <a:latin typeface="+mn-lt"/>
              </a:rPr>
              <a:t>?</a:t>
            </a:r>
          </a:p>
          <a:p>
            <a:pPr marL="0" indent="0">
              <a:buNone/>
            </a:pPr>
            <a:endParaRPr lang="de-DE" dirty="0"/>
          </a:p>
        </p:txBody>
      </p:sp>
      <p:pic>
        <p:nvPicPr>
          <p:cNvPr id="4" name="Grafik 3">
            <a:extLst>
              <a:ext uri="{FF2B5EF4-FFF2-40B4-BE49-F238E27FC236}">
                <a16:creationId xmlns:a16="http://schemas.microsoft.com/office/drawing/2014/main" id="{DBE0204B-C2D0-ECFA-870B-B56B2D58E8D5}"/>
              </a:ext>
            </a:extLst>
          </p:cNvPr>
          <p:cNvPicPr>
            <a:picLocks noChangeAspect="1"/>
          </p:cNvPicPr>
          <p:nvPr/>
        </p:nvPicPr>
        <p:blipFill>
          <a:blip r:embed="rId3"/>
          <a:stretch/>
        </p:blipFill>
        <p:spPr bwMode="auto">
          <a:xfrm>
            <a:off x="8077200" y="5829300"/>
            <a:ext cx="6725215" cy="4000500"/>
          </a:xfrm>
          <a:prstGeom prst="rect">
            <a:avLst/>
          </a:prstGeom>
        </p:spPr>
      </p:pic>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a:xfrm>
            <a:off x="3277500" y="2171700"/>
            <a:ext cx="11733000" cy="6483674"/>
          </a:xfrm>
        </p:spPr>
        <p:txBody>
          <a:bodyPr>
            <a:normAutofit/>
          </a:bodyPr>
          <a:lstStyle/>
          <a:p>
            <a:pPr marL="0" indent="0" algn="ctr">
              <a:buNone/>
              <a:defRPr/>
            </a:pPr>
            <a:r>
              <a:rPr lang="en-US" sz="5400" b="1" dirty="0">
                <a:latin typeface="Lora"/>
              </a:rPr>
              <a:t>In what situation did you last feel misunderstood?</a:t>
            </a:r>
            <a:br>
              <a:rPr lang="en-US" sz="1200" dirty="0"/>
            </a:br>
            <a:br>
              <a:rPr lang="en-US" sz="5400" b="1" i="1" dirty="0">
                <a:latin typeface="Lora"/>
              </a:rPr>
            </a:br>
            <a:r>
              <a:rPr lang="en-US" sz="5400" b="1" i="1" dirty="0">
                <a:latin typeface="Lora"/>
              </a:rPr>
              <a:t>Do you know similar situations from group work?</a:t>
            </a:r>
            <a:endParaRPr lang="en-US" sz="4400" b="1" i="1" dirty="0">
              <a:latin typeface="Lora"/>
            </a:endParaRPr>
          </a:p>
        </p:txBody>
      </p:sp>
    </p:spTree>
    <p:extLst>
      <p:ext uri="{BB962C8B-B14F-4D97-AF65-F5344CB8AC3E}">
        <p14:creationId xmlns:p14="http://schemas.microsoft.com/office/powerpoint/2010/main" val="40989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1. </a:t>
            </a:r>
            <a:r>
              <a:rPr lang="de-DE" dirty="0" err="1"/>
              <a:t>What</a:t>
            </a:r>
            <a:r>
              <a:rPr lang="de-DE" dirty="0"/>
              <a:t> </a:t>
            </a:r>
            <a:r>
              <a:rPr lang="de-DE" dirty="0" err="1"/>
              <a:t>is</a:t>
            </a:r>
            <a:r>
              <a:rPr lang="de-DE" dirty="0"/>
              <a:t> </a:t>
            </a:r>
            <a:r>
              <a:rPr lang="de-DE" dirty="0" err="1"/>
              <a:t>Nonviolent</a:t>
            </a:r>
            <a:r>
              <a:rPr lang="de-DE" dirty="0"/>
              <a:t> Communication?</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a:xfrm>
            <a:off x="1944000" y="2738828"/>
            <a:ext cx="14400000" cy="2618700"/>
          </a:xfrm>
        </p:spPr>
        <p:txBody>
          <a:bodyPr/>
          <a:lstStyle/>
          <a:p>
            <a:pPr marL="285750" indent="-285750">
              <a:lnSpc>
                <a:spcPct val="150000"/>
              </a:lnSpc>
              <a:buFont typeface="Arial"/>
              <a:buChar char="•"/>
              <a:defRPr/>
            </a:pPr>
            <a:r>
              <a:rPr lang="en-US" sz="2800" dirty="0">
                <a:latin typeface="+mn-lt"/>
              </a:rPr>
              <a:t>Marshall Rosenberg (1934-2015), psychologist and mediator</a:t>
            </a:r>
            <a:endParaRPr lang="en-US" dirty="0"/>
          </a:p>
          <a:p>
            <a:pPr marL="285750" indent="-285750">
              <a:lnSpc>
                <a:spcPct val="150000"/>
              </a:lnSpc>
              <a:buFont typeface="Arial"/>
              <a:buChar char="•"/>
              <a:defRPr/>
            </a:pPr>
            <a:r>
              <a:rPr lang="en-US" sz="2800" dirty="0">
                <a:latin typeface="+mn-lt"/>
              </a:rPr>
              <a:t>Goal: appreciative communication</a:t>
            </a:r>
            <a:endParaRPr lang="en-US" dirty="0"/>
          </a:p>
          <a:p>
            <a:pPr marL="285750" indent="-285750">
              <a:lnSpc>
                <a:spcPct val="150000"/>
              </a:lnSpc>
              <a:buFont typeface="Arial"/>
              <a:buChar char="•"/>
              <a:defRPr/>
            </a:pPr>
            <a:r>
              <a:rPr lang="en-US" sz="2800" dirty="0">
                <a:latin typeface="+mn-lt"/>
              </a:rPr>
              <a:t>life alienating communication – non-violent communication</a:t>
            </a:r>
            <a:endParaRPr lang="de-DE" sz="2800" dirty="0">
              <a:latin typeface="+mn-lt"/>
            </a:endParaRPr>
          </a:p>
          <a:p>
            <a:endParaRPr lang="de-DE" dirty="0"/>
          </a:p>
        </p:txBody>
      </p:sp>
      <p:sp>
        <p:nvSpPr>
          <p:cNvPr id="4" name="Abgerundetes Rechteck 6">
            <a:extLst>
              <a:ext uri="{FF2B5EF4-FFF2-40B4-BE49-F238E27FC236}">
                <a16:creationId xmlns:a16="http://schemas.microsoft.com/office/drawing/2014/main" id="{A55FC678-2B77-6AC9-DF07-C4E4340559AA}"/>
              </a:ext>
            </a:extLst>
          </p:cNvPr>
          <p:cNvSpPr/>
          <p:nvPr/>
        </p:nvSpPr>
        <p:spPr bwMode="auto">
          <a:xfrm>
            <a:off x="6400800" y="6438900"/>
            <a:ext cx="8000409" cy="3232362"/>
          </a:xfrm>
          <a:prstGeom prst="roundRect">
            <a:avLst>
              <a:gd name="adj" fmla="val 16667"/>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5" name="Textfeld 4">
            <a:extLst>
              <a:ext uri="{FF2B5EF4-FFF2-40B4-BE49-F238E27FC236}">
                <a16:creationId xmlns:a16="http://schemas.microsoft.com/office/drawing/2014/main" id="{227BA796-3612-3623-FA37-8F58ADEA707E}"/>
              </a:ext>
            </a:extLst>
          </p:cNvPr>
          <p:cNvSpPr txBox="1"/>
          <p:nvPr/>
        </p:nvSpPr>
        <p:spPr bwMode="auto">
          <a:xfrm>
            <a:off x="6552904" y="6681848"/>
            <a:ext cx="7696199" cy="2597827"/>
          </a:xfrm>
          <a:prstGeom prst="rect">
            <a:avLst/>
          </a:prstGeom>
          <a:noFill/>
          <a:ln>
            <a:noFill/>
          </a:ln>
        </p:spPr>
        <p:txBody>
          <a:bodyPr wrap="square" rtlCol="0">
            <a:spAutoFit/>
          </a:bodyPr>
          <a:lstStyle/>
          <a:p>
            <a:pPr algn="ctr">
              <a:lnSpc>
                <a:spcPct val="150000"/>
              </a:lnSpc>
              <a:defRPr/>
            </a:pPr>
            <a:r>
              <a:rPr lang="en-US" sz="2800" dirty="0">
                <a:solidFill>
                  <a:schemeClr val="tx2"/>
                </a:solidFill>
              </a:rPr>
              <a:t>Formulate observation</a:t>
            </a:r>
          </a:p>
          <a:p>
            <a:pPr algn="ctr">
              <a:lnSpc>
                <a:spcPct val="150000"/>
              </a:lnSpc>
              <a:defRPr/>
            </a:pPr>
            <a:r>
              <a:rPr lang="en-US" sz="2800" dirty="0">
                <a:solidFill>
                  <a:schemeClr val="tx2"/>
                </a:solidFill>
              </a:rPr>
              <a:t>Name connected feeling</a:t>
            </a:r>
          </a:p>
          <a:p>
            <a:pPr algn="ctr">
              <a:lnSpc>
                <a:spcPct val="150000"/>
              </a:lnSpc>
              <a:defRPr/>
            </a:pPr>
            <a:r>
              <a:rPr lang="en-US" sz="2800" dirty="0">
                <a:solidFill>
                  <a:schemeClr val="tx2"/>
                </a:solidFill>
              </a:rPr>
              <a:t>Express needs</a:t>
            </a:r>
          </a:p>
          <a:p>
            <a:pPr algn="ctr">
              <a:lnSpc>
                <a:spcPct val="150000"/>
              </a:lnSpc>
              <a:defRPr/>
            </a:pPr>
            <a:r>
              <a:rPr lang="en-US" sz="2800" dirty="0">
                <a:solidFill>
                  <a:schemeClr val="tx2"/>
                </a:solidFill>
              </a:rPr>
              <a:t>Request express</a:t>
            </a:r>
          </a:p>
        </p:txBody>
      </p:sp>
      <p:pic>
        <p:nvPicPr>
          <p:cNvPr id="6" name="Grafik 5" descr="Gedankenblase Silhouette">
            <a:extLst>
              <a:ext uri="{FF2B5EF4-FFF2-40B4-BE49-F238E27FC236}">
                <a16:creationId xmlns:a16="http://schemas.microsoft.com/office/drawing/2014/main" id="{7BE1433E-5382-A2C3-102C-E0ACDA7C185D}"/>
              </a:ext>
            </a:extLst>
          </p:cNvPr>
          <p:cNvPicPr>
            <a:picLocks noChangeAspect="1"/>
          </p:cNvPicPr>
          <p:nvPr/>
        </p:nvPicPr>
        <p:blipFill>
          <a:blip r:embed="rId3"/>
          <a:stretch/>
        </p:blipFill>
        <p:spPr bwMode="auto">
          <a:xfrm>
            <a:off x="6546090" y="6502059"/>
            <a:ext cx="1125853" cy="1125853"/>
          </a:xfrm>
          <a:prstGeom prst="rect">
            <a:avLst/>
          </a:prstGeom>
        </p:spPr>
      </p:pic>
      <p:pic>
        <p:nvPicPr>
          <p:cNvPr id="7" name="Grafik 6" descr="Chatblase Silhouette">
            <a:extLst>
              <a:ext uri="{FF2B5EF4-FFF2-40B4-BE49-F238E27FC236}">
                <a16:creationId xmlns:a16="http://schemas.microsoft.com/office/drawing/2014/main" id="{566C533D-9FD6-9E10-A586-A8B48CBBD869}"/>
              </a:ext>
            </a:extLst>
          </p:cNvPr>
          <p:cNvPicPr>
            <a:picLocks noChangeAspect="1"/>
          </p:cNvPicPr>
          <p:nvPr/>
        </p:nvPicPr>
        <p:blipFill>
          <a:blip r:embed="rId4"/>
          <a:stretch/>
        </p:blipFill>
        <p:spPr bwMode="auto">
          <a:xfrm>
            <a:off x="13169306" y="8626250"/>
            <a:ext cx="1045012" cy="1045012"/>
          </a:xfrm>
          <a:prstGeom prst="rect">
            <a:avLst/>
          </a:prstGeom>
        </p:spPr>
      </p:pic>
    </p:spTree>
    <p:extLst>
      <p:ext uri="{BB962C8B-B14F-4D97-AF65-F5344CB8AC3E}">
        <p14:creationId xmlns:p14="http://schemas.microsoft.com/office/powerpoint/2010/main" val="375908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76E08-DBAE-B593-FC82-387B662C6A7C}"/>
              </a:ext>
            </a:extLst>
          </p:cNvPr>
          <p:cNvSpPr>
            <a:spLocks noGrp="1"/>
          </p:cNvSpPr>
          <p:nvPr>
            <p:ph type="title"/>
          </p:nvPr>
        </p:nvSpPr>
        <p:spPr/>
        <p:txBody>
          <a:bodyPr/>
          <a:lstStyle/>
          <a:p>
            <a:r>
              <a:rPr lang="de-DE" dirty="0"/>
              <a:t>1. </a:t>
            </a:r>
            <a:r>
              <a:rPr lang="de-DE" dirty="0" err="1"/>
              <a:t>What</a:t>
            </a:r>
            <a:r>
              <a:rPr lang="de-DE" dirty="0"/>
              <a:t> </a:t>
            </a:r>
            <a:r>
              <a:rPr lang="de-DE" dirty="0" err="1"/>
              <a:t>is</a:t>
            </a:r>
            <a:r>
              <a:rPr lang="de-DE" dirty="0"/>
              <a:t> </a:t>
            </a:r>
            <a:r>
              <a:rPr lang="de-DE" dirty="0" err="1"/>
              <a:t>Nonviolent</a:t>
            </a:r>
            <a:r>
              <a:rPr lang="de-DE" dirty="0"/>
              <a:t> Communication?</a:t>
            </a:r>
          </a:p>
        </p:txBody>
      </p:sp>
      <p:sp>
        <p:nvSpPr>
          <p:cNvPr id="3" name="Inhaltsplatzhalter 2">
            <a:extLst>
              <a:ext uri="{FF2B5EF4-FFF2-40B4-BE49-F238E27FC236}">
                <a16:creationId xmlns:a16="http://schemas.microsoft.com/office/drawing/2014/main" id="{3F2126B7-F1D5-4383-EA86-D25E1CA6FD50}"/>
              </a:ext>
            </a:extLst>
          </p:cNvPr>
          <p:cNvSpPr>
            <a:spLocks noGrp="1"/>
          </p:cNvSpPr>
          <p:nvPr>
            <p:ph sz="half" idx="1"/>
          </p:nvPr>
        </p:nvSpPr>
        <p:spPr>
          <a:xfrm>
            <a:off x="1944000" y="3848100"/>
            <a:ext cx="7123800" cy="5865264"/>
          </a:xfrm>
        </p:spPr>
        <p:txBody>
          <a:bodyPr>
            <a:normAutofit/>
          </a:bodyPr>
          <a:lstStyle/>
          <a:p>
            <a:pPr marL="0" indent="0" algn="ctr">
              <a:spcAft>
                <a:spcPts val="600"/>
              </a:spcAft>
              <a:buNone/>
              <a:defRPr/>
            </a:pPr>
            <a:r>
              <a:rPr lang="en-US" sz="2800" b="1" dirty="0">
                <a:latin typeface="+mn-lt"/>
              </a:rPr>
              <a:t>Expressing yourself</a:t>
            </a:r>
          </a:p>
          <a:p>
            <a:pPr marL="0" indent="0" algn="ctr">
              <a:spcAft>
                <a:spcPts val="600"/>
              </a:spcAft>
              <a:buNone/>
              <a:defRPr/>
            </a:pPr>
            <a:endParaRPr lang="en-US" dirty="0"/>
          </a:p>
          <a:p>
            <a:pPr marL="0" indent="0" algn="ctr">
              <a:lnSpc>
                <a:spcPct val="100000"/>
              </a:lnSpc>
              <a:spcAft>
                <a:spcPts val="600"/>
              </a:spcAft>
              <a:buNone/>
              <a:defRPr/>
            </a:pPr>
            <a:r>
              <a:rPr lang="en-US" sz="2800" dirty="0">
                <a:latin typeface="+mn-lt"/>
              </a:rPr>
              <a:t>Observation without evaluation and interpretation</a:t>
            </a:r>
            <a:br>
              <a:rPr lang="en-US" sz="2800" dirty="0">
                <a:latin typeface="+mn-lt"/>
              </a:rPr>
            </a:br>
            <a:r>
              <a:rPr lang="en-US" sz="2800" b="1" dirty="0">
                <a:solidFill>
                  <a:srgbClr val="740031"/>
                </a:solidFill>
                <a:latin typeface="+mn-lt"/>
              </a:rPr>
              <a:t>When I see/ hear …</a:t>
            </a:r>
            <a:endParaRPr lang="en-US" dirty="0"/>
          </a:p>
          <a:p>
            <a:pPr marL="0" indent="0" algn="ctr">
              <a:lnSpc>
                <a:spcPct val="100000"/>
              </a:lnSpc>
              <a:spcAft>
                <a:spcPts val="600"/>
              </a:spcAft>
              <a:buNone/>
              <a:defRPr/>
            </a:pPr>
            <a:r>
              <a:rPr lang="en-US" sz="2800" dirty="0">
                <a:latin typeface="+mn-lt"/>
              </a:rPr>
              <a:t>Feeling without reproach</a:t>
            </a:r>
            <a:br>
              <a:rPr lang="en-US" sz="2800" dirty="0">
                <a:latin typeface="+mn-lt"/>
              </a:rPr>
            </a:br>
            <a:r>
              <a:rPr lang="en-US" sz="2800" b="1" dirty="0">
                <a:solidFill>
                  <a:srgbClr val="740031"/>
                </a:solidFill>
                <a:latin typeface="+mn-lt"/>
              </a:rPr>
              <a:t>then I feel …,</a:t>
            </a:r>
            <a:endParaRPr lang="en-US" dirty="0"/>
          </a:p>
          <a:p>
            <a:pPr marL="0" indent="0" algn="ctr">
              <a:lnSpc>
                <a:spcPct val="100000"/>
              </a:lnSpc>
              <a:spcAft>
                <a:spcPts val="600"/>
              </a:spcAft>
              <a:buNone/>
              <a:defRPr/>
            </a:pPr>
            <a:r>
              <a:rPr lang="en-US" sz="2800" dirty="0">
                <a:latin typeface="+mn-lt"/>
              </a:rPr>
              <a:t>Need</a:t>
            </a:r>
            <a:br>
              <a:rPr lang="en-US" sz="2800" dirty="0">
                <a:latin typeface="+mn-lt"/>
              </a:rPr>
            </a:br>
            <a:r>
              <a:rPr lang="en-US" sz="2800" b="1" dirty="0">
                <a:solidFill>
                  <a:srgbClr val="740031"/>
                </a:solidFill>
                <a:latin typeface="+mn-lt"/>
              </a:rPr>
              <a:t>because I have the need for ....</a:t>
            </a:r>
            <a:endParaRPr lang="en-US" dirty="0"/>
          </a:p>
          <a:p>
            <a:pPr marL="0" indent="0" algn="ctr">
              <a:lnSpc>
                <a:spcPct val="100000"/>
              </a:lnSpc>
              <a:spcAft>
                <a:spcPts val="600"/>
              </a:spcAft>
              <a:buNone/>
              <a:defRPr/>
            </a:pPr>
            <a:r>
              <a:rPr lang="en-US" sz="2800" dirty="0">
                <a:latin typeface="+mn-lt"/>
              </a:rPr>
              <a:t>specific request</a:t>
            </a:r>
            <a:br>
              <a:rPr lang="en-US" sz="2800" dirty="0">
                <a:latin typeface="+mn-lt"/>
              </a:rPr>
            </a:br>
            <a:r>
              <a:rPr lang="en-US" sz="2800" b="1" dirty="0">
                <a:solidFill>
                  <a:srgbClr val="740031"/>
                </a:solidFill>
                <a:latin typeface="+mn-lt"/>
              </a:rPr>
              <a:t>That is why I am asking you to …</a:t>
            </a:r>
            <a:endParaRPr lang="en-US" dirty="0"/>
          </a:p>
          <a:p>
            <a:pPr marL="0" indent="0" algn="ctr">
              <a:lnSpc>
                <a:spcPct val="100000"/>
              </a:lnSpc>
              <a:spcAft>
                <a:spcPts val="600"/>
              </a:spcAft>
              <a:buNone/>
              <a:defRPr/>
            </a:pPr>
            <a:endParaRPr lang="en-US" sz="2800" i="1" dirty="0">
              <a:latin typeface="+mn-lt"/>
            </a:endParaRPr>
          </a:p>
        </p:txBody>
      </p:sp>
      <p:sp>
        <p:nvSpPr>
          <p:cNvPr id="4" name="Inhaltsplatzhalter 3">
            <a:extLst>
              <a:ext uri="{FF2B5EF4-FFF2-40B4-BE49-F238E27FC236}">
                <a16:creationId xmlns:a16="http://schemas.microsoft.com/office/drawing/2014/main" id="{DD44EB89-2A88-9942-8288-61486612EE33}"/>
              </a:ext>
            </a:extLst>
          </p:cNvPr>
          <p:cNvSpPr>
            <a:spLocks noGrp="1"/>
          </p:cNvSpPr>
          <p:nvPr>
            <p:ph sz="half" idx="2"/>
          </p:nvPr>
        </p:nvSpPr>
        <p:spPr>
          <a:xfrm>
            <a:off x="9220200" y="3848100"/>
            <a:ext cx="7123800" cy="5943600"/>
          </a:xfrm>
        </p:spPr>
        <p:txBody>
          <a:bodyPr>
            <a:normAutofit/>
          </a:bodyPr>
          <a:lstStyle/>
          <a:p>
            <a:pPr marL="0" indent="0" algn="ctr">
              <a:spcAft>
                <a:spcPts val="600"/>
              </a:spcAft>
              <a:buFont typeface="+mj-lt"/>
              <a:buNone/>
              <a:defRPr/>
            </a:pPr>
            <a:r>
              <a:rPr lang="en-US" sz="2800" b="1" dirty="0">
                <a:latin typeface="+mn-lt"/>
              </a:rPr>
              <a:t>empathic listening</a:t>
            </a:r>
          </a:p>
          <a:p>
            <a:pPr marL="0" indent="0" algn="ctr">
              <a:spcAft>
                <a:spcPts val="600"/>
              </a:spcAft>
              <a:buFont typeface="+mj-lt"/>
              <a:buNone/>
              <a:defRPr/>
            </a:pPr>
            <a:endParaRPr lang="en-US" dirty="0"/>
          </a:p>
          <a:p>
            <a:pPr marL="0" indent="0" algn="ctr">
              <a:lnSpc>
                <a:spcPct val="100000"/>
              </a:lnSpc>
              <a:spcAft>
                <a:spcPts val="600"/>
              </a:spcAft>
              <a:buFont typeface="+mj-lt"/>
              <a:buNone/>
              <a:defRPr/>
            </a:pPr>
            <a:r>
              <a:rPr lang="en-US" sz="2800" dirty="0">
                <a:latin typeface="+mn-lt"/>
              </a:rPr>
              <a:t>Observation</a:t>
            </a:r>
            <a:br>
              <a:rPr lang="en-US" sz="2800" dirty="0">
                <a:latin typeface="+mn-lt"/>
              </a:rPr>
            </a:br>
            <a:r>
              <a:rPr lang="en-US" sz="2800" b="1" dirty="0">
                <a:solidFill>
                  <a:srgbClr val="740031"/>
                </a:solidFill>
                <a:latin typeface="+mn-lt"/>
              </a:rPr>
              <a:t>When you see/ hear …</a:t>
            </a:r>
            <a:endParaRPr lang="en-US" dirty="0"/>
          </a:p>
          <a:p>
            <a:pPr marL="0" indent="0" algn="ctr">
              <a:lnSpc>
                <a:spcPct val="100000"/>
              </a:lnSpc>
              <a:spcAft>
                <a:spcPts val="600"/>
              </a:spcAft>
              <a:buFont typeface="+mj-lt"/>
              <a:buNone/>
              <a:defRPr/>
            </a:pPr>
            <a:r>
              <a:rPr lang="en-US" sz="2800" dirty="0">
                <a:latin typeface="+mn-lt"/>
              </a:rPr>
              <a:t>Feeling</a:t>
            </a:r>
            <a:br>
              <a:rPr lang="en-US" sz="2800" dirty="0">
                <a:latin typeface="+mn-lt"/>
              </a:rPr>
            </a:br>
            <a:r>
              <a:rPr lang="en-US" sz="2800" b="1" dirty="0">
                <a:solidFill>
                  <a:srgbClr val="740031"/>
                </a:solidFill>
                <a:latin typeface="+mn-lt"/>
              </a:rPr>
              <a:t>do you feel ...,</a:t>
            </a:r>
            <a:endParaRPr lang="en-US" dirty="0"/>
          </a:p>
          <a:p>
            <a:pPr marL="0" indent="0" algn="ctr">
              <a:lnSpc>
                <a:spcPct val="100000"/>
              </a:lnSpc>
              <a:spcAft>
                <a:spcPts val="600"/>
              </a:spcAft>
              <a:buFont typeface="+mj-lt"/>
              <a:buNone/>
              <a:defRPr/>
            </a:pPr>
            <a:r>
              <a:rPr lang="en-US" sz="2800" dirty="0">
                <a:latin typeface="+mn-lt"/>
              </a:rPr>
              <a:t>Need</a:t>
            </a:r>
            <a:br>
              <a:rPr lang="en-US" sz="2800" dirty="0">
                <a:latin typeface="+mn-lt"/>
              </a:rPr>
            </a:br>
            <a:r>
              <a:rPr lang="en-US" sz="2800" b="1" dirty="0">
                <a:solidFill>
                  <a:srgbClr val="740031"/>
                </a:solidFill>
                <a:latin typeface="+mn-lt"/>
              </a:rPr>
              <a:t>because you have the need for ...?</a:t>
            </a:r>
            <a:endParaRPr lang="en-US" dirty="0"/>
          </a:p>
          <a:p>
            <a:pPr marL="0" indent="0" algn="ctr">
              <a:lnSpc>
                <a:spcPct val="100000"/>
              </a:lnSpc>
              <a:spcAft>
                <a:spcPts val="600"/>
              </a:spcAft>
              <a:buFont typeface="+mj-lt"/>
              <a:buNone/>
              <a:defRPr/>
            </a:pPr>
            <a:r>
              <a:rPr lang="en-US" sz="2800" dirty="0">
                <a:latin typeface="+mn-lt"/>
              </a:rPr>
              <a:t>Request/ wish</a:t>
            </a:r>
            <a:br>
              <a:rPr lang="en-US" sz="2800" i="1" dirty="0">
                <a:latin typeface="+mn-lt"/>
              </a:rPr>
            </a:br>
            <a:r>
              <a:rPr lang="en-US" sz="2800" b="1" dirty="0">
                <a:solidFill>
                  <a:srgbClr val="740031"/>
                </a:solidFill>
                <a:latin typeface="+mn-lt"/>
              </a:rPr>
              <a:t>And therefore ask me to ...?</a:t>
            </a:r>
            <a:endParaRPr lang="en-US" dirty="0"/>
          </a:p>
          <a:p>
            <a:pPr marL="0" indent="0" algn="ctr">
              <a:lnSpc>
                <a:spcPct val="100000"/>
              </a:lnSpc>
              <a:spcAft>
                <a:spcPts val="600"/>
              </a:spcAft>
              <a:buFont typeface="+mj-lt"/>
              <a:buNone/>
              <a:defRPr/>
            </a:pPr>
            <a:endParaRPr lang="de-DE" sz="2800" i="1" dirty="0">
              <a:latin typeface="+mn-lt"/>
            </a:endParaRPr>
          </a:p>
          <a:p>
            <a:endParaRPr lang="de-DE" dirty="0"/>
          </a:p>
        </p:txBody>
      </p:sp>
      <p:pic>
        <p:nvPicPr>
          <p:cNvPr id="5" name="Grafik 4" descr="Chatblase Silhouette">
            <a:extLst>
              <a:ext uri="{FF2B5EF4-FFF2-40B4-BE49-F238E27FC236}">
                <a16:creationId xmlns:a16="http://schemas.microsoft.com/office/drawing/2014/main" id="{33F557B4-8075-85BA-642F-AD1A912F2D61}"/>
              </a:ext>
            </a:extLst>
          </p:cNvPr>
          <p:cNvPicPr>
            <a:picLocks noChangeAspect="1"/>
          </p:cNvPicPr>
          <p:nvPr/>
        </p:nvPicPr>
        <p:blipFill>
          <a:blip r:embed="rId3"/>
          <a:stretch/>
        </p:blipFill>
        <p:spPr bwMode="auto">
          <a:xfrm>
            <a:off x="5010600" y="2890235"/>
            <a:ext cx="990599" cy="990599"/>
          </a:xfrm>
          <a:prstGeom prst="rect">
            <a:avLst/>
          </a:prstGeom>
        </p:spPr>
      </p:pic>
      <p:pic>
        <p:nvPicPr>
          <p:cNvPr id="6" name="Grafik 5" descr="Ohr Silhouette">
            <a:extLst>
              <a:ext uri="{FF2B5EF4-FFF2-40B4-BE49-F238E27FC236}">
                <a16:creationId xmlns:a16="http://schemas.microsoft.com/office/drawing/2014/main" id="{49E4CC16-8151-7065-5464-21002A2328A1}"/>
              </a:ext>
            </a:extLst>
          </p:cNvPr>
          <p:cNvPicPr>
            <a:picLocks noChangeAspect="1"/>
          </p:cNvPicPr>
          <p:nvPr/>
        </p:nvPicPr>
        <p:blipFill>
          <a:blip r:embed="rId4"/>
          <a:stretch/>
        </p:blipFill>
        <p:spPr bwMode="auto">
          <a:xfrm>
            <a:off x="12286803" y="2781300"/>
            <a:ext cx="990600" cy="990600"/>
          </a:xfrm>
          <a:prstGeom prst="rect">
            <a:avLst/>
          </a:prstGeom>
        </p:spPr>
      </p:pic>
    </p:spTree>
    <p:extLst>
      <p:ext uri="{BB962C8B-B14F-4D97-AF65-F5344CB8AC3E}">
        <p14:creationId xmlns:p14="http://schemas.microsoft.com/office/powerpoint/2010/main" val="306764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p:txBody>
          <a:bodyPr>
            <a:normAutofit/>
          </a:bodyPr>
          <a:lstStyle/>
          <a:p>
            <a:pPr marL="0" indent="0" algn="ctr">
              <a:buNone/>
              <a:defRPr/>
            </a:pPr>
            <a:r>
              <a:rPr lang="en-US" sz="4400" b="1" dirty="0">
                <a:latin typeface="Lora"/>
              </a:rPr>
              <a:t>Exercise 1</a:t>
            </a:r>
            <a:br>
              <a:rPr lang="en-US" sz="1000" dirty="0"/>
            </a:br>
            <a:br>
              <a:rPr lang="en-US" sz="4400" b="1" i="1" dirty="0">
                <a:latin typeface="Lora"/>
              </a:rPr>
            </a:br>
            <a:r>
              <a:rPr lang="en-US" sz="4000" i="1" dirty="0">
                <a:latin typeface="Lora"/>
              </a:rPr>
              <a:t>Student to classmate: “That‘s bullshit!"</a:t>
            </a:r>
            <a:br>
              <a:rPr lang="en-US" sz="1000" dirty="0"/>
            </a:br>
            <a:br>
              <a:rPr lang="en-US" sz="4000" i="1" dirty="0">
                <a:latin typeface="Lora"/>
              </a:rPr>
            </a:br>
            <a:r>
              <a:rPr lang="en-US" sz="4000" i="1" dirty="0">
                <a:latin typeface="Lora"/>
              </a:rPr>
              <a:t>Mother to child: "You are lazy. Clean up right now!"</a:t>
            </a:r>
            <a:br>
              <a:rPr lang="en-US" sz="1000" dirty="0"/>
            </a:br>
            <a:br>
              <a:rPr lang="en-US" sz="4000" i="1" dirty="0">
                <a:latin typeface="Lora"/>
              </a:rPr>
            </a:br>
            <a:r>
              <a:rPr lang="en-US" sz="4000" i="1" dirty="0">
                <a:latin typeface="Lora"/>
              </a:rPr>
              <a:t>Brother to younger sister, "You suck."</a:t>
            </a:r>
            <a:br>
              <a:rPr lang="en-US" sz="1000" dirty="0"/>
            </a:br>
            <a:br>
              <a:rPr lang="en-US" sz="4000" i="1" dirty="0">
                <a:latin typeface="Lora"/>
              </a:rPr>
            </a:br>
            <a:r>
              <a:rPr lang="en-US" sz="4000" i="1" dirty="0">
                <a:latin typeface="Lora"/>
              </a:rPr>
              <a:t>Father to other father: "Raise your child better!"</a:t>
            </a:r>
            <a:endParaRPr lang="en-US" sz="1000" dirty="0"/>
          </a:p>
        </p:txBody>
      </p:sp>
    </p:spTree>
    <p:extLst>
      <p:ext uri="{BB962C8B-B14F-4D97-AF65-F5344CB8AC3E}">
        <p14:creationId xmlns:p14="http://schemas.microsoft.com/office/powerpoint/2010/main" val="18756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p:txBody>
          <a:bodyPr>
            <a:normAutofit fontScale="90000"/>
          </a:bodyPr>
          <a:lstStyle/>
          <a:p>
            <a:pPr marL="0" indent="0" algn="ctr">
              <a:lnSpc>
                <a:spcPct val="150000"/>
              </a:lnSpc>
              <a:buNone/>
              <a:defRPr/>
            </a:pPr>
            <a:r>
              <a:rPr lang="en-US" sz="4000" b="1" dirty="0">
                <a:latin typeface="Lora"/>
              </a:rPr>
              <a:t>Exercise 2</a:t>
            </a:r>
            <a:br>
              <a:rPr lang="en-US" sz="4000" b="1" dirty="0">
                <a:latin typeface="Lora"/>
              </a:rPr>
            </a:br>
            <a:br>
              <a:rPr lang="en-US" sz="4000" b="1" dirty="0">
                <a:latin typeface="Lora"/>
              </a:rPr>
            </a:br>
            <a:r>
              <a:rPr lang="en-US" sz="3600" b="1" dirty="0">
                <a:latin typeface="Lora"/>
              </a:rPr>
              <a:t>Recall a situation in which another group member upset or annoyed you.</a:t>
            </a:r>
            <a:br>
              <a:rPr lang="en-US" sz="3600" b="1" i="1" dirty="0">
                <a:latin typeface="Lora"/>
              </a:rPr>
            </a:br>
            <a:r>
              <a:rPr lang="en-US" sz="3100" dirty="0">
                <a:latin typeface="Lora"/>
              </a:rPr>
              <a:t>Formulate your judgment about this person.</a:t>
            </a:r>
            <a:br>
              <a:rPr lang="en-US" sz="1000" dirty="0"/>
            </a:br>
            <a:r>
              <a:rPr lang="en-US" sz="3100" dirty="0">
                <a:latin typeface="Lora"/>
              </a:rPr>
              <a:t>In what situation does this judgment surface in you?</a:t>
            </a:r>
            <a:br>
              <a:rPr lang="en-US" sz="1000" dirty="0"/>
            </a:br>
            <a:r>
              <a:rPr lang="en-US" sz="3100" dirty="0">
                <a:latin typeface="Lora"/>
              </a:rPr>
              <a:t>Which of your needs was not met in the process?</a:t>
            </a:r>
            <a:br>
              <a:rPr lang="en-US" sz="1000" dirty="0"/>
            </a:br>
            <a:r>
              <a:rPr lang="en-US" sz="3100" dirty="0">
                <a:latin typeface="Lora"/>
              </a:rPr>
              <a:t>Assume: How did the other person feel? Which of their needs did they want to fulfill?</a:t>
            </a:r>
            <a:endParaRPr lang="en-US" sz="1100" dirty="0"/>
          </a:p>
        </p:txBody>
      </p:sp>
    </p:spTree>
    <p:extLst>
      <p:ext uri="{BB962C8B-B14F-4D97-AF65-F5344CB8AC3E}">
        <p14:creationId xmlns:p14="http://schemas.microsoft.com/office/powerpoint/2010/main" val="3960838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2. </a:t>
            </a:r>
            <a:r>
              <a:rPr lang="de-DE" dirty="0" err="1"/>
              <a:t>How</a:t>
            </a:r>
            <a:r>
              <a:rPr lang="de-DE" dirty="0"/>
              <a:t> </a:t>
            </a:r>
            <a:r>
              <a:rPr lang="de-DE" dirty="0" err="1"/>
              <a:t>to</a:t>
            </a:r>
            <a:r>
              <a:rPr lang="de-DE" dirty="0"/>
              <a:t> deal </a:t>
            </a:r>
            <a:r>
              <a:rPr lang="de-DE" dirty="0" err="1"/>
              <a:t>with</a:t>
            </a:r>
            <a:r>
              <a:rPr lang="de-DE" dirty="0"/>
              <a:t> social </a:t>
            </a:r>
            <a:r>
              <a:rPr lang="de-DE" dirty="0" err="1"/>
              <a:t>loafing</a:t>
            </a:r>
            <a:r>
              <a:rPr lang="de-DE" dirty="0"/>
              <a:t>?</a:t>
            </a:r>
          </a:p>
        </p:txBody>
      </p:sp>
      <p:sp>
        <p:nvSpPr>
          <p:cNvPr id="4" name="Textfeld 3">
            <a:extLst>
              <a:ext uri="{FF2B5EF4-FFF2-40B4-BE49-F238E27FC236}">
                <a16:creationId xmlns:a16="http://schemas.microsoft.com/office/drawing/2014/main" id="{5E504638-35A6-60B9-CD3C-0FBE114D4455}"/>
              </a:ext>
            </a:extLst>
          </p:cNvPr>
          <p:cNvSpPr txBox="1"/>
          <p:nvPr/>
        </p:nvSpPr>
        <p:spPr bwMode="auto">
          <a:xfrm rot="16199998">
            <a:off x="-4057303" y="5834922"/>
            <a:ext cx="8650243" cy="253916"/>
          </a:xfrm>
          <a:prstGeom prst="rect">
            <a:avLst/>
          </a:prstGeom>
          <a:noFill/>
        </p:spPr>
        <p:txBody>
          <a:bodyPr wrap="square" rtlCol="0">
            <a:spAutoFit/>
          </a:bodyPr>
          <a:lstStyle/>
          <a:p>
            <a:pPr>
              <a:defRPr/>
            </a:pPr>
            <a:r>
              <a:rPr lang="de-DE" sz="1050" dirty="0">
                <a:solidFill>
                  <a:schemeClr val="bg1">
                    <a:lumMod val="65000"/>
                  </a:schemeClr>
                </a:solidFill>
              </a:rPr>
              <a:t>"</a:t>
            </a:r>
            <a:r>
              <a:rPr lang="de-DE" sz="1050" u="sng" dirty="0">
                <a:solidFill>
                  <a:schemeClr val="bg1">
                    <a:lumMod val="65000"/>
                  </a:schemeClr>
                </a:solidFill>
                <a:hlinkClick r:id="rId3" tooltip="http://www.coolstuff49ja.com/2015/02/how-to-be-successful-lazy-blogger.html"/>
              </a:rPr>
              <a:t>Dieses Foto</a:t>
            </a:r>
            <a:r>
              <a:rPr lang="de-DE" sz="1050" dirty="0">
                <a:solidFill>
                  <a:schemeClr val="bg1">
                    <a:lumMod val="65000"/>
                  </a:schemeClr>
                </a:solidFill>
              </a:rPr>
              <a:t>" von Unbekannter Autor ist lizenziert gemäß </a:t>
            </a:r>
            <a:r>
              <a:rPr lang="de-DE" sz="1050" u="sng" dirty="0">
                <a:solidFill>
                  <a:schemeClr val="bg1">
                    <a:lumMod val="65000"/>
                  </a:schemeClr>
                </a:solidFill>
                <a:hlinkClick r:id="rId4" tooltip="https://creativecommons.org/licenses/by-sa/3.0/"/>
              </a:rPr>
              <a:t>CC BY-SA</a:t>
            </a:r>
            <a:endParaRPr lang="de-DE" sz="1050" dirty="0">
              <a:solidFill>
                <a:schemeClr val="bg1">
                  <a:lumMod val="65000"/>
                </a:schemeClr>
              </a:solidFill>
            </a:endParaRPr>
          </a:p>
        </p:txBody>
      </p:sp>
      <p:grpSp>
        <p:nvGrpSpPr>
          <p:cNvPr id="5" name="Gruppieren 4">
            <a:extLst>
              <a:ext uri="{FF2B5EF4-FFF2-40B4-BE49-F238E27FC236}">
                <a16:creationId xmlns:a16="http://schemas.microsoft.com/office/drawing/2014/main" id="{85525768-6D32-C151-3B40-DDEB51AFDABB}"/>
              </a:ext>
            </a:extLst>
          </p:cNvPr>
          <p:cNvGrpSpPr/>
          <p:nvPr/>
        </p:nvGrpSpPr>
        <p:grpSpPr bwMode="auto">
          <a:xfrm>
            <a:off x="2362200" y="2324100"/>
            <a:ext cx="13258800" cy="5781177"/>
            <a:chOff x="1463608" y="1330768"/>
            <a:chExt cx="5974981" cy="2605245"/>
          </a:xfrm>
        </p:grpSpPr>
        <p:pic>
          <p:nvPicPr>
            <p:cNvPr id="6" name="Grafik 5" descr="Ein Bild, das Katze, drinnen, computer, legend enthält.&#10;&#10;Automatisch generierte Beschreibung">
              <a:extLst>
                <a:ext uri="{FF2B5EF4-FFF2-40B4-BE49-F238E27FC236}">
                  <a16:creationId xmlns:a16="http://schemas.microsoft.com/office/drawing/2014/main" id="{D64ECAFB-7B9D-D61C-ACDE-4D2E715023A8}"/>
                </a:ext>
              </a:extLst>
            </p:cNvPr>
            <p:cNvPicPr>
              <a:picLocks noChangeAspect="1"/>
            </p:cNvPicPr>
            <p:nvPr/>
          </p:nvPicPr>
          <p:blipFill>
            <a:blip r:embed="rId5"/>
            <a:stretch/>
          </p:blipFill>
          <p:spPr bwMode="auto">
            <a:xfrm>
              <a:off x="3126658" y="1679649"/>
              <a:ext cx="2890684" cy="1620053"/>
            </a:xfrm>
            <a:prstGeom prst="rect">
              <a:avLst/>
            </a:prstGeom>
          </p:spPr>
        </p:pic>
        <p:sp>
          <p:nvSpPr>
            <p:cNvPr id="7" name="Oval 9">
              <a:extLst>
                <a:ext uri="{FF2B5EF4-FFF2-40B4-BE49-F238E27FC236}">
                  <a16:creationId xmlns:a16="http://schemas.microsoft.com/office/drawing/2014/main" id="{A07DDB65-7DBD-73A1-2DEF-33F04C61D649}"/>
                </a:ext>
              </a:extLst>
            </p:cNvPr>
            <p:cNvSpPr/>
            <p:nvPr/>
          </p:nvSpPr>
          <p:spPr bwMode="auto">
            <a:xfrm>
              <a:off x="5491813" y="2962625"/>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err="1">
                  <a:solidFill>
                    <a:srgbClr val="740031"/>
                  </a:solidFill>
                </a:rPr>
                <a:t>Avoid</a:t>
              </a:r>
              <a:r>
                <a:rPr lang="de-DE" sz="2800" dirty="0">
                  <a:solidFill>
                    <a:srgbClr val="740031"/>
                  </a:solidFill>
                </a:rPr>
                <a:t> personal </a:t>
              </a:r>
              <a:r>
                <a:rPr lang="de-DE" sz="2800" dirty="0" err="1">
                  <a:solidFill>
                    <a:srgbClr val="740031"/>
                  </a:solidFill>
                </a:rPr>
                <a:t>responsibility</a:t>
              </a:r>
              <a:endParaRPr lang="de-DE" sz="2000" dirty="0"/>
            </a:p>
          </p:txBody>
        </p:sp>
        <p:sp>
          <p:nvSpPr>
            <p:cNvPr id="8" name="Oval 10">
              <a:extLst>
                <a:ext uri="{FF2B5EF4-FFF2-40B4-BE49-F238E27FC236}">
                  <a16:creationId xmlns:a16="http://schemas.microsoft.com/office/drawing/2014/main" id="{99ED8D4C-023E-7679-5DB5-8C2E59055407}"/>
                </a:ext>
              </a:extLst>
            </p:cNvPr>
            <p:cNvSpPr/>
            <p:nvPr/>
          </p:nvSpPr>
          <p:spPr bwMode="auto">
            <a:xfrm>
              <a:off x="1463608" y="1330768"/>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800" dirty="0">
                  <a:solidFill>
                    <a:srgbClr val="740031"/>
                  </a:solidFill>
                </a:rPr>
                <a:t>Delegate tasks away from themselves</a:t>
              </a:r>
              <a:endParaRPr lang="en-US" sz="2000" dirty="0"/>
            </a:p>
          </p:txBody>
        </p:sp>
        <p:sp>
          <p:nvSpPr>
            <p:cNvPr id="9" name="Oval 11">
              <a:extLst>
                <a:ext uri="{FF2B5EF4-FFF2-40B4-BE49-F238E27FC236}">
                  <a16:creationId xmlns:a16="http://schemas.microsoft.com/office/drawing/2014/main" id="{ABCCE19B-5C96-ACBC-57C8-DB776755EDC9}"/>
                </a:ext>
              </a:extLst>
            </p:cNvPr>
            <p:cNvSpPr/>
            <p:nvPr/>
          </p:nvSpPr>
          <p:spPr bwMode="auto">
            <a:xfrm>
              <a:off x="5491813" y="1330768"/>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err="1">
                  <a:solidFill>
                    <a:srgbClr val="740031"/>
                  </a:solidFill>
                </a:rPr>
                <a:t>Excuses</a:t>
              </a:r>
              <a:r>
                <a:rPr lang="de-DE" sz="2800" dirty="0">
                  <a:solidFill>
                    <a:srgbClr val="740031"/>
                  </a:solidFill>
                </a:rPr>
                <a:t> and </a:t>
              </a:r>
              <a:r>
                <a:rPr lang="de-DE" sz="2800" dirty="0" err="1">
                  <a:solidFill>
                    <a:srgbClr val="740031"/>
                  </a:solidFill>
                </a:rPr>
                <a:t>evasions</a:t>
              </a:r>
              <a:endParaRPr lang="de-DE" sz="2000" dirty="0"/>
            </a:p>
          </p:txBody>
        </p:sp>
        <p:sp>
          <p:nvSpPr>
            <p:cNvPr id="10" name="Oval 12">
              <a:extLst>
                <a:ext uri="{FF2B5EF4-FFF2-40B4-BE49-F238E27FC236}">
                  <a16:creationId xmlns:a16="http://schemas.microsoft.com/office/drawing/2014/main" id="{83886461-75AE-BB52-C421-19F0BD7B92D8}"/>
                </a:ext>
              </a:extLst>
            </p:cNvPr>
            <p:cNvSpPr/>
            <p:nvPr/>
          </p:nvSpPr>
          <p:spPr bwMode="auto">
            <a:xfrm>
              <a:off x="1463608" y="2962625"/>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err="1">
                  <a:solidFill>
                    <a:srgbClr val="740031"/>
                  </a:solidFill>
                </a:rPr>
                <a:t>Avoid</a:t>
              </a:r>
              <a:r>
                <a:rPr lang="de-DE" sz="2800" dirty="0">
                  <a:solidFill>
                    <a:srgbClr val="740031"/>
                  </a:solidFill>
                </a:rPr>
                <a:t> </a:t>
              </a:r>
              <a:r>
                <a:rPr lang="de-DE" sz="2800" dirty="0" err="1">
                  <a:solidFill>
                    <a:srgbClr val="740031"/>
                  </a:solidFill>
                </a:rPr>
                <a:t>work</a:t>
              </a:r>
              <a:endParaRPr lang="de-DE" sz="2000" dirty="0"/>
            </a:p>
          </p:txBody>
        </p:sp>
      </p:grpSp>
      <p:sp>
        <p:nvSpPr>
          <p:cNvPr id="11" name="Textfeld 10">
            <a:extLst>
              <a:ext uri="{FF2B5EF4-FFF2-40B4-BE49-F238E27FC236}">
                <a16:creationId xmlns:a16="http://schemas.microsoft.com/office/drawing/2014/main" id="{CA0832CB-8438-C781-644C-8A0524DA5B5B}"/>
              </a:ext>
            </a:extLst>
          </p:cNvPr>
          <p:cNvSpPr txBox="1"/>
          <p:nvPr/>
        </p:nvSpPr>
        <p:spPr bwMode="auto">
          <a:xfrm>
            <a:off x="3669852" y="8291008"/>
            <a:ext cx="11156098" cy="1815882"/>
          </a:xfrm>
          <a:prstGeom prst="rect">
            <a:avLst/>
          </a:prstGeom>
          <a:noFill/>
        </p:spPr>
        <p:txBody>
          <a:bodyPr wrap="square" rtlCol="0">
            <a:spAutoFit/>
          </a:bodyPr>
          <a:lstStyle/>
          <a:p>
            <a:pPr algn="ctr">
              <a:defRPr/>
            </a:pPr>
            <a:r>
              <a:rPr lang="en-US" sz="2800" dirty="0">
                <a:latin typeface="+mn-lt"/>
              </a:rPr>
              <a:t>Social free riding summarizes behaviors that people in social groups deliberately use to get as many advantages (benefits) as possible with as little effort (cost) of their own as possible.</a:t>
            </a:r>
          </a:p>
          <a:p>
            <a:pPr algn="ctr">
              <a:defRPr/>
            </a:pPr>
            <a:r>
              <a:rPr lang="de-DE" sz="2800" dirty="0">
                <a:latin typeface="+mn-lt"/>
              </a:rPr>
              <a:t>.</a:t>
            </a:r>
          </a:p>
        </p:txBody>
      </p:sp>
    </p:spTree>
    <p:extLst>
      <p:ext uri="{BB962C8B-B14F-4D97-AF65-F5344CB8AC3E}">
        <p14:creationId xmlns:p14="http://schemas.microsoft.com/office/powerpoint/2010/main" val="2892134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76E08-DBAE-B593-FC82-387B662C6A7C}"/>
              </a:ext>
            </a:extLst>
          </p:cNvPr>
          <p:cNvSpPr>
            <a:spLocks noGrp="1"/>
          </p:cNvSpPr>
          <p:nvPr>
            <p:ph type="title"/>
          </p:nvPr>
        </p:nvSpPr>
        <p:spPr/>
        <p:txBody>
          <a:bodyPr/>
          <a:lstStyle/>
          <a:p>
            <a:r>
              <a:rPr lang="de-DE" dirty="0"/>
              <a:t>2. Wie umgehen mit sozialen Trittbrettfahrern?</a:t>
            </a:r>
          </a:p>
        </p:txBody>
      </p:sp>
      <p:sp>
        <p:nvSpPr>
          <p:cNvPr id="5" name="Abgerundetes Rechteck 14">
            <a:extLst>
              <a:ext uri="{FF2B5EF4-FFF2-40B4-BE49-F238E27FC236}">
                <a16:creationId xmlns:a16="http://schemas.microsoft.com/office/drawing/2014/main" id="{E37093B0-F304-9836-E9F9-CE99A12E2560}"/>
              </a:ext>
            </a:extLst>
          </p:cNvPr>
          <p:cNvSpPr/>
          <p:nvPr/>
        </p:nvSpPr>
        <p:spPr bwMode="auto">
          <a:xfrm>
            <a:off x="3352800" y="3486432"/>
            <a:ext cx="12224597" cy="4462535"/>
          </a:xfrm>
          <a:prstGeom prst="roundRect">
            <a:avLst>
              <a:gd name="adj" fmla="val 16667"/>
            </a:avLst>
          </a:prstGeom>
          <a:no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6" name="Abgerundetes Rechteck 15">
            <a:extLst>
              <a:ext uri="{FF2B5EF4-FFF2-40B4-BE49-F238E27FC236}">
                <a16:creationId xmlns:a16="http://schemas.microsoft.com/office/drawing/2014/main" id="{6704F93F-6848-208D-BB70-959EEE317465}"/>
              </a:ext>
            </a:extLst>
          </p:cNvPr>
          <p:cNvSpPr/>
          <p:nvPr/>
        </p:nvSpPr>
        <p:spPr bwMode="auto">
          <a:xfrm>
            <a:off x="4567014" y="4759819"/>
            <a:ext cx="9796168" cy="2954078"/>
          </a:xfrm>
          <a:prstGeom prst="roundRect">
            <a:avLst>
              <a:gd name="adj" fmla="val 16667"/>
            </a:avLst>
          </a:prstGeom>
          <a:solidFill>
            <a:srgbClr val="CBA8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rgbClr val="CBA8B7"/>
              </a:solidFill>
            </a:endParaRPr>
          </a:p>
        </p:txBody>
      </p:sp>
      <p:sp>
        <p:nvSpPr>
          <p:cNvPr id="7" name="Abgerundetes Rechteck 16">
            <a:extLst>
              <a:ext uri="{FF2B5EF4-FFF2-40B4-BE49-F238E27FC236}">
                <a16:creationId xmlns:a16="http://schemas.microsoft.com/office/drawing/2014/main" id="{5FF6C710-246B-9CCD-5293-9E4523777A8F}"/>
              </a:ext>
            </a:extLst>
          </p:cNvPr>
          <p:cNvSpPr/>
          <p:nvPr/>
        </p:nvSpPr>
        <p:spPr bwMode="auto">
          <a:xfrm>
            <a:off x="6202689" y="5963666"/>
            <a:ext cx="6524818" cy="1486565"/>
          </a:xfrm>
          <a:prstGeom prst="roundRect">
            <a:avLst>
              <a:gd name="adj" fmla="val 16667"/>
            </a:avLst>
          </a:prstGeom>
          <a:solidFill>
            <a:srgbClr val="740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a:solidFill>
                  <a:schemeClr val="bg1"/>
                </a:solidFill>
              </a:rPr>
              <a:t>social </a:t>
            </a:r>
            <a:r>
              <a:rPr lang="de-DE" sz="2800" dirty="0" err="1">
                <a:solidFill>
                  <a:schemeClr val="bg1"/>
                </a:solidFill>
              </a:rPr>
              <a:t>freeloading</a:t>
            </a:r>
            <a:endParaRPr lang="de-DE" sz="2800" dirty="0">
              <a:solidFill>
                <a:schemeClr val="bg1"/>
              </a:solidFill>
            </a:endParaRPr>
          </a:p>
        </p:txBody>
      </p:sp>
      <p:sp>
        <p:nvSpPr>
          <p:cNvPr id="8" name="Textfeld 7">
            <a:extLst>
              <a:ext uri="{FF2B5EF4-FFF2-40B4-BE49-F238E27FC236}">
                <a16:creationId xmlns:a16="http://schemas.microsoft.com/office/drawing/2014/main" id="{668164BF-0259-5AE6-D2A2-32A071BAC674}"/>
              </a:ext>
            </a:extLst>
          </p:cNvPr>
          <p:cNvSpPr txBox="1"/>
          <p:nvPr/>
        </p:nvSpPr>
        <p:spPr bwMode="auto">
          <a:xfrm>
            <a:off x="7179311" y="4062988"/>
            <a:ext cx="4571573" cy="523220"/>
          </a:xfrm>
          <a:prstGeom prst="rect">
            <a:avLst/>
          </a:prstGeom>
          <a:noFill/>
        </p:spPr>
        <p:txBody>
          <a:bodyPr wrap="square" rtlCol="0">
            <a:spAutoFit/>
          </a:bodyPr>
          <a:lstStyle/>
          <a:p>
            <a:pPr algn="ctr">
              <a:defRPr/>
            </a:pPr>
            <a:r>
              <a:rPr lang="de-DE" sz="2800" dirty="0"/>
              <a:t>Ringelmann </a:t>
            </a:r>
            <a:r>
              <a:rPr lang="de-DE" sz="2800" dirty="0" err="1"/>
              <a:t>effect</a:t>
            </a:r>
            <a:endParaRPr lang="de-DE" sz="2800" dirty="0"/>
          </a:p>
        </p:txBody>
      </p:sp>
      <p:sp>
        <p:nvSpPr>
          <p:cNvPr id="9" name="Textfeld 8">
            <a:extLst>
              <a:ext uri="{FF2B5EF4-FFF2-40B4-BE49-F238E27FC236}">
                <a16:creationId xmlns:a16="http://schemas.microsoft.com/office/drawing/2014/main" id="{677F6D79-6456-DDF1-695D-DD2752E5A342}"/>
              </a:ext>
            </a:extLst>
          </p:cNvPr>
          <p:cNvSpPr txBox="1"/>
          <p:nvPr/>
        </p:nvSpPr>
        <p:spPr bwMode="auto">
          <a:xfrm>
            <a:off x="7097534" y="5308667"/>
            <a:ext cx="4735128" cy="523220"/>
          </a:xfrm>
          <a:prstGeom prst="rect">
            <a:avLst/>
          </a:prstGeom>
          <a:noFill/>
        </p:spPr>
        <p:txBody>
          <a:bodyPr wrap="square" rtlCol="0">
            <a:spAutoFit/>
          </a:bodyPr>
          <a:lstStyle/>
          <a:p>
            <a:pPr algn="ctr">
              <a:defRPr/>
            </a:pPr>
            <a:r>
              <a:rPr lang="de-DE" sz="2800" dirty="0">
                <a:solidFill>
                  <a:schemeClr val="tx1"/>
                </a:solidFill>
              </a:rPr>
              <a:t>social </a:t>
            </a:r>
            <a:r>
              <a:rPr lang="de-DE" sz="2800" dirty="0" err="1">
                <a:solidFill>
                  <a:schemeClr val="tx1"/>
                </a:solidFill>
              </a:rPr>
              <a:t>loafing</a:t>
            </a:r>
            <a:endParaRPr lang="de-DE" sz="2800" dirty="0">
              <a:solidFill>
                <a:schemeClr val="tx1"/>
              </a:solidFill>
            </a:endParaRPr>
          </a:p>
        </p:txBody>
      </p:sp>
    </p:spTree>
    <p:extLst>
      <p:ext uri="{BB962C8B-B14F-4D97-AF65-F5344CB8AC3E}">
        <p14:creationId xmlns:p14="http://schemas.microsoft.com/office/powerpoint/2010/main" val="2622113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2. </a:t>
            </a:r>
            <a:r>
              <a:rPr lang="de-DE" dirty="0" err="1"/>
              <a:t>How</a:t>
            </a:r>
            <a:r>
              <a:rPr lang="de-DE" dirty="0"/>
              <a:t> </a:t>
            </a:r>
            <a:r>
              <a:rPr lang="de-DE" dirty="0" err="1"/>
              <a:t>to</a:t>
            </a:r>
            <a:r>
              <a:rPr lang="de-DE" dirty="0"/>
              <a:t> deal </a:t>
            </a:r>
            <a:r>
              <a:rPr lang="de-DE" dirty="0" err="1"/>
              <a:t>with</a:t>
            </a:r>
            <a:r>
              <a:rPr lang="de-DE" dirty="0"/>
              <a:t> social </a:t>
            </a:r>
            <a:r>
              <a:rPr lang="de-DE" dirty="0" err="1"/>
              <a:t>loafing</a:t>
            </a:r>
            <a:r>
              <a:rPr lang="de-DE" dirty="0"/>
              <a:t>?</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marL="0" indent="0">
              <a:buNone/>
              <a:defRPr/>
            </a:pPr>
            <a:r>
              <a:rPr lang="en-US" sz="2800" dirty="0">
                <a:latin typeface="+mn-lt"/>
              </a:rPr>
              <a:t>Social loafer-problem</a:t>
            </a:r>
            <a:endParaRPr lang="en-US" dirty="0"/>
          </a:p>
          <a:p>
            <a:pPr>
              <a:buFont typeface="Arial"/>
              <a:buChar char="•"/>
              <a:defRPr/>
            </a:pPr>
            <a:r>
              <a:rPr lang="en-US" sz="2800" dirty="0">
                <a:latin typeface="+mn-lt"/>
              </a:rPr>
              <a:t>Contagion effect - </a:t>
            </a:r>
            <a:r>
              <a:rPr lang="en-US" sz="2800" i="1" dirty="0">
                <a:latin typeface="+mn-lt"/>
              </a:rPr>
              <a:t>Sucker effect</a:t>
            </a:r>
            <a:endParaRPr lang="en-US" dirty="0"/>
          </a:p>
          <a:p>
            <a:pPr>
              <a:buFont typeface="Arial"/>
              <a:buChar char="•"/>
              <a:defRPr/>
            </a:pPr>
            <a:r>
              <a:rPr lang="en-US" sz="2800" dirty="0">
                <a:latin typeface="+mn-lt"/>
              </a:rPr>
              <a:t>Revenge</a:t>
            </a:r>
            <a:br>
              <a:rPr lang="en-US" sz="2800" dirty="0">
                <a:latin typeface="+mn-lt"/>
              </a:rPr>
            </a:br>
            <a:endParaRPr lang="en-US" sz="2800" dirty="0">
              <a:latin typeface="+mn-lt"/>
            </a:endParaRPr>
          </a:p>
          <a:p>
            <a:pPr marL="0" indent="0">
              <a:buNone/>
              <a:defRPr/>
            </a:pPr>
            <a:r>
              <a:rPr lang="en-US" sz="2800" dirty="0">
                <a:latin typeface="+mn-lt"/>
              </a:rPr>
              <a:t>Prevent social loafing with the help of…</a:t>
            </a:r>
            <a:endParaRPr lang="en-US" dirty="0"/>
          </a:p>
          <a:p>
            <a:pPr marL="285750" indent="-285750">
              <a:buFont typeface="Arial"/>
              <a:buChar char="•"/>
              <a:defRPr/>
            </a:pPr>
            <a:r>
              <a:rPr lang="en-US" sz="2800" dirty="0">
                <a:latin typeface="+mn-lt"/>
              </a:rPr>
              <a:t>Cohesion</a:t>
            </a:r>
            <a:endParaRPr lang="en-US" dirty="0"/>
          </a:p>
          <a:p>
            <a:pPr marL="285750" indent="-285750">
              <a:buFont typeface="Arial"/>
              <a:buChar char="•"/>
              <a:defRPr/>
            </a:pPr>
            <a:r>
              <a:rPr lang="en-US" sz="2800" dirty="0">
                <a:latin typeface="+mn-lt"/>
              </a:rPr>
              <a:t>Transparency of performance contributions</a:t>
            </a:r>
            <a:endParaRPr lang="en-US" dirty="0"/>
          </a:p>
          <a:p>
            <a:pPr marL="285750" indent="-285750">
              <a:buFont typeface="Arial"/>
              <a:buChar char="•"/>
              <a:defRPr/>
            </a:pPr>
            <a:r>
              <a:rPr lang="en-US" sz="2800" dirty="0">
                <a:latin typeface="+mn-lt"/>
              </a:rPr>
              <a:t>Clear distribution of roles and tasks</a:t>
            </a:r>
            <a:endParaRPr lang="en-US" dirty="0"/>
          </a:p>
          <a:p>
            <a:pPr marL="285750" indent="-285750">
              <a:buFont typeface="Arial"/>
              <a:buChar char="•"/>
              <a:defRPr/>
            </a:pPr>
            <a:r>
              <a:rPr lang="en-US" sz="2800" dirty="0">
                <a:latin typeface="+mn-lt"/>
              </a:rPr>
              <a:t>Clear rules - </a:t>
            </a:r>
            <a:r>
              <a:rPr lang="en-US" sz="2800" b="1" dirty="0">
                <a:latin typeface="+mn-lt"/>
              </a:rPr>
              <a:t>team canvas</a:t>
            </a:r>
            <a:endParaRPr lang="en-US" dirty="0"/>
          </a:p>
          <a:p>
            <a:pPr marL="285750" indent="-285750">
              <a:buFont typeface="Arial"/>
              <a:buChar char="•"/>
              <a:defRPr/>
            </a:pPr>
            <a:r>
              <a:rPr lang="en-US" sz="2800" dirty="0">
                <a:latin typeface="+mn-lt"/>
              </a:rPr>
              <a:t>Open communication - </a:t>
            </a:r>
            <a:r>
              <a:rPr lang="en-US" sz="2800" b="1" dirty="0">
                <a:latin typeface="+mn-lt"/>
              </a:rPr>
              <a:t>check-ins</a:t>
            </a:r>
            <a:endParaRPr lang="en-US" dirty="0"/>
          </a:p>
          <a:p>
            <a:endParaRPr lang="de-DE" dirty="0"/>
          </a:p>
        </p:txBody>
      </p:sp>
      <p:grpSp>
        <p:nvGrpSpPr>
          <p:cNvPr id="4" name="Google Shape;421;p40">
            <a:extLst>
              <a:ext uri="{FF2B5EF4-FFF2-40B4-BE49-F238E27FC236}">
                <a16:creationId xmlns:a16="http://schemas.microsoft.com/office/drawing/2014/main" id="{DE6857F7-BC58-85D1-1B07-681C641DA82B}"/>
              </a:ext>
            </a:extLst>
          </p:cNvPr>
          <p:cNvGrpSpPr>
            <a:grpSpLocks noChangeAspect="1"/>
          </p:cNvGrpSpPr>
          <p:nvPr/>
        </p:nvGrpSpPr>
        <p:grpSpPr>
          <a:xfrm>
            <a:off x="12473002" y="4382563"/>
            <a:ext cx="1205798" cy="1180532"/>
            <a:chOff x="1233350" y="1619250"/>
            <a:chExt cx="466500" cy="456725"/>
          </a:xfrm>
        </p:grpSpPr>
        <p:sp>
          <p:nvSpPr>
            <p:cNvPr id="5" name="Google Shape;422;p40">
              <a:extLst>
                <a:ext uri="{FF2B5EF4-FFF2-40B4-BE49-F238E27FC236}">
                  <a16:creationId xmlns:a16="http://schemas.microsoft.com/office/drawing/2014/main" id="{8B529225-897E-7EC1-E822-9101BB6EA4EE}"/>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3;p40">
              <a:extLst>
                <a:ext uri="{FF2B5EF4-FFF2-40B4-BE49-F238E27FC236}">
                  <a16:creationId xmlns:a16="http://schemas.microsoft.com/office/drawing/2014/main" id="{FD82450C-CE11-B91F-CFE0-47070664F26C}"/>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24;p40">
              <a:extLst>
                <a:ext uri="{FF2B5EF4-FFF2-40B4-BE49-F238E27FC236}">
                  <a16:creationId xmlns:a16="http://schemas.microsoft.com/office/drawing/2014/main" id="{7125BC57-41F6-76B5-3CDC-8B46CC606F51}"/>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5;p40">
              <a:extLst>
                <a:ext uri="{FF2B5EF4-FFF2-40B4-BE49-F238E27FC236}">
                  <a16:creationId xmlns:a16="http://schemas.microsoft.com/office/drawing/2014/main" id="{2D444EA4-BA0B-DCB8-9B56-39699EB96614}"/>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Inhaltsplatzhalter 2">
            <a:extLst>
              <a:ext uri="{FF2B5EF4-FFF2-40B4-BE49-F238E27FC236}">
                <a16:creationId xmlns:a16="http://schemas.microsoft.com/office/drawing/2014/main" id="{6D663E08-FF59-EF0E-2E2B-75DB7C5E5916}"/>
              </a:ext>
            </a:extLst>
          </p:cNvPr>
          <p:cNvSpPr txBox="1">
            <a:spLocks/>
          </p:cNvSpPr>
          <p:nvPr/>
        </p:nvSpPr>
        <p:spPr>
          <a:xfrm>
            <a:off x="13773600" y="4587656"/>
            <a:ext cx="2475600" cy="111168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de-DE" dirty="0" err="1"/>
              <a:t>How</a:t>
            </a:r>
            <a:r>
              <a:rPr lang="de-DE" dirty="0"/>
              <a:t> </a:t>
            </a:r>
            <a:r>
              <a:rPr lang="de-DE" dirty="0" err="1"/>
              <a:t>to</a:t>
            </a:r>
            <a:r>
              <a:rPr lang="de-DE" dirty="0"/>
              <a:t> </a:t>
            </a:r>
            <a:r>
              <a:rPr lang="de-DE" dirty="0" err="1"/>
              <a:t>work</a:t>
            </a:r>
            <a:r>
              <a:rPr lang="de-DE" dirty="0"/>
              <a:t> </a:t>
            </a:r>
            <a:br>
              <a:rPr lang="de-DE" dirty="0"/>
            </a:br>
            <a:r>
              <a:rPr lang="de-DE" dirty="0" err="1"/>
              <a:t>as</a:t>
            </a:r>
            <a:r>
              <a:rPr lang="de-DE" dirty="0"/>
              <a:t> a </a:t>
            </a:r>
            <a:r>
              <a:rPr lang="de-DE" dirty="0" err="1"/>
              <a:t>group</a:t>
            </a:r>
            <a:endParaRPr lang="de-DE" sz="2800" dirty="0"/>
          </a:p>
          <a:p>
            <a:endParaRPr lang="de-DE" dirty="0"/>
          </a:p>
        </p:txBody>
      </p:sp>
    </p:spTree>
    <p:extLst>
      <p:ext uri="{BB962C8B-B14F-4D97-AF65-F5344CB8AC3E}">
        <p14:creationId xmlns:p14="http://schemas.microsoft.com/office/powerpoint/2010/main" val="3356047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6">
            <a:extLst>
              <a:ext uri="{FF2B5EF4-FFF2-40B4-BE49-F238E27FC236}">
                <a16:creationId xmlns:a16="http://schemas.microsoft.com/office/drawing/2014/main" id="{C9D04DBD-7F26-B8A2-9CA6-7B0505B3DE2F}"/>
              </a:ext>
            </a:extLst>
          </p:cNvPr>
          <p:cNvSpPr txBox="1"/>
          <p:nvPr/>
        </p:nvSpPr>
        <p:spPr bwMode="auto">
          <a:xfrm>
            <a:off x="2906961" y="2552700"/>
            <a:ext cx="13171239" cy="4191000"/>
          </a:xfrm>
          <a:prstGeom prst="rect">
            <a:avLst/>
          </a:prstGeom>
          <a:noFill/>
          <a:ln>
            <a:noFill/>
          </a:ln>
        </p:spPr>
        <p:txBody>
          <a:bodyPr spcFirstLastPara="1" wrap="square" lIns="91425" tIns="91425" rIns="91425" bIns="91425" anchor="ctr"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buFont typeface="Quattrocento Sans"/>
              <a:buNone/>
              <a:defRPr/>
            </a:pPr>
            <a:r>
              <a:rPr lang="en-US" sz="2800" dirty="0">
                <a:latin typeface="Lora"/>
              </a:rPr>
              <a:t>behavioral, specific				</a:t>
            </a:r>
            <a:r>
              <a:rPr lang="en-US" sz="2800" b="1" dirty="0">
                <a:latin typeface="Lora"/>
              </a:rPr>
              <a:t>I have observed that...</a:t>
            </a:r>
            <a:endParaRPr lang="en-US" sz="2000" dirty="0"/>
          </a:p>
          <a:p>
            <a:pPr marL="0" indent="0">
              <a:lnSpc>
                <a:spcPct val="150000"/>
              </a:lnSpc>
              <a:buFont typeface="Quattrocento Sans"/>
              <a:buNone/>
              <a:defRPr/>
            </a:pPr>
            <a:r>
              <a:rPr lang="en-US" sz="2800" dirty="0">
                <a:latin typeface="Lora"/>
              </a:rPr>
              <a:t>descriptive 					</a:t>
            </a:r>
            <a:r>
              <a:rPr lang="en-US" sz="2800" b="1" dirty="0">
                <a:latin typeface="Lora"/>
              </a:rPr>
              <a:t>This had the effect for us....</a:t>
            </a:r>
            <a:endParaRPr lang="en-US" sz="2000" dirty="0"/>
          </a:p>
          <a:p>
            <a:pPr marL="0" indent="0">
              <a:lnSpc>
                <a:spcPct val="150000"/>
              </a:lnSpc>
              <a:buFont typeface="Quattrocento Sans"/>
              <a:buNone/>
              <a:defRPr/>
            </a:pPr>
            <a:r>
              <a:rPr lang="en-US" sz="2800" dirty="0">
                <a:latin typeface="Lora"/>
              </a:rPr>
              <a:t>I/we messages 					</a:t>
            </a:r>
            <a:r>
              <a:rPr lang="en-US" sz="2800" b="1" dirty="0">
                <a:latin typeface="Lora"/>
              </a:rPr>
              <a:t>It</a:t>
            </a:r>
            <a:r>
              <a:rPr lang="en-US" sz="2800" dirty="0">
                <a:latin typeface="Lora"/>
              </a:rPr>
              <a:t> </a:t>
            </a:r>
            <a:r>
              <a:rPr lang="en-US" sz="2800" b="1" dirty="0">
                <a:latin typeface="Lora"/>
              </a:rPr>
              <a:t>makes me/us feel....</a:t>
            </a:r>
            <a:endParaRPr lang="en-US" sz="2000" dirty="0"/>
          </a:p>
          <a:p>
            <a:pPr marL="0" indent="0">
              <a:lnSpc>
                <a:spcPct val="150000"/>
              </a:lnSpc>
              <a:buFont typeface="Quattrocento Sans"/>
              <a:buNone/>
              <a:defRPr/>
            </a:pPr>
            <a:r>
              <a:rPr lang="en-US" sz="2800" dirty="0">
                <a:latin typeface="Lora"/>
              </a:rPr>
              <a:t>specific request 					</a:t>
            </a:r>
            <a:r>
              <a:rPr lang="en-US" sz="2800" b="1" dirty="0">
                <a:latin typeface="Lora"/>
              </a:rPr>
              <a:t>Therefore, we ask you to ...</a:t>
            </a:r>
            <a:endParaRPr lang="en-US" sz="3200" b="1" dirty="0">
              <a:latin typeface="Lora"/>
            </a:endParaRPr>
          </a:p>
          <a:p>
            <a:pPr marL="0" indent="0" algn="ctr">
              <a:lnSpc>
                <a:spcPct val="150000"/>
              </a:lnSpc>
              <a:buFont typeface="Quattrocento Sans"/>
              <a:buNone/>
              <a:defRPr/>
            </a:pPr>
            <a:endParaRPr lang="en-US" sz="2800" dirty="0">
              <a:latin typeface="Lora"/>
            </a:endParaRPr>
          </a:p>
        </p:txBody>
      </p:sp>
      <p:sp>
        <p:nvSpPr>
          <p:cNvPr id="4" name="Textplatzhalter 6">
            <a:extLst>
              <a:ext uri="{FF2B5EF4-FFF2-40B4-BE49-F238E27FC236}">
                <a16:creationId xmlns:a16="http://schemas.microsoft.com/office/drawing/2014/main" id="{31E9317E-84AD-90BC-6308-69987070B5B9}"/>
              </a:ext>
            </a:extLst>
          </p:cNvPr>
          <p:cNvSpPr txBox="1"/>
          <p:nvPr/>
        </p:nvSpPr>
        <p:spPr bwMode="auto">
          <a:xfrm>
            <a:off x="2743200" y="7581900"/>
            <a:ext cx="12434145" cy="667955"/>
          </a:xfrm>
          <a:prstGeom prst="rect">
            <a:avLst/>
          </a:prstGeom>
          <a:noFill/>
          <a:ln>
            <a:noFill/>
          </a:ln>
        </p:spPr>
        <p:txBody>
          <a:bodyPr spcFirstLastPara="1" wrap="square" lIns="91425" tIns="91425" rIns="91425" bIns="91425" anchor="ctr"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gn="ctr">
              <a:lnSpc>
                <a:spcPct val="150000"/>
              </a:lnSpc>
              <a:buFont typeface="Quattrocento Sans"/>
              <a:buNone/>
              <a:defRPr/>
            </a:pPr>
            <a:r>
              <a:rPr lang="de-DE" sz="2800" b="1" dirty="0">
                <a:latin typeface="Lora"/>
              </a:rPr>
              <a:t>do not </a:t>
            </a:r>
            <a:r>
              <a:rPr lang="de-DE" sz="2800" dirty="0" err="1">
                <a:latin typeface="Lora"/>
              </a:rPr>
              <a:t>judge</a:t>
            </a:r>
            <a:r>
              <a:rPr lang="de-DE" sz="2800" dirty="0">
                <a:latin typeface="Lora"/>
              </a:rPr>
              <a:t> - </a:t>
            </a:r>
            <a:r>
              <a:rPr lang="de-DE" sz="2800" dirty="0" err="1">
                <a:latin typeface="Lora"/>
              </a:rPr>
              <a:t>generalize</a:t>
            </a:r>
            <a:r>
              <a:rPr lang="de-DE" sz="2800" dirty="0">
                <a:latin typeface="Lora"/>
              </a:rPr>
              <a:t> - </a:t>
            </a:r>
            <a:r>
              <a:rPr lang="de-DE" sz="2800" dirty="0" err="1">
                <a:latin typeface="Lora"/>
              </a:rPr>
              <a:t>moralize</a:t>
            </a:r>
            <a:endParaRPr lang="de-DE" sz="3200" b="1" dirty="0">
              <a:latin typeface="Lora"/>
            </a:endParaRPr>
          </a:p>
          <a:p>
            <a:pPr marL="0" indent="0" algn="ctr">
              <a:lnSpc>
                <a:spcPct val="150000"/>
              </a:lnSpc>
              <a:buFont typeface="Quattrocento Sans"/>
              <a:buNone/>
              <a:defRPr/>
            </a:pPr>
            <a:endParaRPr lang="de-DE" sz="2800" dirty="0">
              <a:latin typeface="Lora"/>
            </a:endParaRPr>
          </a:p>
        </p:txBody>
      </p:sp>
      <p:cxnSp>
        <p:nvCxnSpPr>
          <p:cNvPr id="5" name="Gerade Verbindung 8">
            <a:extLst>
              <a:ext uri="{FF2B5EF4-FFF2-40B4-BE49-F238E27FC236}">
                <a16:creationId xmlns:a16="http://schemas.microsoft.com/office/drawing/2014/main" id="{954C91A1-604E-2C26-4CA4-1D8CCB134DF6}"/>
              </a:ext>
            </a:extLst>
          </p:cNvPr>
          <p:cNvCxnSpPr>
            <a:cxnSpLocks/>
          </p:cNvCxnSpPr>
          <p:nvPr/>
        </p:nvCxnSpPr>
        <p:spPr bwMode="auto">
          <a:xfrm>
            <a:off x="2917693" y="6972300"/>
            <a:ext cx="12779507" cy="0"/>
          </a:xfrm>
          <a:prstGeom prst="line">
            <a:avLst/>
          </a:prstGeom>
          <a:ln w="28575">
            <a:solidFill>
              <a:srgbClr val="74003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543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6">
            <a:extLst>
              <a:ext uri="{FF2B5EF4-FFF2-40B4-BE49-F238E27FC236}">
                <a16:creationId xmlns:a16="http://schemas.microsoft.com/office/drawing/2014/main" id="{C9D04DBD-7F26-B8A2-9CA6-7B0505B3DE2F}"/>
              </a:ext>
            </a:extLst>
          </p:cNvPr>
          <p:cNvSpPr txBox="1"/>
          <p:nvPr/>
        </p:nvSpPr>
        <p:spPr bwMode="auto">
          <a:xfrm>
            <a:off x="2895600" y="3238500"/>
            <a:ext cx="13171239" cy="4191000"/>
          </a:xfrm>
          <a:prstGeom prst="rect">
            <a:avLst/>
          </a:prstGeom>
          <a:noFill/>
          <a:ln>
            <a:noFill/>
          </a:ln>
        </p:spPr>
        <p:txBody>
          <a:bodyPr spcFirstLastPara="1" wrap="square" lIns="91425" tIns="91425" rIns="91425" bIns="91425" anchor="ctr"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algn="ctr">
              <a:lnSpc>
                <a:spcPct val="150000"/>
              </a:lnSpc>
              <a:defRPr/>
            </a:pPr>
            <a:r>
              <a:rPr lang="en-US" sz="2400" dirty="0">
                <a:latin typeface="Lora"/>
              </a:rPr>
              <a:t>That's typical for you again.</a:t>
            </a:r>
          </a:p>
          <a:p>
            <a:pPr algn="ctr">
              <a:lnSpc>
                <a:spcPct val="150000"/>
              </a:lnSpc>
              <a:defRPr/>
            </a:pPr>
            <a:r>
              <a:rPr lang="en-US" sz="2400" dirty="0">
                <a:latin typeface="Lora"/>
              </a:rPr>
              <a:t>You never have time to read your texts!</a:t>
            </a:r>
          </a:p>
          <a:p>
            <a:pPr algn="ctr">
              <a:lnSpc>
                <a:spcPct val="150000"/>
              </a:lnSpc>
              <a:defRPr/>
            </a:pPr>
            <a:r>
              <a:rPr lang="en-US" sz="2400" dirty="0">
                <a:latin typeface="Lora"/>
              </a:rPr>
              <a:t>I have noticed that you are hard to reach.</a:t>
            </a:r>
          </a:p>
          <a:p>
            <a:pPr algn="ctr">
              <a:lnSpc>
                <a:spcPct val="150000"/>
              </a:lnSpc>
              <a:defRPr/>
            </a:pPr>
            <a:r>
              <a:rPr lang="en-US" sz="2400" dirty="0">
                <a:latin typeface="Lora"/>
              </a:rPr>
              <a:t>I think it would be better if we redistributed the tasks.</a:t>
            </a:r>
          </a:p>
          <a:p>
            <a:pPr algn="ctr">
              <a:lnSpc>
                <a:spcPct val="150000"/>
              </a:lnSpc>
              <a:defRPr/>
            </a:pPr>
            <a:r>
              <a:rPr lang="en-US" sz="2400" dirty="0">
                <a:latin typeface="Lora"/>
              </a:rPr>
              <a:t>You are always so quiet!</a:t>
            </a:r>
          </a:p>
          <a:p>
            <a:pPr algn="ctr">
              <a:lnSpc>
                <a:spcPct val="150000"/>
              </a:lnSpc>
              <a:defRPr/>
            </a:pPr>
            <a:r>
              <a:rPr lang="en-US" sz="2400" dirty="0">
                <a:latin typeface="Lora"/>
              </a:rPr>
              <a:t>You are always late.</a:t>
            </a:r>
          </a:p>
          <a:p>
            <a:pPr algn="ctr">
              <a:lnSpc>
                <a:spcPct val="150000"/>
              </a:lnSpc>
              <a:defRPr/>
            </a:pPr>
            <a:r>
              <a:rPr lang="en-US" sz="2400" dirty="0">
                <a:latin typeface="Lora"/>
              </a:rPr>
              <a:t>I have a problem with the fact that you haven't started the presentation yet.</a:t>
            </a:r>
          </a:p>
          <a:p>
            <a:pPr algn="ctr">
              <a:lnSpc>
                <a:spcPct val="150000"/>
              </a:lnSpc>
              <a:defRPr/>
            </a:pPr>
            <a:r>
              <a:rPr lang="en-US" sz="2400" dirty="0">
                <a:latin typeface="Lora"/>
              </a:rPr>
              <a:t>What were you thinking?</a:t>
            </a:r>
          </a:p>
          <a:p>
            <a:pPr algn="ctr">
              <a:lnSpc>
                <a:spcPct val="150000"/>
              </a:lnSpc>
              <a:defRPr/>
            </a:pPr>
            <a:r>
              <a:rPr lang="en-US" sz="2400" dirty="0">
                <a:latin typeface="Lora"/>
              </a:rPr>
              <a:t>Others see it the same way, by the way.</a:t>
            </a:r>
          </a:p>
          <a:p>
            <a:pPr algn="ctr">
              <a:lnSpc>
                <a:spcPct val="150000"/>
              </a:lnSpc>
              <a:defRPr/>
            </a:pPr>
            <a:r>
              <a:rPr lang="en-US" sz="2400" dirty="0">
                <a:latin typeface="Lora"/>
              </a:rPr>
              <a:t>I do not agree with that.</a:t>
            </a:r>
          </a:p>
        </p:txBody>
      </p:sp>
    </p:spTree>
    <p:extLst>
      <p:ext uri="{BB962C8B-B14F-4D97-AF65-F5344CB8AC3E}">
        <p14:creationId xmlns:p14="http://schemas.microsoft.com/office/powerpoint/2010/main" val="1049688439"/>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8AFC5D9-2034-45DA-9D67-97117B713B5A}">
  <ds:schemaRefs>
    <ds:schemaRef ds:uri="http://schemas.microsoft.com/sharepoint/v3/contenttype/forms"/>
  </ds:schemaRefs>
</ds:datastoreItem>
</file>

<file path=customXml/itemProps2.xml><?xml version="1.0" encoding="utf-8"?>
<ds:datastoreItem xmlns:ds="http://schemas.openxmlformats.org/officeDocument/2006/customXml" ds:itemID="{78641848-4B62-4B04-8E0F-7A0C283B7F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B3168DC-0B54-4500-B2E0-9F525CB23F4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1965</Words>
  <Application>Microsoft Office PowerPoint</Application>
  <PresentationFormat>Benutzerdefiniert</PresentationFormat>
  <Paragraphs>139</Paragraphs>
  <Slides>12</Slides>
  <Notes>12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12</vt:i4>
      </vt:variant>
    </vt:vector>
  </HeadingPairs>
  <TitlesOfParts>
    <vt:vector size="17" baseType="lpstr">
      <vt:lpstr>Arial</vt:lpstr>
      <vt:lpstr>Lora</vt:lpstr>
      <vt:lpstr>Aptos</vt:lpstr>
      <vt:lpstr>Quattrocento Sans</vt:lpstr>
      <vt:lpstr>Benutzerdefiniertes Design</vt:lpstr>
      <vt:lpstr>Nonviolent Communication  &amp; Social Loafing</vt:lpstr>
      <vt:lpstr>PowerPoint-Präsentation</vt:lpstr>
      <vt:lpstr>In what situation did you last feel misunderstood?  Do you know similar situations from group work?</vt:lpstr>
      <vt:lpstr>1. What is Nonviolent Communication?</vt:lpstr>
      <vt:lpstr>1. What is Nonviolent Communication?</vt:lpstr>
      <vt:lpstr>Exercise 1  Student to classmate: “That‘s bullshit!"  Mother to child: "You are lazy. Clean up right now!"  Brother to younger sister, "You suck."  Father to other father: "Raise your child better!"</vt:lpstr>
      <vt:lpstr>Exercise 2  Recall a situation in which another group member upset or annoyed you. Formulate your judgment about this person. In what situation does this judgment surface in you? Which of your needs was not met in the process? Assume: How did the other person feel? Which of their needs did they want to fulfill?</vt:lpstr>
      <vt:lpstr>2. How to deal with social loafing?</vt:lpstr>
      <vt:lpstr>2. Wie umgehen mit sozialen Trittbrettfahrern?</vt:lpstr>
      <vt:lpstr>2. How to deal with social loafing?</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Felix Soltau</cp:lastModifiedBy>
  <cp:revision>9</cp:revision>
  <dcterms:created xsi:type="dcterms:W3CDTF">2006-08-16T00:00:00Z</dcterms:created>
  <dcterms:modified xsi:type="dcterms:W3CDTF">2026-06-22T20:39:47Z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