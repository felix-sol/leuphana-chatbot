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4"/>
  </p:sldMasterIdLst>
  <p:notesMasterIdLst>
    <p:notesMasterId r:id="rId14"/>
  </p:notesMasterIdLst>
  <p:sldIdLst>
    <p:sldId id="256" r:id="rId5"/>
    <p:sldId id="257" r:id="rId6"/>
    <p:sldId id="258" r:id="rId7"/>
    <p:sldId id="259" r:id="rId8"/>
    <p:sldId id="260" r:id="rId9"/>
    <p:sldId id="261" r:id="rId10"/>
    <p:sldId id="262" r:id="rId11"/>
    <p:sldId id="263" r:id="rId12"/>
    <p:sldId id="264" r:id="rId13"/>
  </p:sldIdLst>
  <p:sldSz cx="18288000" cy="10287000"/>
  <p:notesSz cx="6858000" cy="9144000"/>
  <p:embeddedFontLst>
    <p:embeddedFont>
      <p:font typeface="Arial Narrow" panose="020B060602020203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65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Arial"/>
                <a:ea typeface="Arial"/>
                <a:cs typeface="Arial"/>
                <a:sym typeface="Arial"/>
              </a:rPr>
              <a:t>‹Nr.›</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leuphana.de/en/services/miz/searching-for-literature.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fb4aebd86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2fb4aebd86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g2fb4aebd86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b4aebd867_0_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fb4aebd867_0_1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None/>
            </a:pPr>
            <a:r>
              <a:rPr lang="de-DE"/>
              <a:t>The topic of this presentation is about scientific literature. </a:t>
            </a:r>
            <a:endParaRPr/>
          </a:p>
          <a:p>
            <a:pPr marL="0" lvl="0" indent="0" algn="l" rtl="0">
              <a:spcBef>
                <a:spcPts val="0"/>
              </a:spcBef>
              <a:spcAft>
                <a:spcPts val="0"/>
              </a:spcAft>
              <a:buClr>
                <a:schemeClr val="dk1"/>
              </a:buClr>
              <a:buSzPts val="1400"/>
              <a:buNone/>
            </a:pPr>
            <a:r>
              <a:rPr lang="de-DE"/>
              <a:t>The aim is to introduce students to the concept and also to highlight the differences of academic\scientific literature with other types. </a:t>
            </a:r>
            <a:endParaRPr/>
          </a:p>
          <a:p>
            <a:pPr marL="0" lvl="0" indent="0" algn="l" rtl="0">
              <a:spcBef>
                <a:spcPts val="0"/>
              </a:spcBef>
              <a:spcAft>
                <a:spcPts val="0"/>
              </a:spcAft>
              <a:buClr>
                <a:schemeClr val="dk1"/>
              </a:buClr>
              <a:buSzPts val="1400"/>
              <a:buNone/>
            </a:pPr>
            <a:r>
              <a:rPr lang="de-DE"/>
              <a:t>You can emphasise the fact that academic, scientific publications are the primary means of communicating science. </a:t>
            </a:r>
            <a:endParaRPr/>
          </a:p>
          <a:p>
            <a:pPr marL="139700" lvl="0" indent="0" algn="l" rtl="0">
              <a:spcBef>
                <a:spcPts val="0"/>
              </a:spcBef>
              <a:spcAft>
                <a:spcPts val="0"/>
              </a:spcAft>
              <a:buNone/>
            </a:pPr>
            <a:endParaRPr b="1"/>
          </a:p>
          <a:p>
            <a:pPr marL="139700" lvl="0" indent="0" algn="l" rtl="0">
              <a:spcBef>
                <a:spcPts val="0"/>
              </a:spcBef>
              <a:spcAft>
                <a:spcPts val="0"/>
              </a:spcAft>
              <a:buNone/>
            </a:pPr>
            <a:endParaRPr b="1"/>
          </a:p>
          <a:p>
            <a:pPr marL="139700" lvl="0" indent="0" algn="l" rtl="0">
              <a:spcBef>
                <a:spcPts val="0"/>
              </a:spcBef>
              <a:spcAft>
                <a:spcPts val="0"/>
              </a:spcAft>
              <a:buNone/>
            </a:pPr>
            <a:r>
              <a:rPr lang="de-DE" b="1"/>
              <a:t>Sources and links:</a:t>
            </a:r>
            <a:endParaRPr/>
          </a:p>
          <a:p>
            <a:pPr marL="0" lvl="0" indent="0" algn="l" rtl="0">
              <a:spcBef>
                <a:spcPts val="0"/>
              </a:spcBef>
              <a:spcAft>
                <a:spcPts val="0"/>
              </a:spcAft>
              <a:buClr>
                <a:schemeClr val="dk1"/>
              </a:buClr>
              <a:buSzPts val="1400"/>
              <a:buNone/>
            </a:pPr>
            <a:r>
              <a:rPr lang="de-DE"/>
              <a:t>https://libguides.humboldt.edu/scientificliterature#s-lg-box-6192570</a:t>
            </a:r>
            <a:endParaRPr/>
          </a:p>
          <a:p>
            <a:pPr marL="0" lvl="0" indent="0" algn="l" rtl="0">
              <a:spcBef>
                <a:spcPts val="0"/>
              </a:spcBef>
              <a:spcAft>
                <a:spcPts val="0"/>
              </a:spcAft>
              <a:buClr>
                <a:schemeClr val="dk1"/>
              </a:buClr>
              <a:buSzPts val="1400"/>
              <a:buNone/>
            </a:pPr>
            <a:r>
              <a:rPr lang="de-DE"/>
              <a:t>https://undergraduatesciencelibrarian.org/a-very-brief-introduction-to-the-scientific-literature/</a:t>
            </a:r>
            <a:endParaRPr/>
          </a:p>
        </p:txBody>
      </p:sp>
      <p:sp>
        <p:nvSpPr>
          <p:cNvPr id="160" name="Google Shape;160;g2fb4aebd867_0_1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fb4aebd867_0_6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2fb4aebd867_0_6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None/>
            </a:pPr>
            <a:r>
              <a:rPr lang="de-DE"/>
              <a:t>Here we bring the categorization of scientific literature: primary, secondary and tertiary literature. </a:t>
            </a:r>
            <a:endParaRPr/>
          </a:p>
          <a:p>
            <a:pPr marL="0" lvl="0" indent="0" algn="l" rtl="0">
              <a:spcBef>
                <a:spcPts val="0"/>
              </a:spcBef>
              <a:spcAft>
                <a:spcPts val="0"/>
              </a:spcAft>
              <a:buClr>
                <a:schemeClr val="dk1"/>
              </a:buClr>
              <a:buSzPts val="1400"/>
              <a:buNone/>
            </a:pPr>
            <a:r>
              <a:rPr lang="de-DE" b="1"/>
              <a:t>Suggestion: </a:t>
            </a:r>
            <a:r>
              <a:rPr lang="de-DE"/>
              <a:t>Before showing the slide content, ask your students if they know what the categories are. Or present an overview of each category and ask them what types of literature they would fit into each of the categories (you can give different options for categorization, such as scientific articles, books, masters or doctoral dissertations, textbooks, etc.). </a:t>
            </a:r>
            <a:endParaRPr/>
          </a:p>
          <a:p>
            <a:pPr marL="0" lvl="0" indent="0" algn="l" rtl="0">
              <a:spcBef>
                <a:spcPts val="0"/>
              </a:spcBef>
              <a:spcAft>
                <a:spcPts val="0"/>
              </a:spcAft>
              <a:buNone/>
            </a:pPr>
            <a:endParaRPr/>
          </a:p>
        </p:txBody>
      </p:sp>
      <p:sp>
        <p:nvSpPr>
          <p:cNvPr id="167" name="Google Shape;167;g2fb4aebd867_0_6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fb4aebd867_0_4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2fb4aebd867_0_4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None/>
            </a:pPr>
            <a:r>
              <a:rPr lang="de-DE"/>
              <a:t>Here we bring the categorization of scientific literature: primary, secondary and tertiary literature. </a:t>
            </a:r>
            <a:endParaRPr/>
          </a:p>
          <a:p>
            <a:pPr marL="0" lvl="0" indent="0" algn="l" rtl="0">
              <a:spcBef>
                <a:spcPts val="0"/>
              </a:spcBef>
              <a:spcAft>
                <a:spcPts val="0"/>
              </a:spcAft>
              <a:buClr>
                <a:schemeClr val="dk1"/>
              </a:buClr>
              <a:buSzPts val="1400"/>
              <a:buNone/>
            </a:pPr>
            <a:r>
              <a:rPr lang="de-DE" b="1"/>
              <a:t>Suggestion: </a:t>
            </a:r>
            <a:r>
              <a:rPr lang="de-DE"/>
              <a:t>Before showing the slide content, ask your students if they know what the categories are. Or present an overview of each category and ask them what types of literature they would fit into each of the categories (you can give different options for categorization, such as scientific articles, books, masters or doctoral dissertations, textbooks, etc.). </a:t>
            </a:r>
            <a:endParaRPr/>
          </a:p>
        </p:txBody>
      </p:sp>
      <p:sp>
        <p:nvSpPr>
          <p:cNvPr id="174" name="Google Shape;174;g2fb4aebd867_0_4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fb4aebd867_0_7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g2fb4aebd867_0_7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None/>
            </a:pPr>
            <a:r>
              <a:rPr lang="de-DE"/>
              <a:t>Here we put some examples from scientific literature in which tutors can delve a little deeper into the explanation. </a:t>
            </a:r>
            <a:endParaRPr/>
          </a:p>
          <a:p>
            <a:pPr marL="0" lvl="0" indent="0" algn="l" rtl="0">
              <a:spcBef>
                <a:spcPts val="0"/>
              </a:spcBef>
              <a:spcAft>
                <a:spcPts val="0"/>
              </a:spcAft>
              <a:buClr>
                <a:schemeClr val="dk1"/>
              </a:buClr>
              <a:buSzPts val="1400"/>
              <a:buNone/>
            </a:pPr>
            <a:r>
              <a:rPr lang="de-DE"/>
              <a:t>Please pay attention, especially to scientific articles and review articles. It is encouraged to mention the concept of peer review articles (peer reviewed journals) in the session. </a:t>
            </a:r>
            <a:endParaRPr/>
          </a:p>
          <a:p>
            <a:pPr marL="0" lvl="0" indent="0" algn="l" rtl="0">
              <a:spcBef>
                <a:spcPts val="0"/>
              </a:spcBef>
              <a:spcAft>
                <a:spcPts val="0"/>
              </a:spcAft>
              <a:buClr>
                <a:schemeClr val="dk1"/>
              </a:buClr>
              <a:buSzPts val="1400"/>
              <a:buNone/>
            </a:pPr>
            <a:r>
              <a:rPr lang="de-DE" b="1"/>
              <a:t>Suggestion: </a:t>
            </a:r>
            <a:r>
              <a:rPr lang="de-DE"/>
              <a:t>Here tutors can present some examples of scientific literature, e.g. scientific articles, reports from organisations or government etc. </a:t>
            </a:r>
            <a:endParaRPr/>
          </a:p>
          <a:p>
            <a:pPr marL="139700" lvl="0" indent="0" algn="l" rtl="0">
              <a:spcBef>
                <a:spcPts val="0"/>
              </a:spcBef>
              <a:spcAft>
                <a:spcPts val="0"/>
              </a:spcAft>
              <a:buNone/>
            </a:pPr>
            <a:endParaRPr b="1"/>
          </a:p>
          <a:p>
            <a:pPr marL="139700" lvl="0" indent="0" algn="l" rtl="0">
              <a:spcBef>
                <a:spcPts val="0"/>
              </a:spcBef>
              <a:spcAft>
                <a:spcPts val="0"/>
              </a:spcAft>
              <a:buNone/>
            </a:pPr>
            <a:endParaRPr b="1"/>
          </a:p>
          <a:p>
            <a:pPr marL="139700" lvl="0" indent="0" algn="l" rtl="0">
              <a:spcBef>
                <a:spcPts val="0"/>
              </a:spcBef>
              <a:spcAft>
                <a:spcPts val="0"/>
              </a:spcAft>
              <a:buNone/>
            </a:pPr>
            <a:r>
              <a:rPr lang="de-DE" b="1"/>
              <a:t>Sources and links:</a:t>
            </a:r>
            <a:endParaRPr/>
          </a:p>
          <a:p>
            <a:pPr marL="139700" lvl="0" indent="0" algn="l" rtl="0">
              <a:spcBef>
                <a:spcPts val="0"/>
              </a:spcBef>
              <a:spcAft>
                <a:spcPts val="0"/>
              </a:spcAft>
              <a:buNone/>
            </a:pPr>
            <a:r>
              <a:rPr lang="de-DE"/>
              <a:t>https://undergraduatesciencelibrarian.org/a-very-brief-introduction-to-the-scientific-literature/</a:t>
            </a:r>
            <a:endParaRPr/>
          </a:p>
          <a:p>
            <a:pPr marL="139700" lvl="0" indent="0" algn="l" rtl="0">
              <a:spcBef>
                <a:spcPts val="0"/>
              </a:spcBef>
              <a:spcAft>
                <a:spcPts val="0"/>
              </a:spcAft>
              <a:buNone/>
            </a:pPr>
            <a:r>
              <a:rPr lang="de-DE"/>
              <a:t>https://undergraduatesciencelibrarian.org/a-very-brief-introduction-to-the-scientific-literature/types-of-scientific-literature/</a:t>
            </a:r>
            <a:endParaRPr/>
          </a:p>
          <a:p>
            <a:pPr marL="139700" lvl="0" indent="0" algn="l" rtl="0">
              <a:spcBef>
                <a:spcPts val="0"/>
              </a:spcBef>
              <a:spcAft>
                <a:spcPts val="0"/>
              </a:spcAft>
              <a:buNone/>
            </a:pPr>
            <a:r>
              <a:rPr lang="de-DE"/>
              <a:t>https://allcatsrgrey.org.uk/wp/knowledgebase/luxembourg-definition-1997/</a:t>
            </a:r>
            <a:endParaRPr/>
          </a:p>
          <a:p>
            <a:pPr marL="139700" lvl="0" indent="0" algn="l" rtl="0">
              <a:spcBef>
                <a:spcPts val="0"/>
              </a:spcBef>
              <a:spcAft>
                <a:spcPts val="0"/>
              </a:spcAft>
              <a:buNone/>
            </a:pPr>
            <a:r>
              <a:rPr lang="de-DE"/>
              <a:t>https://authorservices.wiley.com/Reviewers/journal-reviewers/what-is-peer-review/index.html</a:t>
            </a:r>
            <a:endParaRPr/>
          </a:p>
          <a:p>
            <a:pPr marL="139700" lvl="0" indent="0" algn="l" rtl="0">
              <a:spcBef>
                <a:spcPts val="0"/>
              </a:spcBef>
              <a:spcAft>
                <a:spcPts val="0"/>
              </a:spcAft>
              <a:buNone/>
            </a:pPr>
            <a:r>
              <a:rPr lang="de-DE"/>
              <a:t>https://allcatsrgrey.org.uk/wp/knowledgebase/luxembourg-definition-1997/</a:t>
            </a:r>
            <a:endParaRPr/>
          </a:p>
        </p:txBody>
      </p:sp>
      <p:sp>
        <p:nvSpPr>
          <p:cNvPr id="183" name="Google Shape;183;g2fb4aebd867_0_7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fb4aebd867_0_7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2fb4aebd867_0_7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spcBef>
                <a:spcPts val="0"/>
              </a:spcBef>
              <a:spcAft>
                <a:spcPts val="0"/>
              </a:spcAft>
              <a:buClr>
                <a:schemeClr val="dk1"/>
              </a:buClr>
              <a:buSzPts val="1400"/>
              <a:buNone/>
            </a:pPr>
            <a:r>
              <a:rPr lang="de-DE"/>
              <a:t>Here we have brought some tips on what students should take into consideration when searching for scientific literature (Peer reviewed sources; Open Access Journals vs paid Journals). </a:t>
            </a:r>
            <a:endParaRPr/>
          </a:p>
        </p:txBody>
      </p:sp>
      <p:sp>
        <p:nvSpPr>
          <p:cNvPr id="190" name="Google Shape;190;g2fb4aebd867_0_7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fb4aebd867_0_7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2fb4aebd867_0_7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None/>
            </a:pPr>
            <a:r>
              <a:rPr lang="de-DE"/>
              <a:t>On this slide we bring you a list of journal articles databases. </a:t>
            </a:r>
            <a:endParaRPr/>
          </a:p>
          <a:p>
            <a:pPr marL="0" lvl="0" indent="0" algn="l" rtl="0">
              <a:spcBef>
                <a:spcPts val="0"/>
              </a:spcBef>
              <a:spcAft>
                <a:spcPts val="0"/>
              </a:spcAft>
              <a:buClr>
                <a:schemeClr val="dk1"/>
              </a:buClr>
              <a:buSzPts val="1400"/>
              <a:buNone/>
            </a:pPr>
            <a:r>
              <a:rPr lang="de-DE"/>
              <a:t>The list is not exhaustive, tutors are encouraged to contribute their own experiences here. You can give some tips and some more names of websites that students can look at to search for literature. </a:t>
            </a:r>
            <a:endParaRPr/>
          </a:p>
          <a:p>
            <a:pPr marL="139700" lvl="0" indent="0" algn="l" rtl="0">
              <a:spcBef>
                <a:spcPts val="0"/>
              </a:spcBef>
              <a:spcAft>
                <a:spcPts val="0"/>
              </a:spcAft>
              <a:buNone/>
            </a:pPr>
            <a:endParaRPr b="1"/>
          </a:p>
          <a:p>
            <a:pPr marL="139700" lvl="0" indent="0" algn="l" rtl="0">
              <a:spcBef>
                <a:spcPts val="0"/>
              </a:spcBef>
              <a:spcAft>
                <a:spcPts val="0"/>
              </a:spcAft>
              <a:buNone/>
            </a:pPr>
            <a:r>
              <a:rPr lang="de-DE" b="1"/>
              <a:t>Sources and Links</a:t>
            </a:r>
            <a:endParaRPr/>
          </a:p>
          <a:p>
            <a:pPr marL="0" lvl="0" indent="0" algn="l" rtl="0">
              <a:spcBef>
                <a:spcPts val="0"/>
              </a:spcBef>
              <a:spcAft>
                <a:spcPts val="0"/>
              </a:spcAft>
              <a:buClr>
                <a:schemeClr val="dk1"/>
              </a:buClr>
              <a:buSzPts val="1400"/>
              <a:buNone/>
            </a:pPr>
            <a:r>
              <a:rPr lang="de-DE"/>
              <a:t>https://www.scribendi.com/academy/articles/free_online_journal_and_research_databases.en.html</a:t>
            </a:r>
            <a:endParaRPr/>
          </a:p>
        </p:txBody>
      </p:sp>
      <p:sp>
        <p:nvSpPr>
          <p:cNvPr id="197" name="Google Shape;197;g2fb4aebd867_0_7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fb4aebd867_0_7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2fb4aebd867_0_7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None/>
            </a:pPr>
            <a:r>
              <a:rPr lang="de-DE"/>
              <a:t>In addition to the options presented on the previous slide, Leuphana has a number of academic literature search solutions. In this slide we present the LUX platform, Library Catalogue and Digital Library. </a:t>
            </a:r>
            <a:endParaRPr/>
          </a:p>
          <a:p>
            <a:pPr marL="0" lvl="0" indent="0" algn="l" rtl="0">
              <a:spcBef>
                <a:spcPts val="0"/>
              </a:spcBef>
              <a:spcAft>
                <a:spcPts val="0"/>
              </a:spcAft>
              <a:buClr>
                <a:schemeClr val="dk1"/>
              </a:buClr>
              <a:buSzPts val="1400"/>
              <a:buNone/>
            </a:pPr>
            <a:r>
              <a:rPr lang="de-DE"/>
              <a:t>Tutors are encouraged to, for example, introduce one or some of the tools to students. </a:t>
            </a:r>
            <a:endParaRPr/>
          </a:p>
          <a:p>
            <a:pPr marL="0" lvl="0" indent="0" algn="l" rtl="0">
              <a:spcBef>
                <a:spcPts val="0"/>
              </a:spcBef>
              <a:spcAft>
                <a:spcPts val="0"/>
              </a:spcAft>
              <a:buClr>
                <a:schemeClr val="dk1"/>
              </a:buClr>
              <a:buSzPts val="1400"/>
              <a:buNone/>
            </a:pPr>
            <a:r>
              <a:rPr lang="de-DE" b="1"/>
              <a:t>Post-it note: </a:t>
            </a:r>
            <a:r>
              <a:rPr lang="de-DE"/>
              <a:t>Don't forget to comment on these other options: GVK and Karlsruhe Virtual Catalogue. </a:t>
            </a:r>
            <a:endParaRPr/>
          </a:p>
          <a:p>
            <a:pPr marL="139700" lvl="0" indent="0" algn="l" rtl="0">
              <a:spcBef>
                <a:spcPts val="0"/>
              </a:spcBef>
              <a:spcAft>
                <a:spcPts val="0"/>
              </a:spcAft>
              <a:buNone/>
            </a:pPr>
            <a:endParaRPr b="1"/>
          </a:p>
          <a:p>
            <a:pPr marL="139700" lvl="0" indent="0" algn="l" rtl="0">
              <a:spcBef>
                <a:spcPts val="0"/>
              </a:spcBef>
              <a:spcAft>
                <a:spcPts val="0"/>
              </a:spcAft>
              <a:buNone/>
            </a:pPr>
            <a:r>
              <a:rPr lang="de-DE" b="1"/>
              <a:t>Sources and Links</a:t>
            </a:r>
            <a:endParaRPr/>
          </a:p>
          <a:p>
            <a:pPr marL="139700" lvl="0" indent="0" algn="l" rtl="0">
              <a:spcBef>
                <a:spcPts val="0"/>
              </a:spcBef>
              <a:spcAft>
                <a:spcPts val="0"/>
              </a:spcAft>
              <a:buNone/>
            </a:pPr>
            <a:r>
              <a:rPr lang="de-DE" u="sng">
                <a:solidFill>
                  <a:schemeClr val="hlink"/>
                </a:solidFill>
                <a:hlinkClick r:id="rId3"/>
              </a:rPr>
              <a:t>https://www.leuphana.de/en/services/miz/searching-for-literature.html</a:t>
            </a:r>
            <a:endParaRPr/>
          </a:p>
        </p:txBody>
      </p:sp>
      <p:sp>
        <p:nvSpPr>
          <p:cNvPr id="204" name="Google Shape;204;g2fb4aebd867_0_7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fb4aebd867_0_7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g2fb4aebd867_0_7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spcBef>
                <a:spcPts val="0"/>
              </a:spcBef>
              <a:spcAft>
                <a:spcPts val="0"/>
              </a:spcAft>
              <a:buClr>
                <a:schemeClr val="dk1"/>
              </a:buClr>
              <a:buSzPts val="1400"/>
              <a:buNone/>
            </a:pPr>
            <a:r>
              <a:rPr lang="de-DE"/>
              <a:t>Because google scholar is one of the most widely used tools for searching academic literature, we have brought you some tips that students can use when typing their search. </a:t>
            </a:r>
            <a:endParaRPr/>
          </a:p>
          <a:p>
            <a:pPr marL="457200" lvl="0" indent="-228600" algn="l" rtl="0">
              <a:spcBef>
                <a:spcPts val="0"/>
              </a:spcBef>
              <a:spcAft>
                <a:spcPts val="0"/>
              </a:spcAft>
              <a:buClr>
                <a:schemeClr val="dk1"/>
              </a:buClr>
              <a:buSzPts val="1400"/>
              <a:buFont typeface="Arial"/>
              <a:buNone/>
            </a:pPr>
            <a:endParaRPr/>
          </a:p>
          <a:p>
            <a:pPr marL="457200" lvl="0" indent="-228600" algn="l" rtl="0">
              <a:spcBef>
                <a:spcPts val="0"/>
              </a:spcBef>
              <a:spcAft>
                <a:spcPts val="0"/>
              </a:spcAft>
              <a:buClr>
                <a:schemeClr val="dk1"/>
              </a:buClr>
              <a:buSzPts val="1400"/>
              <a:buNone/>
            </a:pPr>
            <a:r>
              <a:rPr lang="de-DE" b="1"/>
              <a:t>Sources and links</a:t>
            </a:r>
            <a:endParaRPr/>
          </a:p>
          <a:p>
            <a:pPr marL="139700" lvl="0" indent="0" algn="l" rtl="0">
              <a:spcBef>
                <a:spcPts val="0"/>
              </a:spcBef>
              <a:spcAft>
                <a:spcPts val="0"/>
              </a:spcAft>
              <a:buClr>
                <a:schemeClr val="dk1"/>
              </a:buClr>
              <a:buSzPts val="1400"/>
              <a:buFont typeface="Arial"/>
              <a:buNone/>
            </a:pPr>
            <a:r>
              <a:rPr lang="de-DE"/>
              <a:t>https://www.youtube.com/watch?v=u0KVJ0lj8rw&amp;t=52s</a:t>
            </a:r>
            <a:endParaRPr/>
          </a:p>
          <a:p>
            <a:pPr marL="139700" lvl="0" indent="0" algn="l" rtl="0">
              <a:spcBef>
                <a:spcPts val="0"/>
              </a:spcBef>
              <a:spcAft>
                <a:spcPts val="0"/>
              </a:spcAft>
              <a:buClr>
                <a:schemeClr val="dk1"/>
              </a:buClr>
              <a:buSzPts val="1400"/>
              <a:buFont typeface="Arial"/>
              <a:buNone/>
            </a:pPr>
            <a:r>
              <a:rPr lang="de-DE"/>
              <a:t>https://paperpile.com/g/google-scholar-guide/</a:t>
            </a:r>
            <a:endParaRPr/>
          </a:p>
          <a:p>
            <a:pPr marL="139700" lvl="0" indent="0" algn="l" rtl="0">
              <a:spcBef>
                <a:spcPts val="0"/>
              </a:spcBef>
              <a:spcAft>
                <a:spcPts val="0"/>
              </a:spcAft>
              <a:buNone/>
            </a:pPr>
            <a:r>
              <a:rPr lang="de-DE"/>
              <a:t>https://southern.libguides.com/google/Boolean</a:t>
            </a:r>
            <a:endParaRPr/>
          </a:p>
        </p:txBody>
      </p:sp>
      <p:sp>
        <p:nvSpPr>
          <p:cNvPr id="211" name="Google Shape;211;g2fb4aebd867_0_7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2.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eer" type="blank">
  <p:cSld name="BLANK">
    <p:spTree>
      <p:nvGrpSpPr>
        <p:cNvPr id="1" name="Shape 13"/>
        <p:cNvGrpSpPr/>
        <p:nvPr/>
      </p:nvGrpSpPr>
      <p:grpSpPr>
        <a:xfrm>
          <a:off x="0" y="0"/>
          <a:ext cx="0" cy="0"/>
          <a:chOff x="0" y="0"/>
          <a:chExt cx="0" cy="0"/>
        </a:xfrm>
      </p:grpSpPr>
      <p:sp>
        <p:nvSpPr>
          <p:cNvPr id="14" name="Google Shape;14;p2"/>
          <p:cNvSpPr/>
          <p:nvPr/>
        </p:nvSpPr>
        <p:spPr>
          <a:xfrm rot="-2487859">
            <a:off x="1848993" y="-392157"/>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5" name="Google Shape;15;p2"/>
          <p:cNvSpPr/>
          <p:nvPr/>
        </p:nvSpPr>
        <p:spPr>
          <a:xfrm>
            <a:off x="351158" y="5589207"/>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6" name="Google Shape;16;p2"/>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7" name="Google Shape;17;p2"/>
          <p:cNvSpPr/>
          <p:nvPr/>
        </p:nvSpPr>
        <p:spPr>
          <a:xfrm>
            <a:off x="-817599" y="-741417"/>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8" name="Google Shape;18;p2"/>
          <p:cNvSpPr/>
          <p:nvPr/>
        </p:nvSpPr>
        <p:spPr>
          <a:xfrm rot="-5591590">
            <a:off x="15358696" y="245178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9" name="Google Shape;19;p2"/>
          <p:cNvSpPr/>
          <p:nvPr/>
        </p:nvSpPr>
        <p:spPr>
          <a:xfrm rot="7860677">
            <a:off x="702797" y="573633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0" name="Google Shape;20;p2"/>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1" name="Google Shape;21;p2"/>
          <p:cNvSpPr/>
          <p:nvPr/>
        </p:nvSpPr>
        <p:spPr>
          <a:xfrm rot="-458312">
            <a:off x="15741562" y="989320"/>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 name="Google Shape;22;p2"/>
          <p:cNvSpPr/>
          <p:nvPr/>
        </p:nvSpPr>
        <p:spPr>
          <a:xfrm rot="1296289">
            <a:off x="14830585"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 name="Google Shape;23;p2"/>
          <p:cNvSpPr/>
          <p:nvPr/>
        </p:nvSpPr>
        <p:spPr>
          <a:xfrm rot="-2487859">
            <a:off x="17027787" y="496651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4" name="Google Shape;24;p2"/>
          <p:cNvSpPr/>
          <p:nvPr/>
        </p:nvSpPr>
        <p:spPr>
          <a:xfrm rot="1296289">
            <a:off x="619918" y="699121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5" name="Google Shape;25;p2"/>
          <p:cNvSpPr/>
          <p:nvPr/>
        </p:nvSpPr>
        <p:spPr>
          <a:xfrm rot="2046247">
            <a:off x="16212870" y="1083509"/>
            <a:ext cx="2213171"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6" name="Google Shape;26;p2"/>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el und Inhalt" type="obj">
  <p:cSld name="OBJECT">
    <p:spTree>
      <p:nvGrpSpPr>
        <p:cNvPr id="1" name="Shape 41"/>
        <p:cNvGrpSpPr/>
        <p:nvPr/>
      </p:nvGrpSpPr>
      <p:grpSpPr>
        <a:xfrm>
          <a:off x="0" y="0"/>
          <a:ext cx="0" cy="0"/>
          <a:chOff x="0" y="0"/>
          <a:chExt cx="0" cy="0"/>
        </a:xfrm>
      </p:grpSpPr>
      <p:sp>
        <p:nvSpPr>
          <p:cNvPr id="42" name="Google Shape;42;p4"/>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
          <p:cNvSpPr/>
          <p:nvPr/>
        </p:nvSpPr>
        <p:spPr>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5" name="Google Shape;45;p4"/>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6" name="Google Shape;46;p4"/>
          <p:cNvSpPr/>
          <p:nvPr/>
        </p:nvSpPr>
        <p:spPr>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7" name="Google Shape;47;p4"/>
          <p:cNvSpPr/>
          <p:nvPr/>
        </p:nvSpPr>
        <p:spPr>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8" name="Google Shape;48;p4"/>
          <p:cNvSpPr/>
          <p:nvPr/>
        </p:nvSpPr>
        <p:spPr>
          <a:xfrm rot="7860677">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9" name="Google Shape;49;p4"/>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0" name="Google Shape;50;p4"/>
          <p:cNvSpPr/>
          <p:nvPr/>
        </p:nvSpPr>
        <p:spPr>
          <a:xfrm rot="-458312">
            <a:off x="16771767" y="216258"/>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1" name="Google Shape;51;p4"/>
          <p:cNvSpPr/>
          <p:nvPr/>
        </p:nvSpPr>
        <p:spPr>
          <a:xfrm rot="1296289">
            <a:off x="15646620" y="-376703"/>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2" name="Google Shape;52;p4"/>
          <p:cNvSpPr/>
          <p:nvPr/>
        </p:nvSpPr>
        <p:spPr>
          <a:xfrm rot="2310651">
            <a:off x="-811537" y="3739758"/>
            <a:ext cx="2509961" cy="20955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3" name="Google Shape;53;p4"/>
          <p:cNvSpPr/>
          <p:nvPr/>
        </p:nvSpPr>
        <p:spPr>
          <a:xfrm rot="7628195">
            <a:off x="17318415" y="2283638"/>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4" name="Google Shape;54;p4"/>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bschnitts-&#10;überschrift" type="secHead">
  <p:cSld name="SECTION_HEADER">
    <p:spTree>
      <p:nvGrpSpPr>
        <p:cNvPr id="1" name="Shape 55"/>
        <p:cNvGrpSpPr/>
        <p:nvPr/>
      </p:nvGrpSpPr>
      <p:grpSpPr>
        <a:xfrm>
          <a:off x="0" y="0"/>
          <a:ext cx="0" cy="0"/>
          <a:chOff x="0" y="0"/>
          <a:chExt cx="0" cy="0"/>
        </a:xfrm>
      </p:grpSpPr>
      <p:sp>
        <p:nvSpPr>
          <p:cNvPr id="56" name="Google Shape;56;p5"/>
          <p:cNvSpPr txBox="1">
            <a:spLocks noGrp="1"/>
          </p:cNvSpPr>
          <p:nvPr>
            <p:ph type="title"/>
          </p:nvPr>
        </p:nvSpPr>
        <p:spPr>
          <a:xfrm>
            <a:off x="1906800" y="2171700"/>
            <a:ext cx="14400000" cy="3955611"/>
          </a:xfrm>
          <a:prstGeom prst="rect">
            <a:avLst/>
          </a:prstGeom>
          <a:noFill/>
          <a:ln>
            <a:noFill/>
          </a:ln>
        </p:spPr>
        <p:txBody>
          <a:bodyPr spcFirstLastPara="1" wrap="square" lIns="90000"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5"/>
          <p:cNvSpPr txBox="1">
            <a:spLocks noGrp="1"/>
          </p:cNvSpPr>
          <p:nvPr>
            <p:ph type="body" idx="1"/>
          </p:nvPr>
        </p:nvSpPr>
        <p:spPr>
          <a:xfrm>
            <a:off x="1906800" y="6491289"/>
            <a:ext cx="14400000" cy="2079814"/>
          </a:xfrm>
          <a:prstGeom prst="rect">
            <a:avLst/>
          </a:prstGeom>
          <a:noFill/>
          <a:ln>
            <a:noFill/>
          </a:ln>
        </p:spPr>
        <p:txBody>
          <a:bodyPr spcFirstLastPara="1" wrap="square" lIns="90000"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58" name="Google Shape;58;p5"/>
          <p:cNvSpPr/>
          <p:nvPr/>
        </p:nvSpPr>
        <p:spPr>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9" name="Google Shape;59;p5"/>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0" name="Google Shape;60;p5"/>
          <p:cNvSpPr/>
          <p:nvPr/>
        </p:nvSpPr>
        <p:spPr>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1" name="Google Shape;61;p5"/>
          <p:cNvSpPr/>
          <p:nvPr/>
        </p:nvSpPr>
        <p:spPr>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2" name="Google Shape;62;p5"/>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3" name="Google Shape;63;p5"/>
          <p:cNvSpPr/>
          <p:nvPr/>
        </p:nvSpPr>
        <p:spPr>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4" name="Google Shape;64;p5"/>
          <p:cNvSpPr/>
          <p:nvPr/>
        </p:nvSpPr>
        <p:spPr>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5" name="Google Shape;65;p5"/>
          <p:cNvSpPr/>
          <p:nvPr/>
        </p:nvSpPr>
        <p:spPr>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6" name="Google Shape;66;p5"/>
          <p:cNvSpPr/>
          <p:nvPr/>
        </p:nvSpPr>
        <p:spPr>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7" name="Google Shape;67;p5"/>
          <p:cNvSpPr/>
          <p:nvPr/>
        </p:nvSpPr>
        <p:spPr>
          <a:xfrm rot="7628195">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8" name="Google Shape;68;p5"/>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69" name="Google Shape;69;p5"/>
          <p:cNvSpPr/>
          <p:nvPr/>
        </p:nvSpPr>
        <p:spPr>
          <a:xfrm rot="7860677">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Zwei Inhalte" type="twoObj">
  <p:cSld name="TWO_OBJECTS">
    <p:spTree>
      <p:nvGrpSpPr>
        <p:cNvPr id="1" name="Shape 70"/>
        <p:cNvGrpSpPr/>
        <p:nvPr/>
      </p:nvGrpSpPr>
      <p:grpSpPr>
        <a:xfrm>
          <a:off x="0" y="0"/>
          <a:ext cx="0" cy="0"/>
          <a:chOff x="0" y="0"/>
          <a:chExt cx="0" cy="0"/>
        </a:xfrm>
      </p:grpSpPr>
      <p:sp>
        <p:nvSpPr>
          <p:cNvPr id="71" name="Google Shape;71;p6"/>
          <p:cNvSpPr txBox="1">
            <a:spLocks noGrp="1"/>
          </p:cNvSpPr>
          <p:nvPr>
            <p:ph type="title"/>
          </p:nvPr>
        </p:nvSpPr>
        <p:spPr>
          <a:xfrm>
            <a:off x="1944000" y="1366765"/>
            <a:ext cx="14400000" cy="126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6"/>
          <p:cNvSpPr txBox="1">
            <a:spLocks noGrp="1"/>
          </p:cNvSpPr>
          <p:nvPr>
            <p:ph type="body" idx="1"/>
          </p:nvPr>
        </p:nvSpPr>
        <p:spPr>
          <a:xfrm>
            <a:off x="1944000" y="2738437"/>
            <a:ext cx="7123800" cy="6527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6"/>
          <p:cNvSpPr txBox="1">
            <a:spLocks noGrp="1"/>
          </p:cNvSpPr>
          <p:nvPr>
            <p:ph type="body" idx="2"/>
          </p:nvPr>
        </p:nvSpPr>
        <p:spPr>
          <a:xfrm>
            <a:off x="9220200" y="2738437"/>
            <a:ext cx="7123800" cy="6527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6"/>
          <p:cNvSpPr/>
          <p:nvPr/>
        </p:nvSpPr>
        <p:spPr>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5" name="Google Shape;75;p6"/>
          <p:cNvSpPr/>
          <p:nvPr/>
        </p:nvSpPr>
        <p:spPr>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6" name="Google Shape;76;p6"/>
          <p:cNvSpPr/>
          <p:nvPr/>
        </p:nvSpPr>
        <p:spPr>
          <a:xfrm rot="7860677">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7" name="Google Shape;77;p6"/>
          <p:cNvSpPr/>
          <p:nvPr/>
        </p:nvSpPr>
        <p:spPr>
          <a:xfrm rot="-2487859">
            <a:off x="1653257" y="-539706"/>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8" name="Google Shape;78;p6"/>
          <p:cNvSpPr/>
          <p:nvPr/>
        </p:nvSpPr>
        <p:spPr>
          <a:xfrm rot="1296289">
            <a:off x="-407556" y="850423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9" name="Google Shape;79;p6"/>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0" name="Google Shape;80;p6"/>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1" name="Google Shape;81;p6"/>
          <p:cNvSpPr/>
          <p:nvPr/>
        </p:nvSpPr>
        <p:spPr>
          <a:xfrm rot="-5591590">
            <a:off x="16401541" y="71447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2" name="Google Shape;82;p6"/>
          <p:cNvSpPr/>
          <p:nvPr/>
        </p:nvSpPr>
        <p:spPr>
          <a:xfrm rot="7860677">
            <a:off x="16917043" y="6687679"/>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3" name="Google Shape;83;p6"/>
          <p:cNvSpPr/>
          <p:nvPr/>
        </p:nvSpPr>
        <p:spPr>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4" name="Google Shape;84;p6"/>
          <p:cNvSpPr/>
          <p:nvPr/>
        </p:nvSpPr>
        <p:spPr>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5" name="Google Shape;85;p6"/>
          <p:cNvSpPr/>
          <p:nvPr/>
        </p:nvSpPr>
        <p:spPr>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gleich" type="twoTxTwoObj">
  <p:cSld name="TWO_OBJECTS_WITH_TEXT">
    <p:spTree>
      <p:nvGrpSpPr>
        <p:cNvPr id="1" name="Shape 86"/>
        <p:cNvGrpSpPr/>
        <p:nvPr/>
      </p:nvGrpSpPr>
      <p:grpSpPr>
        <a:xfrm>
          <a:off x="0" y="0"/>
          <a:ext cx="0" cy="0"/>
          <a:chOff x="0" y="0"/>
          <a:chExt cx="0" cy="0"/>
        </a:xfrm>
      </p:grpSpPr>
      <p:sp>
        <p:nvSpPr>
          <p:cNvPr id="87" name="Google Shape;87;p7"/>
          <p:cNvSpPr txBox="1">
            <a:spLocks noGrp="1"/>
          </p:cNvSpPr>
          <p:nvPr>
            <p:ph type="title"/>
          </p:nvPr>
        </p:nvSpPr>
        <p:spPr>
          <a:xfrm>
            <a:off x="1944000" y="1174623"/>
            <a:ext cx="14400000" cy="126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7"/>
          <p:cNvSpPr txBox="1">
            <a:spLocks noGrp="1"/>
          </p:cNvSpPr>
          <p:nvPr>
            <p:ph type="body" idx="1"/>
          </p:nvPr>
        </p:nvSpPr>
        <p:spPr>
          <a:xfrm>
            <a:off x="1944000" y="2522538"/>
            <a:ext cx="7052362" cy="123507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9" name="Google Shape;89;p7"/>
          <p:cNvSpPr txBox="1">
            <a:spLocks noGrp="1"/>
          </p:cNvSpPr>
          <p:nvPr>
            <p:ph type="body" idx="2"/>
          </p:nvPr>
        </p:nvSpPr>
        <p:spPr>
          <a:xfrm>
            <a:off x="1944000" y="3757613"/>
            <a:ext cx="7052362" cy="55276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7"/>
          <p:cNvSpPr txBox="1">
            <a:spLocks noGrp="1"/>
          </p:cNvSpPr>
          <p:nvPr>
            <p:ph type="body" idx="3"/>
          </p:nvPr>
        </p:nvSpPr>
        <p:spPr>
          <a:xfrm>
            <a:off x="9258301" y="2522538"/>
            <a:ext cx="7085700" cy="123507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1" name="Google Shape;91;p7"/>
          <p:cNvSpPr txBox="1">
            <a:spLocks noGrp="1"/>
          </p:cNvSpPr>
          <p:nvPr>
            <p:ph type="body" idx="4"/>
          </p:nvPr>
        </p:nvSpPr>
        <p:spPr>
          <a:xfrm>
            <a:off x="9258301" y="3757613"/>
            <a:ext cx="7085700" cy="55276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7"/>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3" name="Google Shape;93;p7"/>
          <p:cNvSpPr/>
          <p:nvPr/>
        </p:nvSpPr>
        <p:spPr>
          <a:xfrm>
            <a:off x="16605940" y="6291738"/>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4" name="Google Shape;94;p7"/>
          <p:cNvSpPr/>
          <p:nvPr/>
        </p:nvSpPr>
        <p:spPr>
          <a:xfrm rot="7860677">
            <a:off x="16672693" y="586569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5" name="Google Shape;95;p7"/>
          <p:cNvSpPr/>
          <p:nvPr/>
        </p:nvSpPr>
        <p:spPr>
          <a:xfrm rot="-458312">
            <a:off x="16710104" y="1053145"/>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6" name="Google Shape;96;p7"/>
          <p:cNvSpPr/>
          <p:nvPr/>
        </p:nvSpPr>
        <p:spPr>
          <a:xfrm rot="1296289">
            <a:off x="15390336" y="-527401"/>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7" name="Google Shape;97;p7"/>
          <p:cNvSpPr/>
          <p:nvPr/>
        </p:nvSpPr>
        <p:spPr>
          <a:xfrm rot="7628195">
            <a:off x="17157286" y="131932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8" name="Google Shape;98;p7"/>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99" name="Google Shape;99;p7"/>
          <p:cNvSpPr/>
          <p:nvPr/>
        </p:nvSpPr>
        <p:spPr>
          <a:xfrm>
            <a:off x="-1249582" y="4137531"/>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0" name="Google Shape;100;p7"/>
          <p:cNvSpPr/>
          <p:nvPr/>
        </p:nvSpPr>
        <p:spPr>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1" name="Google Shape;101;p7"/>
          <p:cNvSpPr/>
          <p:nvPr/>
        </p:nvSpPr>
        <p:spPr>
          <a:xfrm rot="7860677">
            <a:off x="-755376" y="4673141"/>
            <a:ext cx="1600955" cy="1645696"/>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2" name="Google Shape;102;p7"/>
          <p:cNvSpPr/>
          <p:nvPr/>
        </p:nvSpPr>
        <p:spPr>
          <a:xfrm rot="-2487859">
            <a:off x="754582" y="-207773"/>
            <a:ext cx="1882775" cy="168495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3" name="Google Shape;103;p7"/>
          <p:cNvSpPr/>
          <p:nvPr/>
        </p:nvSpPr>
        <p:spPr>
          <a:xfrm>
            <a:off x="-613526" y="-932654"/>
            <a:ext cx="2609805" cy="259339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Nur Titel" type="titleOnly">
  <p:cSld name="TITLE_ONLY">
    <p:spTree>
      <p:nvGrpSpPr>
        <p:cNvPr id="1" name="Shape 104"/>
        <p:cNvGrpSpPr/>
        <p:nvPr/>
      </p:nvGrpSpPr>
      <p:grpSpPr>
        <a:xfrm>
          <a:off x="0" y="0"/>
          <a:ext cx="0" cy="0"/>
          <a:chOff x="0" y="0"/>
          <a:chExt cx="0" cy="0"/>
        </a:xfrm>
      </p:grpSpPr>
      <p:sp>
        <p:nvSpPr>
          <p:cNvPr id="105" name="Google Shape;105;p8"/>
          <p:cNvSpPr txBox="1">
            <a:spLocks noGrp="1"/>
          </p:cNvSpPr>
          <p:nvPr>
            <p:ph type="title"/>
          </p:nvPr>
        </p:nvSpPr>
        <p:spPr>
          <a:xfrm>
            <a:off x="1944000" y="1322140"/>
            <a:ext cx="14400000" cy="126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8"/>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7" name="Google Shape;107;p8"/>
          <p:cNvSpPr/>
          <p:nvPr/>
        </p:nvSpPr>
        <p:spPr>
          <a:xfrm rot="-2487859">
            <a:off x="634233" y="-130796"/>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8" name="Google Shape;108;p8"/>
          <p:cNvSpPr/>
          <p:nvPr/>
        </p:nvSpPr>
        <p:spPr>
          <a:xfrm>
            <a:off x="92944" y="603209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09" name="Google Shape;109;p8"/>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0" name="Google Shape;110;p8"/>
          <p:cNvSpPr/>
          <p:nvPr/>
        </p:nvSpPr>
        <p:spPr>
          <a:xfrm>
            <a:off x="-817599" y="-741416"/>
            <a:ext cx="2912187"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1" name="Google Shape;111;p8"/>
          <p:cNvSpPr/>
          <p:nvPr/>
        </p:nvSpPr>
        <p:spPr>
          <a:xfrm rot="-5591590">
            <a:off x="15833994" y="712804"/>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2" name="Google Shape;112;p8"/>
          <p:cNvSpPr/>
          <p:nvPr/>
        </p:nvSpPr>
        <p:spPr>
          <a:xfrm rot="7860677">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3" name="Google Shape;113;p8"/>
          <p:cNvSpPr/>
          <p:nvPr/>
        </p:nvSpPr>
        <p:spPr>
          <a:xfrm rot="7860677">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4" name="Google Shape;114;p8"/>
          <p:cNvSpPr/>
          <p:nvPr/>
        </p:nvSpPr>
        <p:spPr>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5" name="Google Shape;115;p8"/>
          <p:cNvSpPr/>
          <p:nvPr/>
        </p:nvSpPr>
        <p:spPr>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6" name="Google Shape;116;p8"/>
          <p:cNvSpPr/>
          <p:nvPr/>
        </p:nvSpPr>
        <p:spPr>
          <a:xfrm rot="1296289">
            <a:off x="296953" y="7886423"/>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7" name="Google Shape;117;p8"/>
          <p:cNvSpPr/>
          <p:nvPr/>
        </p:nvSpPr>
        <p:spPr>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halt mit Überschrift" type="objTx">
  <p:cSld name="OBJECT_WITH_CAPTION_TEXT">
    <p:spTree>
      <p:nvGrpSpPr>
        <p:cNvPr id="1" name="Shape 118"/>
        <p:cNvGrpSpPr/>
        <p:nvPr/>
      </p:nvGrpSpPr>
      <p:grpSpPr>
        <a:xfrm>
          <a:off x="0" y="0"/>
          <a:ext cx="0" cy="0"/>
          <a:chOff x="0" y="0"/>
          <a:chExt cx="0" cy="0"/>
        </a:xfrm>
      </p:grpSpPr>
      <p:sp>
        <p:nvSpPr>
          <p:cNvPr id="119" name="Google Shape;119;p9"/>
          <p:cNvSpPr txBox="1">
            <a:spLocks noGrp="1"/>
          </p:cNvSpPr>
          <p:nvPr>
            <p:ph type="title"/>
          </p:nvPr>
        </p:nvSpPr>
        <p:spPr>
          <a:xfrm>
            <a:off x="1944000" y="1481138"/>
            <a:ext cx="5235566" cy="1260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9"/>
          <p:cNvSpPr txBox="1">
            <a:spLocks noGrp="1"/>
          </p:cNvSpPr>
          <p:nvPr>
            <p:ph type="body" idx="1"/>
          </p:nvPr>
        </p:nvSpPr>
        <p:spPr>
          <a:xfrm>
            <a:off x="7775574" y="1481138"/>
            <a:ext cx="8568425" cy="7310437"/>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1" name="Google Shape;121;p9"/>
          <p:cNvSpPr txBox="1">
            <a:spLocks noGrp="1"/>
          </p:cNvSpPr>
          <p:nvPr>
            <p:ph type="body" idx="2"/>
          </p:nvPr>
        </p:nvSpPr>
        <p:spPr>
          <a:xfrm>
            <a:off x="1944000" y="3086100"/>
            <a:ext cx="5214038" cy="57181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2" name="Google Shape;122;p9"/>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3" name="Google Shape;123;p9"/>
          <p:cNvSpPr/>
          <p:nvPr/>
        </p:nvSpPr>
        <p:spPr>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4" name="Google Shape;124;p9"/>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5" name="Google Shape;125;p9"/>
          <p:cNvSpPr/>
          <p:nvPr/>
        </p:nvSpPr>
        <p:spPr>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6" name="Google Shape;126;p9"/>
          <p:cNvSpPr/>
          <p:nvPr/>
        </p:nvSpPr>
        <p:spPr>
          <a:xfrm rot="7860677">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7" name="Google Shape;127;p9"/>
          <p:cNvSpPr/>
          <p:nvPr/>
        </p:nvSpPr>
        <p:spPr>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8" name="Google Shape;128;p9"/>
          <p:cNvSpPr/>
          <p:nvPr/>
        </p:nvSpPr>
        <p:spPr>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9" name="Google Shape;129;p9"/>
          <p:cNvSpPr/>
          <p:nvPr/>
        </p:nvSpPr>
        <p:spPr>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0" name="Google Shape;130;p9"/>
          <p:cNvSpPr/>
          <p:nvPr/>
        </p:nvSpPr>
        <p:spPr>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1" name="Google Shape;131;p9"/>
          <p:cNvSpPr/>
          <p:nvPr/>
        </p:nvSpPr>
        <p:spPr>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2" name="Google Shape;132;p9"/>
          <p:cNvSpPr/>
          <p:nvPr/>
        </p:nvSpPr>
        <p:spPr>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3" name="Google Shape;133;p9"/>
          <p:cNvSpPr/>
          <p:nvPr/>
        </p:nvSpPr>
        <p:spPr>
          <a:xfrm rot="7860677">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ld mit Überschrift">
  <p:cSld name="Bild mit Überschrift">
    <p:spTree>
      <p:nvGrpSpPr>
        <p:cNvPr id="1" name="Shape 134"/>
        <p:cNvGrpSpPr/>
        <p:nvPr/>
      </p:nvGrpSpPr>
      <p:grpSpPr>
        <a:xfrm>
          <a:off x="0" y="0"/>
          <a:ext cx="0" cy="0"/>
          <a:chOff x="0" y="0"/>
          <a:chExt cx="0" cy="0"/>
        </a:xfrm>
      </p:grpSpPr>
      <p:sp>
        <p:nvSpPr>
          <p:cNvPr id="135" name="Google Shape;135;p10"/>
          <p:cNvSpPr>
            <a:spLocks noGrp="1"/>
          </p:cNvSpPr>
          <p:nvPr>
            <p:ph type="pic" idx="2"/>
          </p:nvPr>
        </p:nvSpPr>
        <p:spPr>
          <a:xfrm>
            <a:off x="7775575" y="1481138"/>
            <a:ext cx="8568424" cy="7310437"/>
          </a:xfrm>
          <a:prstGeom prst="rect">
            <a:avLst/>
          </a:prstGeom>
          <a:noFill/>
          <a:ln>
            <a:noFill/>
          </a:ln>
        </p:spPr>
      </p:sp>
      <p:sp>
        <p:nvSpPr>
          <p:cNvPr id="136" name="Google Shape;136;p10"/>
          <p:cNvSpPr/>
          <p:nvPr/>
        </p:nvSpPr>
        <p:spPr>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7" name="Google Shape;137;p10"/>
          <p:cNvSpPr/>
          <p:nvPr/>
        </p:nvSpPr>
        <p:spPr>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8" name="Google Shape;138;p10"/>
          <p:cNvSpPr/>
          <p:nvPr/>
        </p:nvSpPr>
        <p:spPr>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39" name="Google Shape;139;p10"/>
          <p:cNvSpPr/>
          <p:nvPr/>
        </p:nvSpPr>
        <p:spPr>
          <a:xfrm rot="7860677">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0" name="Google Shape;140;p10"/>
          <p:cNvSpPr/>
          <p:nvPr/>
        </p:nvSpPr>
        <p:spPr>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1" name="Google Shape;141;p10"/>
          <p:cNvSpPr/>
          <p:nvPr/>
        </p:nvSpPr>
        <p:spPr>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2" name="Google Shape;142;p10"/>
          <p:cNvSpPr/>
          <p:nvPr/>
        </p:nvSpPr>
        <p:spPr>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3" name="Google Shape;143;p10"/>
          <p:cNvSpPr/>
          <p:nvPr/>
        </p:nvSpPr>
        <p:spPr>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4" name="Google Shape;144;p10"/>
          <p:cNvSpPr/>
          <p:nvPr/>
        </p:nvSpPr>
        <p:spPr>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5" name="Google Shape;145;p10"/>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6" name="Google Shape;146;p10"/>
          <p:cNvSpPr txBox="1"/>
          <p:nvPr/>
        </p:nvSpPr>
        <p:spPr>
          <a:xfrm>
            <a:off x="1944000" y="1481138"/>
            <a:ext cx="5235566" cy="12600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3200"/>
              <a:buFont typeface="Arial"/>
              <a:buNone/>
            </a:pPr>
            <a:r>
              <a:rPr lang="de-DE" sz="3200" b="0" i="0" u="none" strike="noStrike" cap="none">
                <a:solidFill>
                  <a:schemeClr val="dk1"/>
                </a:solidFill>
                <a:latin typeface="Arial"/>
                <a:ea typeface="Arial"/>
                <a:cs typeface="Arial"/>
                <a:sym typeface="Arial"/>
              </a:rPr>
              <a:t>Mastertitelformat bearbeiten</a:t>
            </a:r>
            <a:endParaRPr sz="3200" b="0" i="0" u="none" strike="noStrike" cap="none">
              <a:solidFill>
                <a:schemeClr val="dk1"/>
              </a:solidFill>
              <a:latin typeface="Arial"/>
              <a:ea typeface="Arial"/>
              <a:cs typeface="Arial"/>
              <a:sym typeface="Arial"/>
            </a:endParaRPr>
          </a:p>
        </p:txBody>
      </p:sp>
      <p:sp>
        <p:nvSpPr>
          <p:cNvPr id="147" name="Google Shape;147;p10"/>
          <p:cNvSpPr txBox="1">
            <a:spLocks noGrp="1"/>
          </p:cNvSpPr>
          <p:nvPr>
            <p:ph type="body" idx="1"/>
          </p:nvPr>
        </p:nvSpPr>
        <p:spPr>
          <a:xfrm>
            <a:off x="1944000" y="3086100"/>
            <a:ext cx="5214038" cy="57181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10"/>
          <p:cNvSpPr/>
          <p:nvPr/>
        </p:nvSpPr>
        <p:spPr>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9" name="Google Shape;149;p10"/>
          <p:cNvSpPr/>
          <p:nvPr/>
        </p:nvSpPr>
        <p:spPr>
          <a:xfrm rot="7860677">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944000" y="1322140"/>
            <a:ext cx="14400000" cy="12600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944000" y="2769110"/>
            <a:ext cx="14400000" cy="64800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p:nvPr/>
        </p:nvSpPr>
        <p:spPr>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uthorservices.wiley.com/Reviewers/journal-reviewers/what-is-peer-review/index.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undergraduatesciencelibrarian.org/a-very-brief-introduction-to-the-scientific-literature/types-of-scientific-literatur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www.ssrn.com/index.cfm/en/" TargetMode="External"/><Relationship Id="rId3" Type="http://schemas.openxmlformats.org/officeDocument/2006/relationships/hyperlink" Target="https://scholar.google.com/" TargetMode="External"/><Relationship Id="rId7" Type="http://schemas.openxmlformats.org/officeDocument/2006/relationships/hyperlink" Target="https://doaj.org/"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scienceopen.com/" TargetMode="External"/><Relationship Id="rId5" Type="http://schemas.openxmlformats.org/officeDocument/2006/relationships/hyperlink" Target="https://core.ac.uk/" TargetMode="External"/><Relationship Id="rId10" Type="http://schemas.openxmlformats.org/officeDocument/2006/relationships/hyperlink" Target="https://www.scribendi.com/academy/articles/free_online_journal_and_research_databases.en.html" TargetMode="External"/><Relationship Id="rId4" Type="http://schemas.openxmlformats.org/officeDocument/2006/relationships/hyperlink" Target="https://www.jstor.org/" TargetMode="External"/><Relationship Id="rId9" Type="http://schemas.openxmlformats.org/officeDocument/2006/relationships/hyperlink" Target="https://www.academia.edu/"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leuphana.de/en/services/miz/searching-for-literature.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kvk.bibliothek.kit.edu/index.html?lang=en&amp;digitalOnly=0&amp;embedFulltitle=0&amp;newTab=0" TargetMode="External"/><Relationship Id="rId4" Type="http://schemas.openxmlformats.org/officeDocument/2006/relationships/hyperlink" Target="https://kxp.k10plus.de/DB=2.1/DB=2.1/"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southern.libguides.com/google/boolea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youtube.com/watch?v=u0KVJ0lj8rw&amp;t=52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1906800" y="2171700"/>
            <a:ext cx="14400000" cy="3955500"/>
          </a:xfrm>
          <a:prstGeom prst="rect">
            <a:avLst/>
          </a:prstGeom>
          <a:noFill/>
          <a:ln>
            <a:noFill/>
          </a:ln>
        </p:spPr>
        <p:txBody>
          <a:bodyPr spcFirstLastPara="1" wrap="square" lIns="90000"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b="1"/>
              <a:t>Scientific Literature</a:t>
            </a:r>
            <a:endParaRPr/>
          </a:p>
        </p:txBody>
      </p:sp>
      <p:sp>
        <p:nvSpPr>
          <p:cNvPr id="156" name="Google Shape;156;p11"/>
          <p:cNvSpPr txBox="1">
            <a:spLocks noGrp="1"/>
          </p:cNvSpPr>
          <p:nvPr>
            <p:ph type="body" idx="1"/>
          </p:nvPr>
        </p:nvSpPr>
        <p:spPr>
          <a:xfrm>
            <a:off x="1906800" y="6491289"/>
            <a:ext cx="14400000" cy="2079900"/>
          </a:xfrm>
          <a:prstGeom prst="rect">
            <a:avLst/>
          </a:prstGeom>
          <a:noFill/>
          <a:ln>
            <a:noFill/>
          </a:ln>
        </p:spPr>
        <p:txBody>
          <a:bodyPr spcFirstLastPara="1" wrap="square" lIns="90000" tIns="45700" rIns="91425" bIns="45700" anchor="t" anchorCtr="0">
            <a:normAutofit/>
          </a:bodyPr>
          <a:lstStyle/>
          <a:p>
            <a:pPr marL="0" lvl="0" indent="0" algn="l" rtl="0">
              <a:lnSpc>
                <a:spcPct val="90000"/>
              </a:lnSpc>
              <a:spcBef>
                <a:spcPts val="0"/>
              </a:spcBef>
              <a:spcAft>
                <a:spcPts val="0"/>
              </a:spcAft>
              <a:buClr>
                <a:srgbClr val="757575"/>
              </a:buClr>
              <a:buSzPts val="2400"/>
              <a:buNone/>
            </a:pPr>
            <a:r>
              <a:rPr lang="de-DE"/>
              <a:t>Tutor:</a:t>
            </a:r>
            <a:endParaRPr/>
          </a:p>
          <a:p>
            <a:pPr marL="0" lvl="0" indent="0" algn="l" rtl="0">
              <a:lnSpc>
                <a:spcPct val="90000"/>
              </a:lnSpc>
              <a:spcBef>
                <a:spcPts val="0"/>
              </a:spcBef>
              <a:spcAft>
                <a:spcPts val="0"/>
              </a:spcAft>
              <a:buClr>
                <a:srgbClr val="757575"/>
              </a:buClr>
              <a:buSzPts val="2400"/>
              <a:buNone/>
            </a:pPr>
            <a:r>
              <a:rPr lang="de-DE"/>
              <a:t>Date: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de-DE" b="1"/>
              <a:t>What is Academic Literature?</a:t>
            </a:r>
            <a:endParaRPr b="1"/>
          </a:p>
        </p:txBody>
      </p:sp>
      <p:sp>
        <p:nvSpPr>
          <p:cNvPr id="163" name="Google Shape;163;p12"/>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457200" lvl="0" indent="0" algn="ctr" rtl="0">
              <a:lnSpc>
                <a:spcPct val="114999"/>
              </a:lnSpc>
              <a:spcBef>
                <a:spcPts val="1200"/>
              </a:spcBef>
              <a:spcAft>
                <a:spcPts val="0"/>
              </a:spcAft>
              <a:buNone/>
            </a:pPr>
            <a:endParaRPr sz="3000" i="1"/>
          </a:p>
          <a:p>
            <a:pPr marL="0" lvl="0" indent="0" algn="ctr" rtl="0">
              <a:lnSpc>
                <a:spcPct val="114999"/>
              </a:lnSpc>
              <a:spcBef>
                <a:spcPts val="1200"/>
              </a:spcBef>
              <a:spcAft>
                <a:spcPts val="0"/>
              </a:spcAft>
              <a:buNone/>
            </a:pPr>
            <a:r>
              <a:rPr lang="de-DE" sz="3200" i="1">
                <a:latin typeface="Arial Narrow"/>
                <a:ea typeface="Arial Narrow"/>
                <a:cs typeface="Arial Narrow"/>
                <a:sym typeface="Arial Narrow"/>
              </a:rPr>
              <a:t>“Scientific literature is the principal medium for </a:t>
            </a:r>
            <a:r>
              <a:rPr lang="de-DE" sz="3200" b="1" i="1">
                <a:solidFill>
                  <a:srgbClr val="7C0E31"/>
                </a:solidFill>
                <a:latin typeface="Arial Narrow"/>
                <a:ea typeface="Arial Narrow"/>
                <a:cs typeface="Arial Narrow"/>
                <a:sym typeface="Arial Narrow"/>
              </a:rPr>
              <a:t>communicating the results </a:t>
            </a:r>
            <a:r>
              <a:rPr lang="de-DE" sz="3200" i="1">
                <a:latin typeface="Arial Narrow"/>
                <a:ea typeface="Arial Narrow"/>
                <a:cs typeface="Arial Narrow"/>
                <a:sym typeface="Arial Narrow"/>
              </a:rPr>
              <a:t>of scientific research and, as such, represents the </a:t>
            </a:r>
            <a:r>
              <a:rPr lang="de-DE" sz="3200" b="1" i="1">
                <a:solidFill>
                  <a:srgbClr val="7C0E31"/>
                </a:solidFill>
                <a:latin typeface="Arial Narrow"/>
                <a:ea typeface="Arial Narrow"/>
                <a:cs typeface="Arial Narrow"/>
                <a:sym typeface="Arial Narrow"/>
              </a:rPr>
              <a:t>permanent record of the collective achievements </a:t>
            </a:r>
            <a:r>
              <a:rPr lang="de-DE" sz="3200" i="1">
                <a:latin typeface="Arial Narrow"/>
                <a:ea typeface="Arial Narrow"/>
                <a:cs typeface="Arial Narrow"/>
                <a:sym typeface="Arial Narrow"/>
              </a:rPr>
              <a:t>of the scientific community over time.” </a:t>
            </a:r>
            <a:r>
              <a:rPr lang="de-DE" sz="3200">
                <a:latin typeface="Arial Narrow"/>
                <a:ea typeface="Arial Narrow"/>
                <a:cs typeface="Arial Narrow"/>
                <a:sym typeface="Arial Narrow"/>
              </a:rPr>
              <a:t>(Karadjova, 2022).</a:t>
            </a:r>
            <a:endParaRPr sz="3000" i="1"/>
          </a:p>
          <a:p>
            <a:pPr marL="457200" lvl="0" indent="0" algn="ctr" rtl="0">
              <a:lnSpc>
                <a:spcPct val="114999"/>
              </a:lnSpc>
              <a:spcBef>
                <a:spcPts val="1200"/>
              </a:spcBef>
              <a:spcAft>
                <a:spcPts val="0"/>
              </a:spcAft>
              <a:buNone/>
            </a:pPr>
            <a:endParaRPr sz="3000"/>
          </a:p>
          <a:p>
            <a:pPr marL="0" lvl="0" indent="0" algn="l" rtl="0">
              <a:lnSpc>
                <a:spcPct val="100000"/>
              </a:lnSpc>
              <a:spcBef>
                <a:spcPts val="0"/>
              </a:spcBef>
              <a:spcAft>
                <a:spcPts val="0"/>
              </a:spcAft>
              <a:buNone/>
            </a:pPr>
            <a:r>
              <a:rPr lang="de-DE"/>
              <a:t>Communicating and sharing results are important aspects of science</a:t>
            </a:r>
            <a:endParaRPr sz="3000"/>
          </a:p>
          <a:p>
            <a:pPr marL="457200" lvl="0" indent="0" algn="l" rtl="0">
              <a:lnSpc>
                <a:spcPct val="114999"/>
              </a:lnSpc>
              <a:spcBef>
                <a:spcPts val="1200"/>
              </a:spcBef>
              <a:spcAft>
                <a:spcPts val="0"/>
              </a:spcAft>
              <a:buNone/>
            </a:pPr>
            <a:endParaRPr sz="3000"/>
          </a:p>
          <a:p>
            <a:pPr marL="0" lvl="0" indent="0" algn="l" rtl="0">
              <a:lnSpc>
                <a:spcPct val="94999"/>
              </a:lnSpc>
              <a:spcBef>
                <a:spcPts val="0"/>
              </a:spcBef>
              <a:spcAft>
                <a:spcPts val="0"/>
              </a:spcAft>
              <a:buNone/>
            </a:pP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de-DE" b="1"/>
              <a:t>Types of Scientific Literature</a:t>
            </a:r>
            <a:endParaRPr b="1"/>
          </a:p>
        </p:txBody>
      </p:sp>
      <p:sp>
        <p:nvSpPr>
          <p:cNvPr id="170" name="Google Shape;170;p13"/>
          <p:cNvSpPr txBox="1">
            <a:spLocks noGrp="1"/>
          </p:cNvSpPr>
          <p:nvPr>
            <p:ph type="body" idx="1"/>
          </p:nvPr>
        </p:nvSpPr>
        <p:spPr>
          <a:xfrm>
            <a:off x="1944000" y="2738828"/>
            <a:ext cx="14400000" cy="6480000"/>
          </a:xfrm>
          <a:prstGeom prst="rect">
            <a:avLst/>
          </a:prstGeom>
          <a:noFill/>
          <a:ln>
            <a:noFill/>
          </a:ln>
        </p:spPr>
        <p:txBody>
          <a:bodyPr spcFirstLastPara="1" wrap="square" lIns="91425" tIns="45700" rIns="91425" bIns="45700" anchor="t" anchorCtr="0">
            <a:noAutofit/>
          </a:bodyPr>
          <a:lstStyle/>
          <a:p>
            <a:pPr marL="0" lvl="0" indent="0" algn="ctr" rtl="0">
              <a:lnSpc>
                <a:spcPct val="94999"/>
              </a:lnSpc>
              <a:spcBef>
                <a:spcPts val="0"/>
              </a:spcBef>
              <a:spcAft>
                <a:spcPts val="0"/>
              </a:spcAft>
              <a:buNone/>
            </a:pPr>
            <a:endParaRPr sz="4200" b="1">
              <a:solidFill>
                <a:schemeClr val="dk2"/>
              </a:solidFill>
            </a:endParaRPr>
          </a:p>
          <a:p>
            <a:pPr marL="0" lvl="0" indent="0" algn="l" rtl="0">
              <a:lnSpc>
                <a:spcPct val="94999"/>
              </a:lnSpc>
              <a:spcBef>
                <a:spcPts val="0"/>
              </a:spcBef>
              <a:spcAft>
                <a:spcPts val="0"/>
              </a:spcAft>
              <a:buNone/>
            </a:pPr>
            <a:endParaRPr sz="4200" b="1">
              <a:solidFill>
                <a:schemeClr val="dk2"/>
              </a:solidFill>
            </a:endParaRPr>
          </a:p>
          <a:p>
            <a:pPr marL="0" lvl="0" indent="0" algn="ctr" rtl="0">
              <a:lnSpc>
                <a:spcPct val="94999"/>
              </a:lnSpc>
              <a:spcBef>
                <a:spcPts val="0"/>
              </a:spcBef>
              <a:spcAft>
                <a:spcPts val="0"/>
              </a:spcAft>
              <a:buNone/>
            </a:pPr>
            <a:r>
              <a:rPr lang="de-DE" sz="4200" b="1">
                <a:solidFill>
                  <a:srgbClr val="7E0D31"/>
                </a:solidFill>
              </a:rPr>
              <a:t>Primary Literature</a:t>
            </a:r>
            <a:endParaRPr sz="4200" b="1">
              <a:solidFill>
                <a:srgbClr val="7E0D31"/>
              </a:solidFill>
            </a:endParaRPr>
          </a:p>
          <a:p>
            <a:pPr marL="0" lvl="0" indent="0" algn="ctr" rtl="0">
              <a:lnSpc>
                <a:spcPct val="94999"/>
              </a:lnSpc>
              <a:spcBef>
                <a:spcPts val="0"/>
              </a:spcBef>
              <a:spcAft>
                <a:spcPts val="0"/>
              </a:spcAft>
              <a:buNone/>
            </a:pPr>
            <a:endParaRPr sz="4200" b="1">
              <a:solidFill>
                <a:schemeClr val="dk2"/>
              </a:solidFill>
            </a:endParaRPr>
          </a:p>
          <a:p>
            <a:pPr marL="0" lvl="0" indent="0" algn="ctr" rtl="0">
              <a:lnSpc>
                <a:spcPct val="94999"/>
              </a:lnSpc>
              <a:spcBef>
                <a:spcPts val="0"/>
              </a:spcBef>
              <a:spcAft>
                <a:spcPts val="0"/>
              </a:spcAft>
              <a:buNone/>
            </a:pPr>
            <a:r>
              <a:rPr lang="de-DE" sz="4200" b="1">
                <a:solidFill>
                  <a:schemeClr val="lt2"/>
                </a:solidFill>
              </a:rPr>
              <a:t>Secondary Literature</a:t>
            </a:r>
            <a:endParaRPr sz="4200" b="1">
              <a:solidFill>
                <a:schemeClr val="lt2"/>
              </a:solidFill>
            </a:endParaRPr>
          </a:p>
          <a:p>
            <a:pPr marL="0" lvl="0" indent="0" algn="ctr" rtl="0">
              <a:lnSpc>
                <a:spcPct val="94999"/>
              </a:lnSpc>
              <a:spcBef>
                <a:spcPts val="0"/>
              </a:spcBef>
              <a:spcAft>
                <a:spcPts val="0"/>
              </a:spcAft>
              <a:buNone/>
            </a:pPr>
            <a:endParaRPr sz="4200" b="1">
              <a:solidFill>
                <a:schemeClr val="dk2"/>
              </a:solidFill>
            </a:endParaRPr>
          </a:p>
          <a:p>
            <a:pPr marL="0" lvl="0" indent="0" algn="ctr" rtl="0">
              <a:lnSpc>
                <a:spcPct val="94999"/>
              </a:lnSpc>
              <a:spcBef>
                <a:spcPts val="0"/>
              </a:spcBef>
              <a:spcAft>
                <a:spcPts val="0"/>
              </a:spcAft>
              <a:buNone/>
            </a:pPr>
            <a:r>
              <a:rPr lang="de-DE" sz="4200" b="1">
                <a:solidFill>
                  <a:srgbClr val="FFCD00"/>
                </a:solidFill>
              </a:rPr>
              <a:t>Tertiary Literature</a:t>
            </a:r>
            <a:endParaRPr sz="4200" b="1">
              <a:solidFill>
                <a:srgbClr val="FFCD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4"/>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de-DE" b="1"/>
              <a:t>Types of Scientific Literature</a:t>
            </a:r>
            <a:endParaRPr b="1"/>
          </a:p>
        </p:txBody>
      </p:sp>
      <p:sp>
        <p:nvSpPr>
          <p:cNvPr id="177" name="Google Shape;177;p14"/>
          <p:cNvSpPr txBox="1">
            <a:spLocks noGrp="1"/>
          </p:cNvSpPr>
          <p:nvPr>
            <p:ph type="body" idx="1"/>
          </p:nvPr>
        </p:nvSpPr>
        <p:spPr>
          <a:xfrm>
            <a:off x="1944000" y="2738825"/>
            <a:ext cx="4020300" cy="64800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200"/>
              </a:spcBef>
              <a:spcAft>
                <a:spcPts val="0"/>
              </a:spcAft>
              <a:buNone/>
            </a:pPr>
            <a:r>
              <a:rPr lang="de-DE" sz="3000" b="1"/>
              <a:t>Primary Literature</a:t>
            </a:r>
            <a:endParaRPr sz="3000" b="1"/>
          </a:p>
          <a:p>
            <a:pPr marL="457200" lvl="0" indent="-365125" algn="l" rtl="0">
              <a:lnSpc>
                <a:spcPct val="115000"/>
              </a:lnSpc>
              <a:spcBef>
                <a:spcPts val="1200"/>
              </a:spcBef>
              <a:spcAft>
                <a:spcPts val="0"/>
              </a:spcAft>
              <a:buSzPts val="2150"/>
              <a:buChar char="•"/>
            </a:pPr>
            <a:r>
              <a:rPr lang="de-DE" sz="2150"/>
              <a:t>Original Research and/or new scientific discoveries</a:t>
            </a:r>
            <a:endParaRPr sz="2150"/>
          </a:p>
          <a:p>
            <a:pPr marL="457200" lvl="0" indent="-365125" algn="l" rtl="0">
              <a:lnSpc>
                <a:spcPct val="115000"/>
              </a:lnSpc>
              <a:spcBef>
                <a:spcPts val="0"/>
              </a:spcBef>
              <a:spcAft>
                <a:spcPts val="0"/>
              </a:spcAft>
              <a:buSzPts val="2150"/>
              <a:buChar char="•"/>
            </a:pPr>
            <a:r>
              <a:rPr lang="de-DE" sz="2150"/>
              <a:t>immediate results of research activities</a:t>
            </a:r>
            <a:endParaRPr sz="2150"/>
          </a:p>
          <a:p>
            <a:pPr marL="457200" lvl="0" indent="-365125" algn="l" rtl="0">
              <a:lnSpc>
                <a:spcPct val="115000"/>
              </a:lnSpc>
              <a:spcBef>
                <a:spcPts val="0"/>
              </a:spcBef>
              <a:spcAft>
                <a:spcPts val="0"/>
              </a:spcAft>
              <a:buSzPts val="2150"/>
              <a:buChar char="•"/>
            </a:pPr>
            <a:r>
              <a:rPr lang="de-DE" sz="2150"/>
              <a:t>often includes analysis of data collected in the field or laboratory</a:t>
            </a:r>
            <a:endParaRPr sz="2150"/>
          </a:p>
          <a:p>
            <a:pPr marL="0" lvl="0" indent="0" algn="l" rtl="0">
              <a:lnSpc>
                <a:spcPct val="115000"/>
              </a:lnSpc>
              <a:spcBef>
                <a:spcPts val="1200"/>
              </a:spcBef>
              <a:spcAft>
                <a:spcPts val="0"/>
              </a:spcAft>
              <a:buNone/>
            </a:pPr>
            <a:r>
              <a:rPr lang="de-DE" sz="2150" b="1"/>
              <a:t>Examples:</a:t>
            </a:r>
            <a:endParaRPr sz="2150" b="1"/>
          </a:p>
          <a:p>
            <a:pPr marL="457200" lvl="0" indent="-365125" algn="l" rtl="0">
              <a:lnSpc>
                <a:spcPct val="115000"/>
              </a:lnSpc>
              <a:spcBef>
                <a:spcPts val="1200"/>
              </a:spcBef>
              <a:spcAft>
                <a:spcPts val="0"/>
              </a:spcAft>
              <a:buSzPts val="2150"/>
              <a:buChar char="•"/>
            </a:pPr>
            <a:r>
              <a:rPr lang="de-DE" sz="2150"/>
              <a:t>original research published as articles in peer-reviewed journals</a:t>
            </a:r>
            <a:endParaRPr sz="2150"/>
          </a:p>
          <a:p>
            <a:pPr marL="457200" lvl="0" indent="-365125" algn="l" rtl="0">
              <a:lnSpc>
                <a:spcPct val="115000"/>
              </a:lnSpc>
              <a:spcBef>
                <a:spcPts val="0"/>
              </a:spcBef>
              <a:spcAft>
                <a:spcPts val="0"/>
              </a:spcAft>
              <a:buSzPts val="2150"/>
              <a:buChar char="•"/>
            </a:pPr>
            <a:r>
              <a:rPr lang="de-DE" sz="2150"/>
              <a:t>dissertations</a:t>
            </a:r>
            <a:endParaRPr sz="2150"/>
          </a:p>
          <a:p>
            <a:pPr marL="457200" lvl="0" indent="-365125" algn="l" rtl="0">
              <a:lnSpc>
                <a:spcPct val="115000"/>
              </a:lnSpc>
              <a:spcBef>
                <a:spcPts val="0"/>
              </a:spcBef>
              <a:spcAft>
                <a:spcPts val="0"/>
              </a:spcAft>
              <a:buSzPts val="2150"/>
              <a:buChar char="•"/>
            </a:pPr>
            <a:r>
              <a:rPr lang="de-DE" sz="2150"/>
              <a:t>technical reports</a:t>
            </a:r>
            <a:endParaRPr sz="2150"/>
          </a:p>
          <a:p>
            <a:pPr marL="457200" lvl="0" indent="-365125" algn="l" rtl="0">
              <a:lnSpc>
                <a:spcPct val="115000"/>
              </a:lnSpc>
              <a:spcBef>
                <a:spcPts val="0"/>
              </a:spcBef>
              <a:spcAft>
                <a:spcPts val="0"/>
              </a:spcAft>
              <a:buSzPts val="2150"/>
              <a:buChar char="•"/>
            </a:pPr>
            <a:r>
              <a:rPr lang="de-DE" sz="2150"/>
              <a:t>conference proceedings</a:t>
            </a:r>
            <a:endParaRPr sz="2150" b="1"/>
          </a:p>
        </p:txBody>
      </p:sp>
      <p:sp>
        <p:nvSpPr>
          <p:cNvPr id="178" name="Google Shape;178;p14"/>
          <p:cNvSpPr txBox="1">
            <a:spLocks noGrp="1"/>
          </p:cNvSpPr>
          <p:nvPr>
            <p:ph type="body" idx="1"/>
          </p:nvPr>
        </p:nvSpPr>
        <p:spPr>
          <a:xfrm>
            <a:off x="12323700" y="2561850"/>
            <a:ext cx="4020300" cy="64800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200"/>
              </a:spcBef>
              <a:spcAft>
                <a:spcPts val="0"/>
              </a:spcAft>
              <a:buNone/>
            </a:pPr>
            <a:r>
              <a:rPr lang="de-DE" sz="3000" b="1"/>
              <a:t>Tertiary Literature</a:t>
            </a:r>
            <a:endParaRPr sz="3000" b="1"/>
          </a:p>
          <a:p>
            <a:pPr marL="457200" lvl="0" indent="-365125" algn="l" rtl="0">
              <a:lnSpc>
                <a:spcPct val="115000"/>
              </a:lnSpc>
              <a:spcBef>
                <a:spcPts val="1200"/>
              </a:spcBef>
              <a:spcAft>
                <a:spcPts val="0"/>
              </a:spcAft>
              <a:buSzPts val="2150"/>
              <a:buChar char="•"/>
            </a:pPr>
            <a:r>
              <a:rPr lang="de-DE" sz="2150"/>
              <a:t>summaries or condensed versions of materials</a:t>
            </a:r>
            <a:endParaRPr sz="2150"/>
          </a:p>
          <a:p>
            <a:pPr marL="457200" lvl="0" indent="-365125" algn="l" rtl="0">
              <a:lnSpc>
                <a:spcPct val="115000"/>
              </a:lnSpc>
              <a:spcBef>
                <a:spcPts val="0"/>
              </a:spcBef>
              <a:spcAft>
                <a:spcPts val="0"/>
              </a:spcAft>
              <a:buSzPts val="2150"/>
              <a:buChar char="•"/>
            </a:pPr>
            <a:r>
              <a:rPr lang="de-DE" sz="2150"/>
              <a:t>usually with references to primary or secondary sources</a:t>
            </a:r>
            <a:endParaRPr sz="2150"/>
          </a:p>
          <a:p>
            <a:pPr marL="457200" lvl="0" indent="-365125" algn="l" rtl="0">
              <a:lnSpc>
                <a:spcPct val="115000"/>
              </a:lnSpc>
              <a:spcBef>
                <a:spcPts val="0"/>
              </a:spcBef>
              <a:spcAft>
                <a:spcPts val="0"/>
              </a:spcAft>
              <a:buSzPts val="2150"/>
              <a:buChar char="•"/>
            </a:pPr>
            <a:r>
              <a:rPr lang="de-DE" sz="2150"/>
              <a:t>good place to look up facts or get a general overview of a topic</a:t>
            </a:r>
            <a:endParaRPr sz="2150"/>
          </a:p>
          <a:p>
            <a:pPr marL="0" lvl="0" indent="0" algn="l" rtl="0">
              <a:lnSpc>
                <a:spcPct val="115000"/>
              </a:lnSpc>
              <a:spcBef>
                <a:spcPts val="1200"/>
              </a:spcBef>
              <a:spcAft>
                <a:spcPts val="0"/>
              </a:spcAft>
              <a:buNone/>
            </a:pPr>
            <a:r>
              <a:rPr lang="de-DE" sz="2150" b="1"/>
              <a:t>Examples:</a:t>
            </a:r>
            <a:endParaRPr sz="2150" b="1"/>
          </a:p>
          <a:p>
            <a:pPr marL="457200" lvl="0" indent="-365125" algn="l" rtl="0">
              <a:lnSpc>
                <a:spcPct val="115000"/>
              </a:lnSpc>
              <a:spcBef>
                <a:spcPts val="1200"/>
              </a:spcBef>
              <a:spcAft>
                <a:spcPts val="0"/>
              </a:spcAft>
              <a:buSzPts val="2150"/>
              <a:buChar char="•"/>
            </a:pPr>
            <a:r>
              <a:rPr lang="de-DE" sz="2150"/>
              <a:t>Textbooks</a:t>
            </a:r>
            <a:endParaRPr sz="2150"/>
          </a:p>
          <a:p>
            <a:pPr marL="457200" lvl="0" indent="-365125" algn="l" rtl="0">
              <a:lnSpc>
                <a:spcPct val="115000"/>
              </a:lnSpc>
              <a:spcBef>
                <a:spcPts val="0"/>
              </a:spcBef>
              <a:spcAft>
                <a:spcPts val="0"/>
              </a:spcAft>
              <a:buSzPts val="2150"/>
              <a:buChar char="•"/>
            </a:pPr>
            <a:r>
              <a:rPr lang="de-DE" sz="2150"/>
              <a:t>Dictionaries</a:t>
            </a:r>
            <a:endParaRPr sz="2150"/>
          </a:p>
          <a:p>
            <a:pPr marL="457200" lvl="0" indent="-365125" algn="l" rtl="0">
              <a:lnSpc>
                <a:spcPct val="115000"/>
              </a:lnSpc>
              <a:spcBef>
                <a:spcPts val="0"/>
              </a:spcBef>
              <a:spcAft>
                <a:spcPts val="0"/>
              </a:spcAft>
              <a:buSzPts val="2150"/>
              <a:buChar char="•"/>
            </a:pPr>
            <a:r>
              <a:rPr lang="de-DE" sz="2150"/>
              <a:t>Encyclopedias</a:t>
            </a:r>
            <a:endParaRPr sz="2150"/>
          </a:p>
          <a:p>
            <a:pPr marL="457200" lvl="0" indent="-365125" algn="l" rtl="0">
              <a:lnSpc>
                <a:spcPct val="115000"/>
              </a:lnSpc>
              <a:spcBef>
                <a:spcPts val="0"/>
              </a:spcBef>
              <a:spcAft>
                <a:spcPts val="0"/>
              </a:spcAft>
              <a:buSzPts val="2150"/>
              <a:buChar char="•"/>
            </a:pPr>
            <a:r>
              <a:rPr lang="de-DE" sz="2150"/>
              <a:t>Handbooks</a:t>
            </a:r>
            <a:endParaRPr sz="2150" b="1"/>
          </a:p>
        </p:txBody>
      </p:sp>
      <p:sp>
        <p:nvSpPr>
          <p:cNvPr id="179" name="Google Shape;179;p14"/>
          <p:cNvSpPr txBox="1">
            <a:spLocks noGrp="1"/>
          </p:cNvSpPr>
          <p:nvPr>
            <p:ph type="body" idx="1"/>
          </p:nvPr>
        </p:nvSpPr>
        <p:spPr>
          <a:xfrm>
            <a:off x="7133850" y="2738825"/>
            <a:ext cx="4020300" cy="64800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200"/>
              </a:spcBef>
              <a:spcAft>
                <a:spcPts val="0"/>
              </a:spcAft>
              <a:buClr>
                <a:schemeClr val="dk1"/>
              </a:buClr>
              <a:buSzPts val="1100"/>
              <a:buFont typeface="Arial"/>
              <a:buNone/>
            </a:pPr>
            <a:r>
              <a:rPr lang="de-DE" sz="3000" b="1"/>
              <a:t>Secondary Literature</a:t>
            </a:r>
            <a:endParaRPr sz="3000" b="1"/>
          </a:p>
          <a:p>
            <a:pPr marL="457200" lvl="0" indent="-365125" algn="l" rtl="0">
              <a:lnSpc>
                <a:spcPct val="115000"/>
              </a:lnSpc>
              <a:spcBef>
                <a:spcPts val="1200"/>
              </a:spcBef>
              <a:spcAft>
                <a:spcPts val="0"/>
              </a:spcAft>
              <a:buSzPts val="2150"/>
              <a:buChar char="•"/>
            </a:pPr>
            <a:r>
              <a:rPr lang="de-DE" sz="2150"/>
              <a:t>Summarizes and synthesizes primary literature</a:t>
            </a:r>
            <a:endParaRPr sz="2150"/>
          </a:p>
          <a:p>
            <a:pPr marL="457200" lvl="0" indent="-365125" algn="l" rtl="0">
              <a:lnSpc>
                <a:spcPct val="115000"/>
              </a:lnSpc>
              <a:spcBef>
                <a:spcPts val="0"/>
              </a:spcBef>
              <a:spcAft>
                <a:spcPts val="0"/>
              </a:spcAft>
              <a:buSzPts val="2150"/>
              <a:buChar char="•"/>
            </a:pPr>
            <a:r>
              <a:rPr lang="de-DE" sz="2150"/>
              <a:t>Usually broader and less current than primary literature</a:t>
            </a:r>
            <a:endParaRPr sz="2150"/>
          </a:p>
          <a:p>
            <a:pPr marL="0" lvl="0" indent="0" algn="l" rtl="0">
              <a:lnSpc>
                <a:spcPct val="115000"/>
              </a:lnSpc>
              <a:spcBef>
                <a:spcPts val="1200"/>
              </a:spcBef>
              <a:spcAft>
                <a:spcPts val="0"/>
              </a:spcAft>
              <a:buNone/>
            </a:pPr>
            <a:r>
              <a:rPr lang="de-DE" sz="2150" b="1"/>
              <a:t>Examples:</a:t>
            </a:r>
            <a:endParaRPr sz="2150" b="1"/>
          </a:p>
          <a:p>
            <a:pPr marL="457200" lvl="0" indent="-365125" algn="l" rtl="0">
              <a:lnSpc>
                <a:spcPct val="115000"/>
              </a:lnSpc>
              <a:spcBef>
                <a:spcPts val="1200"/>
              </a:spcBef>
              <a:spcAft>
                <a:spcPts val="0"/>
              </a:spcAft>
              <a:buSzPts val="2150"/>
              <a:buChar char="•"/>
            </a:pPr>
            <a:r>
              <a:rPr lang="de-DE" sz="2150"/>
              <a:t>literature review articles</a:t>
            </a:r>
            <a:endParaRPr sz="2150"/>
          </a:p>
          <a:p>
            <a:pPr marL="457200" lvl="0" indent="-365125" algn="l" rtl="0">
              <a:lnSpc>
                <a:spcPct val="115000"/>
              </a:lnSpc>
              <a:spcBef>
                <a:spcPts val="0"/>
              </a:spcBef>
              <a:spcAft>
                <a:spcPts val="0"/>
              </a:spcAft>
              <a:buSzPts val="2150"/>
              <a:buChar char="•"/>
            </a:pPr>
            <a:r>
              <a:rPr lang="de-DE" sz="2150"/>
              <a:t>books</a:t>
            </a:r>
            <a:endParaRPr sz="2150"/>
          </a:p>
          <a:p>
            <a:pPr marL="0" lvl="0" indent="0" algn="ctr" rtl="0">
              <a:lnSpc>
                <a:spcPct val="115000"/>
              </a:lnSpc>
              <a:spcBef>
                <a:spcPts val="1200"/>
              </a:spcBef>
              <a:spcAft>
                <a:spcPts val="1200"/>
              </a:spcAft>
              <a:buNone/>
            </a:pPr>
            <a:r>
              <a:rPr lang="de-DE" sz="2150" i="1"/>
              <a:t>Since most information sources in the secondary literature contain extensive bibliographies, they can be useful for finding more information on a topic</a:t>
            </a:r>
            <a:endParaRPr sz="215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5"/>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de-DE" b="1"/>
              <a:t>Types of Scientific Literature</a:t>
            </a:r>
            <a:endParaRPr b="1"/>
          </a:p>
        </p:txBody>
      </p:sp>
      <p:sp>
        <p:nvSpPr>
          <p:cNvPr id="186" name="Google Shape;186;p15"/>
          <p:cNvSpPr txBox="1">
            <a:spLocks noGrp="1"/>
          </p:cNvSpPr>
          <p:nvPr>
            <p:ph type="body" idx="1"/>
          </p:nvPr>
        </p:nvSpPr>
        <p:spPr>
          <a:xfrm>
            <a:off x="1944000" y="2738825"/>
            <a:ext cx="14400000" cy="7284600"/>
          </a:xfrm>
          <a:prstGeom prst="rect">
            <a:avLst/>
          </a:prstGeom>
          <a:noFill/>
          <a:ln>
            <a:noFill/>
          </a:ln>
        </p:spPr>
        <p:txBody>
          <a:bodyPr spcFirstLastPara="1" wrap="square" lIns="91425" tIns="45700" rIns="91425" bIns="45700" anchor="t" anchorCtr="0">
            <a:noAutofit/>
          </a:bodyPr>
          <a:lstStyle/>
          <a:p>
            <a:pPr marL="685800" lvl="0" indent="-723900" algn="just" rtl="0">
              <a:lnSpc>
                <a:spcPct val="100000"/>
              </a:lnSpc>
              <a:spcBef>
                <a:spcPts val="0"/>
              </a:spcBef>
              <a:spcAft>
                <a:spcPts val="0"/>
              </a:spcAft>
              <a:buSzPts val="3000"/>
              <a:buAutoNum type="arabicPeriod"/>
            </a:pPr>
            <a:r>
              <a:rPr lang="de-DE" sz="3000" b="1"/>
              <a:t>Scientific Journal Article: </a:t>
            </a:r>
            <a:r>
              <a:rPr lang="de-DE" sz="3000"/>
              <a:t>is peer reviewed, discusses authors’ original research, offer analysis of results and cites other relevant papers (Swoger, 2014). </a:t>
            </a:r>
            <a:endParaRPr sz="3000"/>
          </a:p>
          <a:p>
            <a:pPr marL="685800" lvl="0" indent="-723900" algn="just" rtl="0">
              <a:lnSpc>
                <a:spcPct val="100000"/>
              </a:lnSpc>
              <a:spcBef>
                <a:spcPts val="2400"/>
              </a:spcBef>
              <a:spcAft>
                <a:spcPts val="0"/>
              </a:spcAft>
              <a:buSzPts val="3000"/>
              <a:buAutoNum type="arabicPeriod"/>
            </a:pPr>
            <a:r>
              <a:rPr lang="de-DE" sz="3000" b="1"/>
              <a:t>Review Article: </a:t>
            </a:r>
            <a:r>
              <a:rPr lang="de-DE" sz="3000"/>
              <a:t>outlines the current state of research in a particular field, cites appropriate literature and connects research (Swoger, 2014). </a:t>
            </a:r>
            <a:endParaRPr sz="3000"/>
          </a:p>
          <a:p>
            <a:pPr marL="685800" lvl="0" indent="-723900" algn="just" rtl="0">
              <a:lnSpc>
                <a:spcPct val="100000"/>
              </a:lnSpc>
              <a:spcBef>
                <a:spcPts val="2400"/>
              </a:spcBef>
              <a:spcAft>
                <a:spcPts val="0"/>
              </a:spcAft>
              <a:buSzPts val="3000"/>
              <a:buAutoNum type="arabicPeriod"/>
            </a:pPr>
            <a:r>
              <a:rPr lang="de-DE" sz="3000" b="1"/>
              <a:t>Technical Reports: </a:t>
            </a:r>
            <a:r>
              <a:rPr lang="de-DE" sz="3000"/>
              <a:t>scientific work produced by, for example the Government or NGO’s. They are not often peer reviewed (Swoger, 2014). </a:t>
            </a:r>
            <a:endParaRPr sz="3000"/>
          </a:p>
          <a:p>
            <a:pPr marL="685800" lvl="0" indent="-723900" algn="just" rtl="0">
              <a:lnSpc>
                <a:spcPct val="100000"/>
              </a:lnSpc>
              <a:spcBef>
                <a:spcPts val="1000"/>
              </a:spcBef>
              <a:spcAft>
                <a:spcPts val="0"/>
              </a:spcAft>
              <a:buSzPts val="3000"/>
              <a:buAutoNum type="arabicPeriod"/>
            </a:pPr>
            <a:r>
              <a:rPr lang="de-DE" sz="3000" b="1"/>
              <a:t>Grey literature: </a:t>
            </a:r>
            <a:r>
              <a:rPr lang="de-DE" sz="3000"/>
              <a:t>"information produced on all levels of government, academia, business and industry in electronic and print formats not controlled </a:t>
            </a:r>
            <a:endParaRPr sz="3000"/>
          </a:p>
          <a:p>
            <a:pPr marL="457200" lvl="0" indent="0" algn="just" rtl="0">
              <a:lnSpc>
                <a:spcPct val="100000"/>
              </a:lnSpc>
              <a:spcBef>
                <a:spcPts val="0"/>
              </a:spcBef>
              <a:spcAft>
                <a:spcPts val="0"/>
              </a:spcAft>
              <a:buNone/>
            </a:pPr>
            <a:r>
              <a:rPr lang="de-DE" sz="3000"/>
              <a:t>  by commercial publishing" ie. where publishing is not the primary activity </a:t>
            </a:r>
            <a:endParaRPr sz="3000"/>
          </a:p>
          <a:p>
            <a:pPr marL="457200" lvl="0" indent="0" algn="just" rtl="0">
              <a:lnSpc>
                <a:spcPct val="100000"/>
              </a:lnSpc>
              <a:spcBef>
                <a:spcPts val="0"/>
              </a:spcBef>
              <a:spcAft>
                <a:spcPts val="0"/>
              </a:spcAft>
              <a:buNone/>
            </a:pPr>
            <a:r>
              <a:rPr lang="de-DE" sz="3000"/>
              <a:t>  of the producing body." (ICGL Luxembourg definition, 1997).</a:t>
            </a:r>
            <a:endParaRPr sz="3000"/>
          </a:p>
          <a:p>
            <a:pPr marL="0" lvl="0" indent="0" algn="just"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de-DE" sz="2500" b="1"/>
              <a:t>Peer review</a:t>
            </a:r>
            <a:r>
              <a:rPr lang="de-DE" sz="2500"/>
              <a:t>: Process to assess validity, quality and originality of articles. </a:t>
            </a:r>
            <a:r>
              <a:rPr lang="de-DE" sz="2500" u="sng">
                <a:solidFill>
                  <a:srgbClr val="AD1F1F"/>
                </a:solidFill>
                <a:hlinkClick r:id="rId3">
                  <a:extLst>
                    <a:ext uri="{A12FA001-AC4F-418D-AE19-62706E023703}">
                      <ahyp:hlinkClr xmlns:ahyp="http://schemas.microsoft.com/office/drawing/2018/hyperlinkcolor" val="tx"/>
                    </a:ext>
                  </a:extLst>
                </a:hlinkClick>
              </a:rPr>
              <a:t>To know more.</a:t>
            </a:r>
            <a:endParaRPr sz="2500"/>
          </a:p>
          <a:p>
            <a:pPr marL="0" lvl="0" indent="0" algn="l" rtl="0">
              <a:lnSpc>
                <a:spcPct val="100000"/>
              </a:lnSpc>
              <a:spcBef>
                <a:spcPts val="0"/>
              </a:spcBef>
              <a:spcAft>
                <a:spcPts val="0"/>
              </a:spcAft>
              <a:buNone/>
            </a:pPr>
            <a:r>
              <a:rPr lang="de-DE" sz="2500"/>
              <a:t>For </a:t>
            </a:r>
            <a:r>
              <a:rPr lang="de-DE" sz="2500" b="1"/>
              <a:t>more examples</a:t>
            </a:r>
            <a:r>
              <a:rPr lang="de-DE" sz="2500"/>
              <a:t>: </a:t>
            </a:r>
            <a:r>
              <a:rPr lang="de-DE" sz="2500" u="sng">
                <a:solidFill>
                  <a:srgbClr val="AD1F1F"/>
                </a:solidFill>
                <a:hlinkClick r:id="rId4">
                  <a:extLst>
                    <a:ext uri="{A12FA001-AC4F-418D-AE19-62706E023703}">
                      <ahyp:hlinkClr xmlns:ahyp="http://schemas.microsoft.com/office/drawing/2018/hyperlinkcolor" val="tx"/>
                    </a:ext>
                  </a:extLst>
                </a:hlinkClick>
              </a:rPr>
              <a:t>The undergraduate science librarian</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6"/>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de-DE" b="1"/>
              <a:t>How to Look for Scientific Literature</a:t>
            </a:r>
            <a:endParaRPr b="1"/>
          </a:p>
        </p:txBody>
      </p:sp>
      <p:sp>
        <p:nvSpPr>
          <p:cNvPr id="193" name="Google Shape;193;p16"/>
          <p:cNvSpPr txBox="1">
            <a:spLocks noGrp="1"/>
          </p:cNvSpPr>
          <p:nvPr>
            <p:ph type="body" idx="1"/>
          </p:nvPr>
        </p:nvSpPr>
        <p:spPr>
          <a:xfrm>
            <a:off x="1944000" y="2738825"/>
            <a:ext cx="14400000" cy="7284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de-DE" sz="3100"/>
              <a:t>Always look for </a:t>
            </a:r>
            <a:r>
              <a:rPr lang="de-DE" sz="3100" b="1"/>
              <a:t>peer-reviewed</a:t>
            </a:r>
            <a:r>
              <a:rPr lang="de-DE" sz="3100"/>
              <a:t> articles or works that you can assess for validity and quality.</a:t>
            </a:r>
            <a:endParaRPr sz="3100"/>
          </a:p>
          <a:p>
            <a:pPr marL="0" lvl="0" indent="0" algn="l" rtl="0">
              <a:lnSpc>
                <a:spcPct val="100000"/>
              </a:lnSpc>
              <a:spcBef>
                <a:spcPts val="0"/>
              </a:spcBef>
              <a:spcAft>
                <a:spcPts val="0"/>
              </a:spcAft>
              <a:buNone/>
            </a:pPr>
            <a:r>
              <a:rPr lang="de-DE" sz="3100" i="1"/>
              <a:t>Most articles and databases will not indicate if the work is peer-reviewed or not. You will have to look for the information about the journal where it was published</a:t>
            </a:r>
            <a:endParaRPr sz="3100" i="1"/>
          </a:p>
          <a:p>
            <a:pPr marL="0" lvl="0" indent="0" algn="l" rtl="0">
              <a:lnSpc>
                <a:spcPct val="100000"/>
              </a:lnSpc>
              <a:spcBef>
                <a:spcPts val="0"/>
              </a:spcBef>
              <a:spcAft>
                <a:spcPts val="0"/>
              </a:spcAft>
              <a:buNone/>
            </a:pPr>
            <a:endParaRPr sz="3100" i="1"/>
          </a:p>
          <a:p>
            <a:pPr marL="0" lvl="0" indent="0" algn="l" rtl="0">
              <a:lnSpc>
                <a:spcPct val="100000"/>
              </a:lnSpc>
              <a:spcBef>
                <a:spcPts val="0"/>
              </a:spcBef>
              <a:spcAft>
                <a:spcPts val="0"/>
              </a:spcAft>
              <a:buNone/>
            </a:pPr>
            <a:r>
              <a:rPr lang="de-DE" sz="3100"/>
              <a:t>Make use of </a:t>
            </a:r>
            <a:r>
              <a:rPr lang="de-DE" sz="3100" b="1"/>
              <a:t>internet resources</a:t>
            </a:r>
            <a:r>
              <a:rPr lang="de-DE" sz="3100"/>
              <a:t> to look for sources.</a:t>
            </a:r>
            <a:endParaRPr sz="3100"/>
          </a:p>
          <a:p>
            <a:pPr marL="0" lvl="0" indent="0" algn="l" rtl="0">
              <a:lnSpc>
                <a:spcPct val="100000"/>
              </a:lnSpc>
              <a:spcBef>
                <a:spcPts val="0"/>
              </a:spcBef>
              <a:spcAft>
                <a:spcPts val="0"/>
              </a:spcAft>
              <a:buClr>
                <a:schemeClr val="dk1"/>
              </a:buClr>
              <a:buFont typeface="Arial"/>
              <a:buNone/>
            </a:pPr>
            <a:r>
              <a:rPr lang="de-DE" sz="3100" i="1"/>
              <a:t>Open Access Journal vs paid Journals: OA journals’ content can be accessed without subscription or payment. </a:t>
            </a:r>
            <a:endParaRPr sz="3100"/>
          </a:p>
          <a:p>
            <a:pPr marL="0" lvl="0" indent="0" algn="l" rtl="0">
              <a:lnSpc>
                <a:spcPct val="100000"/>
              </a:lnSpc>
              <a:spcBef>
                <a:spcPts val="0"/>
              </a:spcBef>
              <a:spcAft>
                <a:spcPts val="0"/>
              </a:spcAft>
              <a:buClr>
                <a:schemeClr val="dk1"/>
              </a:buClr>
              <a:buFont typeface="Arial"/>
              <a:buNone/>
            </a:pPr>
            <a:r>
              <a:rPr lang="de-DE" sz="3100" i="1"/>
              <a:t>For paid journals you can always check if Leuphana has a subscription or license for it. </a:t>
            </a:r>
            <a:endParaRPr sz="3100"/>
          </a:p>
          <a:p>
            <a:pPr marL="0" lvl="0" indent="0" algn="l" rtl="0">
              <a:lnSpc>
                <a:spcPct val="100000"/>
              </a:lnSpc>
              <a:spcBef>
                <a:spcPts val="0"/>
              </a:spcBef>
              <a:spcAft>
                <a:spcPts val="0"/>
              </a:spcAft>
              <a:buNone/>
            </a:pPr>
            <a:endParaRPr sz="3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Arial"/>
              <a:buNone/>
            </a:pPr>
            <a:r>
              <a:rPr lang="de-DE" b="1"/>
              <a:t>How to Look for Scientific Literature</a:t>
            </a:r>
            <a:endParaRPr b="1"/>
          </a:p>
          <a:p>
            <a:pPr marL="0" lvl="0" indent="0" algn="l" rtl="0">
              <a:spcBef>
                <a:spcPts val="0"/>
              </a:spcBef>
              <a:spcAft>
                <a:spcPts val="0"/>
              </a:spcAft>
              <a:buClr>
                <a:schemeClr val="dk1"/>
              </a:buClr>
              <a:buSzPct val="100000"/>
              <a:buFont typeface="Arial"/>
              <a:buNone/>
            </a:pPr>
            <a:r>
              <a:rPr lang="de-DE"/>
              <a:t>Journal Articles</a:t>
            </a:r>
            <a:endParaRPr/>
          </a:p>
        </p:txBody>
      </p:sp>
      <p:sp>
        <p:nvSpPr>
          <p:cNvPr id="200" name="Google Shape;200;p17"/>
          <p:cNvSpPr txBox="1">
            <a:spLocks noGrp="1"/>
          </p:cNvSpPr>
          <p:nvPr>
            <p:ph type="body" idx="1"/>
          </p:nvPr>
        </p:nvSpPr>
        <p:spPr>
          <a:xfrm>
            <a:off x="1944000" y="2738825"/>
            <a:ext cx="14400000" cy="7284600"/>
          </a:xfrm>
          <a:prstGeom prst="rect">
            <a:avLst/>
          </a:prstGeom>
          <a:noFill/>
          <a:ln>
            <a:noFill/>
          </a:ln>
        </p:spPr>
        <p:txBody>
          <a:bodyPr spcFirstLastPara="1" wrap="square" lIns="91425" tIns="45700" rIns="91425" bIns="45700" anchor="t" anchorCtr="0">
            <a:noAutofit/>
          </a:bodyPr>
          <a:lstStyle/>
          <a:p>
            <a:pPr marL="457200" lvl="0" indent="-419100" algn="l" rtl="0">
              <a:lnSpc>
                <a:spcPct val="100000"/>
              </a:lnSpc>
              <a:spcBef>
                <a:spcPts val="0"/>
              </a:spcBef>
              <a:spcAft>
                <a:spcPts val="0"/>
              </a:spcAft>
              <a:buSzPts val="3000"/>
              <a:buChar char="•"/>
            </a:pPr>
            <a:r>
              <a:rPr lang="de-DE" sz="3000"/>
              <a:t>Google Scholar </a:t>
            </a:r>
            <a:r>
              <a:rPr lang="de-DE" sz="3000" u="sng">
                <a:solidFill>
                  <a:srgbClr val="AD1F1F"/>
                </a:solidFill>
                <a:hlinkClick r:id="rId3">
                  <a:extLst>
                    <a:ext uri="{A12FA001-AC4F-418D-AE19-62706E023703}">
                      <ahyp:hlinkClr xmlns:ahyp="http://schemas.microsoft.com/office/drawing/2018/hyperlinkcolor" val="tx"/>
                    </a:ext>
                  </a:extLst>
                </a:hlinkClick>
              </a:rPr>
              <a:t>https://scholar.google.com/</a:t>
            </a:r>
            <a:endParaRPr sz="3000"/>
          </a:p>
          <a:p>
            <a:pPr marL="457200" lvl="0" indent="-419100" algn="l" rtl="0">
              <a:lnSpc>
                <a:spcPct val="100000"/>
              </a:lnSpc>
              <a:spcBef>
                <a:spcPts val="0"/>
              </a:spcBef>
              <a:spcAft>
                <a:spcPts val="0"/>
              </a:spcAft>
              <a:buSzPts val="3000"/>
              <a:buChar char="•"/>
            </a:pPr>
            <a:r>
              <a:rPr lang="de-DE" sz="3000"/>
              <a:t>JStor  </a:t>
            </a:r>
            <a:r>
              <a:rPr lang="de-DE" sz="3000" u="sng">
                <a:solidFill>
                  <a:srgbClr val="AD1F1F"/>
                </a:solidFill>
                <a:hlinkClick r:id="rId4">
                  <a:extLst>
                    <a:ext uri="{A12FA001-AC4F-418D-AE19-62706E023703}">
                      <ahyp:hlinkClr xmlns:ahyp="http://schemas.microsoft.com/office/drawing/2018/hyperlinkcolor" val="tx"/>
                    </a:ext>
                  </a:extLst>
                </a:hlinkClick>
              </a:rPr>
              <a:t>https://www.jstor.org/</a:t>
            </a:r>
            <a:endParaRPr sz="3000"/>
          </a:p>
          <a:p>
            <a:pPr marL="457200" lvl="0" indent="-419100" algn="l" rtl="0">
              <a:lnSpc>
                <a:spcPct val="100000"/>
              </a:lnSpc>
              <a:spcBef>
                <a:spcPts val="0"/>
              </a:spcBef>
              <a:spcAft>
                <a:spcPts val="0"/>
              </a:spcAft>
              <a:buSzPts val="3000"/>
              <a:buChar char="•"/>
            </a:pPr>
            <a:r>
              <a:rPr lang="de-DE" sz="3000"/>
              <a:t>Core </a:t>
            </a:r>
            <a:r>
              <a:rPr lang="de-DE" sz="3000" u="sng">
                <a:solidFill>
                  <a:srgbClr val="AD1F1F"/>
                </a:solidFill>
                <a:hlinkClick r:id="rId5">
                  <a:extLst>
                    <a:ext uri="{A12FA001-AC4F-418D-AE19-62706E023703}">
                      <ahyp:hlinkClr xmlns:ahyp="http://schemas.microsoft.com/office/drawing/2018/hyperlinkcolor" val="tx"/>
                    </a:ext>
                  </a:extLst>
                </a:hlinkClick>
              </a:rPr>
              <a:t>https://core.ac.uk/</a:t>
            </a:r>
            <a:endParaRPr sz="3000"/>
          </a:p>
          <a:p>
            <a:pPr marL="457200" lvl="0" indent="-419100" algn="l" rtl="0">
              <a:lnSpc>
                <a:spcPct val="100000"/>
              </a:lnSpc>
              <a:spcBef>
                <a:spcPts val="0"/>
              </a:spcBef>
              <a:spcAft>
                <a:spcPts val="0"/>
              </a:spcAft>
              <a:buSzPts val="3000"/>
              <a:buChar char="•"/>
            </a:pPr>
            <a:r>
              <a:rPr lang="de-DE" sz="3000"/>
              <a:t>ScienceOpen </a:t>
            </a:r>
            <a:r>
              <a:rPr lang="de-DE" sz="3000" u="sng">
                <a:solidFill>
                  <a:srgbClr val="AD1F1F"/>
                </a:solidFill>
                <a:hlinkClick r:id="rId6">
                  <a:extLst>
                    <a:ext uri="{A12FA001-AC4F-418D-AE19-62706E023703}">
                      <ahyp:hlinkClr xmlns:ahyp="http://schemas.microsoft.com/office/drawing/2018/hyperlinkcolor" val="tx"/>
                    </a:ext>
                  </a:extLst>
                </a:hlinkClick>
              </a:rPr>
              <a:t>https://www.scienceopen.com/</a:t>
            </a:r>
            <a:endParaRPr sz="3000"/>
          </a:p>
          <a:p>
            <a:pPr marL="457200" lvl="0" indent="-419100" algn="l" rtl="0">
              <a:lnSpc>
                <a:spcPct val="100000"/>
              </a:lnSpc>
              <a:spcBef>
                <a:spcPts val="0"/>
              </a:spcBef>
              <a:spcAft>
                <a:spcPts val="0"/>
              </a:spcAft>
              <a:buSzPts val="3000"/>
              <a:buChar char="•"/>
            </a:pPr>
            <a:r>
              <a:rPr lang="de-DE" sz="3000"/>
              <a:t>DOAJ </a:t>
            </a:r>
            <a:r>
              <a:rPr lang="de-DE" sz="3000" u="sng">
                <a:solidFill>
                  <a:srgbClr val="AD1F1F"/>
                </a:solidFill>
                <a:hlinkClick r:id="rId7">
                  <a:extLst>
                    <a:ext uri="{A12FA001-AC4F-418D-AE19-62706E023703}">
                      <ahyp:hlinkClr xmlns:ahyp="http://schemas.microsoft.com/office/drawing/2018/hyperlinkcolor" val="tx"/>
                    </a:ext>
                  </a:extLst>
                </a:hlinkClick>
              </a:rPr>
              <a:t>https://doaj.org/</a:t>
            </a:r>
            <a:endParaRPr sz="3000"/>
          </a:p>
          <a:p>
            <a:pPr marL="457200" lvl="0" indent="-419100" algn="l" rtl="0">
              <a:lnSpc>
                <a:spcPct val="100000"/>
              </a:lnSpc>
              <a:spcBef>
                <a:spcPts val="0"/>
              </a:spcBef>
              <a:spcAft>
                <a:spcPts val="0"/>
              </a:spcAft>
              <a:buSzPts val="3000"/>
              <a:buChar char="•"/>
            </a:pPr>
            <a:r>
              <a:rPr lang="de-DE" sz="3000"/>
              <a:t>SSRN </a:t>
            </a:r>
            <a:r>
              <a:rPr lang="de-DE" sz="3000" u="sng">
                <a:solidFill>
                  <a:srgbClr val="AD1F1F"/>
                </a:solidFill>
                <a:hlinkClick r:id="rId8">
                  <a:extLst>
                    <a:ext uri="{A12FA001-AC4F-418D-AE19-62706E023703}">
                      <ahyp:hlinkClr xmlns:ahyp="http://schemas.microsoft.com/office/drawing/2018/hyperlinkcolor" val="tx"/>
                    </a:ext>
                  </a:extLst>
                </a:hlinkClick>
              </a:rPr>
              <a:t>https://www.ssrn.com/index.cfm/en/</a:t>
            </a:r>
            <a:endParaRPr sz="3000"/>
          </a:p>
          <a:p>
            <a:pPr marL="457200" lvl="0" indent="-419100" algn="l" rtl="0">
              <a:lnSpc>
                <a:spcPct val="100000"/>
              </a:lnSpc>
              <a:spcBef>
                <a:spcPts val="0"/>
              </a:spcBef>
              <a:spcAft>
                <a:spcPts val="0"/>
              </a:spcAft>
              <a:buSzPts val="3000"/>
              <a:buChar char="•"/>
            </a:pPr>
            <a:r>
              <a:rPr lang="de-DE" sz="3000"/>
              <a:t>Academia </a:t>
            </a:r>
            <a:r>
              <a:rPr lang="de-DE" sz="3000" u="sng">
                <a:solidFill>
                  <a:srgbClr val="AD1F1F"/>
                </a:solidFill>
                <a:hlinkClick r:id="rId9">
                  <a:extLst>
                    <a:ext uri="{A12FA001-AC4F-418D-AE19-62706E023703}">
                      <ahyp:hlinkClr xmlns:ahyp="http://schemas.microsoft.com/office/drawing/2018/hyperlinkcolor" val="tx"/>
                    </a:ext>
                  </a:extLst>
                </a:hlinkClick>
              </a:rPr>
              <a:t>https://www.academia.edu/</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Clr>
                <a:schemeClr val="dk1"/>
              </a:buClr>
              <a:buFont typeface="Arial"/>
              <a:buNone/>
            </a:pPr>
            <a:r>
              <a:rPr lang="de-DE" sz="3000"/>
              <a:t>For more databases: </a:t>
            </a:r>
            <a:r>
              <a:rPr lang="de-DE" sz="3000" u="sng">
                <a:solidFill>
                  <a:srgbClr val="AD1F1F"/>
                </a:solidFill>
                <a:hlinkClick r:id="rId10">
                  <a:extLst>
                    <a:ext uri="{A12FA001-AC4F-418D-AE19-62706E023703}">
                      <ahyp:hlinkClr xmlns:ahyp="http://schemas.microsoft.com/office/drawing/2018/hyperlinkcolor" val="tx"/>
                    </a:ext>
                  </a:extLst>
                </a:hlinkClick>
              </a:rPr>
              <a:t>Scribendi.com</a:t>
            </a:r>
            <a:endParaRPr sz="3000">
              <a:solidFill>
                <a:srgbClr val="7C0E31"/>
              </a:solidFill>
            </a:endParaRPr>
          </a:p>
          <a:p>
            <a:pPr marL="0" lvl="0" indent="0" algn="l" rtl="0">
              <a:lnSpc>
                <a:spcPct val="100000"/>
              </a:lnSpc>
              <a:spcBef>
                <a:spcPts val="0"/>
              </a:spcBef>
              <a:spcAft>
                <a:spcPts val="0"/>
              </a:spcAft>
              <a:buClr>
                <a:schemeClr val="dk1"/>
              </a:buClr>
              <a:buFont typeface="Arial"/>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8"/>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Arial"/>
              <a:buNone/>
            </a:pPr>
            <a:r>
              <a:rPr lang="de-DE" b="1"/>
              <a:t>How to Look for Scientific Literature</a:t>
            </a:r>
            <a:endParaRPr b="1"/>
          </a:p>
          <a:p>
            <a:pPr marL="0" lvl="0" indent="0" algn="l" rtl="0">
              <a:spcBef>
                <a:spcPts val="0"/>
              </a:spcBef>
              <a:spcAft>
                <a:spcPts val="0"/>
              </a:spcAft>
              <a:buClr>
                <a:schemeClr val="dk1"/>
              </a:buClr>
              <a:buSzPct val="100000"/>
              <a:buFont typeface="Arial"/>
              <a:buNone/>
            </a:pPr>
            <a:r>
              <a:rPr lang="de-DE"/>
              <a:t>University Ressources</a:t>
            </a:r>
            <a:endParaRPr/>
          </a:p>
        </p:txBody>
      </p:sp>
      <p:sp>
        <p:nvSpPr>
          <p:cNvPr id="207" name="Google Shape;207;p18"/>
          <p:cNvSpPr txBox="1">
            <a:spLocks noGrp="1"/>
          </p:cNvSpPr>
          <p:nvPr>
            <p:ph type="body" idx="1"/>
          </p:nvPr>
        </p:nvSpPr>
        <p:spPr>
          <a:xfrm>
            <a:off x="1944000" y="2738825"/>
            <a:ext cx="14400000" cy="7284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Font typeface="Arial"/>
              <a:buNone/>
            </a:pPr>
            <a:r>
              <a:rPr lang="de-DE" sz="3000" b="1">
                <a:solidFill>
                  <a:srgbClr val="7C0E31"/>
                </a:solidFill>
              </a:rPr>
              <a:t>LUX</a:t>
            </a:r>
            <a:r>
              <a:rPr lang="de-DE" sz="3000"/>
              <a:t> is the library's search engine. You can find all print and electronic titles, search within journals and e-books on article level, or access your library account.</a:t>
            </a:r>
            <a:endParaRPr sz="3000"/>
          </a:p>
          <a:p>
            <a:pPr marL="0" lvl="0" indent="0" algn="l" rtl="0">
              <a:lnSpc>
                <a:spcPct val="100000"/>
              </a:lnSpc>
              <a:spcBef>
                <a:spcPts val="0"/>
              </a:spcBef>
              <a:spcAft>
                <a:spcPts val="0"/>
              </a:spcAft>
              <a:buClr>
                <a:schemeClr val="dk1"/>
              </a:buClr>
              <a:buFont typeface="Arial"/>
              <a:buNone/>
            </a:pPr>
            <a:endParaRPr sz="3000"/>
          </a:p>
          <a:p>
            <a:pPr marL="0" lvl="0" indent="0" algn="l" rtl="0">
              <a:lnSpc>
                <a:spcPct val="100000"/>
              </a:lnSpc>
              <a:spcBef>
                <a:spcPts val="0"/>
              </a:spcBef>
              <a:spcAft>
                <a:spcPts val="0"/>
              </a:spcAft>
              <a:buClr>
                <a:schemeClr val="dk1"/>
              </a:buClr>
              <a:buFont typeface="Arial"/>
              <a:buNone/>
            </a:pPr>
            <a:r>
              <a:rPr lang="de-DE" sz="3000" b="1">
                <a:solidFill>
                  <a:srgbClr val="7C0E31"/>
                </a:solidFill>
              </a:rPr>
              <a:t>Library Catalogue </a:t>
            </a:r>
            <a:r>
              <a:rPr lang="de-DE" sz="3000"/>
              <a:t>as an alternative to LUX to find books and journals, place holds, or access your library account.</a:t>
            </a:r>
            <a:endParaRPr sz="3000"/>
          </a:p>
          <a:p>
            <a:pPr marL="0" lvl="0" indent="0" algn="l" rtl="0">
              <a:lnSpc>
                <a:spcPct val="100000"/>
              </a:lnSpc>
              <a:spcBef>
                <a:spcPts val="0"/>
              </a:spcBef>
              <a:spcAft>
                <a:spcPts val="0"/>
              </a:spcAft>
              <a:buClr>
                <a:schemeClr val="dk1"/>
              </a:buClr>
              <a:buFont typeface="Arial"/>
              <a:buNone/>
            </a:pPr>
            <a:endParaRPr sz="3000"/>
          </a:p>
          <a:p>
            <a:pPr marL="0" lvl="0" indent="0" algn="l" rtl="0">
              <a:lnSpc>
                <a:spcPct val="100000"/>
              </a:lnSpc>
              <a:spcBef>
                <a:spcPts val="0"/>
              </a:spcBef>
              <a:spcAft>
                <a:spcPts val="0"/>
              </a:spcAft>
              <a:buClr>
                <a:schemeClr val="dk1"/>
              </a:buClr>
              <a:buFont typeface="Arial"/>
              <a:buNone/>
            </a:pPr>
            <a:r>
              <a:rPr lang="de-DE" sz="3000" b="1">
                <a:solidFill>
                  <a:srgbClr val="7C0E31"/>
                </a:solidFill>
              </a:rPr>
              <a:t>Digital Library </a:t>
            </a:r>
            <a:r>
              <a:rPr lang="de-DE" sz="3000"/>
              <a:t>is used to do in-depth searching for bibliographic information. </a:t>
            </a:r>
            <a:endParaRPr sz="3000"/>
          </a:p>
          <a:p>
            <a:pPr marL="0" lvl="0" indent="0" algn="l" rtl="0">
              <a:lnSpc>
                <a:spcPct val="100000"/>
              </a:lnSpc>
              <a:spcBef>
                <a:spcPts val="0"/>
              </a:spcBef>
              <a:spcAft>
                <a:spcPts val="0"/>
              </a:spcAft>
              <a:buClr>
                <a:schemeClr val="dk1"/>
              </a:buClr>
              <a:buFont typeface="Arial"/>
              <a:buNone/>
            </a:pPr>
            <a:endParaRPr sz="3000"/>
          </a:p>
          <a:p>
            <a:pPr marL="0" lvl="0" indent="0" algn="l" rtl="0">
              <a:lnSpc>
                <a:spcPct val="100000"/>
              </a:lnSpc>
              <a:spcBef>
                <a:spcPts val="0"/>
              </a:spcBef>
              <a:spcAft>
                <a:spcPts val="0"/>
              </a:spcAft>
              <a:buClr>
                <a:schemeClr val="dk1"/>
              </a:buClr>
              <a:buFont typeface="Arial"/>
              <a:buNone/>
            </a:pPr>
            <a:r>
              <a:rPr lang="de-DE" sz="3000" u="sng">
                <a:solidFill>
                  <a:srgbClr val="AD1F1F"/>
                </a:solidFill>
                <a:hlinkClick r:id="rId3">
                  <a:extLst>
                    <a:ext uri="{A12FA001-AC4F-418D-AE19-62706E023703}">
                      <ahyp:hlinkClr xmlns:ahyp="http://schemas.microsoft.com/office/drawing/2018/hyperlinkcolor" val="tx"/>
                    </a:ext>
                  </a:extLst>
                </a:hlinkClick>
              </a:rPr>
              <a:t>https://www.leuphana.de/en/services/miz/searching-for-literature.html</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de-DE" sz="3000" b="1"/>
              <a:t>Other library catalogues</a:t>
            </a:r>
            <a:endParaRPr sz="3000"/>
          </a:p>
          <a:p>
            <a:pPr marL="0" lvl="0" indent="0" algn="l" rtl="0">
              <a:lnSpc>
                <a:spcPct val="100000"/>
              </a:lnSpc>
              <a:spcBef>
                <a:spcPts val="0"/>
              </a:spcBef>
              <a:spcAft>
                <a:spcPts val="0"/>
              </a:spcAft>
              <a:buNone/>
            </a:pPr>
            <a:r>
              <a:rPr lang="de-DE" sz="3000" b="1" u="sng">
                <a:solidFill>
                  <a:srgbClr val="AD1F1F"/>
                </a:solidFill>
                <a:hlinkClick r:id="rId4">
                  <a:extLst>
                    <a:ext uri="{A12FA001-AC4F-418D-AE19-62706E023703}">
                      <ahyp:hlinkClr xmlns:ahyp="http://schemas.microsoft.com/office/drawing/2018/hyperlinkcolor" val="tx"/>
                    </a:ext>
                  </a:extLst>
                </a:hlinkClick>
              </a:rPr>
              <a:t>GVK</a:t>
            </a:r>
            <a:r>
              <a:rPr lang="de-DE" sz="3000"/>
              <a:t> - Common Library Network, with interlibrary loan functionality.</a:t>
            </a:r>
            <a:endParaRPr sz="3000"/>
          </a:p>
          <a:p>
            <a:pPr marL="0" lvl="0" indent="0" algn="l" rtl="0">
              <a:lnSpc>
                <a:spcPct val="100000"/>
              </a:lnSpc>
              <a:spcBef>
                <a:spcPts val="0"/>
              </a:spcBef>
              <a:spcAft>
                <a:spcPts val="0"/>
              </a:spcAft>
              <a:buNone/>
            </a:pPr>
            <a:endParaRPr sz="3000" b="1"/>
          </a:p>
          <a:p>
            <a:pPr marL="0" lvl="0" indent="0" algn="l" rtl="0">
              <a:lnSpc>
                <a:spcPct val="100000"/>
              </a:lnSpc>
              <a:spcBef>
                <a:spcPts val="0"/>
              </a:spcBef>
              <a:spcAft>
                <a:spcPts val="0"/>
              </a:spcAft>
              <a:buNone/>
            </a:pPr>
            <a:r>
              <a:rPr lang="de-DE" sz="3000" b="1" u="sng">
                <a:solidFill>
                  <a:srgbClr val="AD1F1F"/>
                </a:solidFill>
                <a:hlinkClick r:id="rId5">
                  <a:extLst>
                    <a:ext uri="{A12FA001-AC4F-418D-AE19-62706E023703}">
                      <ahyp:hlinkClr xmlns:ahyp="http://schemas.microsoft.com/office/drawing/2018/hyperlinkcolor" val="tx"/>
                    </a:ext>
                  </a:extLst>
                </a:hlinkClick>
              </a:rPr>
              <a:t>Karlsruhe Virtual Catalogue- </a:t>
            </a:r>
            <a:r>
              <a:rPr lang="de-DE" sz="3000"/>
              <a:t>lets you search simultaneously in various library catalogues on both a national or international level.</a:t>
            </a:r>
            <a:endParaRPr sz="3000"/>
          </a:p>
          <a:p>
            <a:pPr marL="0" lvl="0" indent="0" algn="l" rtl="0">
              <a:lnSpc>
                <a:spcPct val="100000"/>
              </a:lnSpc>
              <a:spcBef>
                <a:spcPts val="0"/>
              </a:spcBef>
              <a:spcAft>
                <a:spcPts val="0"/>
              </a:spcAft>
              <a:buClr>
                <a:schemeClr val="dk1"/>
              </a:buClr>
              <a:buFont typeface="Arial"/>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9"/>
          <p:cNvSpPr txBox="1">
            <a:spLocks noGrp="1"/>
          </p:cNvSpPr>
          <p:nvPr>
            <p:ph type="title"/>
          </p:nvPr>
        </p:nvSpPr>
        <p:spPr>
          <a:xfrm>
            <a:off x="1944000" y="1301860"/>
            <a:ext cx="14400000" cy="1260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Arial"/>
              <a:buNone/>
            </a:pPr>
            <a:r>
              <a:rPr lang="de-DE" b="1"/>
              <a:t>How to Look for Scientific Literature</a:t>
            </a:r>
            <a:endParaRPr b="1"/>
          </a:p>
          <a:p>
            <a:pPr marL="0" lvl="0" indent="0" algn="l" rtl="0">
              <a:spcBef>
                <a:spcPts val="0"/>
              </a:spcBef>
              <a:spcAft>
                <a:spcPts val="0"/>
              </a:spcAft>
              <a:buClr>
                <a:schemeClr val="dk1"/>
              </a:buClr>
              <a:buSzPct val="100000"/>
              <a:buFont typeface="Arial"/>
              <a:buNone/>
            </a:pPr>
            <a:r>
              <a:rPr lang="de-DE"/>
              <a:t>Google Scholar</a:t>
            </a:r>
            <a:endParaRPr/>
          </a:p>
        </p:txBody>
      </p:sp>
      <p:sp>
        <p:nvSpPr>
          <p:cNvPr id="214" name="Google Shape;214;p19"/>
          <p:cNvSpPr txBox="1">
            <a:spLocks noGrp="1"/>
          </p:cNvSpPr>
          <p:nvPr>
            <p:ph type="body" idx="1"/>
          </p:nvPr>
        </p:nvSpPr>
        <p:spPr>
          <a:xfrm>
            <a:off x="1944000" y="2738825"/>
            <a:ext cx="14400000" cy="7284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Font typeface="Arial"/>
              <a:buNone/>
            </a:pPr>
            <a:r>
              <a:rPr lang="de-DE" sz="3000" b="1"/>
              <a:t>Use keywords instead of full sentences </a:t>
            </a:r>
            <a:endParaRPr sz="3000" b="1"/>
          </a:p>
          <a:p>
            <a:pPr marL="0" lvl="0" indent="0" algn="l" rtl="0">
              <a:lnSpc>
                <a:spcPct val="100000"/>
              </a:lnSpc>
              <a:spcBef>
                <a:spcPts val="0"/>
              </a:spcBef>
              <a:spcAft>
                <a:spcPts val="0"/>
              </a:spcAft>
              <a:buNone/>
            </a:pPr>
            <a:r>
              <a:rPr lang="de-DE" sz="3000"/>
              <a:t>Build lists of keywords and perform searches with them. When you start typing in the search field you will see related queries suggested by the tool.</a:t>
            </a:r>
            <a:endParaRPr sz="3000"/>
          </a:p>
          <a:p>
            <a:pPr marL="0" lvl="0" indent="0" algn="l" rtl="0">
              <a:lnSpc>
                <a:spcPct val="100000"/>
              </a:lnSpc>
              <a:spcBef>
                <a:spcPts val="0"/>
              </a:spcBef>
              <a:spcAft>
                <a:spcPts val="0"/>
              </a:spcAft>
              <a:buNone/>
            </a:pPr>
            <a:r>
              <a:rPr lang="de-DE" sz="3000" b="1"/>
              <a:t>Use quotes for exact match</a:t>
            </a:r>
            <a:endParaRPr sz="3000" b="1"/>
          </a:p>
          <a:p>
            <a:pPr marL="0" lvl="0" indent="0" algn="l" rtl="0">
              <a:lnSpc>
                <a:spcPct val="100000"/>
              </a:lnSpc>
              <a:spcBef>
                <a:spcPts val="0"/>
              </a:spcBef>
              <a:spcAft>
                <a:spcPts val="0"/>
              </a:spcAft>
              <a:buNone/>
            </a:pPr>
            <a:r>
              <a:rPr lang="de-DE" sz="3000"/>
              <a:t>By setting your phrase into quotes you can search for exact matches of that phrase in the title and the body text of the document.</a:t>
            </a:r>
            <a:endParaRPr sz="3000"/>
          </a:p>
          <a:p>
            <a:pPr marL="0" lvl="0" indent="0" algn="l" rtl="0">
              <a:lnSpc>
                <a:spcPct val="100000"/>
              </a:lnSpc>
              <a:spcBef>
                <a:spcPts val="0"/>
              </a:spcBef>
              <a:spcAft>
                <a:spcPts val="0"/>
              </a:spcAft>
              <a:buNone/>
            </a:pPr>
            <a:r>
              <a:rPr lang="de-DE" sz="3000" b="1"/>
              <a:t>Use Boolean operators</a:t>
            </a:r>
            <a:endParaRPr sz="3000" b="1"/>
          </a:p>
          <a:p>
            <a:pPr marL="0" lvl="0" indent="0" algn="l" rtl="0">
              <a:lnSpc>
                <a:spcPct val="100000"/>
              </a:lnSpc>
              <a:spcBef>
                <a:spcPts val="0"/>
              </a:spcBef>
              <a:spcAft>
                <a:spcPts val="0"/>
              </a:spcAft>
              <a:buNone/>
            </a:pPr>
            <a:r>
              <a:rPr lang="de-DE" sz="3000" b="1"/>
              <a:t>AND - </a:t>
            </a:r>
            <a:r>
              <a:rPr lang="de-DE" sz="3000"/>
              <a:t>requires both of the words or phrases on either side to be somewhere in the record.</a:t>
            </a:r>
            <a:endParaRPr sz="3000"/>
          </a:p>
          <a:p>
            <a:pPr marL="0" lvl="0" indent="0" algn="l" rtl="0">
              <a:lnSpc>
                <a:spcPct val="100000"/>
              </a:lnSpc>
              <a:spcBef>
                <a:spcPts val="0"/>
              </a:spcBef>
              <a:spcAft>
                <a:spcPts val="0"/>
              </a:spcAft>
              <a:buNone/>
            </a:pPr>
            <a:r>
              <a:rPr lang="de-DE" sz="3000" b="1"/>
              <a:t>OR - </a:t>
            </a:r>
            <a:r>
              <a:rPr lang="de-DE" sz="3000"/>
              <a:t>will give equal weight to results which match just one of the words or phrases on either side.</a:t>
            </a:r>
            <a:endParaRPr sz="3000"/>
          </a:p>
          <a:p>
            <a:pPr marL="0" lvl="0" indent="0" algn="l" rtl="0">
              <a:lnSpc>
                <a:spcPct val="100000"/>
              </a:lnSpc>
              <a:spcBef>
                <a:spcPts val="0"/>
              </a:spcBef>
              <a:spcAft>
                <a:spcPts val="0"/>
              </a:spcAft>
              <a:buNone/>
            </a:pPr>
            <a:r>
              <a:rPr lang="de-DE" sz="3000" b="1"/>
              <a:t>NOT - </a:t>
            </a:r>
            <a:r>
              <a:rPr lang="de-DE" sz="3000"/>
              <a:t>can be placed in front of a word or phrases to exclude results which include them.</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de-DE" sz="2000" b="1"/>
              <a:t>For more on Boolean Operators</a:t>
            </a:r>
            <a:endParaRPr sz="2000" b="1"/>
          </a:p>
          <a:p>
            <a:pPr marL="0" lvl="0" indent="0" algn="l" rtl="0">
              <a:lnSpc>
                <a:spcPct val="100000"/>
              </a:lnSpc>
              <a:spcBef>
                <a:spcPts val="0"/>
              </a:spcBef>
              <a:spcAft>
                <a:spcPts val="0"/>
              </a:spcAft>
              <a:buNone/>
            </a:pPr>
            <a:r>
              <a:rPr lang="de-DE" sz="2000" b="1" u="sng">
                <a:solidFill>
                  <a:srgbClr val="AD1F1F"/>
                </a:solidFill>
                <a:hlinkClick r:id="rId3">
                  <a:extLst>
                    <a:ext uri="{A12FA001-AC4F-418D-AE19-62706E023703}">
                      <ahyp:hlinkClr xmlns:ahyp="http://schemas.microsoft.com/office/drawing/2018/hyperlinkcolor" val="tx"/>
                    </a:ext>
                  </a:extLst>
                </a:hlinkClick>
              </a:rPr>
              <a:t>https://southern.libguides.com/google/boolean</a:t>
            </a:r>
            <a:endParaRPr sz="2000" b="1"/>
          </a:p>
          <a:p>
            <a:pPr marL="0" lvl="0" indent="0" algn="l" rtl="0">
              <a:lnSpc>
                <a:spcPct val="100000"/>
              </a:lnSpc>
              <a:spcBef>
                <a:spcPts val="0"/>
              </a:spcBef>
              <a:spcAft>
                <a:spcPts val="0"/>
              </a:spcAft>
              <a:buNone/>
            </a:pPr>
            <a:r>
              <a:rPr lang="de-DE" sz="2000" b="1" u="sng">
                <a:solidFill>
                  <a:srgbClr val="AD1F1F"/>
                </a:solidFill>
                <a:hlinkClick r:id="rId4">
                  <a:extLst>
                    <a:ext uri="{A12FA001-AC4F-418D-AE19-62706E023703}">
                      <ahyp:hlinkClr xmlns:ahyp="http://schemas.microsoft.com/office/drawing/2018/hyperlinkcolor" val="tx"/>
                    </a:ext>
                  </a:extLst>
                </a:hlinkClick>
              </a:rPr>
              <a:t>https://www.youtube.com/watch?v=u0KVJ0lj8rw&amp;t=52s</a:t>
            </a:r>
            <a:endParaRPr sz="2000" b="1"/>
          </a:p>
          <a:p>
            <a:pPr marL="0" lvl="0" indent="0" algn="l" rtl="0">
              <a:lnSpc>
                <a:spcPct val="100000"/>
              </a:lnSpc>
              <a:spcBef>
                <a:spcPts val="0"/>
              </a:spcBef>
              <a:spcAft>
                <a:spcPts val="0"/>
              </a:spcAft>
              <a:buNone/>
            </a:pPr>
            <a:endParaRPr sz="3000" b="1"/>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Clr>
                <a:schemeClr val="dk1"/>
              </a:buClr>
              <a:buFont typeface="Arial"/>
              <a:buNone/>
            </a:pPr>
            <a:endParaRPr sz="3000"/>
          </a:p>
          <a:p>
            <a:pPr marL="0" lvl="0" indent="0" algn="l" rtl="0">
              <a:lnSpc>
                <a:spcPct val="100000"/>
              </a:lnSpc>
              <a:spcBef>
                <a:spcPts val="0"/>
              </a:spcBef>
              <a:spcAft>
                <a:spcPts val="0"/>
              </a:spcAft>
              <a:buNone/>
            </a:pPr>
            <a:endParaRPr sz="3000" b="1">
              <a:solidFill>
                <a:srgbClr val="7C0E31"/>
              </a:solidFill>
            </a:endParaRPr>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8AC1D0-17A9-4DDF-8A21-4AAC507479D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22015D1-9067-4690-9662-CDD75EFBAB95}">
  <ds:schemaRefs>
    <ds:schemaRef ds:uri="http://schemas.microsoft.com/sharepoint/v3/contenttype/forms"/>
  </ds:schemaRefs>
</ds:datastoreItem>
</file>

<file path=customXml/itemProps3.xml><?xml version="1.0" encoding="utf-8"?>
<ds:datastoreItem xmlns:ds="http://schemas.openxmlformats.org/officeDocument/2006/customXml" ds:itemID="{AD5ACAB4-7E7F-4C35-86C8-5BC6B9BEB4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1493</Words>
  <Application>Microsoft Office PowerPoint</Application>
  <PresentationFormat>Benutzerdefiniert</PresentationFormat>
  <Paragraphs>153</Paragraphs>
  <Slides>9</Slides>
  <Notes>9</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9</vt:i4>
      </vt:variant>
    </vt:vector>
  </HeadingPairs>
  <TitlesOfParts>
    <vt:vector size="12" baseType="lpstr">
      <vt:lpstr>Arial</vt:lpstr>
      <vt:lpstr>Arial Narrow</vt:lpstr>
      <vt:lpstr>Benutzerdefiniertes Design</vt:lpstr>
      <vt:lpstr>Scientific Literature</vt:lpstr>
      <vt:lpstr>What is Academic Literature?</vt:lpstr>
      <vt:lpstr>Types of Scientific Literature</vt:lpstr>
      <vt:lpstr>Types of Scientific Literature</vt:lpstr>
      <vt:lpstr>Types of Scientific Literature</vt:lpstr>
      <vt:lpstr>How to Look for Scientific Literature</vt:lpstr>
      <vt:lpstr>How to Look for Scientific Literature Journal Articles</vt:lpstr>
      <vt:lpstr>How to Look for Scientific Literature University Ressources</vt:lpstr>
      <vt:lpstr>How to Look for Scientific Literature Google Scholar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Felix Soltau</cp:lastModifiedBy>
  <cp:revision>1</cp:revision>
  <dcterms:modified xsi:type="dcterms:W3CDTF">2026-06-22T20:37:16Z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