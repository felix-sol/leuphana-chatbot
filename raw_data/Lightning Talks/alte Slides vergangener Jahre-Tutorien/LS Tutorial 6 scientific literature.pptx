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10287000" cx="18288000"/>
  <p:notesSz cx="6858000" cy="9144000"/>
  <p:embeddedFontLst>
    <p:embeddedFont>
      <p:font typeface="Arial Narrow"/>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customXml" Target="../customXml/item1.xml"/><Relationship Id="rId21" Type="http://schemas.openxmlformats.org/officeDocument/2006/relationships/slide" Target="slides/slide16.xml"/><Relationship Id="rId3" Type="http://schemas.openxmlformats.org/officeDocument/2006/relationships/presProps" Target="presProps.xml"/><Relationship Id="rId25" Type="http://schemas.openxmlformats.org/officeDocument/2006/relationships/font" Target="fonts/ArialNarrow-boldItalic.fntdata"/><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0" Type="http://schemas.openxmlformats.org/officeDocument/2006/relationships/slide" Target="slides/slide15.xml"/><Relationship Id="rId2" Type="http://schemas.openxmlformats.org/officeDocument/2006/relationships/viewProps" Target="viewProps.xml"/><Relationship Id="rId16" Type="http://schemas.openxmlformats.org/officeDocument/2006/relationships/slide" Target="slides/slide11.xml"/><Relationship Id="rId24" Type="http://schemas.openxmlformats.org/officeDocument/2006/relationships/font" Target="fonts/ArialNarrow-italic.fntdata"/><Relationship Id="rId1" Type="http://schemas.openxmlformats.org/officeDocument/2006/relationships/theme" Target="theme/theme1.xml"/><Relationship Id="rId6" Type="http://schemas.openxmlformats.org/officeDocument/2006/relationships/slide" Target="slides/slide1.xml"/><Relationship Id="rId11" Type="http://schemas.openxmlformats.org/officeDocument/2006/relationships/slide" Target="slides/slide6.xml"/><Relationship Id="rId23" Type="http://schemas.openxmlformats.org/officeDocument/2006/relationships/font" Target="fonts/ArialNarrow-bold.fntdata"/><Relationship Id="rId5" Type="http://schemas.openxmlformats.org/officeDocument/2006/relationships/notesMaster" Target="notesMasters/notesMaster1.xml"/><Relationship Id="rId15" Type="http://schemas.openxmlformats.org/officeDocument/2006/relationships/slide" Target="slides/slide10.xml"/><Relationship Id="rId28" Type="http://schemas.openxmlformats.org/officeDocument/2006/relationships/customXml" Target="../customXml/item3.xml"/><Relationship Id="rId10" Type="http://schemas.openxmlformats.org/officeDocument/2006/relationships/slide" Target="slides/slide5.xml"/><Relationship Id="rId19" Type="http://schemas.openxmlformats.org/officeDocument/2006/relationships/slide" Target="slides/slide14.xml"/><Relationship Id="rId22" Type="http://schemas.openxmlformats.org/officeDocument/2006/relationships/font" Target="fonts/ArialNarrow-regular.fntdata"/><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7"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de-DE"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leuphana.de/en/services/miz/searching-for-literature.html"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fb4aebd86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g2fb4aebd867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g2fb4aebd867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fb4aebd867_0_1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g2fb4aebd867_0_1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400"/>
              <a:buNone/>
            </a:pPr>
            <a:r>
              <a:rPr lang="de-DE"/>
              <a:t>The topic of this presentation is about scientific literature. </a:t>
            </a:r>
            <a:endParaRPr/>
          </a:p>
          <a:p>
            <a:pPr indent="0" lvl="0" marL="0" rtl="0" algn="l">
              <a:spcBef>
                <a:spcPts val="0"/>
              </a:spcBef>
              <a:spcAft>
                <a:spcPts val="0"/>
              </a:spcAft>
              <a:buClr>
                <a:schemeClr val="dk1"/>
              </a:buClr>
              <a:buSzPts val="1400"/>
              <a:buNone/>
            </a:pPr>
            <a:r>
              <a:rPr lang="de-DE"/>
              <a:t>The aim is to introduce students to the concept and also to highlight the differences of academic\scientific literature with other types. </a:t>
            </a:r>
            <a:endParaRPr/>
          </a:p>
          <a:p>
            <a:pPr indent="0" lvl="0" marL="0" rtl="0" algn="l">
              <a:spcBef>
                <a:spcPts val="0"/>
              </a:spcBef>
              <a:spcAft>
                <a:spcPts val="0"/>
              </a:spcAft>
              <a:buClr>
                <a:schemeClr val="dk1"/>
              </a:buClr>
              <a:buSzPts val="1400"/>
              <a:buNone/>
            </a:pPr>
            <a:r>
              <a:rPr lang="de-DE"/>
              <a:t>You can emphasise the fact that academic, scientific publications are the primary means of communicating science. </a:t>
            </a:r>
            <a:endParaRPr/>
          </a:p>
          <a:p>
            <a:pPr indent="0" lvl="0" marL="139700" rtl="0" algn="l">
              <a:spcBef>
                <a:spcPts val="0"/>
              </a:spcBef>
              <a:spcAft>
                <a:spcPts val="0"/>
              </a:spcAft>
              <a:buNone/>
            </a:pPr>
            <a:r>
              <a:t/>
            </a:r>
            <a:endParaRPr b="1"/>
          </a:p>
          <a:p>
            <a:pPr indent="0" lvl="0" marL="139700" rtl="0" algn="l">
              <a:spcBef>
                <a:spcPts val="0"/>
              </a:spcBef>
              <a:spcAft>
                <a:spcPts val="0"/>
              </a:spcAft>
              <a:buNone/>
            </a:pPr>
            <a:r>
              <a:t/>
            </a:r>
            <a:endParaRPr b="1"/>
          </a:p>
          <a:p>
            <a:pPr indent="0" lvl="0" marL="139700" rtl="0" algn="l">
              <a:spcBef>
                <a:spcPts val="0"/>
              </a:spcBef>
              <a:spcAft>
                <a:spcPts val="0"/>
              </a:spcAft>
              <a:buNone/>
            </a:pPr>
            <a:r>
              <a:rPr b="1" lang="de-DE"/>
              <a:t>Sources and links:</a:t>
            </a:r>
            <a:endParaRPr/>
          </a:p>
          <a:p>
            <a:pPr indent="0" lvl="0" marL="0" rtl="0" algn="l">
              <a:spcBef>
                <a:spcPts val="0"/>
              </a:spcBef>
              <a:spcAft>
                <a:spcPts val="0"/>
              </a:spcAft>
              <a:buClr>
                <a:schemeClr val="dk1"/>
              </a:buClr>
              <a:buSzPts val="1400"/>
              <a:buNone/>
            </a:pPr>
            <a:r>
              <a:rPr lang="de-DE"/>
              <a:t>https://libguides.humboldt.edu/scientificliterature#s-lg-box-6192570</a:t>
            </a:r>
            <a:endParaRPr/>
          </a:p>
          <a:p>
            <a:pPr indent="0" lvl="0" marL="0" rtl="0" algn="l">
              <a:spcBef>
                <a:spcPts val="0"/>
              </a:spcBef>
              <a:spcAft>
                <a:spcPts val="0"/>
              </a:spcAft>
              <a:buClr>
                <a:schemeClr val="dk1"/>
              </a:buClr>
              <a:buSzPts val="1400"/>
              <a:buNone/>
            </a:pPr>
            <a:r>
              <a:rPr lang="de-DE"/>
              <a:t>https://undergraduatesciencelibrarian.org/a-very-brief-introduction-to-the-scientific-literature/</a:t>
            </a:r>
            <a:endParaRPr/>
          </a:p>
        </p:txBody>
      </p:sp>
      <p:sp>
        <p:nvSpPr>
          <p:cNvPr id="160" name="Google Shape;160;g2fb4aebd867_0_1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2fb4aebd867_0_6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g2fb4aebd867_0_6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400"/>
              <a:buNone/>
            </a:pPr>
            <a:r>
              <a:rPr lang="de-DE"/>
              <a:t>Here we bring the categorization of scientific literature: primary, secondary and tertiary literature. </a:t>
            </a:r>
            <a:endParaRPr/>
          </a:p>
          <a:p>
            <a:pPr indent="0" lvl="0" marL="0" rtl="0" algn="l">
              <a:spcBef>
                <a:spcPts val="0"/>
              </a:spcBef>
              <a:spcAft>
                <a:spcPts val="0"/>
              </a:spcAft>
              <a:buClr>
                <a:schemeClr val="dk1"/>
              </a:buClr>
              <a:buSzPts val="1400"/>
              <a:buNone/>
            </a:pPr>
            <a:r>
              <a:rPr b="1" lang="de-DE"/>
              <a:t>Suggestion: </a:t>
            </a:r>
            <a:r>
              <a:rPr lang="de-DE"/>
              <a:t>Before showing the slide content, ask your students if they know what the categories are. Or present an overview of each category and ask them what types of literature they would fit into each of the categories (you can give different options for categorization, such as scientific articles, books, masters or doctoral dissertations, textbooks, etc.). </a:t>
            </a:r>
            <a:endParaRPr/>
          </a:p>
          <a:p>
            <a:pPr indent="0" lvl="0" marL="0" rtl="0" algn="l">
              <a:spcBef>
                <a:spcPts val="0"/>
              </a:spcBef>
              <a:spcAft>
                <a:spcPts val="0"/>
              </a:spcAft>
              <a:buNone/>
            </a:pPr>
            <a:r>
              <a:t/>
            </a:r>
            <a:endParaRPr/>
          </a:p>
        </p:txBody>
      </p:sp>
      <p:sp>
        <p:nvSpPr>
          <p:cNvPr id="167" name="Google Shape;167;g2fb4aebd867_0_6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fb4aebd867_0_4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g2fb4aebd867_0_4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400"/>
              <a:buNone/>
            </a:pPr>
            <a:r>
              <a:rPr lang="de-DE"/>
              <a:t>Here we bring the categorization of scientific literature: primary, secondary and tertiary literature. </a:t>
            </a:r>
            <a:endParaRPr/>
          </a:p>
          <a:p>
            <a:pPr indent="0" lvl="0" marL="0" rtl="0" algn="l">
              <a:spcBef>
                <a:spcPts val="0"/>
              </a:spcBef>
              <a:spcAft>
                <a:spcPts val="0"/>
              </a:spcAft>
              <a:buClr>
                <a:schemeClr val="dk1"/>
              </a:buClr>
              <a:buSzPts val="1400"/>
              <a:buNone/>
            </a:pPr>
            <a:r>
              <a:rPr b="1" lang="de-DE"/>
              <a:t>Suggestion: </a:t>
            </a:r>
            <a:r>
              <a:rPr lang="de-DE"/>
              <a:t>Before showing the slide content, ask your students if they know what the categories are. Or present an overview of each category and ask them what types of literature they would fit into each of the categories (you can give different options for categorization, such as scientific articles, books, masters or doctoral dissertations, textbooks, etc.). </a:t>
            </a:r>
            <a:endParaRPr/>
          </a:p>
        </p:txBody>
      </p:sp>
      <p:sp>
        <p:nvSpPr>
          <p:cNvPr id="174" name="Google Shape;174;g2fb4aebd867_0_46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fb4aebd867_0_7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g2fb4aebd867_0_7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400"/>
              <a:buNone/>
            </a:pPr>
            <a:r>
              <a:rPr lang="de-DE"/>
              <a:t>Here we put some examples from scientific literature in which tutors can delve a little deeper into the explanation. </a:t>
            </a:r>
            <a:endParaRPr/>
          </a:p>
          <a:p>
            <a:pPr indent="0" lvl="0" marL="0" rtl="0" algn="l">
              <a:spcBef>
                <a:spcPts val="0"/>
              </a:spcBef>
              <a:spcAft>
                <a:spcPts val="0"/>
              </a:spcAft>
              <a:buClr>
                <a:schemeClr val="dk1"/>
              </a:buClr>
              <a:buSzPts val="1400"/>
              <a:buNone/>
            </a:pPr>
            <a:r>
              <a:rPr lang="de-DE"/>
              <a:t>Please pay attention, especially to scientific articles and review articles. It is encouraged to mention the concept of peer review articles (peer reviewed journals) in the session. </a:t>
            </a:r>
            <a:endParaRPr/>
          </a:p>
          <a:p>
            <a:pPr indent="0" lvl="0" marL="0" rtl="0" algn="l">
              <a:spcBef>
                <a:spcPts val="0"/>
              </a:spcBef>
              <a:spcAft>
                <a:spcPts val="0"/>
              </a:spcAft>
              <a:buClr>
                <a:schemeClr val="dk1"/>
              </a:buClr>
              <a:buSzPts val="1400"/>
              <a:buNone/>
            </a:pPr>
            <a:r>
              <a:rPr b="1" lang="de-DE"/>
              <a:t>Suggestion: </a:t>
            </a:r>
            <a:r>
              <a:rPr lang="de-DE"/>
              <a:t>Here tutors can present some examples of scientific literature, e.g. scientific articles, reports from organisations or government etc. </a:t>
            </a:r>
            <a:endParaRPr/>
          </a:p>
          <a:p>
            <a:pPr indent="0" lvl="0" marL="139700" rtl="0" algn="l">
              <a:spcBef>
                <a:spcPts val="0"/>
              </a:spcBef>
              <a:spcAft>
                <a:spcPts val="0"/>
              </a:spcAft>
              <a:buNone/>
            </a:pPr>
            <a:r>
              <a:t/>
            </a:r>
            <a:endParaRPr b="1"/>
          </a:p>
          <a:p>
            <a:pPr indent="0" lvl="0" marL="139700" rtl="0" algn="l">
              <a:spcBef>
                <a:spcPts val="0"/>
              </a:spcBef>
              <a:spcAft>
                <a:spcPts val="0"/>
              </a:spcAft>
              <a:buNone/>
            </a:pPr>
            <a:r>
              <a:t/>
            </a:r>
            <a:endParaRPr b="1"/>
          </a:p>
          <a:p>
            <a:pPr indent="0" lvl="0" marL="139700" rtl="0" algn="l">
              <a:spcBef>
                <a:spcPts val="0"/>
              </a:spcBef>
              <a:spcAft>
                <a:spcPts val="0"/>
              </a:spcAft>
              <a:buNone/>
            </a:pPr>
            <a:r>
              <a:rPr b="1" lang="de-DE"/>
              <a:t>Sources and links:</a:t>
            </a:r>
            <a:endParaRPr/>
          </a:p>
          <a:p>
            <a:pPr indent="0" lvl="0" marL="139700" rtl="0" algn="l">
              <a:spcBef>
                <a:spcPts val="0"/>
              </a:spcBef>
              <a:spcAft>
                <a:spcPts val="0"/>
              </a:spcAft>
              <a:buNone/>
            </a:pPr>
            <a:r>
              <a:rPr lang="de-DE"/>
              <a:t>https://undergraduatesciencelibrarian.org/a-very-brief-introduction-to-the-scientific-literature/</a:t>
            </a:r>
            <a:endParaRPr/>
          </a:p>
          <a:p>
            <a:pPr indent="0" lvl="0" marL="139700" rtl="0" algn="l">
              <a:spcBef>
                <a:spcPts val="0"/>
              </a:spcBef>
              <a:spcAft>
                <a:spcPts val="0"/>
              </a:spcAft>
              <a:buNone/>
            </a:pPr>
            <a:r>
              <a:rPr lang="de-DE"/>
              <a:t>https://undergraduatesciencelibrarian.org/a-very-brief-introduction-to-the-scientific-literature/types-of-scientific-literature/</a:t>
            </a:r>
            <a:endParaRPr/>
          </a:p>
          <a:p>
            <a:pPr indent="0" lvl="0" marL="139700" rtl="0" algn="l">
              <a:spcBef>
                <a:spcPts val="0"/>
              </a:spcBef>
              <a:spcAft>
                <a:spcPts val="0"/>
              </a:spcAft>
              <a:buNone/>
            </a:pPr>
            <a:r>
              <a:rPr lang="de-DE"/>
              <a:t>https://allcatsrgrey.org.uk/wp/knowledgebase/luxembourg-definition-1997/</a:t>
            </a:r>
            <a:endParaRPr/>
          </a:p>
          <a:p>
            <a:pPr indent="0" lvl="0" marL="139700" rtl="0" algn="l">
              <a:spcBef>
                <a:spcPts val="0"/>
              </a:spcBef>
              <a:spcAft>
                <a:spcPts val="0"/>
              </a:spcAft>
              <a:buNone/>
            </a:pPr>
            <a:r>
              <a:rPr lang="de-DE"/>
              <a:t>https://authorservices.wiley.com/Reviewers/journal-reviewers/what-is-peer-review/index.html</a:t>
            </a:r>
            <a:endParaRPr/>
          </a:p>
          <a:p>
            <a:pPr indent="0" lvl="0" marL="139700" rtl="0" algn="l">
              <a:spcBef>
                <a:spcPts val="0"/>
              </a:spcBef>
              <a:spcAft>
                <a:spcPts val="0"/>
              </a:spcAft>
              <a:buNone/>
            </a:pPr>
            <a:r>
              <a:rPr lang="de-DE"/>
              <a:t>https://allcatsrgrey.org.uk/wp/knowledgebase/luxembourg-definition-1997/</a:t>
            </a:r>
            <a:endParaRPr/>
          </a:p>
        </p:txBody>
      </p:sp>
      <p:sp>
        <p:nvSpPr>
          <p:cNvPr id="183" name="Google Shape;183;g2fb4aebd867_0_76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2fb4aebd867_0_7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g2fb4aebd867_0_7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rtl="0" algn="l">
              <a:spcBef>
                <a:spcPts val="0"/>
              </a:spcBef>
              <a:spcAft>
                <a:spcPts val="0"/>
              </a:spcAft>
              <a:buClr>
                <a:schemeClr val="dk1"/>
              </a:buClr>
              <a:buSzPts val="1400"/>
              <a:buNone/>
            </a:pPr>
            <a:r>
              <a:rPr lang="de-DE"/>
              <a:t>Here we have brought some tips on what students should take into consideration when searching for scientific literature (Peer reviewed sources; Open Access Journals vs paid Journals). </a:t>
            </a:r>
            <a:endParaRPr/>
          </a:p>
        </p:txBody>
      </p:sp>
      <p:sp>
        <p:nvSpPr>
          <p:cNvPr id="190" name="Google Shape;190;g2fb4aebd867_0_7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2fb4aebd867_0_7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g2fb4aebd867_0_7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400"/>
              <a:buNone/>
            </a:pPr>
            <a:r>
              <a:rPr lang="de-DE"/>
              <a:t>On this slide we bring you a list of journal articles databases. </a:t>
            </a:r>
            <a:endParaRPr/>
          </a:p>
          <a:p>
            <a:pPr indent="0" lvl="0" marL="0" rtl="0" algn="l">
              <a:spcBef>
                <a:spcPts val="0"/>
              </a:spcBef>
              <a:spcAft>
                <a:spcPts val="0"/>
              </a:spcAft>
              <a:buClr>
                <a:schemeClr val="dk1"/>
              </a:buClr>
              <a:buSzPts val="1400"/>
              <a:buNone/>
            </a:pPr>
            <a:r>
              <a:rPr lang="de-DE"/>
              <a:t>The list is not exhaustive, tutors are encouraged to contribute their own experiences here. You can give some tips and some more names of websites that students can look at to search for literature. </a:t>
            </a:r>
            <a:endParaRPr/>
          </a:p>
          <a:p>
            <a:pPr indent="0" lvl="0" marL="139700" rtl="0" algn="l">
              <a:spcBef>
                <a:spcPts val="0"/>
              </a:spcBef>
              <a:spcAft>
                <a:spcPts val="0"/>
              </a:spcAft>
              <a:buNone/>
            </a:pPr>
            <a:r>
              <a:t/>
            </a:r>
            <a:endParaRPr b="1"/>
          </a:p>
          <a:p>
            <a:pPr indent="0" lvl="0" marL="139700" rtl="0" algn="l">
              <a:spcBef>
                <a:spcPts val="0"/>
              </a:spcBef>
              <a:spcAft>
                <a:spcPts val="0"/>
              </a:spcAft>
              <a:buNone/>
            </a:pPr>
            <a:r>
              <a:rPr b="1" lang="de-DE"/>
              <a:t>Sources and Links</a:t>
            </a:r>
            <a:endParaRPr/>
          </a:p>
          <a:p>
            <a:pPr indent="0" lvl="0" marL="0" rtl="0" algn="l">
              <a:spcBef>
                <a:spcPts val="0"/>
              </a:spcBef>
              <a:spcAft>
                <a:spcPts val="0"/>
              </a:spcAft>
              <a:buClr>
                <a:schemeClr val="dk1"/>
              </a:buClr>
              <a:buSzPts val="1400"/>
              <a:buNone/>
            </a:pPr>
            <a:r>
              <a:rPr lang="de-DE"/>
              <a:t>https://www.scribendi.com/academy/articles/free_online_journal_and_research_databases.en.html</a:t>
            </a:r>
            <a:endParaRPr/>
          </a:p>
        </p:txBody>
      </p:sp>
      <p:sp>
        <p:nvSpPr>
          <p:cNvPr id="197" name="Google Shape;197;g2fb4aebd867_0_7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fb4aebd867_0_7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g2fb4aebd867_0_79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400"/>
              <a:buNone/>
            </a:pPr>
            <a:r>
              <a:rPr lang="de-DE"/>
              <a:t>In addition to the options presented on the previous slide, Leuphana has a number of academic literature search solutions. In this slide we present the LUX platform, Library Catalogue and Digital Library. </a:t>
            </a:r>
            <a:endParaRPr/>
          </a:p>
          <a:p>
            <a:pPr indent="0" lvl="0" marL="0" rtl="0" algn="l">
              <a:spcBef>
                <a:spcPts val="0"/>
              </a:spcBef>
              <a:spcAft>
                <a:spcPts val="0"/>
              </a:spcAft>
              <a:buClr>
                <a:schemeClr val="dk1"/>
              </a:buClr>
              <a:buSzPts val="1400"/>
              <a:buNone/>
            </a:pPr>
            <a:r>
              <a:rPr lang="de-DE"/>
              <a:t>Tutors are encouraged to, for example, introduce one or some of the tools to students. </a:t>
            </a:r>
            <a:endParaRPr/>
          </a:p>
          <a:p>
            <a:pPr indent="0" lvl="0" marL="0" rtl="0" algn="l">
              <a:spcBef>
                <a:spcPts val="0"/>
              </a:spcBef>
              <a:spcAft>
                <a:spcPts val="0"/>
              </a:spcAft>
              <a:buClr>
                <a:schemeClr val="dk1"/>
              </a:buClr>
              <a:buSzPts val="1400"/>
              <a:buNone/>
            </a:pPr>
            <a:r>
              <a:rPr b="1" lang="de-DE"/>
              <a:t>Post-it note: </a:t>
            </a:r>
            <a:r>
              <a:rPr lang="de-DE"/>
              <a:t>Don't forget to comment on these other options: GVK and Karlsruhe Virtual Catalogue. </a:t>
            </a:r>
            <a:endParaRPr/>
          </a:p>
          <a:p>
            <a:pPr indent="0" lvl="0" marL="139700" rtl="0" algn="l">
              <a:spcBef>
                <a:spcPts val="0"/>
              </a:spcBef>
              <a:spcAft>
                <a:spcPts val="0"/>
              </a:spcAft>
              <a:buNone/>
            </a:pPr>
            <a:r>
              <a:t/>
            </a:r>
            <a:endParaRPr b="1"/>
          </a:p>
          <a:p>
            <a:pPr indent="0" lvl="0" marL="139700" rtl="0" algn="l">
              <a:spcBef>
                <a:spcPts val="0"/>
              </a:spcBef>
              <a:spcAft>
                <a:spcPts val="0"/>
              </a:spcAft>
              <a:buNone/>
            </a:pPr>
            <a:r>
              <a:rPr b="1" lang="de-DE"/>
              <a:t>Sources and Links</a:t>
            </a:r>
            <a:endParaRPr/>
          </a:p>
          <a:p>
            <a:pPr indent="0" lvl="0" marL="139700" rtl="0" algn="l">
              <a:spcBef>
                <a:spcPts val="0"/>
              </a:spcBef>
              <a:spcAft>
                <a:spcPts val="0"/>
              </a:spcAft>
              <a:buNone/>
            </a:pPr>
            <a:r>
              <a:rPr lang="de-DE" u="sng">
                <a:solidFill>
                  <a:schemeClr val="hlink"/>
                </a:solidFill>
                <a:hlinkClick r:id="rId2"/>
              </a:rPr>
              <a:t>https://www.leuphana.de/en/services/miz/searching-for-literature.html</a:t>
            </a:r>
            <a:endParaRPr/>
          </a:p>
        </p:txBody>
      </p:sp>
      <p:sp>
        <p:nvSpPr>
          <p:cNvPr id="204" name="Google Shape;204;g2fb4aebd867_0_79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2fb4aebd867_0_7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 name="Google Shape;210;g2fb4aebd867_0_7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rtl="0" algn="l">
              <a:spcBef>
                <a:spcPts val="0"/>
              </a:spcBef>
              <a:spcAft>
                <a:spcPts val="0"/>
              </a:spcAft>
              <a:buClr>
                <a:schemeClr val="dk1"/>
              </a:buClr>
              <a:buSzPts val="1400"/>
              <a:buNone/>
            </a:pPr>
            <a:r>
              <a:rPr lang="de-DE"/>
              <a:t>Because google scholar is one of the most widely used tools for searching academic literature, we have brought you some tips that students can use when typing their search. </a:t>
            </a:r>
            <a:endParaRPr/>
          </a:p>
          <a:p>
            <a:pPr indent="-228600" lvl="0" marL="457200" rtl="0" algn="l">
              <a:spcBef>
                <a:spcPts val="0"/>
              </a:spcBef>
              <a:spcAft>
                <a:spcPts val="0"/>
              </a:spcAft>
              <a:buClr>
                <a:schemeClr val="dk1"/>
              </a:buClr>
              <a:buSzPts val="1400"/>
              <a:buFont typeface="Arial"/>
              <a:buNone/>
            </a:pPr>
            <a:r>
              <a:t/>
            </a:r>
            <a:endParaRPr/>
          </a:p>
          <a:p>
            <a:pPr indent="-228600" lvl="0" marL="457200" rtl="0" algn="l">
              <a:spcBef>
                <a:spcPts val="0"/>
              </a:spcBef>
              <a:spcAft>
                <a:spcPts val="0"/>
              </a:spcAft>
              <a:buClr>
                <a:schemeClr val="dk1"/>
              </a:buClr>
              <a:buSzPts val="1400"/>
              <a:buNone/>
            </a:pPr>
            <a:r>
              <a:rPr b="1" lang="de-DE"/>
              <a:t>Sources and links</a:t>
            </a:r>
            <a:endParaRPr/>
          </a:p>
          <a:p>
            <a:pPr indent="0" lvl="0" marL="139700" rtl="0" algn="l">
              <a:spcBef>
                <a:spcPts val="0"/>
              </a:spcBef>
              <a:spcAft>
                <a:spcPts val="0"/>
              </a:spcAft>
              <a:buClr>
                <a:schemeClr val="dk1"/>
              </a:buClr>
              <a:buSzPts val="1400"/>
              <a:buFont typeface="Arial"/>
              <a:buNone/>
            </a:pPr>
            <a:r>
              <a:rPr lang="de-DE"/>
              <a:t>https://www.youtube.com/watch?v=u0KVJ0lj8rw&amp;t=52s</a:t>
            </a:r>
            <a:endParaRPr/>
          </a:p>
          <a:p>
            <a:pPr indent="0" lvl="0" marL="139700" rtl="0" algn="l">
              <a:spcBef>
                <a:spcPts val="0"/>
              </a:spcBef>
              <a:spcAft>
                <a:spcPts val="0"/>
              </a:spcAft>
              <a:buClr>
                <a:schemeClr val="dk1"/>
              </a:buClr>
              <a:buSzPts val="1400"/>
              <a:buFont typeface="Arial"/>
              <a:buNone/>
            </a:pPr>
            <a:r>
              <a:rPr lang="de-DE"/>
              <a:t>https://paperpile.com/g/google-scholar-guide/</a:t>
            </a:r>
            <a:endParaRPr/>
          </a:p>
          <a:p>
            <a:pPr indent="0" lvl="0" marL="139700" rtl="0" algn="l">
              <a:spcBef>
                <a:spcPts val="0"/>
              </a:spcBef>
              <a:spcAft>
                <a:spcPts val="0"/>
              </a:spcAft>
              <a:buNone/>
            </a:pPr>
            <a:r>
              <a:rPr lang="de-DE"/>
              <a:t>https://southern.libguides.com/google/Boolean</a:t>
            </a:r>
            <a:endParaRPr/>
          </a:p>
        </p:txBody>
      </p:sp>
      <p:sp>
        <p:nvSpPr>
          <p:cNvPr id="211" name="Google Shape;211;g2fb4aebd867_0_7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fb4aebd867_0_8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g2fb4aebd867_0_8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g2fb4aebd867_0_80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fb4aebd867_0_9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g2fb4aebd867_0_9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g2fb4aebd867_0_9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2fb4aebd867_0_10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g2fb4aebd867_0_109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g2fb4aebd867_0_109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2fb4aebd867_0_12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g2fb4aebd867_0_12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g2fb4aebd867_0_12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2fb4aebd867_0_13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g2fb4aebd867_0_139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e-DE"/>
              <a:t>Diese Folie kann in die Präsentation eingefügt werden, falls an einer bestimmten Stelle eine Pause gemacht werden soll.</a:t>
            </a:r>
            <a:endParaRPr/>
          </a:p>
        </p:txBody>
      </p:sp>
      <p:sp>
        <p:nvSpPr>
          <p:cNvPr id="245" name="Google Shape;245;g2fb4aebd867_0_139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2fb4aebd867_0_15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g2fb4aebd867_0_15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e-DE"/>
              <a:t>Diese Folie kann an einer Stelle in die Präsentation eingefügt werden an der ein kurzes Spiel gespielt wird oder es eine andere Art von Energizer gibt.</a:t>
            </a:r>
            <a:endParaRPr/>
          </a:p>
        </p:txBody>
      </p:sp>
      <p:sp>
        <p:nvSpPr>
          <p:cNvPr id="251" name="Google Shape;251;g2fb4aebd867_0_15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2fb4aebd867_0_16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g2fb4aebd867_0_16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lang="de-DE"/>
              <a:t>This slide can be inserted at the beginning in case you want to do a short warm-up exercise</a:t>
            </a:r>
            <a:endParaRPr/>
          </a:p>
        </p:txBody>
      </p:sp>
      <p:sp>
        <p:nvSpPr>
          <p:cNvPr id="257" name="Google Shape;257;g2fb4aebd867_0_16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6.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6.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6.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6.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6.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3.png"/><Relationship Id="rId6"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6.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er" type="blank">
  <p:cSld name="BLANK">
    <p:spTree>
      <p:nvGrpSpPr>
        <p:cNvPr id="13" name="Shape 13"/>
        <p:cNvGrpSpPr/>
        <p:nvPr/>
      </p:nvGrpSpPr>
      <p:grpSpPr>
        <a:xfrm>
          <a:off x="0" y="0"/>
          <a:ext cx="0" cy="0"/>
          <a:chOff x="0" y="0"/>
          <a:chExt cx="0" cy="0"/>
        </a:xfrm>
      </p:grpSpPr>
      <p:sp>
        <p:nvSpPr>
          <p:cNvPr id="14" name="Google Shape;14;p2"/>
          <p:cNvSpPr/>
          <p:nvPr/>
        </p:nvSpPr>
        <p:spPr>
          <a:xfrm rot="-2487859">
            <a:off x="1848993" y="-392157"/>
            <a:ext cx="2100921" cy="2020412"/>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5" name="Google Shape;15;p2"/>
          <p:cNvSpPr/>
          <p:nvPr/>
        </p:nvSpPr>
        <p:spPr>
          <a:xfrm>
            <a:off x="351158" y="5589207"/>
            <a:ext cx="2499164" cy="2394654"/>
          </a:xfrm>
          <a:custGeom>
            <a:rect b="b" l="l" r="r" t="t"/>
            <a:pathLst>
              <a:path extrusionOk="0" h="2394654" w="2499164">
                <a:moveTo>
                  <a:pt x="0" y="0"/>
                </a:moveTo>
                <a:lnTo>
                  <a:pt x="2499165" y="0"/>
                </a:lnTo>
                <a:lnTo>
                  <a:pt x="2499165" y="2394654"/>
                </a:lnTo>
                <a:lnTo>
                  <a:pt x="0" y="239465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6" name="Google Shape;16;p2"/>
          <p:cNvSpPr/>
          <p:nvPr/>
        </p:nvSpPr>
        <p:spPr>
          <a:xfrm rot="4680788">
            <a:off x="16257418" y="8270982"/>
            <a:ext cx="2635834" cy="2525609"/>
          </a:xfrm>
          <a:custGeom>
            <a:rect b="b" l="l" r="r" t="t"/>
            <a:pathLst>
              <a:path extrusionOk="0" h="2525609" w="2635834">
                <a:moveTo>
                  <a:pt x="0" y="0"/>
                </a:moveTo>
                <a:lnTo>
                  <a:pt x="2635835" y="0"/>
                </a:lnTo>
                <a:lnTo>
                  <a:pt x="2635835" y="2525608"/>
                </a:lnTo>
                <a:lnTo>
                  <a:pt x="0" y="252560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7" name="Google Shape;17;p2"/>
          <p:cNvSpPr/>
          <p:nvPr/>
        </p:nvSpPr>
        <p:spPr>
          <a:xfrm>
            <a:off x="-817599" y="-741417"/>
            <a:ext cx="3505909" cy="3416667"/>
          </a:xfrm>
          <a:custGeom>
            <a:rect b="b" l="l" r="r" t="t"/>
            <a:pathLst>
              <a:path extrusionOk="0" h="3416667" w="3505909">
                <a:moveTo>
                  <a:pt x="0" y="0"/>
                </a:moveTo>
                <a:lnTo>
                  <a:pt x="3505909" y="0"/>
                </a:lnTo>
                <a:lnTo>
                  <a:pt x="3505909" y="3416668"/>
                </a:lnTo>
                <a:lnTo>
                  <a:pt x="0" y="3416668"/>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8" name="Google Shape;18;p2"/>
          <p:cNvSpPr/>
          <p:nvPr/>
        </p:nvSpPr>
        <p:spPr>
          <a:xfrm rot="-5591590">
            <a:off x="15358696" y="2451781"/>
            <a:ext cx="2347587" cy="2305392"/>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9" name="Google Shape;19;p2"/>
          <p:cNvSpPr/>
          <p:nvPr/>
        </p:nvSpPr>
        <p:spPr>
          <a:xfrm rot="7860677">
            <a:off x="702797" y="5736336"/>
            <a:ext cx="1600955" cy="1490343"/>
          </a:xfrm>
          <a:custGeom>
            <a:rect b="b" l="l" r="r" t="t"/>
            <a:pathLst>
              <a:path extrusionOk="0" h="1490343" w="1600955">
                <a:moveTo>
                  <a:pt x="0" y="0"/>
                </a:moveTo>
                <a:lnTo>
                  <a:pt x="1600954" y="0"/>
                </a:lnTo>
                <a:lnTo>
                  <a:pt x="1600954" y="1490343"/>
                </a:lnTo>
                <a:lnTo>
                  <a:pt x="0" y="1490343"/>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0" name="Google Shape;20;p2"/>
          <p:cNvSpPr/>
          <p:nvPr/>
        </p:nvSpPr>
        <p:spPr>
          <a:xfrm rot="7860677">
            <a:off x="15930678" y="7382404"/>
            <a:ext cx="2243704" cy="2088684"/>
          </a:xfrm>
          <a:custGeom>
            <a:rect b="b" l="l" r="r" t="t"/>
            <a:pathLst>
              <a:path extrusionOk="0" h="2088684" w="2243704">
                <a:moveTo>
                  <a:pt x="0" y="0"/>
                </a:moveTo>
                <a:lnTo>
                  <a:pt x="2243704" y="0"/>
                </a:lnTo>
                <a:lnTo>
                  <a:pt x="2243704" y="2088684"/>
                </a:lnTo>
                <a:lnTo>
                  <a:pt x="0" y="2088684"/>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1" name="Google Shape;21;p2"/>
          <p:cNvSpPr/>
          <p:nvPr/>
        </p:nvSpPr>
        <p:spPr>
          <a:xfrm rot="-458312">
            <a:off x="15741562" y="989320"/>
            <a:ext cx="3155791" cy="3023821"/>
          </a:xfrm>
          <a:custGeom>
            <a:rect b="b" l="l" r="r" t="t"/>
            <a:pathLst>
              <a:path extrusionOk="0" h="3023821" w="3155791">
                <a:moveTo>
                  <a:pt x="0" y="0"/>
                </a:moveTo>
                <a:lnTo>
                  <a:pt x="3155790" y="0"/>
                </a:lnTo>
                <a:lnTo>
                  <a:pt x="3155790" y="3023821"/>
                </a:lnTo>
                <a:lnTo>
                  <a:pt x="0" y="3023821"/>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2" name="Google Shape;22;p2"/>
          <p:cNvSpPr/>
          <p:nvPr/>
        </p:nvSpPr>
        <p:spPr>
          <a:xfrm rot="1296289">
            <a:off x="14830585" y="-257242"/>
            <a:ext cx="2531996" cy="2154648"/>
          </a:xfrm>
          <a:custGeom>
            <a:rect b="b" l="l" r="r" t="t"/>
            <a:pathLst>
              <a:path extrusionOk="0" h="1919581" w="2265599">
                <a:moveTo>
                  <a:pt x="0" y="0"/>
                </a:moveTo>
                <a:lnTo>
                  <a:pt x="2265600" y="0"/>
                </a:lnTo>
                <a:lnTo>
                  <a:pt x="2265600" y="1919581"/>
                </a:lnTo>
                <a:lnTo>
                  <a:pt x="0" y="1919581"/>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3" name="Google Shape;23;p2"/>
          <p:cNvSpPr/>
          <p:nvPr/>
        </p:nvSpPr>
        <p:spPr>
          <a:xfrm rot="-2487859">
            <a:off x="17027787" y="4966511"/>
            <a:ext cx="1763767" cy="1494391"/>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4" name="Google Shape;24;p2"/>
          <p:cNvSpPr/>
          <p:nvPr/>
        </p:nvSpPr>
        <p:spPr>
          <a:xfrm rot="1296289">
            <a:off x="619918" y="6991212"/>
            <a:ext cx="3294095" cy="2754079"/>
          </a:xfrm>
          <a:custGeom>
            <a:rect b="b" l="l" r="r" t="t"/>
            <a:pathLst>
              <a:path extrusionOk="0" h="2059110" w="2430280">
                <a:moveTo>
                  <a:pt x="0" y="0"/>
                </a:moveTo>
                <a:lnTo>
                  <a:pt x="2430281" y="0"/>
                </a:lnTo>
                <a:lnTo>
                  <a:pt x="2430281" y="2059110"/>
                </a:lnTo>
                <a:lnTo>
                  <a:pt x="0" y="2059110"/>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5" name="Google Shape;25;p2"/>
          <p:cNvSpPr/>
          <p:nvPr/>
        </p:nvSpPr>
        <p:spPr>
          <a:xfrm rot="2046247">
            <a:off x="16212870" y="1083509"/>
            <a:ext cx="2213171" cy="2273738"/>
          </a:xfrm>
          <a:custGeom>
            <a:rect b="b" l="l" r="r" t="t"/>
            <a:pathLst>
              <a:path extrusionOk="0" h="1805189" w="1939168">
                <a:moveTo>
                  <a:pt x="0" y="0"/>
                </a:moveTo>
                <a:lnTo>
                  <a:pt x="1939169" y="0"/>
                </a:lnTo>
                <a:lnTo>
                  <a:pt x="1939169" y="1805189"/>
                </a:lnTo>
                <a:lnTo>
                  <a:pt x="0" y="1805189"/>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6" name="Google Shape;26;p2"/>
          <p:cNvSpPr/>
          <p:nvPr/>
        </p:nvSpPr>
        <p:spPr>
          <a:xfrm>
            <a:off x="7687907" y="30602"/>
            <a:ext cx="2912186" cy="1012162"/>
          </a:xfrm>
          <a:custGeom>
            <a:rect b="b" l="l" r="r" t="t"/>
            <a:pathLst>
              <a:path extrusionOk="0" h="1012162" w="2912186">
                <a:moveTo>
                  <a:pt x="0" y="0"/>
                </a:moveTo>
                <a:lnTo>
                  <a:pt x="2912186" y="0"/>
                </a:lnTo>
                <a:lnTo>
                  <a:pt x="2912186" y="1012162"/>
                </a:lnTo>
                <a:lnTo>
                  <a:pt x="0" y="101216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folie" type="title">
  <p:cSld name="TITLE">
    <p:spTree>
      <p:nvGrpSpPr>
        <p:cNvPr id="27" name="Shape 27"/>
        <p:cNvGrpSpPr/>
        <p:nvPr/>
      </p:nvGrpSpPr>
      <p:grpSpPr>
        <a:xfrm>
          <a:off x="0" y="0"/>
          <a:ext cx="0" cy="0"/>
          <a:chOff x="0" y="0"/>
          <a:chExt cx="0" cy="0"/>
        </a:xfrm>
      </p:grpSpPr>
      <p:sp>
        <p:nvSpPr>
          <p:cNvPr id="28" name="Google Shape;28;p3"/>
          <p:cNvSpPr txBox="1"/>
          <p:nvPr>
            <p:ph type="ctrTitle"/>
          </p:nvPr>
        </p:nvSpPr>
        <p:spPr>
          <a:xfrm>
            <a:off x="2205643" y="2410767"/>
            <a:ext cx="13716000" cy="35814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
          <p:cNvSpPr txBox="1"/>
          <p:nvPr>
            <p:ph idx="1" type="subTitle"/>
          </p:nvPr>
        </p:nvSpPr>
        <p:spPr>
          <a:xfrm>
            <a:off x="2205643" y="6130279"/>
            <a:ext cx="13716000" cy="248285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0" name="Google Shape;30;p3"/>
          <p:cNvSpPr/>
          <p:nvPr/>
        </p:nvSpPr>
        <p:spPr>
          <a:xfrm>
            <a:off x="-1263092" y="4204093"/>
            <a:ext cx="2499164" cy="5514763"/>
          </a:xfrm>
          <a:custGeom>
            <a:rect b="b" l="l" r="r" t="t"/>
            <a:pathLst>
              <a:path extrusionOk="0" h="2394654" w="2499164">
                <a:moveTo>
                  <a:pt x="0" y="0"/>
                </a:moveTo>
                <a:lnTo>
                  <a:pt x="2499165" y="0"/>
                </a:lnTo>
                <a:lnTo>
                  <a:pt x="2499165" y="2394654"/>
                </a:lnTo>
                <a:lnTo>
                  <a:pt x="0" y="2394654"/>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1" name="Google Shape;31;p3"/>
          <p:cNvSpPr/>
          <p:nvPr/>
        </p:nvSpPr>
        <p:spPr>
          <a:xfrm rot="4680788">
            <a:off x="16257418" y="8270982"/>
            <a:ext cx="2635834" cy="2525609"/>
          </a:xfrm>
          <a:custGeom>
            <a:rect b="b" l="l" r="r" t="t"/>
            <a:pathLst>
              <a:path extrusionOk="0" h="2525609" w="2635834">
                <a:moveTo>
                  <a:pt x="0" y="0"/>
                </a:moveTo>
                <a:lnTo>
                  <a:pt x="2635835" y="0"/>
                </a:lnTo>
                <a:lnTo>
                  <a:pt x="2635835" y="2525608"/>
                </a:lnTo>
                <a:lnTo>
                  <a:pt x="0" y="2525608"/>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2" name="Google Shape;32;p3"/>
          <p:cNvSpPr/>
          <p:nvPr/>
        </p:nvSpPr>
        <p:spPr>
          <a:xfrm>
            <a:off x="15433702" y="7133471"/>
            <a:ext cx="3505909" cy="3416667"/>
          </a:xfrm>
          <a:custGeom>
            <a:rect b="b" l="l" r="r" t="t"/>
            <a:pathLst>
              <a:path extrusionOk="0" h="3416667" w="3505909">
                <a:moveTo>
                  <a:pt x="0" y="0"/>
                </a:moveTo>
                <a:lnTo>
                  <a:pt x="3505909" y="0"/>
                </a:lnTo>
                <a:lnTo>
                  <a:pt x="3505909" y="3416668"/>
                </a:lnTo>
                <a:lnTo>
                  <a:pt x="0" y="341666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3" name="Google Shape;33;p3"/>
          <p:cNvSpPr/>
          <p:nvPr/>
        </p:nvSpPr>
        <p:spPr>
          <a:xfrm>
            <a:off x="-241193" y="146185"/>
            <a:ext cx="2813227" cy="2781862"/>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4" name="Google Shape;34;p3"/>
          <p:cNvSpPr/>
          <p:nvPr/>
        </p:nvSpPr>
        <p:spPr>
          <a:xfrm rot="7860677">
            <a:off x="63301" y="315707"/>
            <a:ext cx="1600955" cy="1490343"/>
          </a:xfrm>
          <a:custGeom>
            <a:rect b="b" l="l" r="r" t="t"/>
            <a:pathLst>
              <a:path extrusionOk="0" h="1490343" w="1600955">
                <a:moveTo>
                  <a:pt x="0" y="0"/>
                </a:moveTo>
                <a:lnTo>
                  <a:pt x="1600954" y="0"/>
                </a:lnTo>
                <a:lnTo>
                  <a:pt x="1600954" y="1490343"/>
                </a:lnTo>
                <a:lnTo>
                  <a:pt x="0" y="1490343"/>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5" name="Google Shape;35;p3"/>
          <p:cNvSpPr/>
          <p:nvPr/>
        </p:nvSpPr>
        <p:spPr>
          <a:xfrm rot="7860677">
            <a:off x="15930678" y="7382404"/>
            <a:ext cx="2243704" cy="2088684"/>
          </a:xfrm>
          <a:custGeom>
            <a:rect b="b" l="l" r="r" t="t"/>
            <a:pathLst>
              <a:path extrusionOk="0" h="2088684" w="2243704">
                <a:moveTo>
                  <a:pt x="0" y="0"/>
                </a:moveTo>
                <a:lnTo>
                  <a:pt x="2243704" y="0"/>
                </a:lnTo>
                <a:lnTo>
                  <a:pt x="2243704" y="2088684"/>
                </a:lnTo>
                <a:lnTo>
                  <a:pt x="0" y="208868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6" name="Google Shape;36;p3"/>
          <p:cNvSpPr/>
          <p:nvPr/>
        </p:nvSpPr>
        <p:spPr>
          <a:xfrm rot="-458312">
            <a:off x="16269322" y="-478677"/>
            <a:ext cx="3155791" cy="3023821"/>
          </a:xfrm>
          <a:custGeom>
            <a:rect b="b" l="l" r="r" t="t"/>
            <a:pathLst>
              <a:path extrusionOk="0" h="3023821" w="3155791">
                <a:moveTo>
                  <a:pt x="0" y="0"/>
                </a:moveTo>
                <a:lnTo>
                  <a:pt x="3155790" y="0"/>
                </a:lnTo>
                <a:lnTo>
                  <a:pt x="3155790" y="3023821"/>
                </a:lnTo>
                <a:lnTo>
                  <a:pt x="0" y="3023821"/>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7" name="Google Shape;37;p3"/>
          <p:cNvSpPr/>
          <p:nvPr/>
        </p:nvSpPr>
        <p:spPr>
          <a:xfrm rot="1296289">
            <a:off x="16320004" y="1512598"/>
            <a:ext cx="2265599" cy="1919581"/>
          </a:xfrm>
          <a:custGeom>
            <a:rect b="b" l="l" r="r" t="t"/>
            <a:pathLst>
              <a:path extrusionOk="0" h="1919581" w="2265599">
                <a:moveTo>
                  <a:pt x="0" y="0"/>
                </a:moveTo>
                <a:lnTo>
                  <a:pt x="2265600" y="0"/>
                </a:lnTo>
                <a:lnTo>
                  <a:pt x="2265600" y="1919581"/>
                </a:lnTo>
                <a:lnTo>
                  <a:pt x="0" y="191958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8" name="Google Shape;38;p3"/>
          <p:cNvSpPr/>
          <p:nvPr/>
        </p:nvSpPr>
        <p:spPr>
          <a:xfrm rot="-2487859">
            <a:off x="1794946" y="-277491"/>
            <a:ext cx="2161751" cy="1802118"/>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9" name="Google Shape;39;p3"/>
          <p:cNvSpPr/>
          <p:nvPr/>
        </p:nvSpPr>
        <p:spPr>
          <a:xfrm rot="1296289">
            <a:off x="-369759" y="7879792"/>
            <a:ext cx="2430280" cy="2059110"/>
          </a:xfrm>
          <a:custGeom>
            <a:rect b="b" l="l" r="r" t="t"/>
            <a:pathLst>
              <a:path extrusionOk="0" h="2059110" w="2430280">
                <a:moveTo>
                  <a:pt x="0" y="0"/>
                </a:moveTo>
                <a:lnTo>
                  <a:pt x="2430281" y="0"/>
                </a:lnTo>
                <a:lnTo>
                  <a:pt x="2430281" y="2059110"/>
                </a:lnTo>
                <a:lnTo>
                  <a:pt x="0" y="205911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0" name="Google Shape;40;p3"/>
          <p:cNvSpPr/>
          <p:nvPr/>
        </p:nvSpPr>
        <p:spPr>
          <a:xfrm rot="7628195">
            <a:off x="15300850" y="559721"/>
            <a:ext cx="1939168" cy="1805189"/>
          </a:xfrm>
          <a:custGeom>
            <a:rect b="b" l="l" r="r" t="t"/>
            <a:pathLst>
              <a:path extrusionOk="0" h="1805189" w="1939168">
                <a:moveTo>
                  <a:pt x="0" y="0"/>
                </a:moveTo>
                <a:lnTo>
                  <a:pt x="1939169" y="0"/>
                </a:lnTo>
                <a:lnTo>
                  <a:pt x="1939169" y="1805189"/>
                </a:lnTo>
                <a:lnTo>
                  <a:pt x="0" y="180518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und Inhalt" type="obj">
  <p:cSld name="OBJECT">
    <p:spTree>
      <p:nvGrpSpPr>
        <p:cNvPr id="41" name="Shape 41"/>
        <p:cNvGrpSpPr/>
        <p:nvPr/>
      </p:nvGrpSpPr>
      <p:grpSpPr>
        <a:xfrm>
          <a:off x="0" y="0"/>
          <a:ext cx="0" cy="0"/>
          <a:chOff x="0" y="0"/>
          <a:chExt cx="0" cy="0"/>
        </a:xfrm>
      </p:grpSpPr>
      <p:sp>
        <p:nvSpPr>
          <p:cNvPr id="42" name="Google Shape;42;p4"/>
          <p:cNvSpPr txBox="1"/>
          <p:nvPr>
            <p:ph type="title"/>
          </p:nvPr>
        </p:nvSpPr>
        <p:spPr>
          <a:xfrm>
            <a:off x="1944000" y="1301860"/>
            <a:ext cx="14400000" cy="1260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4"/>
          <p:cNvSpPr txBox="1"/>
          <p:nvPr>
            <p:ph idx="1" type="body"/>
          </p:nvPr>
        </p:nvSpPr>
        <p:spPr>
          <a:xfrm>
            <a:off x="1944000" y="2738828"/>
            <a:ext cx="14400000" cy="64800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4"/>
          <p:cNvSpPr/>
          <p:nvPr/>
        </p:nvSpPr>
        <p:spPr>
          <a:xfrm>
            <a:off x="-806140" y="-803735"/>
            <a:ext cx="2499164" cy="2394654"/>
          </a:xfrm>
          <a:custGeom>
            <a:rect b="b" l="l" r="r" t="t"/>
            <a:pathLst>
              <a:path extrusionOk="0" h="2394654" w="2499164">
                <a:moveTo>
                  <a:pt x="0" y="0"/>
                </a:moveTo>
                <a:lnTo>
                  <a:pt x="2499165" y="0"/>
                </a:lnTo>
                <a:lnTo>
                  <a:pt x="2499165" y="2394654"/>
                </a:lnTo>
                <a:lnTo>
                  <a:pt x="0" y="2394654"/>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5" name="Google Shape;45;p4"/>
          <p:cNvSpPr/>
          <p:nvPr/>
        </p:nvSpPr>
        <p:spPr>
          <a:xfrm rot="4680788">
            <a:off x="16257418" y="8270982"/>
            <a:ext cx="2635834" cy="2525609"/>
          </a:xfrm>
          <a:custGeom>
            <a:rect b="b" l="l" r="r" t="t"/>
            <a:pathLst>
              <a:path extrusionOk="0" h="2525609" w="2635834">
                <a:moveTo>
                  <a:pt x="0" y="0"/>
                </a:moveTo>
                <a:lnTo>
                  <a:pt x="2635835" y="0"/>
                </a:lnTo>
                <a:lnTo>
                  <a:pt x="2635835" y="2525608"/>
                </a:lnTo>
                <a:lnTo>
                  <a:pt x="0" y="2525608"/>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6" name="Google Shape;46;p4"/>
          <p:cNvSpPr/>
          <p:nvPr/>
        </p:nvSpPr>
        <p:spPr>
          <a:xfrm>
            <a:off x="15433702" y="7133471"/>
            <a:ext cx="3505909" cy="3416667"/>
          </a:xfrm>
          <a:custGeom>
            <a:rect b="b" l="l" r="r" t="t"/>
            <a:pathLst>
              <a:path extrusionOk="0" h="3416667" w="3505909">
                <a:moveTo>
                  <a:pt x="0" y="0"/>
                </a:moveTo>
                <a:lnTo>
                  <a:pt x="3505909" y="0"/>
                </a:lnTo>
                <a:lnTo>
                  <a:pt x="3505909" y="3416668"/>
                </a:lnTo>
                <a:lnTo>
                  <a:pt x="0" y="341666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7" name="Google Shape;47;p4"/>
          <p:cNvSpPr/>
          <p:nvPr/>
        </p:nvSpPr>
        <p:spPr>
          <a:xfrm>
            <a:off x="-241193" y="146185"/>
            <a:ext cx="2085371" cy="2032289"/>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8" name="Google Shape;48;p4"/>
          <p:cNvSpPr/>
          <p:nvPr/>
        </p:nvSpPr>
        <p:spPr>
          <a:xfrm rot="7860677">
            <a:off x="668732" y="930928"/>
            <a:ext cx="1600955" cy="1490343"/>
          </a:xfrm>
          <a:custGeom>
            <a:rect b="b" l="l" r="r" t="t"/>
            <a:pathLst>
              <a:path extrusionOk="0" h="1490343" w="1600955">
                <a:moveTo>
                  <a:pt x="0" y="0"/>
                </a:moveTo>
                <a:lnTo>
                  <a:pt x="1600954" y="0"/>
                </a:lnTo>
                <a:lnTo>
                  <a:pt x="1600954" y="1490343"/>
                </a:lnTo>
                <a:lnTo>
                  <a:pt x="0" y="1490343"/>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9" name="Google Shape;49;p4"/>
          <p:cNvSpPr/>
          <p:nvPr/>
        </p:nvSpPr>
        <p:spPr>
          <a:xfrm rot="7860677">
            <a:off x="15930678" y="7382404"/>
            <a:ext cx="2243704" cy="2088684"/>
          </a:xfrm>
          <a:custGeom>
            <a:rect b="b" l="l" r="r" t="t"/>
            <a:pathLst>
              <a:path extrusionOk="0" h="2088684" w="2243704">
                <a:moveTo>
                  <a:pt x="0" y="0"/>
                </a:moveTo>
                <a:lnTo>
                  <a:pt x="2243704" y="0"/>
                </a:lnTo>
                <a:lnTo>
                  <a:pt x="2243704" y="2088684"/>
                </a:lnTo>
                <a:lnTo>
                  <a:pt x="0" y="208868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0" name="Google Shape;50;p4"/>
          <p:cNvSpPr/>
          <p:nvPr/>
        </p:nvSpPr>
        <p:spPr>
          <a:xfrm rot="-458312">
            <a:off x="16771767" y="216258"/>
            <a:ext cx="3155791" cy="3023821"/>
          </a:xfrm>
          <a:custGeom>
            <a:rect b="b" l="l" r="r" t="t"/>
            <a:pathLst>
              <a:path extrusionOk="0" h="3023821" w="3155791">
                <a:moveTo>
                  <a:pt x="0" y="0"/>
                </a:moveTo>
                <a:lnTo>
                  <a:pt x="3155790" y="0"/>
                </a:lnTo>
                <a:lnTo>
                  <a:pt x="3155790" y="3023821"/>
                </a:lnTo>
                <a:lnTo>
                  <a:pt x="0" y="3023821"/>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1" name="Google Shape;51;p4"/>
          <p:cNvSpPr/>
          <p:nvPr/>
        </p:nvSpPr>
        <p:spPr>
          <a:xfrm rot="1296289">
            <a:off x="15646620" y="-376703"/>
            <a:ext cx="2265599" cy="1919581"/>
          </a:xfrm>
          <a:custGeom>
            <a:rect b="b" l="l" r="r" t="t"/>
            <a:pathLst>
              <a:path extrusionOk="0" h="1919581" w="2265599">
                <a:moveTo>
                  <a:pt x="0" y="0"/>
                </a:moveTo>
                <a:lnTo>
                  <a:pt x="2265600" y="0"/>
                </a:lnTo>
                <a:lnTo>
                  <a:pt x="2265600" y="1919581"/>
                </a:lnTo>
                <a:lnTo>
                  <a:pt x="0" y="191958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2" name="Google Shape;52;p4"/>
          <p:cNvSpPr/>
          <p:nvPr/>
        </p:nvSpPr>
        <p:spPr>
          <a:xfrm rot="2310651">
            <a:off x="-811537" y="3739758"/>
            <a:ext cx="2509961" cy="2095591"/>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3" name="Google Shape;53;p4"/>
          <p:cNvSpPr/>
          <p:nvPr/>
        </p:nvSpPr>
        <p:spPr>
          <a:xfrm rot="7628195">
            <a:off x="17318415" y="2283638"/>
            <a:ext cx="1939168" cy="1805189"/>
          </a:xfrm>
          <a:custGeom>
            <a:rect b="b" l="l" r="r" t="t"/>
            <a:pathLst>
              <a:path extrusionOk="0" h="1805189" w="1939168">
                <a:moveTo>
                  <a:pt x="0" y="0"/>
                </a:moveTo>
                <a:lnTo>
                  <a:pt x="1939169" y="0"/>
                </a:lnTo>
                <a:lnTo>
                  <a:pt x="1939169" y="1805189"/>
                </a:lnTo>
                <a:lnTo>
                  <a:pt x="0" y="180518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4" name="Google Shape;54;p4"/>
          <p:cNvSpPr/>
          <p:nvPr/>
        </p:nvSpPr>
        <p:spPr>
          <a:xfrm>
            <a:off x="7687907" y="30602"/>
            <a:ext cx="2912186" cy="1012162"/>
          </a:xfrm>
          <a:custGeom>
            <a:rect b="b" l="l" r="r" t="t"/>
            <a:pathLst>
              <a:path extrusionOk="0" h="1012162" w="2912186">
                <a:moveTo>
                  <a:pt x="0" y="0"/>
                </a:moveTo>
                <a:lnTo>
                  <a:pt x="2912186" y="0"/>
                </a:lnTo>
                <a:lnTo>
                  <a:pt x="2912186" y="1012162"/>
                </a:lnTo>
                <a:lnTo>
                  <a:pt x="0" y="101216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bschnitts-&#10;überschrift" type="secHead">
  <p:cSld name="SECTION_HEADER">
    <p:spTree>
      <p:nvGrpSpPr>
        <p:cNvPr id="55" name="Shape 55"/>
        <p:cNvGrpSpPr/>
        <p:nvPr/>
      </p:nvGrpSpPr>
      <p:grpSpPr>
        <a:xfrm>
          <a:off x="0" y="0"/>
          <a:ext cx="0" cy="0"/>
          <a:chOff x="0" y="0"/>
          <a:chExt cx="0" cy="0"/>
        </a:xfrm>
      </p:grpSpPr>
      <p:sp>
        <p:nvSpPr>
          <p:cNvPr id="56" name="Google Shape;56;p5"/>
          <p:cNvSpPr txBox="1"/>
          <p:nvPr>
            <p:ph type="title"/>
          </p:nvPr>
        </p:nvSpPr>
        <p:spPr>
          <a:xfrm>
            <a:off x="1906800" y="2171700"/>
            <a:ext cx="14400000" cy="3955611"/>
          </a:xfrm>
          <a:prstGeom prst="rect">
            <a:avLst/>
          </a:prstGeom>
          <a:noFill/>
          <a:ln>
            <a:noFill/>
          </a:ln>
        </p:spPr>
        <p:txBody>
          <a:bodyPr anchorCtr="0" anchor="b" bIns="45700" lIns="90000" spcFirstLastPara="1" rIns="91425" wrap="square" tIns="45700">
            <a:normAutofit/>
          </a:bodyPr>
          <a:lstStyle>
            <a:lvl1pPr lvl="0" algn="l">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5"/>
          <p:cNvSpPr txBox="1"/>
          <p:nvPr>
            <p:ph idx="1" type="body"/>
          </p:nvPr>
        </p:nvSpPr>
        <p:spPr>
          <a:xfrm>
            <a:off x="1906800" y="6491289"/>
            <a:ext cx="14400000" cy="2079814"/>
          </a:xfrm>
          <a:prstGeom prst="rect">
            <a:avLst/>
          </a:prstGeom>
          <a:noFill/>
          <a:ln>
            <a:noFill/>
          </a:ln>
        </p:spPr>
        <p:txBody>
          <a:bodyPr anchorCtr="0" anchor="t" bIns="45700" lIns="90000"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58" name="Google Shape;58;p5"/>
          <p:cNvSpPr/>
          <p:nvPr/>
        </p:nvSpPr>
        <p:spPr>
          <a:xfrm>
            <a:off x="-988817" y="7307032"/>
            <a:ext cx="2499164" cy="2394654"/>
          </a:xfrm>
          <a:custGeom>
            <a:rect b="b" l="l" r="r" t="t"/>
            <a:pathLst>
              <a:path extrusionOk="0" h="2394654" w="2499164">
                <a:moveTo>
                  <a:pt x="0" y="0"/>
                </a:moveTo>
                <a:lnTo>
                  <a:pt x="2499165" y="0"/>
                </a:lnTo>
                <a:lnTo>
                  <a:pt x="2499165" y="2394654"/>
                </a:lnTo>
                <a:lnTo>
                  <a:pt x="0" y="2394654"/>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9" name="Google Shape;59;p5"/>
          <p:cNvSpPr/>
          <p:nvPr/>
        </p:nvSpPr>
        <p:spPr>
          <a:xfrm rot="4680788">
            <a:off x="16257418" y="8270982"/>
            <a:ext cx="2635834" cy="2525609"/>
          </a:xfrm>
          <a:custGeom>
            <a:rect b="b" l="l" r="r" t="t"/>
            <a:pathLst>
              <a:path extrusionOk="0" h="2525609" w="2635834">
                <a:moveTo>
                  <a:pt x="0" y="0"/>
                </a:moveTo>
                <a:lnTo>
                  <a:pt x="2635835" y="0"/>
                </a:lnTo>
                <a:lnTo>
                  <a:pt x="2635835" y="2525608"/>
                </a:lnTo>
                <a:lnTo>
                  <a:pt x="0" y="2525608"/>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0" name="Google Shape;60;p5"/>
          <p:cNvSpPr/>
          <p:nvPr/>
        </p:nvSpPr>
        <p:spPr>
          <a:xfrm>
            <a:off x="15433702" y="7133471"/>
            <a:ext cx="3505909" cy="3416667"/>
          </a:xfrm>
          <a:custGeom>
            <a:rect b="b" l="l" r="r" t="t"/>
            <a:pathLst>
              <a:path extrusionOk="0" h="3416667" w="3505909">
                <a:moveTo>
                  <a:pt x="0" y="0"/>
                </a:moveTo>
                <a:lnTo>
                  <a:pt x="3505909" y="0"/>
                </a:lnTo>
                <a:lnTo>
                  <a:pt x="3505909" y="3416668"/>
                </a:lnTo>
                <a:lnTo>
                  <a:pt x="0" y="341666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1" name="Google Shape;61;p5"/>
          <p:cNvSpPr/>
          <p:nvPr/>
        </p:nvSpPr>
        <p:spPr>
          <a:xfrm>
            <a:off x="-844430" y="-193109"/>
            <a:ext cx="2311228" cy="2962220"/>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2" name="Google Shape;62;p5"/>
          <p:cNvSpPr/>
          <p:nvPr/>
        </p:nvSpPr>
        <p:spPr>
          <a:xfrm rot="7860677">
            <a:off x="15930678" y="7382404"/>
            <a:ext cx="2243704" cy="2088684"/>
          </a:xfrm>
          <a:custGeom>
            <a:rect b="b" l="l" r="r" t="t"/>
            <a:pathLst>
              <a:path extrusionOk="0" h="2088684" w="2243704">
                <a:moveTo>
                  <a:pt x="0" y="0"/>
                </a:moveTo>
                <a:lnTo>
                  <a:pt x="2243704" y="0"/>
                </a:lnTo>
                <a:lnTo>
                  <a:pt x="2243704" y="2088684"/>
                </a:lnTo>
                <a:lnTo>
                  <a:pt x="0" y="208868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3" name="Google Shape;63;p5"/>
          <p:cNvSpPr/>
          <p:nvPr/>
        </p:nvSpPr>
        <p:spPr>
          <a:xfrm rot="-458312">
            <a:off x="16209917" y="184642"/>
            <a:ext cx="3155791" cy="3023821"/>
          </a:xfrm>
          <a:custGeom>
            <a:rect b="b" l="l" r="r" t="t"/>
            <a:pathLst>
              <a:path extrusionOk="0" h="3023821" w="3155791">
                <a:moveTo>
                  <a:pt x="0" y="0"/>
                </a:moveTo>
                <a:lnTo>
                  <a:pt x="3155790" y="0"/>
                </a:lnTo>
                <a:lnTo>
                  <a:pt x="3155790" y="3023821"/>
                </a:lnTo>
                <a:lnTo>
                  <a:pt x="0" y="3023821"/>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4" name="Google Shape;64;p5"/>
          <p:cNvSpPr/>
          <p:nvPr/>
        </p:nvSpPr>
        <p:spPr>
          <a:xfrm rot="1296289">
            <a:off x="15248400" y="253720"/>
            <a:ext cx="2265599" cy="1919581"/>
          </a:xfrm>
          <a:custGeom>
            <a:rect b="b" l="l" r="r" t="t"/>
            <a:pathLst>
              <a:path extrusionOk="0" h="1919581" w="2265599">
                <a:moveTo>
                  <a:pt x="0" y="0"/>
                </a:moveTo>
                <a:lnTo>
                  <a:pt x="2265600" y="0"/>
                </a:lnTo>
                <a:lnTo>
                  <a:pt x="2265600" y="1919581"/>
                </a:lnTo>
                <a:lnTo>
                  <a:pt x="0" y="191958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5" name="Google Shape;65;p5"/>
          <p:cNvSpPr/>
          <p:nvPr/>
        </p:nvSpPr>
        <p:spPr>
          <a:xfrm rot="-2487859">
            <a:off x="1040125" y="-83341"/>
            <a:ext cx="1763767" cy="1494391"/>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6" name="Google Shape;66;p5"/>
          <p:cNvSpPr/>
          <p:nvPr/>
        </p:nvSpPr>
        <p:spPr>
          <a:xfrm rot="1296289">
            <a:off x="554481" y="8677791"/>
            <a:ext cx="2430280" cy="2059110"/>
          </a:xfrm>
          <a:custGeom>
            <a:rect b="b" l="l" r="r" t="t"/>
            <a:pathLst>
              <a:path extrusionOk="0" h="2059110" w="2430280">
                <a:moveTo>
                  <a:pt x="0" y="0"/>
                </a:moveTo>
                <a:lnTo>
                  <a:pt x="2430281" y="0"/>
                </a:lnTo>
                <a:lnTo>
                  <a:pt x="2430281" y="2059110"/>
                </a:lnTo>
                <a:lnTo>
                  <a:pt x="0" y="205911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7" name="Google Shape;67;p5"/>
          <p:cNvSpPr/>
          <p:nvPr/>
        </p:nvSpPr>
        <p:spPr>
          <a:xfrm rot="7628195">
            <a:off x="15096766" y="-48757"/>
            <a:ext cx="1939168" cy="1805189"/>
          </a:xfrm>
          <a:custGeom>
            <a:rect b="b" l="l" r="r" t="t"/>
            <a:pathLst>
              <a:path extrusionOk="0" h="1805189" w="1939168">
                <a:moveTo>
                  <a:pt x="0" y="0"/>
                </a:moveTo>
                <a:lnTo>
                  <a:pt x="1939169" y="0"/>
                </a:lnTo>
                <a:lnTo>
                  <a:pt x="1939169" y="1805189"/>
                </a:lnTo>
                <a:lnTo>
                  <a:pt x="0" y="180518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8" name="Google Shape;68;p5"/>
          <p:cNvSpPr/>
          <p:nvPr/>
        </p:nvSpPr>
        <p:spPr>
          <a:xfrm>
            <a:off x="7687907" y="30602"/>
            <a:ext cx="2912186" cy="1012162"/>
          </a:xfrm>
          <a:custGeom>
            <a:rect b="b" l="l" r="r" t="t"/>
            <a:pathLst>
              <a:path extrusionOk="0" h="1012162" w="2912186">
                <a:moveTo>
                  <a:pt x="0" y="0"/>
                </a:moveTo>
                <a:lnTo>
                  <a:pt x="2912186" y="0"/>
                </a:lnTo>
                <a:lnTo>
                  <a:pt x="2912186" y="1012162"/>
                </a:lnTo>
                <a:lnTo>
                  <a:pt x="0" y="101216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9" name="Google Shape;69;p5"/>
          <p:cNvSpPr/>
          <p:nvPr/>
        </p:nvSpPr>
        <p:spPr>
          <a:xfrm rot="7860677">
            <a:off x="668732" y="930928"/>
            <a:ext cx="1600955" cy="1490343"/>
          </a:xfrm>
          <a:custGeom>
            <a:rect b="b" l="l" r="r" t="t"/>
            <a:pathLst>
              <a:path extrusionOk="0" h="1490343" w="1600955">
                <a:moveTo>
                  <a:pt x="0" y="0"/>
                </a:moveTo>
                <a:lnTo>
                  <a:pt x="1600954" y="0"/>
                </a:lnTo>
                <a:lnTo>
                  <a:pt x="1600954" y="1490343"/>
                </a:lnTo>
                <a:lnTo>
                  <a:pt x="0" y="1490343"/>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wei Inhalte" type="twoObj">
  <p:cSld name="TWO_OBJECTS">
    <p:spTree>
      <p:nvGrpSpPr>
        <p:cNvPr id="70" name="Shape 70"/>
        <p:cNvGrpSpPr/>
        <p:nvPr/>
      </p:nvGrpSpPr>
      <p:grpSpPr>
        <a:xfrm>
          <a:off x="0" y="0"/>
          <a:ext cx="0" cy="0"/>
          <a:chOff x="0" y="0"/>
          <a:chExt cx="0" cy="0"/>
        </a:xfrm>
      </p:grpSpPr>
      <p:sp>
        <p:nvSpPr>
          <p:cNvPr id="71" name="Google Shape;71;p6"/>
          <p:cNvSpPr txBox="1"/>
          <p:nvPr>
            <p:ph type="title"/>
          </p:nvPr>
        </p:nvSpPr>
        <p:spPr>
          <a:xfrm>
            <a:off x="1944000" y="1366765"/>
            <a:ext cx="14400000" cy="1260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6"/>
          <p:cNvSpPr txBox="1"/>
          <p:nvPr>
            <p:ph idx="1" type="body"/>
          </p:nvPr>
        </p:nvSpPr>
        <p:spPr>
          <a:xfrm>
            <a:off x="1944000" y="2738437"/>
            <a:ext cx="7123800" cy="65278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6"/>
          <p:cNvSpPr txBox="1"/>
          <p:nvPr>
            <p:ph idx="2" type="body"/>
          </p:nvPr>
        </p:nvSpPr>
        <p:spPr>
          <a:xfrm>
            <a:off x="9220200" y="2738437"/>
            <a:ext cx="7123800" cy="65278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6"/>
          <p:cNvSpPr/>
          <p:nvPr/>
        </p:nvSpPr>
        <p:spPr>
          <a:xfrm>
            <a:off x="-988817" y="7307032"/>
            <a:ext cx="2499164" cy="2394654"/>
          </a:xfrm>
          <a:custGeom>
            <a:rect b="b" l="l" r="r" t="t"/>
            <a:pathLst>
              <a:path extrusionOk="0" h="2394654" w="2499164">
                <a:moveTo>
                  <a:pt x="0" y="0"/>
                </a:moveTo>
                <a:lnTo>
                  <a:pt x="2499165" y="0"/>
                </a:lnTo>
                <a:lnTo>
                  <a:pt x="2499165" y="2394654"/>
                </a:lnTo>
                <a:lnTo>
                  <a:pt x="0" y="2394654"/>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5" name="Google Shape;75;p6"/>
          <p:cNvSpPr/>
          <p:nvPr/>
        </p:nvSpPr>
        <p:spPr>
          <a:xfrm>
            <a:off x="-241193" y="146185"/>
            <a:ext cx="2085371" cy="2032289"/>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6" name="Google Shape;76;p6"/>
          <p:cNvSpPr/>
          <p:nvPr/>
        </p:nvSpPr>
        <p:spPr>
          <a:xfrm rot="7860677">
            <a:off x="668732" y="930928"/>
            <a:ext cx="1600955" cy="1490343"/>
          </a:xfrm>
          <a:custGeom>
            <a:rect b="b" l="l" r="r" t="t"/>
            <a:pathLst>
              <a:path extrusionOk="0" h="1490343" w="1600955">
                <a:moveTo>
                  <a:pt x="0" y="0"/>
                </a:moveTo>
                <a:lnTo>
                  <a:pt x="1600954" y="0"/>
                </a:lnTo>
                <a:lnTo>
                  <a:pt x="1600954" y="1490343"/>
                </a:lnTo>
                <a:lnTo>
                  <a:pt x="0" y="1490343"/>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7" name="Google Shape;77;p6"/>
          <p:cNvSpPr/>
          <p:nvPr/>
        </p:nvSpPr>
        <p:spPr>
          <a:xfrm rot="-2487859">
            <a:off x="1653257" y="-539706"/>
            <a:ext cx="1763767" cy="1494391"/>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8" name="Google Shape;78;p6"/>
          <p:cNvSpPr/>
          <p:nvPr/>
        </p:nvSpPr>
        <p:spPr>
          <a:xfrm rot="1296289">
            <a:off x="-407556" y="8504231"/>
            <a:ext cx="2430280" cy="2059110"/>
          </a:xfrm>
          <a:custGeom>
            <a:rect b="b" l="l" r="r" t="t"/>
            <a:pathLst>
              <a:path extrusionOk="0" h="2059110" w="2430280">
                <a:moveTo>
                  <a:pt x="0" y="0"/>
                </a:moveTo>
                <a:lnTo>
                  <a:pt x="2430281" y="0"/>
                </a:lnTo>
                <a:lnTo>
                  <a:pt x="2430281" y="2059110"/>
                </a:lnTo>
                <a:lnTo>
                  <a:pt x="0" y="205911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9" name="Google Shape;79;p6"/>
          <p:cNvSpPr/>
          <p:nvPr/>
        </p:nvSpPr>
        <p:spPr>
          <a:xfrm>
            <a:off x="7687907" y="30602"/>
            <a:ext cx="2912186" cy="1012162"/>
          </a:xfrm>
          <a:custGeom>
            <a:rect b="b" l="l" r="r" t="t"/>
            <a:pathLst>
              <a:path extrusionOk="0" h="1012162" w="2912186">
                <a:moveTo>
                  <a:pt x="0" y="0"/>
                </a:moveTo>
                <a:lnTo>
                  <a:pt x="2912186" y="0"/>
                </a:lnTo>
                <a:lnTo>
                  <a:pt x="2912186" y="1012162"/>
                </a:lnTo>
                <a:lnTo>
                  <a:pt x="0" y="101216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0" name="Google Shape;80;p6"/>
          <p:cNvSpPr/>
          <p:nvPr/>
        </p:nvSpPr>
        <p:spPr>
          <a:xfrm rot="4680788">
            <a:off x="16257418" y="8270982"/>
            <a:ext cx="2635834" cy="2525609"/>
          </a:xfrm>
          <a:custGeom>
            <a:rect b="b" l="l" r="r" t="t"/>
            <a:pathLst>
              <a:path extrusionOk="0" h="2525609" w="2635834">
                <a:moveTo>
                  <a:pt x="0" y="0"/>
                </a:moveTo>
                <a:lnTo>
                  <a:pt x="2635835" y="0"/>
                </a:lnTo>
                <a:lnTo>
                  <a:pt x="2635835" y="2525608"/>
                </a:lnTo>
                <a:lnTo>
                  <a:pt x="0" y="2525608"/>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1" name="Google Shape;81;p6"/>
          <p:cNvSpPr/>
          <p:nvPr/>
        </p:nvSpPr>
        <p:spPr>
          <a:xfrm rot="-5591590">
            <a:off x="16401541" y="714471"/>
            <a:ext cx="2347587" cy="2305392"/>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2" name="Google Shape;82;p6"/>
          <p:cNvSpPr/>
          <p:nvPr/>
        </p:nvSpPr>
        <p:spPr>
          <a:xfrm rot="7860677">
            <a:off x="16917043" y="6687679"/>
            <a:ext cx="2243704" cy="2088684"/>
          </a:xfrm>
          <a:custGeom>
            <a:rect b="b" l="l" r="r" t="t"/>
            <a:pathLst>
              <a:path extrusionOk="0" h="2088684" w="2243704">
                <a:moveTo>
                  <a:pt x="0" y="0"/>
                </a:moveTo>
                <a:lnTo>
                  <a:pt x="2243704" y="0"/>
                </a:lnTo>
                <a:lnTo>
                  <a:pt x="2243704" y="2088684"/>
                </a:lnTo>
                <a:lnTo>
                  <a:pt x="0" y="208868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3" name="Google Shape;83;p6"/>
          <p:cNvSpPr/>
          <p:nvPr/>
        </p:nvSpPr>
        <p:spPr>
          <a:xfrm rot="1296289">
            <a:off x="15384349" y="-545919"/>
            <a:ext cx="2531996" cy="2154648"/>
          </a:xfrm>
          <a:custGeom>
            <a:rect b="b" l="l" r="r" t="t"/>
            <a:pathLst>
              <a:path extrusionOk="0" h="1919581" w="2265599">
                <a:moveTo>
                  <a:pt x="0" y="0"/>
                </a:moveTo>
                <a:lnTo>
                  <a:pt x="2265600" y="0"/>
                </a:lnTo>
                <a:lnTo>
                  <a:pt x="2265600" y="1919581"/>
                </a:lnTo>
                <a:lnTo>
                  <a:pt x="0" y="191958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4" name="Google Shape;84;p6"/>
          <p:cNvSpPr/>
          <p:nvPr/>
        </p:nvSpPr>
        <p:spPr>
          <a:xfrm rot="-2487859">
            <a:off x="16952453" y="4767483"/>
            <a:ext cx="2033723" cy="1619753"/>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5" name="Google Shape;85;p6"/>
          <p:cNvSpPr/>
          <p:nvPr/>
        </p:nvSpPr>
        <p:spPr>
          <a:xfrm rot="2046247">
            <a:off x="17723193" y="-357480"/>
            <a:ext cx="1707091" cy="1936262"/>
          </a:xfrm>
          <a:custGeom>
            <a:rect b="b" l="l" r="r" t="t"/>
            <a:pathLst>
              <a:path extrusionOk="0" h="1805189" w="1939168">
                <a:moveTo>
                  <a:pt x="0" y="0"/>
                </a:moveTo>
                <a:lnTo>
                  <a:pt x="1939169" y="0"/>
                </a:lnTo>
                <a:lnTo>
                  <a:pt x="1939169" y="1805189"/>
                </a:lnTo>
                <a:lnTo>
                  <a:pt x="0" y="180518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gleich" type="twoTxTwoObj">
  <p:cSld name="TWO_OBJECTS_WITH_TEXT">
    <p:spTree>
      <p:nvGrpSpPr>
        <p:cNvPr id="86" name="Shape 86"/>
        <p:cNvGrpSpPr/>
        <p:nvPr/>
      </p:nvGrpSpPr>
      <p:grpSpPr>
        <a:xfrm>
          <a:off x="0" y="0"/>
          <a:ext cx="0" cy="0"/>
          <a:chOff x="0" y="0"/>
          <a:chExt cx="0" cy="0"/>
        </a:xfrm>
      </p:grpSpPr>
      <p:sp>
        <p:nvSpPr>
          <p:cNvPr id="87" name="Google Shape;87;p7"/>
          <p:cNvSpPr txBox="1"/>
          <p:nvPr>
            <p:ph type="title"/>
          </p:nvPr>
        </p:nvSpPr>
        <p:spPr>
          <a:xfrm>
            <a:off x="1944000" y="1174623"/>
            <a:ext cx="14400000" cy="1260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7"/>
          <p:cNvSpPr txBox="1"/>
          <p:nvPr>
            <p:ph idx="1" type="body"/>
          </p:nvPr>
        </p:nvSpPr>
        <p:spPr>
          <a:xfrm>
            <a:off x="1944000" y="2522538"/>
            <a:ext cx="7052362" cy="123507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9" name="Google Shape;89;p7"/>
          <p:cNvSpPr txBox="1"/>
          <p:nvPr>
            <p:ph idx="2" type="body"/>
          </p:nvPr>
        </p:nvSpPr>
        <p:spPr>
          <a:xfrm>
            <a:off x="1944000" y="3757613"/>
            <a:ext cx="7052362" cy="552767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 name="Google Shape;90;p7"/>
          <p:cNvSpPr txBox="1"/>
          <p:nvPr>
            <p:ph idx="3" type="body"/>
          </p:nvPr>
        </p:nvSpPr>
        <p:spPr>
          <a:xfrm>
            <a:off x="9258301" y="2522538"/>
            <a:ext cx="7085700" cy="123507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91" name="Google Shape;91;p7"/>
          <p:cNvSpPr txBox="1"/>
          <p:nvPr>
            <p:ph idx="4" type="body"/>
          </p:nvPr>
        </p:nvSpPr>
        <p:spPr>
          <a:xfrm>
            <a:off x="9258301" y="3757613"/>
            <a:ext cx="7085700" cy="552767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 name="Google Shape;92;p7"/>
          <p:cNvSpPr/>
          <p:nvPr/>
        </p:nvSpPr>
        <p:spPr>
          <a:xfrm rot="4680788">
            <a:off x="16257418" y="8270982"/>
            <a:ext cx="2635834" cy="2525609"/>
          </a:xfrm>
          <a:custGeom>
            <a:rect b="b" l="l" r="r" t="t"/>
            <a:pathLst>
              <a:path extrusionOk="0" h="2525609" w="2635834">
                <a:moveTo>
                  <a:pt x="0" y="0"/>
                </a:moveTo>
                <a:lnTo>
                  <a:pt x="2635835" y="0"/>
                </a:lnTo>
                <a:lnTo>
                  <a:pt x="2635835" y="2525608"/>
                </a:lnTo>
                <a:lnTo>
                  <a:pt x="0" y="2525608"/>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93" name="Google Shape;93;p7"/>
          <p:cNvSpPr/>
          <p:nvPr/>
        </p:nvSpPr>
        <p:spPr>
          <a:xfrm>
            <a:off x="16605940" y="6291738"/>
            <a:ext cx="3505909" cy="3416667"/>
          </a:xfrm>
          <a:custGeom>
            <a:rect b="b" l="l" r="r" t="t"/>
            <a:pathLst>
              <a:path extrusionOk="0" h="3416667" w="3505909">
                <a:moveTo>
                  <a:pt x="0" y="0"/>
                </a:moveTo>
                <a:lnTo>
                  <a:pt x="3505909" y="0"/>
                </a:lnTo>
                <a:lnTo>
                  <a:pt x="3505909" y="3416668"/>
                </a:lnTo>
                <a:lnTo>
                  <a:pt x="0" y="341666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94" name="Google Shape;94;p7"/>
          <p:cNvSpPr/>
          <p:nvPr/>
        </p:nvSpPr>
        <p:spPr>
          <a:xfrm rot="7860677">
            <a:off x="16672693" y="5865697"/>
            <a:ext cx="2243704" cy="2088684"/>
          </a:xfrm>
          <a:custGeom>
            <a:rect b="b" l="l" r="r" t="t"/>
            <a:pathLst>
              <a:path extrusionOk="0" h="2088684" w="2243704">
                <a:moveTo>
                  <a:pt x="0" y="0"/>
                </a:moveTo>
                <a:lnTo>
                  <a:pt x="2243704" y="0"/>
                </a:lnTo>
                <a:lnTo>
                  <a:pt x="2243704" y="2088684"/>
                </a:lnTo>
                <a:lnTo>
                  <a:pt x="0" y="208868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95" name="Google Shape;95;p7"/>
          <p:cNvSpPr/>
          <p:nvPr/>
        </p:nvSpPr>
        <p:spPr>
          <a:xfrm rot="-458312">
            <a:off x="16710104" y="1053145"/>
            <a:ext cx="3155791" cy="3023821"/>
          </a:xfrm>
          <a:custGeom>
            <a:rect b="b" l="l" r="r" t="t"/>
            <a:pathLst>
              <a:path extrusionOk="0" h="3023821" w="3155791">
                <a:moveTo>
                  <a:pt x="0" y="0"/>
                </a:moveTo>
                <a:lnTo>
                  <a:pt x="3155790" y="0"/>
                </a:lnTo>
                <a:lnTo>
                  <a:pt x="3155790" y="3023821"/>
                </a:lnTo>
                <a:lnTo>
                  <a:pt x="0" y="3023821"/>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96" name="Google Shape;96;p7"/>
          <p:cNvSpPr/>
          <p:nvPr/>
        </p:nvSpPr>
        <p:spPr>
          <a:xfrm rot="1296289">
            <a:off x="15390336" y="-527401"/>
            <a:ext cx="2265599" cy="1919581"/>
          </a:xfrm>
          <a:custGeom>
            <a:rect b="b" l="l" r="r" t="t"/>
            <a:pathLst>
              <a:path extrusionOk="0" h="1919581" w="2265599">
                <a:moveTo>
                  <a:pt x="0" y="0"/>
                </a:moveTo>
                <a:lnTo>
                  <a:pt x="2265600" y="0"/>
                </a:lnTo>
                <a:lnTo>
                  <a:pt x="2265600" y="1919581"/>
                </a:lnTo>
                <a:lnTo>
                  <a:pt x="0" y="191958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97" name="Google Shape;97;p7"/>
          <p:cNvSpPr/>
          <p:nvPr/>
        </p:nvSpPr>
        <p:spPr>
          <a:xfrm rot="7628195">
            <a:off x="17157286" y="1319324"/>
            <a:ext cx="1939168" cy="1805189"/>
          </a:xfrm>
          <a:custGeom>
            <a:rect b="b" l="l" r="r" t="t"/>
            <a:pathLst>
              <a:path extrusionOk="0" h="1805189" w="1939168">
                <a:moveTo>
                  <a:pt x="0" y="0"/>
                </a:moveTo>
                <a:lnTo>
                  <a:pt x="1939169" y="0"/>
                </a:lnTo>
                <a:lnTo>
                  <a:pt x="1939169" y="1805189"/>
                </a:lnTo>
                <a:lnTo>
                  <a:pt x="0" y="180518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98" name="Google Shape;98;p7"/>
          <p:cNvSpPr/>
          <p:nvPr/>
        </p:nvSpPr>
        <p:spPr>
          <a:xfrm>
            <a:off x="7687907" y="30602"/>
            <a:ext cx="2912186" cy="1012162"/>
          </a:xfrm>
          <a:custGeom>
            <a:rect b="b" l="l" r="r" t="t"/>
            <a:pathLst>
              <a:path extrusionOk="0" h="1012162" w="2912186">
                <a:moveTo>
                  <a:pt x="0" y="0"/>
                </a:moveTo>
                <a:lnTo>
                  <a:pt x="2912186" y="0"/>
                </a:lnTo>
                <a:lnTo>
                  <a:pt x="2912186" y="1012162"/>
                </a:lnTo>
                <a:lnTo>
                  <a:pt x="0" y="101216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99" name="Google Shape;99;p7"/>
          <p:cNvSpPr/>
          <p:nvPr/>
        </p:nvSpPr>
        <p:spPr>
          <a:xfrm>
            <a:off x="-1249582" y="4137531"/>
            <a:ext cx="2499164" cy="5514763"/>
          </a:xfrm>
          <a:custGeom>
            <a:rect b="b" l="l" r="r" t="t"/>
            <a:pathLst>
              <a:path extrusionOk="0" h="2394654" w="2499164">
                <a:moveTo>
                  <a:pt x="0" y="0"/>
                </a:moveTo>
                <a:lnTo>
                  <a:pt x="2499165" y="0"/>
                </a:lnTo>
                <a:lnTo>
                  <a:pt x="2499165" y="2394654"/>
                </a:lnTo>
                <a:lnTo>
                  <a:pt x="0" y="2394654"/>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00" name="Google Shape;100;p7"/>
          <p:cNvSpPr/>
          <p:nvPr/>
        </p:nvSpPr>
        <p:spPr>
          <a:xfrm rot="1296289">
            <a:off x="-369759" y="7879792"/>
            <a:ext cx="2430280" cy="2059110"/>
          </a:xfrm>
          <a:custGeom>
            <a:rect b="b" l="l" r="r" t="t"/>
            <a:pathLst>
              <a:path extrusionOk="0" h="2059110" w="2430280">
                <a:moveTo>
                  <a:pt x="0" y="0"/>
                </a:moveTo>
                <a:lnTo>
                  <a:pt x="2430281" y="0"/>
                </a:lnTo>
                <a:lnTo>
                  <a:pt x="2430281" y="2059110"/>
                </a:lnTo>
                <a:lnTo>
                  <a:pt x="0" y="205911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01" name="Google Shape;101;p7"/>
          <p:cNvSpPr/>
          <p:nvPr/>
        </p:nvSpPr>
        <p:spPr>
          <a:xfrm rot="7860677">
            <a:off x="-755376" y="4673141"/>
            <a:ext cx="1600955" cy="1645696"/>
          </a:xfrm>
          <a:custGeom>
            <a:rect b="b" l="l" r="r" t="t"/>
            <a:pathLst>
              <a:path extrusionOk="0" h="1490343" w="1600955">
                <a:moveTo>
                  <a:pt x="0" y="0"/>
                </a:moveTo>
                <a:lnTo>
                  <a:pt x="1600954" y="0"/>
                </a:lnTo>
                <a:lnTo>
                  <a:pt x="1600954" y="1490343"/>
                </a:lnTo>
                <a:lnTo>
                  <a:pt x="0" y="1490343"/>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02" name="Google Shape;102;p7"/>
          <p:cNvSpPr/>
          <p:nvPr/>
        </p:nvSpPr>
        <p:spPr>
          <a:xfrm rot="-2487859">
            <a:off x="754582" y="-207773"/>
            <a:ext cx="1882775" cy="1684956"/>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03" name="Google Shape;103;p7"/>
          <p:cNvSpPr/>
          <p:nvPr/>
        </p:nvSpPr>
        <p:spPr>
          <a:xfrm>
            <a:off x="-613526" y="-932654"/>
            <a:ext cx="2609805" cy="2593397"/>
          </a:xfrm>
          <a:custGeom>
            <a:rect b="b" l="l" r="r" t="t"/>
            <a:pathLst>
              <a:path extrusionOk="0" h="3416667" w="3505909">
                <a:moveTo>
                  <a:pt x="0" y="0"/>
                </a:moveTo>
                <a:lnTo>
                  <a:pt x="3505909" y="0"/>
                </a:lnTo>
                <a:lnTo>
                  <a:pt x="3505909" y="3416668"/>
                </a:lnTo>
                <a:lnTo>
                  <a:pt x="0" y="341666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r Titel" type="titleOnly">
  <p:cSld name="TITLE_ONLY">
    <p:spTree>
      <p:nvGrpSpPr>
        <p:cNvPr id="104" name="Shape 104"/>
        <p:cNvGrpSpPr/>
        <p:nvPr/>
      </p:nvGrpSpPr>
      <p:grpSpPr>
        <a:xfrm>
          <a:off x="0" y="0"/>
          <a:ext cx="0" cy="0"/>
          <a:chOff x="0" y="0"/>
          <a:chExt cx="0" cy="0"/>
        </a:xfrm>
      </p:grpSpPr>
      <p:sp>
        <p:nvSpPr>
          <p:cNvPr id="105" name="Google Shape;105;p8"/>
          <p:cNvSpPr txBox="1"/>
          <p:nvPr>
            <p:ph type="title"/>
          </p:nvPr>
        </p:nvSpPr>
        <p:spPr>
          <a:xfrm>
            <a:off x="1944000" y="1322140"/>
            <a:ext cx="14400000" cy="1260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8"/>
          <p:cNvSpPr/>
          <p:nvPr/>
        </p:nvSpPr>
        <p:spPr>
          <a:xfrm>
            <a:off x="7687907" y="30602"/>
            <a:ext cx="2912186" cy="1012162"/>
          </a:xfrm>
          <a:custGeom>
            <a:rect b="b" l="l" r="r" t="t"/>
            <a:pathLst>
              <a:path extrusionOk="0" h="1012162" w="2912186">
                <a:moveTo>
                  <a:pt x="0" y="0"/>
                </a:moveTo>
                <a:lnTo>
                  <a:pt x="2912186" y="0"/>
                </a:lnTo>
                <a:lnTo>
                  <a:pt x="2912186" y="1012162"/>
                </a:lnTo>
                <a:lnTo>
                  <a:pt x="0" y="1012162"/>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07" name="Google Shape;107;p8"/>
          <p:cNvSpPr/>
          <p:nvPr/>
        </p:nvSpPr>
        <p:spPr>
          <a:xfrm rot="-2487859">
            <a:off x="634233" y="-130796"/>
            <a:ext cx="2100921" cy="2020412"/>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08" name="Google Shape;108;p8"/>
          <p:cNvSpPr/>
          <p:nvPr/>
        </p:nvSpPr>
        <p:spPr>
          <a:xfrm>
            <a:off x="92944" y="6032092"/>
            <a:ext cx="2499164" cy="2394654"/>
          </a:xfrm>
          <a:custGeom>
            <a:rect b="b" l="l" r="r" t="t"/>
            <a:pathLst>
              <a:path extrusionOk="0" h="2394654" w="2499164">
                <a:moveTo>
                  <a:pt x="0" y="0"/>
                </a:moveTo>
                <a:lnTo>
                  <a:pt x="2499165" y="0"/>
                </a:lnTo>
                <a:lnTo>
                  <a:pt x="2499165" y="2394654"/>
                </a:lnTo>
                <a:lnTo>
                  <a:pt x="0" y="239465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09" name="Google Shape;109;p8"/>
          <p:cNvSpPr/>
          <p:nvPr/>
        </p:nvSpPr>
        <p:spPr>
          <a:xfrm rot="4680788">
            <a:off x="16257418" y="8270982"/>
            <a:ext cx="2635834" cy="2525609"/>
          </a:xfrm>
          <a:custGeom>
            <a:rect b="b" l="l" r="r" t="t"/>
            <a:pathLst>
              <a:path extrusionOk="0" h="2525609" w="2635834">
                <a:moveTo>
                  <a:pt x="0" y="0"/>
                </a:moveTo>
                <a:lnTo>
                  <a:pt x="2635835" y="0"/>
                </a:lnTo>
                <a:lnTo>
                  <a:pt x="2635835" y="2525608"/>
                </a:lnTo>
                <a:lnTo>
                  <a:pt x="0" y="2525608"/>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10" name="Google Shape;110;p8"/>
          <p:cNvSpPr/>
          <p:nvPr/>
        </p:nvSpPr>
        <p:spPr>
          <a:xfrm>
            <a:off x="-817599" y="-741416"/>
            <a:ext cx="2912187" cy="3109714"/>
          </a:xfrm>
          <a:custGeom>
            <a:rect b="b" l="l" r="r" t="t"/>
            <a:pathLst>
              <a:path extrusionOk="0" h="3416667" w="3505909">
                <a:moveTo>
                  <a:pt x="0" y="0"/>
                </a:moveTo>
                <a:lnTo>
                  <a:pt x="3505909" y="0"/>
                </a:lnTo>
                <a:lnTo>
                  <a:pt x="3505909" y="3416668"/>
                </a:lnTo>
                <a:lnTo>
                  <a:pt x="0" y="3416668"/>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11" name="Google Shape;111;p8"/>
          <p:cNvSpPr/>
          <p:nvPr/>
        </p:nvSpPr>
        <p:spPr>
          <a:xfrm rot="-5591590">
            <a:off x="15833994" y="712804"/>
            <a:ext cx="2347587" cy="2305392"/>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12" name="Google Shape;112;p8"/>
          <p:cNvSpPr/>
          <p:nvPr/>
        </p:nvSpPr>
        <p:spPr>
          <a:xfrm rot="7860677">
            <a:off x="126546" y="7226320"/>
            <a:ext cx="1600955" cy="1490343"/>
          </a:xfrm>
          <a:custGeom>
            <a:rect b="b" l="l" r="r" t="t"/>
            <a:pathLst>
              <a:path extrusionOk="0" h="1490343" w="1600955">
                <a:moveTo>
                  <a:pt x="0" y="0"/>
                </a:moveTo>
                <a:lnTo>
                  <a:pt x="1600954" y="0"/>
                </a:lnTo>
                <a:lnTo>
                  <a:pt x="1600954" y="1490343"/>
                </a:lnTo>
                <a:lnTo>
                  <a:pt x="0" y="1490343"/>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13" name="Google Shape;113;p8"/>
          <p:cNvSpPr/>
          <p:nvPr/>
        </p:nvSpPr>
        <p:spPr>
          <a:xfrm rot="7860677">
            <a:off x="15930678" y="7382404"/>
            <a:ext cx="2243704" cy="2088684"/>
          </a:xfrm>
          <a:custGeom>
            <a:rect b="b" l="l" r="r" t="t"/>
            <a:pathLst>
              <a:path extrusionOk="0" h="2088684" w="2243704">
                <a:moveTo>
                  <a:pt x="0" y="0"/>
                </a:moveTo>
                <a:lnTo>
                  <a:pt x="2243704" y="0"/>
                </a:lnTo>
                <a:lnTo>
                  <a:pt x="2243704" y="2088684"/>
                </a:lnTo>
                <a:lnTo>
                  <a:pt x="0" y="2088684"/>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14" name="Google Shape;114;p8"/>
          <p:cNvSpPr/>
          <p:nvPr/>
        </p:nvSpPr>
        <p:spPr>
          <a:xfrm rot="1296289">
            <a:off x="15384349" y="-545919"/>
            <a:ext cx="2531996" cy="2154648"/>
          </a:xfrm>
          <a:custGeom>
            <a:rect b="b" l="l" r="r" t="t"/>
            <a:pathLst>
              <a:path extrusionOk="0" h="1919581" w="2265599">
                <a:moveTo>
                  <a:pt x="0" y="0"/>
                </a:moveTo>
                <a:lnTo>
                  <a:pt x="2265600" y="0"/>
                </a:lnTo>
                <a:lnTo>
                  <a:pt x="2265600" y="1919581"/>
                </a:lnTo>
                <a:lnTo>
                  <a:pt x="0" y="1919581"/>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15" name="Google Shape;115;p8"/>
          <p:cNvSpPr/>
          <p:nvPr/>
        </p:nvSpPr>
        <p:spPr>
          <a:xfrm rot="-2487859">
            <a:off x="16952453" y="4767483"/>
            <a:ext cx="2033723" cy="1619753"/>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16" name="Google Shape;116;p8"/>
          <p:cNvSpPr/>
          <p:nvPr/>
        </p:nvSpPr>
        <p:spPr>
          <a:xfrm rot="1296289">
            <a:off x="296953" y="7886423"/>
            <a:ext cx="3294095" cy="2754079"/>
          </a:xfrm>
          <a:custGeom>
            <a:rect b="b" l="l" r="r" t="t"/>
            <a:pathLst>
              <a:path extrusionOk="0" h="2059110" w="2430280">
                <a:moveTo>
                  <a:pt x="0" y="0"/>
                </a:moveTo>
                <a:lnTo>
                  <a:pt x="2430281" y="0"/>
                </a:lnTo>
                <a:lnTo>
                  <a:pt x="2430281" y="2059110"/>
                </a:lnTo>
                <a:lnTo>
                  <a:pt x="0" y="205911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17" name="Google Shape;117;p8"/>
          <p:cNvSpPr/>
          <p:nvPr/>
        </p:nvSpPr>
        <p:spPr>
          <a:xfrm rot="2046247">
            <a:off x="17723193" y="-357480"/>
            <a:ext cx="1707091" cy="1936262"/>
          </a:xfrm>
          <a:custGeom>
            <a:rect b="b" l="l" r="r" t="t"/>
            <a:pathLst>
              <a:path extrusionOk="0" h="1805189" w="1939168">
                <a:moveTo>
                  <a:pt x="0" y="0"/>
                </a:moveTo>
                <a:lnTo>
                  <a:pt x="1939169" y="0"/>
                </a:lnTo>
                <a:lnTo>
                  <a:pt x="1939169" y="1805189"/>
                </a:lnTo>
                <a:lnTo>
                  <a:pt x="0" y="1805189"/>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halt mit Überschrift" type="objTx">
  <p:cSld name="OBJECT_WITH_CAPTION_TEXT">
    <p:spTree>
      <p:nvGrpSpPr>
        <p:cNvPr id="118" name="Shape 118"/>
        <p:cNvGrpSpPr/>
        <p:nvPr/>
      </p:nvGrpSpPr>
      <p:grpSpPr>
        <a:xfrm>
          <a:off x="0" y="0"/>
          <a:ext cx="0" cy="0"/>
          <a:chOff x="0" y="0"/>
          <a:chExt cx="0" cy="0"/>
        </a:xfrm>
      </p:grpSpPr>
      <p:sp>
        <p:nvSpPr>
          <p:cNvPr id="119" name="Google Shape;119;p9"/>
          <p:cNvSpPr txBox="1"/>
          <p:nvPr>
            <p:ph type="title"/>
          </p:nvPr>
        </p:nvSpPr>
        <p:spPr>
          <a:xfrm>
            <a:off x="1944000" y="1481138"/>
            <a:ext cx="5235566" cy="1260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0" name="Google Shape;120;p9"/>
          <p:cNvSpPr txBox="1"/>
          <p:nvPr>
            <p:ph idx="1" type="body"/>
          </p:nvPr>
        </p:nvSpPr>
        <p:spPr>
          <a:xfrm>
            <a:off x="7775574" y="1481138"/>
            <a:ext cx="8568425" cy="7310437"/>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21" name="Google Shape;121;p9"/>
          <p:cNvSpPr txBox="1"/>
          <p:nvPr>
            <p:ph idx="2" type="body"/>
          </p:nvPr>
        </p:nvSpPr>
        <p:spPr>
          <a:xfrm>
            <a:off x="1944000" y="3086100"/>
            <a:ext cx="5214038" cy="571817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22" name="Google Shape;122;p9"/>
          <p:cNvSpPr/>
          <p:nvPr/>
        </p:nvSpPr>
        <p:spPr>
          <a:xfrm>
            <a:off x="7687907" y="30602"/>
            <a:ext cx="2912186" cy="1012162"/>
          </a:xfrm>
          <a:custGeom>
            <a:rect b="b" l="l" r="r" t="t"/>
            <a:pathLst>
              <a:path extrusionOk="0" h="1012162" w="2912186">
                <a:moveTo>
                  <a:pt x="0" y="0"/>
                </a:moveTo>
                <a:lnTo>
                  <a:pt x="2912186" y="0"/>
                </a:lnTo>
                <a:lnTo>
                  <a:pt x="2912186" y="1012162"/>
                </a:lnTo>
                <a:lnTo>
                  <a:pt x="0" y="1012162"/>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23" name="Google Shape;123;p9"/>
          <p:cNvSpPr/>
          <p:nvPr/>
        </p:nvSpPr>
        <p:spPr>
          <a:xfrm>
            <a:off x="-988817" y="7307032"/>
            <a:ext cx="2499164" cy="2394654"/>
          </a:xfrm>
          <a:custGeom>
            <a:rect b="b" l="l" r="r" t="t"/>
            <a:pathLst>
              <a:path extrusionOk="0" h="2394654" w="2499164">
                <a:moveTo>
                  <a:pt x="0" y="0"/>
                </a:moveTo>
                <a:lnTo>
                  <a:pt x="2499165" y="0"/>
                </a:lnTo>
                <a:lnTo>
                  <a:pt x="2499165" y="2394654"/>
                </a:lnTo>
                <a:lnTo>
                  <a:pt x="0" y="239465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24" name="Google Shape;124;p9"/>
          <p:cNvSpPr/>
          <p:nvPr/>
        </p:nvSpPr>
        <p:spPr>
          <a:xfrm rot="4680788">
            <a:off x="16257418" y="8270982"/>
            <a:ext cx="2635834" cy="2525609"/>
          </a:xfrm>
          <a:custGeom>
            <a:rect b="b" l="l" r="r" t="t"/>
            <a:pathLst>
              <a:path extrusionOk="0" h="2525609" w="2635834">
                <a:moveTo>
                  <a:pt x="0" y="0"/>
                </a:moveTo>
                <a:lnTo>
                  <a:pt x="2635835" y="0"/>
                </a:lnTo>
                <a:lnTo>
                  <a:pt x="2635835" y="2525608"/>
                </a:lnTo>
                <a:lnTo>
                  <a:pt x="0" y="252560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25" name="Google Shape;125;p9"/>
          <p:cNvSpPr/>
          <p:nvPr/>
        </p:nvSpPr>
        <p:spPr>
          <a:xfrm>
            <a:off x="-344695" y="-103733"/>
            <a:ext cx="2797974" cy="2535765"/>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26" name="Google Shape;126;p9"/>
          <p:cNvSpPr/>
          <p:nvPr/>
        </p:nvSpPr>
        <p:spPr>
          <a:xfrm rot="7860677">
            <a:off x="184890" y="170766"/>
            <a:ext cx="1600955" cy="1490343"/>
          </a:xfrm>
          <a:custGeom>
            <a:rect b="b" l="l" r="r" t="t"/>
            <a:pathLst>
              <a:path extrusionOk="0" h="1490343" w="1600955">
                <a:moveTo>
                  <a:pt x="0" y="0"/>
                </a:moveTo>
                <a:lnTo>
                  <a:pt x="1600954" y="0"/>
                </a:lnTo>
                <a:lnTo>
                  <a:pt x="1600954" y="1490343"/>
                </a:lnTo>
                <a:lnTo>
                  <a:pt x="0" y="1490343"/>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27" name="Google Shape;127;p9"/>
          <p:cNvSpPr/>
          <p:nvPr/>
        </p:nvSpPr>
        <p:spPr>
          <a:xfrm rot="-458312">
            <a:off x="16929227" y="-285243"/>
            <a:ext cx="3155791" cy="3843267"/>
          </a:xfrm>
          <a:custGeom>
            <a:rect b="b" l="l" r="r" t="t"/>
            <a:pathLst>
              <a:path extrusionOk="0" h="3023821" w="3155791">
                <a:moveTo>
                  <a:pt x="0" y="0"/>
                </a:moveTo>
                <a:lnTo>
                  <a:pt x="3155790" y="0"/>
                </a:lnTo>
                <a:lnTo>
                  <a:pt x="3155790" y="3023821"/>
                </a:lnTo>
                <a:lnTo>
                  <a:pt x="0" y="3023821"/>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28" name="Google Shape;128;p9"/>
          <p:cNvSpPr/>
          <p:nvPr/>
        </p:nvSpPr>
        <p:spPr>
          <a:xfrm rot="1296289">
            <a:off x="15429160" y="-255544"/>
            <a:ext cx="2265599" cy="1919581"/>
          </a:xfrm>
          <a:custGeom>
            <a:rect b="b" l="l" r="r" t="t"/>
            <a:pathLst>
              <a:path extrusionOk="0" h="1919581" w="2265599">
                <a:moveTo>
                  <a:pt x="0" y="0"/>
                </a:moveTo>
                <a:lnTo>
                  <a:pt x="2265600" y="0"/>
                </a:lnTo>
                <a:lnTo>
                  <a:pt x="2265600" y="1919581"/>
                </a:lnTo>
                <a:lnTo>
                  <a:pt x="0" y="1919581"/>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29" name="Google Shape;129;p9"/>
          <p:cNvSpPr/>
          <p:nvPr/>
        </p:nvSpPr>
        <p:spPr>
          <a:xfrm rot="-2487859">
            <a:off x="1742939" y="-107165"/>
            <a:ext cx="1763767" cy="1494391"/>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30" name="Google Shape;130;p9"/>
          <p:cNvSpPr/>
          <p:nvPr/>
        </p:nvSpPr>
        <p:spPr>
          <a:xfrm rot="1296289">
            <a:off x="-1078000" y="5865358"/>
            <a:ext cx="2430280" cy="2059110"/>
          </a:xfrm>
          <a:custGeom>
            <a:rect b="b" l="l" r="r" t="t"/>
            <a:pathLst>
              <a:path extrusionOk="0" h="2059110" w="2430280">
                <a:moveTo>
                  <a:pt x="0" y="0"/>
                </a:moveTo>
                <a:lnTo>
                  <a:pt x="2430281" y="0"/>
                </a:lnTo>
                <a:lnTo>
                  <a:pt x="2430281" y="2059110"/>
                </a:lnTo>
                <a:lnTo>
                  <a:pt x="0" y="2059110"/>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31" name="Google Shape;131;p9"/>
          <p:cNvSpPr/>
          <p:nvPr/>
        </p:nvSpPr>
        <p:spPr>
          <a:xfrm rot="1597264">
            <a:off x="17342788" y="1208544"/>
            <a:ext cx="1939168" cy="1805189"/>
          </a:xfrm>
          <a:custGeom>
            <a:rect b="b" l="l" r="r" t="t"/>
            <a:pathLst>
              <a:path extrusionOk="0" h="1805189" w="1939168">
                <a:moveTo>
                  <a:pt x="0" y="0"/>
                </a:moveTo>
                <a:lnTo>
                  <a:pt x="1939169" y="0"/>
                </a:lnTo>
                <a:lnTo>
                  <a:pt x="1939169" y="1805189"/>
                </a:lnTo>
                <a:lnTo>
                  <a:pt x="0" y="1805189"/>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32" name="Google Shape;132;p9"/>
          <p:cNvSpPr/>
          <p:nvPr/>
        </p:nvSpPr>
        <p:spPr>
          <a:xfrm rot="7999432">
            <a:off x="17045216" y="6735395"/>
            <a:ext cx="2797974" cy="2535765"/>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33" name="Google Shape;133;p9"/>
          <p:cNvSpPr/>
          <p:nvPr/>
        </p:nvSpPr>
        <p:spPr>
          <a:xfrm rot="7860677">
            <a:off x="16251956" y="8185607"/>
            <a:ext cx="2243704" cy="2088684"/>
          </a:xfrm>
          <a:custGeom>
            <a:rect b="b" l="l" r="r" t="t"/>
            <a:pathLst>
              <a:path extrusionOk="0" h="2088684" w="2243704">
                <a:moveTo>
                  <a:pt x="0" y="0"/>
                </a:moveTo>
                <a:lnTo>
                  <a:pt x="2243704" y="0"/>
                </a:lnTo>
                <a:lnTo>
                  <a:pt x="2243704" y="2088684"/>
                </a:lnTo>
                <a:lnTo>
                  <a:pt x="0" y="2088684"/>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ld mit Überschrift">
  <p:cSld name="Bild mit Überschrift">
    <p:spTree>
      <p:nvGrpSpPr>
        <p:cNvPr id="134" name="Shape 134"/>
        <p:cNvGrpSpPr/>
        <p:nvPr/>
      </p:nvGrpSpPr>
      <p:grpSpPr>
        <a:xfrm>
          <a:off x="0" y="0"/>
          <a:ext cx="0" cy="0"/>
          <a:chOff x="0" y="0"/>
          <a:chExt cx="0" cy="0"/>
        </a:xfrm>
      </p:grpSpPr>
      <p:sp>
        <p:nvSpPr>
          <p:cNvPr id="135" name="Google Shape;135;p10"/>
          <p:cNvSpPr/>
          <p:nvPr>
            <p:ph idx="2" type="pic"/>
          </p:nvPr>
        </p:nvSpPr>
        <p:spPr>
          <a:xfrm>
            <a:off x="7775575" y="1481138"/>
            <a:ext cx="8568424" cy="7310437"/>
          </a:xfrm>
          <a:prstGeom prst="rect">
            <a:avLst/>
          </a:prstGeom>
          <a:noFill/>
          <a:ln>
            <a:noFill/>
          </a:ln>
        </p:spPr>
      </p:sp>
      <p:sp>
        <p:nvSpPr>
          <p:cNvPr id="136" name="Google Shape;136;p10"/>
          <p:cNvSpPr/>
          <p:nvPr/>
        </p:nvSpPr>
        <p:spPr>
          <a:xfrm>
            <a:off x="-988817" y="7307032"/>
            <a:ext cx="2499164" cy="2394654"/>
          </a:xfrm>
          <a:custGeom>
            <a:rect b="b" l="l" r="r" t="t"/>
            <a:pathLst>
              <a:path extrusionOk="0" h="2394654" w="2499164">
                <a:moveTo>
                  <a:pt x="0" y="0"/>
                </a:moveTo>
                <a:lnTo>
                  <a:pt x="2499165" y="0"/>
                </a:lnTo>
                <a:lnTo>
                  <a:pt x="2499165" y="2394654"/>
                </a:lnTo>
                <a:lnTo>
                  <a:pt x="0" y="2394654"/>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37" name="Google Shape;137;p10"/>
          <p:cNvSpPr/>
          <p:nvPr/>
        </p:nvSpPr>
        <p:spPr>
          <a:xfrm rot="4680788">
            <a:off x="16257418" y="8270982"/>
            <a:ext cx="2635834" cy="2525609"/>
          </a:xfrm>
          <a:custGeom>
            <a:rect b="b" l="l" r="r" t="t"/>
            <a:pathLst>
              <a:path extrusionOk="0" h="2525609" w="2635834">
                <a:moveTo>
                  <a:pt x="0" y="0"/>
                </a:moveTo>
                <a:lnTo>
                  <a:pt x="2635835" y="0"/>
                </a:lnTo>
                <a:lnTo>
                  <a:pt x="2635835" y="2525608"/>
                </a:lnTo>
                <a:lnTo>
                  <a:pt x="0" y="2525608"/>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38" name="Google Shape;138;p10"/>
          <p:cNvSpPr/>
          <p:nvPr/>
        </p:nvSpPr>
        <p:spPr>
          <a:xfrm>
            <a:off x="-344695" y="-103733"/>
            <a:ext cx="2797974" cy="2535765"/>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39" name="Google Shape;139;p10"/>
          <p:cNvSpPr/>
          <p:nvPr/>
        </p:nvSpPr>
        <p:spPr>
          <a:xfrm rot="7860677">
            <a:off x="184890" y="170766"/>
            <a:ext cx="1600955" cy="1490343"/>
          </a:xfrm>
          <a:custGeom>
            <a:rect b="b" l="l" r="r" t="t"/>
            <a:pathLst>
              <a:path extrusionOk="0" h="1490343" w="1600955">
                <a:moveTo>
                  <a:pt x="0" y="0"/>
                </a:moveTo>
                <a:lnTo>
                  <a:pt x="1600954" y="0"/>
                </a:lnTo>
                <a:lnTo>
                  <a:pt x="1600954" y="1490343"/>
                </a:lnTo>
                <a:lnTo>
                  <a:pt x="0" y="1490343"/>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40" name="Google Shape;140;p10"/>
          <p:cNvSpPr/>
          <p:nvPr/>
        </p:nvSpPr>
        <p:spPr>
          <a:xfrm rot="-458312">
            <a:off x="16929227" y="-285243"/>
            <a:ext cx="3155791" cy="3843267"/>
          </a:xfrm>
          <a:custGeom>
            <a:rect b="b" l="l" r="r" t="t"/>
            <a:pathLst>
              <a:path extrusionOk="0" h="3023821" w="3155791">
                <a:moveTo>
                  <a:pt x="0" y="0"/>
                </a:moveTo>
                <a:lnTo>
                  <a:pt x="3155790" y="0"/>
                </a:lnTo>
                <a:lnTo>
                  <a:pt x="3155790" y="3023821"/>
                </a:lnTo>
                <a:lnTo>
                  <a:pt x="0" y="3023821"/>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41" name="Google Shape;141;p10"/>
          <p:cNvSpPr/>
          <p:nvPr/>
        </p:nvSpPr>
        <p:spPr>
          <a:xfrm rot="1296289">
            <a:off x="15429160" y="-255544"/>
            <a:ext cx="2265599" cy="1919581"/>
          </a:xfrm>
          <a:custGeom>
            <a:rect b="b" l="l" r="r" t="t"/>
            <a:pathLst>
              <a:path extrusionOk="0" h="1919581" w="2265599">
                <a:moveTo>
                  <a:pt x="0" y="0"/>
                </a:moveTo>
                <a:lnTo>
                  <a:pt x="2265600" y="0"/>
                </a:lnTo>
                <a:lnTo>
                  <a:pt x="2265600" y="1919581"/>
                </a:lnTo>
                <a:lnTo>
                  <a:pt x="0" y="191958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42" name="Google Shape;142;p10"/>
          <p:cNvSpPr/>
          <p:nvPr/>
        </p:nvSpPr>
        <p:spPr>
          <a:xfrm rot="-2487859">
            <a:off x="1742939" y="-107165"/>
            <a:ext cx="1763767" cy="1494391"/>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43" name="Google Shape;143;p10"/>
          <p:cNvSpPr/>
          <p:nvPr/>
        </p:nvSpPr>
        <p:spPr>
          <a:xfrm rot="1296289">
            <a:off x="-1078000" y="5865358"/>
            <a:ext cx="2430280" cy="2059110"/>
          </a:xfrm>
          <a:custGeom>
            <a:rect b="b" l="l" r="r" t="t"/>
            <a:pathLst>
              <a:path extrusionOk="0" h="2059110" w="2430280">
                <a:moveTo>
                  <a:pt x="0" y="0"/>
                </a:moveTo>
                <a:lnTo>
                  <a:pt x="2430281" y="0"/>
                </a:lnTo>
                <a:lnTo>
                  <a:pt x="2430281" y="2059110"/>
                </a:lnTo>
                <a:lnTo>
                  <a:pt x="0" y="205911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44" name="Google Shape;144;p10"/>
          <p:cNvSpPr/>
          <p:nvPr/>
        </p:nvSpPr>
        <p:spPr>
          <a:xfrm rot="1597264">
            <a:off x="17342788" y="1208544"/>
            <a:ext cx="1939168" cy="1805189"/>
          </a:xfrm>
          <a:custGeom>
            <a:rect b="b" l="l" r="r" t="t"/>
            <a:pathLst>
              <a:path extrusionOk="0" h="1805189" w="1939168">
                <a:moveTo>
                  <a:pt x="0" y="0"/>
                </a:moveTo>
                <a:lnTo>
                  <a:pt x="1939169" y="0"/>
                </a:lnTo>
                <a:lnTo>
                  <a:pt x="1939169" y="1805189"/>
                </a:lnTo>
                <a:lnTo>
                  <a:pt x="0" y="180518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45" name="Google Shape;145;p10"/>
          <p:cNvSpPr/>
          <p:nvPr/>
        </p:nvSpPr>
        <p:spPr>
          <a:xfrm>
            <a:off x="7687907" y="30602"/>
            <a:ext cx="2912186" cy="1012162"/>
          </a:xfrm>
          <a:custGeom>
            <a:rect b="b" l="l" r="r" t="t"/>
            <a:pathLst>
              <a:path extrusionOk="0" h="1012162" w="2912186">
                <a:moveTo>
                  <a:pt x="0" y="0"/>
                </a:moveTo>
                <a:lnTo>
                  <a:pt x="2912186" y="0"/>
                </a:lnTo>
                <a:lnTo>
                  <a:pt x="2912186" y="1012162"/>
                </a:lnTo>
                <a:lnTo>
                  <a:pt x="0" y="101216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46" name="Google Shape;146;p10"/>
          <p:cNvSpPr txBox="1"/>
          <p:nvPr/>
        </p:nvSpPr>
        <p:spPr>
          <a:xfrm>
            <a:off x="1944000" y="1481138"/>
            <a:ext cx="5235566" cy="1260000"/>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Clr>
                <a:schemeClr val="dk1"/>
              </a:buClr>
              <a:buSzPts val="3200"/>
              <a:buFont typeface="Arial"/>
              <a:buNone/>
            </a:pPr>
            <a:r>
              <a:rPr b="0" i="0" lang="de-DE" sz="3200" u="none" cap="none" strike="noStrike">
                <a:solidFill>
                  <a:schemeClr val="dk1"/>
                </a:solidFill>
                <a:latin typeface="Arial"/>
                <a:ea typeface="Arial"/>
                <a:cs typeface="Arial"/>
                <a:sym typeface="Arial"/>
              </a:rPr>
              <a:t>Mastertitelformat bearbeiten</a:t>
            </a:r>
            <a:endParaRPr b="0" i="0" sz="3200" u="none" cap="none" strike="noStrike">
              <a:solidFill>
                <a:schemeClr val="dk1"/>
              </a:solidFill>
              <a:latin typeface="Arial"/>
              <a:ea typeface="Arial"/>
              <a:cs typeface="Arial"/>
              <a:sym typeface="Arial"/>
            </a:endParaRPr>
          </a:p>
        </p:txBody>
      </p:sp>
      <p:sp>
        <p:nvSpPr>
          <p:cNvPr id="147" name="Google Shape;147;p10"/>
          <p:cNvSpPr txBox="1"/>
          <p:nvPr>
            <p:ph idx="1" type="body"/>
          </p:nvPr>
        </p:nvSpPr>
        <p:spPr>
          <a:xfrm>
            <a:off x="1944000" y="3086100"/>
            <a:ext cx="5214038" cy="571817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48" name="Google Shape;148;p10"/>
          <p:cNvSpPr/>
          <p:nvPr/>
        </p:nvSpPr>
        <p:spPr>
          <a:xfrm rot="7999432">
            <a:off x="17045216" y="6735395"/>
            <a:ext cx="2797974" cy="2535765"/>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49" name="Google Shape;149;p10"/>
          <p:cNvSpPr/>
          <p:nvPr/>
        </p:nvSpPr>
        <p:spPr>
          <a:xfrm rot="7860677">
            <a:off x="16251956" y="8185607"/>
            <a:ext cx="2243704" cy="2088684"/>
          </a:xfrm>
          <a:custGeom>
            <a:rect b="b" l="l" r="r" t="t"/>
            <a:pathLst>
              <a:path extrusionOk="0" h="2088684" w="2243704">
                <a:moveTo>
                  <a:pt x="0" y="0"/>
                </a:moveTo>
                <a:lnTo>
                  <a:pt x="2243704" y="0"/>
                </a:lnTo>
                <a:lnTo>
                  <a:pt x="2243704" y="2088684"/>
                </a:lnTo>
                <a:lnTo>
                  <a:pt x="0" y="208868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6.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1.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1944000" y="1322140"/>
            <a:ext cx="14400000" cy="12600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1944000" y="2769110"/>
            <a:ext cx="14400000" cy="64800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
          <p:cNvSpPr/>
          <p:nvPr/>
        </p:nvSpPr>
        <p:spPr>
          <a:xfrm>
            <a:off x="7687907" y="30602"/>
            <a:ext cx="2912186" cy="1012162"/>
          </a:xfrm>
          <a:custGeom>
            <a:rect b="b" l="l" r="r" t="t"/>
            <a:pathLst>
              <a:path extrusionOk="0" h="1012162" w="2912186">
                <a:moveTo>
                  <a:pt x="0" y="0"/>
                </a:moveTo>
                <a:lnTo>
                  <a:pt x="2912186" y="0"/>
                </a:lnTo>
                <a:lnTo>
                  <a:pt x="2912186" y="1012162"/>
                </a:lnTo>
                <a:lnTo>
                  <a:pt x="0" y="1012162"/>
                </a:lnTo>
                <a:lnTo>
                  <a:pt x="0" y="0"/>
                </a:lnTo>
                <a:close/>
              </a:path>
            </a:pathLst>
          </a:custGeom>
          <a:blipFill rotWithShape="1">
            <a:blip r:embed="rId1">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authorservices.wiley.com/Reviewers/journal-reviewers/what-is-peer-review/index.html" TargetMode="External"/><Relationship Id="rId4" Type="http://schemas.openxmlformats.org/officeDocument/2006/relationships/hyperlink" Target="https://undergraduatesciencelibrarian.org/a-very-brief-introduction-to-the-scientific-literature/types-of-scientific-literature/"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scholar.google.com/" TargetMode="External"/><Relationship Id="rId4" Type="http://schemas.openxmlformats.org/officeDocument/2006/relationships/hyperlink" Target="https://www.jstor.org/" TargetMode="External"/><Relationship Id="rId10" Type="http://schemas.openxmlformats.org/officeDocument/2006/relationships/hyperlink" Target="https://www.scribendi.com/academy/articles/free_online_journal_and_research_databases.en.html" TargetMode="External"/><Relationship Id="rId9" Type="http://schemas.openxmlformats.org/officeDocument/2006/relationships/hyperlink" Target="https://www.academia.edu/" TargetMode="External"/><Relationship Id="rId5" Type="http://schemas.openxmlformats.org/officeDocument/2006/relationships/hyperlink" Target="https://core.ac.uk/" TargetMode="External"/><Relationship Id="rId6" Type="http://schemas.openxmlformats.org/officeDocument/2006/relationships/hyperlink" Target="https://www.scienceopen.com/" TargetMode="External"/><Relationship Id="rId7" Type="http://schemas.openxmlformats.org/officeDocument/2006/relationships/hyperlink" Target="https://doaj.org/" TargetMode="External"/><Relationship Id="rId8" Type="http://schemas.openxmlformats.org/officeDocument/2006/relationships/hyperlink" Target="https://www.ssrn.com/index.cfm/en/"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www.leuphana.de/en/services/miz/searching-for-literature.html" TargetMode="External"/><Relationship Id="rId4" Type="http://schemas.openxmlformats.org/officeDocument/2006/relationships/hyperlink" Target="https://kxp.k10plus.de/DB=2.1/DB=2.1/" TargetMode="External"/><Relationship Id="rId5" Type="http://schemas.openxmlformats.org/officeDocument/2006/relationships/hyperlink" Target="https://kvk.bibliothek.kit.edu/index.html?lang=en&amp;digitalOnly=0&amp;embedFulltitle=0&amp;newTab=0"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southern.libguides.com/google/boolean" TargetMode="External"/><Relationship Id="rId4" Type="http://schemas.openxmlformats.org/officeDocument/2006/relationships/hyperlink" Target="https://www.youtube.com/watch?v=u0KVJ0lj8rw&amp;t=52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1"/>
          <p:cNvSpPr txBox="1"/>
          <p:nvPr>
            <p:ph type="title"/>
          </p:nvPr>
        </p:nvSpPr>
        <p:spPr>
          <a:xfrm>
            <a:off x="1906800" y="2171700"/>
            <a:ext cx="14400000" cy="3955500"/>
          </a:xfrm>
          <a:prstGeom prst="rect">
            <a:avLst/>
          </a:prstGeom>
          <a:noFill/>
          <a:ln>
            <a:noFill/>
          </a:ln>
        </p:spPr>
        <p:txBody>
          <a:bodyPr anchorCtr="0" anchor="b" bIns="45700" lIns="90000" spcFirstLastPara="1" rIns="91425" wrap="square" tIns="45700">
            <a:normAutofit/>
          </a:bodyPr>
          <a:lstStyle/>
          <a:p>
            <a:pPr indent="0" lvl="0" marL="0" rtl="0" algn="l">
              <a:lnSpc>
                <a:spcPct val="90000"/>
              </a:lnSpc>
              <a:spcBef>
                <a:spcPts val="0"/>
              </a:spcBef>
              <a:spcAft>
                <a:spcPts val="0"/>
              </a:spcAft>
              <a:buClr>
                <a:schemeClr val="dk1"/>
              </a:buClr>
              <a:buSzPts val="6000"/>
              <a:buFont typeface="Arial"/>
              <a:buNone/>
            </a:pPr>
            <a:r>
              <a:rPr b="1" lang="de-DE"/>
              <a:t>Scientific Literature</a:t>
            </a:r>
            <a:endParaRPr/>
          </a:p>
        </p:txBody>
      </p:sp>
      <p:sp>
        <p:nvSpPr>
          <p:cNvPr id="156" name="Google Shape;156;p11"/>
          <p:cNvSpPr txBox="1"/>
          <p:nvPr>
            <p:ph idx="1" type="body"/>
          </p:nvPr>
        </p:nvSpPr>
        <p:spPr>
          <a:xfrm>
            <a:off x="1906800" y="6491289"/>
            <a:ext cx="14400000" cy="2079900"/>
          </a:xfrm>
          <a:prstGeom prst="rect">
            <a:avLst/>
          </a:prstGeom>
          <a:noFill/>
          <a:ln>
            <a:noFill/>
          </a:ln>
        </p:spPr>
        <p:txBody>
          <a:bodyPr anchorCtr="0" anchor="t" bIns="45700" lIns="90000" spcFirstLastPara="1" rIns="91425" wrap="square" tIns="45700">
            <a:normAutofit/>
          </a:bodyPr>
          <a:lstStyle/>
          <a:p>
            <a:pPr indent="0" lvl="0" marL="0" rtl="0" algn="l">
              <a:lnSpc>
                <a:spcPct val="90000"/>
              </a:lnSpc>
              <a:spcBef>
                <a:spcPts val="0"/>
              </a:spcBef>
              <a:spcAft>
                <a:spcPts val="0"/>
              </a:spcAft>
              <a:buClr>
                <a:srgbClr val="757575"/>
              </a:buClr>
              <a:buSzPts val="2400"/>
              <a:buNone/>
            </a:pPr>
            <a:r>
              <a:rPr lang="de-DE"/>
              <a:t>Tutor:</a:t>
            </a:r>
            <a:endParaRPr/>
          </a:p>
          <a:p>
            <a:pPr indent="0" lvl="0" marL="0" rtl="0" algn="l">
              <a:lnSpc>
                <a:spcPct val="90000"/>
              </a:lnSpc>
              <a:spcBef>
                <a:spcPts val="0"/>
              </a:spcBef>
              <a:spcAft>
                <a:spcPts val="0"/>
              </a:spcAft>
              <a:buClr>
                <a:srgbClr val="757575"/>
              </a:buClr>
              <a:buSzPts val="2400"/>
              <a:buNone/>
            </a:pPr>
            <a:r>
              <a:rPr lang="de-DE"/>
              <a:t>Date: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2"/>
          <p:cNvSpPr txBox="1"/>
          <p:nvPr>
            <p:ph type="title"/>
          </p:nvPr>
        </p:nvSpPr>
        <p:spPr>
          <a:xfrm>
            <a:off x="1944000" y="1301860"/>
            <a:ext cx="14400000" cy="1260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Arial"/>
              <a:buNone/>
            </a:pPr>
            <a:r>
              <a:rPr b="1" lang="de-DE"/>
              <a:t>What is Academic Literature?</a:t>
            </a:r>
            <a:endParaRPr b="1"/>
          </a:p>
        </p:txBody>
      </p:sp>
      <p:sp>
        <p:nvSpPr>
          <p:cNvPr id="163" name="Google Shape;163;p12"/>
          <p:cNvSpPr txBox="1"/>
          <p:nvPr>
            <p:ph idx="1" type="body"/>
          </p:nvPr>
        </p:nvSpPr>
        <p:spPr>
          <a:xfrm>
            <a:off x="1944000" y="2738828"/>
            <a:ext cx="14400000" cy="6480000"/>
          </a:xfrm>
          <a:prstGeom prst="rect">
            <a:avLst/>
          </a:prstGeom>
          <a:noFill/>
          <a:ln>
            <a:noFill/>
          </a:ln>
        </p:spPr>
        <p:txBody>
          <a:bodyPr anchorCtr="0" anchor="t" bIns="45700" lIns="91425" spcFirstLastPara="1" rIns="91425" wrap="square" tIns="45700">
            <a:noAutofit/>
          </a:bodyPr>
          <a:lstStyle/>
          <a:p>
            <a:pPr indent="0" lvl="0" marL="457200" rtl="0" algn="ctr">
              <a:lnSpc>
                <a:spcPct val="114999"/>
              </a:lnSpc>
              <a:spcBef>
                <a:spcPts val="1200"/>
              </a:spcBef>
              <a:spcAft>
                <a:spcPts val="0"/>
              </a:spcAft>
              <a:buNone/>
            </a:pPr>
            <a:r>
              <a:t/>
            </a:r>
            <a:endParaRPr i="1" sz="3000"/>
          </a:p>
          <a:p>
            <a:pPr indent="0" lvl="0" marL="0" rtl="0" algn="ctr">
              <a:lnSpc>
                <a:spcPct val="114999"/>
              </a:lnSpc>
              <a:spcBef>
                <a:spcPts val="1200"/>
              </a:spcBef>
              <a:spcAft>
                <a:spcPts val="0"/>
              </a:spcAft>
              <a:buNone/>
            </a:pPr>
            <a:r>
              <a:rPr i="1" lang="de-DE" sz="3200">
                <a:latin typeface="Arial Narrow"/>
                <a:ea typeface="Arial Narrow"/>
                <a:cs typeface="Arial Narrow"/>
                <a:sym typeface="Arial Narrow"/>
              </a:rPr>
              <a:t>“Scientific literature is the principal medium for </a:t>
            </a:r>
            <a:r>
              <a:rPr b="1" i="1" lang="de-DE" sz="3200">
                <a:solidFill>
                  <a:srgbClr val="7C0E31"/>
                </a:solidFill>
                <a:latin typeface="Arial Narrow"/>
                <a:ea typeface="Arial Narrow"/>
                <a:cs typeface="Arial Narrow"/>
                <a:sym typeface="Arial Narrow"/>
              </a:rPr>
              <a:t>communicating the results </a:t>
            </a:r>
            <a:r>
              <a:rPr i="1" lang="de-DE" sz="3200">
                <a:latin typeface="Arial Narrow"/>
                <a:ea typeface="Arial Narrow"/>
                <a:cs typeface="Arial Narrow"/>
                <a:sym typeface="Arial Narrow"/>
              </a:rPr>
              <a:t>of scientific research and, as such, represents the </a:t>
            </a:r>
            <a:r>
              <a:rPr b="1" i="1" lang="de-DE" sz="3200">
                <a:solidFill>
                  <a:srgbClr val="7C0E31"/>
                </a:solidFill>
                <a:latin typeface="Arial Narrow"/>
                <a:ea typeface="Arial Narrow"/>
                <a:cs typeface="Arial Narrow"/>
                <a:sym typeface="Arial Narrow"/>
              </a:rPr>
              <a:t>permanent record of the collective achievements </a:t>
            </a:r>
            <a:r>
              <a:rPr i="1" lang="de-DE" sz="3200">
                <a:latin typeface="Arial Narrow"/>
                <a:ea typeface="Arial Narrow"/>
                <a:cs typeface="Arial Narrow"/>
                <a:sym typeface="Arial Narrow"/>
              </a:rPr>
              <a:t>of the scientific community over time.” </a:t>
            </a:r>
            <a:r>
              <a:rPr lang="de-DE" sz="3200">
                <a:latin typeface="Arial Narrow"/>
                <a:ea typeface="Arial Narrow"/>
                <a:cs typeface="Arial Narrow"/>
                <a:sym typeface="Arial Narrow"/>
              </a:rPr>
              <a:t>(Karadjova, 2022).</a:t>
            </a:r>
            <a:endParaRPr i="1" sz="3000"/>
          </a:p>
          <a:p>
            <a:pPr indent="0" lvl="0" marL="457200" rtl="0" algn="ctr">
              <a:lnSpc>
                <a:spcPct val="114999"/>
              </a:lnSpc>
              <a:spcBef>
                <a:spcPts val="1200"/>
              </a:spcBef>
              <a:spcAft>
                <a:spcPts val="0"/>
              </a:spcAft>
              <a:buNone/>
            </a:pPr>
            <a:r>
              <a:t/>
            </a:r>
            <a:endParaRPr sz="3000"/>
          </a:p>
          <a:p>
            <a:pPr indent="0" lvl="0" marL="0" rtl="0" algn="l">
              <a:lnSpc>
                <a:spcPct val="100000"/>
              </a:lnSpc>
              <a:spcBef>
                <a:spcPts val="0"/>
              </a:spcBef>
              <a:spcAft>
                <a:spcPts val="0"/>
              </a:spcAft>
              <a:buNone/>
            </a:pPr>
            <a:r>
              <a:rPr lang="de-DE"/>
              <a:t>Communicating and sharing results are important aspects of science</a:t>
            </a:r>
            <a:endParaRPr sz="3000"/>
          </a:p>
          <a:p>
            <a:pPr indent="0" lvl="0" marL="457200" rtl="0" algn="l">
              <a:lnSpc>
                <a:spcPct val="114999"/>
              </a:lnSpc>
              <a:spcBef>
                <a:spcPts val="1200"/>
              </a:spcBef>
              <a:spcAft>
                <a:spcPts val="0"/>
              </a:spcAft>
              <a:buNone/>
            </a:pPr>
            <a:r>
              <a:t/>
            </a:r>
            <a:endParaRPr sz="3000"/>
          </a:p>
          <a:p>
            <a:pPr indent="0" lvl="0" marL="0" rtl="0" algn="l">
              <a:lnSpc>
                <a:spcPct val="94999"/>
              </a:lnSpc>
              <a:spcBef>
                <a:spcPts val="0"/>
              </a:spcBef>
              <a:spcAft>
                <a:spcPts val="0"/>
              </a:spcAft>
              <a:buNone/>
            </a:pPr>
            <a:r>
              <a:t/>
            </a:r>
            <a:endParaRPr sz="3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3"/>
          <p:cNvSpPr txBox="1"/>
          <p:nvPr>
            <p:ph type="title"/>
          </p:nvPr>
        </p:nvSpPr>
        <p:spPr>
          <a:xfrm>
            <a:off x="1944000" y="1301860"/>
            <a:ext cx="14400000" cy="1260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Arial"/>
              <a:buNone/>
            </a:pPr>
            <a:r>
              <a:rPr b="1" lang="de-DE"/>
              <a:t>Types of Scientific Literature</a:t>
            </a:r>
            <a:endParaRPr b="1"/>
          </a:p>
        </p:txBody>
      </p:sp>
      <p:sp>
        <p:nvSpPr>
          <p:cNvPr id="170" name="Google Shape;170;p13"/>
          <p:cNvSpPr txBox="1"/>
          <p:nvPr>
            <p:ph idx="1" type="body"/>
          </p:nvPr>
        </p:nvSpPr>
        <p:spPr>
          <a:xfrm>
            <a:off x="1944000" y="2738828"/>
            <a:ext cx="14400000" cy="6480000"/>
          </a:xfrm>
          <a:prstGeom prst="rect">
            <a:avLst/>
          </a:prstGeom>
          <a:noFill/>
          <a:ln>
            <a:noFill/>
          </a:ln>
        </p:spPr>
        <p:txBody>
          <a:bodyPr anchorCtr="0" anchor="t" bIns="45700" lIns="91425" spcFirstLastPara="1" rIns="91425" wrap="square" tIns="45700">
            <a:noAutofit/>
          </a:bodyPr>
          <a:lstStyle/>
          <a:p>
            <a:pPr indent="0" lvl="0" marL="0" rtl="0" algn="ctr">
              <a:lnSpc>
                <a:spcPct val="94999"/>
              </a:lnSpc>
              <a:spcBef>
                <a:spcPts val="0"/>
              </a:spcBef>
              <a:spcAft>
                <a:spcPts val="0"/>
              </a:spcAft>
              <a:buNone/>
            </a:pPr>
            <a:r>
              <a:t/>
            </a:r>
            <a:endParaRPr b="1" sz="4200">
              <a:solidFill>
                <a:schemeClr val="dk2"/>
              </a:solidFill>
            </a:endParaRPr>
          </a:p>
          <a:p>
            <a:pPr indent="0" lvl="0" marL="0" rtl="0" algn="l">
              <a:lnSpc>
                <a:spcPct val="94999"/>
              </a:lnSpc>
              <a:spcBef>
                <a:spcPts val="0"/>
              </a:spcBef>
              <a:spcAft>
                <a:spcPts val="0"/>
              </a:spcAft>
              <a:buNone/>
            </a:pPr>
            <a:r>
              <a:t/>
            </a:r>
            <a:endParaRPr b="1" sz="4200">
              <a:solidFill>
                <a:schemeClr val="dk2"/>
              </a:solidFill>
            </a:endParaRPr>
          </a:p>
          <a:p>
            <a:pPr indent="0" lvl="0" marL="0" rtl="0" algn="ctr">
              <a:lnSpc>
                <a:spcPct val="94999"/>
              </a:lnSpc>
              <a:spcBef>
                <a:spcPts val="0"/>
              </a:spcBef>
              <a:spcAft>
                <a:spcPts val="0"/>
              </a:spcAft>
              <a:buNone/>
            </a:pPr>
            <a:r>
              <a:rPr b="1" lang="de-DE" sz="4200">
                <a:solidFill>
                  <a:srgbClr val="7E0D31"/>
                </a:solidFill>
              </a:rPr>
              <a:t>Primary Literature</a:t>
            </a:r>
            <a:endParaRPr b="1" sz="4200">
              <a:solidFill>
                <a:srgbClr val="7E0D31"/>
              </a:solidFill>
            </a:endParaRPr>
          </a:p>
          <a:p>
            <a:pPr indent="0" lvl="0" marL="0" rtl="0" algn="ctr">
              <a:lnSpc>
                <a:spcPct val="94999"/>
              </a:lnSpc>
              <a:spcBef>
                <a:spcPts val="0"/>
              </a:spcBef>
              <a:spcAft>
                <a:spcPts val="0"/>
              </a:spcAft>
              <a:buNone/>
            </a:pPr>
            <a:r>
              <a:t/>
            </a:r>
            <a:endParaRPr b="1" sz="4200">
              <a:solidFill>
                <a:schemeClr val="dk2"/>
              </a:solidFill>
            </a:endParaRPr>
          </a:p>
          <a:p>
            <a:pPr indent="0" lvl="0" marL="0" rtl="0" algn="ctr">
              <a:lnSpc>
                <a:spcPct val="94999"/>
              </a:lnSpc>
              <a:spcBef>
                <a:spcPts val="0"/>
              </a:spcBef>
              <a:spcAft>
                <a:spcPts val="0"/>
              </a:spcAft>
              <a:buNone/>
            </a:pPr>
            <a:r>
              <a:rPr b="1" lang="de-DE" sz="4200">
                <a:solidFill>
                  <a:schemeClr val="lt2"/>
                </a:solidFill>
              </a:rPr>
              <a:t>Secondary Literature</a:t>
            </a:r>
            <a:endParaRPr b="1" sz="4200">
              <a:solidFill>
                <a:schemeClr val="lt2"/>
              </a:solidFill>
            </a:endParaRPr>
          </a:p>
          <a:p>
            <a:pPr indent="0" lvl="0" marL="0" rtl="0" algn="ctr">
              <a:lnSpc>
                <a:spcPct val="94999"/>
              </a:lnSpc>
              <a:spcBef>
                <a:spcPts val="0"/>
              </a:spcBef>
              <a:spcAft>
                <a:spcPts val="0"/>
              </a:spcAft>
              <a:buNone/>
            </a:pPr>
            <a:r>
              <a:t/>
            </a:r>
            <a:endParaRPr b="1" sz="4200">
              <a:solidFill>
                <a:schemeClr val="dk2"/>
              </a:solidFill>
            </a:endParaRPr>
          </a:p>
          <a:p>
            <a:pPr indent="0" lvl="0" marL="0" rtl="0" algn="ctr">
              <a:lnSpc>
                <a:spcPct val="94999"/>
              </a:lnSpc>
              <a:spcBef>
                <a:spcPts val="0"/>
              </a:spcBef>
              <a:spcAft>
                <a:spcPts val="0"/>
              </a:spcAft>
              <a:buNone/>
            </a:pPr>
            <a:r>
              <a:rPr b="1" lang="de-DE" sz="4200">
                <a:solidFill>
                  <a:srgbClr val="FFCD00"/>
                </a:solidFill>
              </a:rPr>
              <a:t>Tertiary Literature</a:t>
            </a:r>
            <a:endParaRPr b="1" sz="4200">
              <a:solidFill>
                <a:srgbClr val="FFCD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4"/>
          <p:cNvSpPr txBox="1"/>
          <p:nvPr>
            <p:ph type="title"/>
          </p:nvPr>
        </p:nvSpPr>
        <p:spPr>
          <a:xfrm>
            <a:off x="1944000" y="1301860"/>
            <a:ext cx="14400000" cy="1260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Arial"/>
              <a:buNone/>
            </a:pPr>
            <a:r>
              <a:rPr b="1" lang="de-DE"/>
              <a:t>Types of Scientific Literature</a:t>
            </a:r>
            <a:endParaRPr b="1"/>
          </a:p>
        </p:txBody>
      </p:sp>
      <p:sp>
        <p:nvSpPr>
          <p:cNvPr id="177" name="Google Shape;177;p14"/>
          <p:cNvSpPr txBox="1"/>
          <p:nvPr>
            <p:ph idx="1" type="body"/>
          </p:nvPr>
        </p:nvSpPr>
        <p:spPr>
          <a:xfrm>
            <a:off x="1944000" y="2738825"/>
            <a:ext cx="4020300" cy="6480000"/>
          </a:xfrm>
          <a:prstGeom prst="rect">
            <a:avLst/>
          </a:prstGeom>
          <a:noFill/>
          <a:ln>
            <a:noFill/>
          </a:ln>
        </p:spPr>
        <p:txBody>
          <a:bodyPr anchorCtr="0" anchor="t" bIns="45700" lIns="91425" spcFirstLastPara="1" rIns="91425" wrap="square" tIns="45700">
            <a:noAutofit/>
          </a:bodyPr>
          <a:lstStyle/>
          <a:p>
            <a:pPr indent="0" lvl="0" marL="0" rtl="0" algn="ctr">
              <a:lnSpc>
                <a:spcPct val="115000"/>
              </a:lnSpc>
              <a:spcBef>
                <a:spcPts val="1200"/>
              </a:spcBef>
              <a:spcAft>
                <a:spcPts val="0"/>
              </a:spcAft>
              <a:buNone/>
            </a:pPr>
            <a:r>
              <a:rPr b="1" lang="de-DE" sz="3000"/>
              <a:t>Primary Literature</a:t>
            </a:r>
            <a:endParaRPr b="1" sz="3000"/>
          </a:p>
          <a:p>
            <a:pPr indent="-365125" lvl="0" marL="457200" rtl="0" algn="l">
              <a:lnSpc>
                <a:spcPct val="115000"/>
              </a:lnSpc>
              <a:spcBef>
                <a:spcPts val="1200"/>
              </a:spcBef>
              <a:spcAft>
                <a:spcPts val="0"/>
              </a:spcAft>
              <a:buSzPts val="2150"/>
              <a:buChar char="•"/>
            </a:pPr>
            <a:r>
              <a:rPr lang="de-DE" sz="2150"/>
              <a:t>Original Research and/or new scientific discoveries</a:t>
            </a:r>
            <a:endParaRPr sz="2150"/>
          </a:p>
          <a:p>
            <a:pPr indent="-365125" lvl="0" marL="457200" rtl="0" algn="l">
              <a:lnSpc>
                <a:spcPct val="115000"/>
              </a:lnSpc>
              <a:spcBef>
                <a:spcPts val="0"/>
              </a:spcBef>
              <a:spcAft>
                <a:spcPts val="0"/>
              </a:spcAft>
              <a:buSzPts val="2150"/>
              <a:buChar char="•"/>
            </a:pPr>
            <a:r>
              <a:rPr lang="de-DE" sz="2150"/>
              <a:t>immediate results of research activities</a:t>
            </a:r>
            <a:endParaRPr sz="2150"/>
          </a:p>
          <a:p>
            <a:pPr indent="-365125" lvl="0" marL="457200" rtl="0" algn="l">
              <a:lnSpc>
                <a:spcPct val="115000"/>
              </a:lnSpc>
              <a:spcBef>
                <a:spcPts val="0"/>
              </a:spcBef>
              <a:spcAft>
                <a:spcPts val="0"/>
              </a:spcAft>
              <a:buSzPts val="2150"/>
              <a:buChar char="•"/>
            </a:pPr>
            <a:r>
              <a:rPr lang="de-DE" sz="2150"/>
              <a:t>often includes analysis of data collected in the field or laboratory</a:t>
            </a:r>
            <a:endParaRPr sz="2150"/>
          </a:p>
          <a:p>
            <a:pPr indent="0" lvl="0" marL="0" rtl="0" algn="l">
              <a:lnSpc>
                <a:spcPct val="115000"/>
              </a:lnSpc>
              <a:spcBef>
                <a:spcPts val="1200"/>
              </a:spcBef>
              <a:spcAft>
                <a:spcPts val="0"/>
              </a:spcAft>
              <a:buNone/>
            </a:pPr>
            <a:r>
              <a:rPr b="1" lang="de-DE" sz="2150"/>
              <a:t>Examples:</a:t>
            </a:r>
            <a:endParaRPr b="1" sz="2150"/>
          </a:p>
          <a:p>
            <a:pPr indent="-365125" lvl="0" marL="457200" rtl="0" algn="l">
              <a:lnSpc>
                <a:spcPct val="115000"/>
              </a:lnSpc>
              <a:spcBef>
                <a:spcPts val="1200"/>
              </a:spcBef>
              <a:spcAft>
                <a:spcPts val="0"/>
              </a:spcAft>
              <a:buSzPts val="2150"/>
              <a:buChar char="•"/>
            </a:pPr>
            <a:r>
              <a:rPr lang="de-DE" sz="2150"/>
              <a:t>original research published as articles in peer-reviewed journals</a:t>
            </a:r>
            <a:endParaRPr sz="2150"/>
          </a:p>
          <a:p>
            <a:pPr indent="-365125" lvl="0" marL="457200" rtl="0" algn="l">
              <a:lnSpc>
                <a:spcPct val="115000"/>
              </a:lnSpc>
              <a:spcBef>
                <a:spcPts val="0"/>
              </a:spcBef>
              <a:spcAft>
                <a:spcPts val="0"/>
              </a:spcAft>
              <a:buSzPts val="2150"/>
              <a:buChar char="•"/>
            </a:pPr>
            <a:r>
              <a:rPr lang="de-DE" sz="2150"/>
              <a:t>dissertations</a:t>
            </a:r>
            <a:endParaRPr sz="2150"/>
          </a:p>
          <a:p>
            <a:pPr indent="-365125" lvl="0" marL="457200" rtl="0" algn="l">
              <a:lnSpc>
                <a:spcPct val="115000"/>
              </a:lnSpc>
              <a:spcBef>
                <a:spcPts val="0"/>
              </a:spcBef>
              <a:spcAft>
                <a:spcPts val="0"/>
              </a:spcAft>
              <a:buSzPts val="2150"/>
              <a:buChar char="•"/>
            </a:pPr>
            <a:r>
              <a:rPr lang="de-DE" sz="2150"/>
              <a:t>technical reports</a:t>
            </a:r>
            <a:endParaRPr sz="2150"/>
          </a:p>
          <a:p>
            <a:pPr indent="-365125" lvl="0" marL="457200" rtl="0" algn="l">
              <a:lnSpc>
                <a:spcPct val="115000"/>
              </a:lnSpc>
              <a:spcBef>
                <a:spcPts val="0"/>
              </a:spcBef>
              <a:spcAft>
                <a:spcPts val="0"/>
              </a:spcAft>
              <a:buSzPts val="2150"/>
              <a:buChar char="•"/>
            </a:pPr>
            <a:r>
              <a:rPr lang="de-DE" sz="2150"/>
              <a:t>conference proceedings</a:t>
            </a:r>
            <a:endParaRPr b="1" sz="2150"/>
          </a:p>
        </p:txBody>
      </p:sp>
      <p:sp>
        <p:nvSpPr>
          <p:cNvPr id="178" name="Google Shape;178;p14"/>
          <p:cNvSpPr txBox="1"/>
          <p:nvPr>
            <p:ph idx="1" type="body"/>
          </p:nvPr>
        </p:nvSpPr>
        <p:spPr>
          <a:xfrm>
            <a:off x="12323700" y="2561850"/>
            <a:ext cx="4020300" cy="6480000"/>
          </a:xfrm>
          <a:prstGeom prst="rect">
            <a:avLst/>
          </a:prstGeom>
          <a:noFill/>
          <a:ln>
            <a:noFill/>
          </a:ln>
        </p:spPr>
        <p:txBody>
          <a:bodyPr anchorCtr="0" anchor="t" bIns="45700" lIns="91425" spcFirstLastPara="1" rIns="91425" wrap="square" tIns="45700">
            <a:noAutofit/>
          </a:bodyPr>
          <a:lstStyle/>
          <a:p>
            <a:pPr indent="0" lvl="0" marL="0" rtl="0" algn="ctr">
              <a:lnSpc>
                <a:spcPct val="115000"/>
              </a:lnSpc>
              <a:spcBef>
                <a:spcPts val="1200"/>
              </a:spcBef>
              <a:spcAft>
                <a:spcPts val="0"/>
              </a:spcAft>
              <a:buNone/>
            </a:pPr>
            <a:r>
              <a:rPr b="1" lang="de-DE" sz="3000"/>
              <a:t>Tertiary Literature</a:t>
            </a:r>
            <a:endParaRPr b="1" sz="3000"/>
          </a:p>
          <a:p>
            <a:pPr indent="-365125" lvl="0" marL="457200" rtl="0" algn="l">
              <a:lnSpc>
                <a:spcPct val="115000"/>
              </a:lnSpc>
              <a:spcBef>
                <a:spcPts val="1200"/>
              </a:spcBef>
              <a:spcAft>
                <a:spcPts val="0"/>
              </a:spcAft>
              <a:buSzPts val="2150"/>
              <a:buChar char="•"/>
            </a:pPr>
            <a:r>
              <a:rPr lang="de-DE" sz="2150"/>
              <a:t>summaries or condensed versions of materials</a:t>
            </a:r>
            <a:endParaRPr sz="2150"/>
          </a:p>
          <a:p>
            <a:pPr indent="-365125" lvl="0" marL="457200" rtl="0" algn="l">
              <a:lnSpc>
                <a:spcPct val="115000"/>
              </a:lnSpc>
              <a:spcBef>
                <a:spcPts val="0"/>
              </a:spcBef>
              <a:spcAft>
                <a:spcPts val="0"/>
              </a:spcAft>
              <a:buSzPts val="2150"/>
              <a:buChar char="•"/>
            </a:pPr>
            <a:r>
              <a:rPr lang="de-DE" sz="2150"/>
              <a:t>usually with references to primary or secondary sources</a:t>
            </a:r>
            <a:endParaRPr sz="2150"/>
          </a:p>
          <a:p>
            <a:pPr indent="-365125" lvl="0" marL="457200" rtl="0" algn="l">
              <a:lnSpc>
                <a:spcPct val="115000"/>
              </a:lnSpc>
              <a:spcBef>
                <a:spcPts val="0"/>
              </a:spcBef>
              <a:spcAft>
                <a:spcPts val="0"/>
              </a:spcAft>
              <a:buSzPts val="2150"/>
              <a:buChar char="•"/>
            </a:pPr>
            <a:r>
              <a:rPr lang="de-DE" sz="2150"/>
              <a:t>good place to look up facts or get a general overview of a topic</a:t>
            </a:r>
            <a:endParaRPr sz="2150"/>
          </a:p>
          <a:p>
            <a:pPr indent="0" lvl="0" marL="0" rtl="0" algn="l">
              <a:lnSpc>
                <a:spcPct val="115000"/>
              </a:lnSpc>
              <a:spcBef>
                <a:spcPts val="1200"/>
              </a:spcBef>
              <a:spcAft>
                <a:spcPts val="0"/>
              </a:spcAft>
              <a:buNone/>
            </a:pPr>
            <a:r>
              <a:rPr b="1" lang="de-DE" sz="2150"/>
              <a:t>Examples:</a:t>
            </a:r>
            <a:endParaRPr b="1" sz="2150"/>
          </a:p>
          <a:p>
            <a:pPr indent="-365125" lvl="0" marL="457200" rtl="0" algn="l">
              <a:lnSpc>
                <a:spcPct val="115000"/>
              </a:lnSpc>
              <a:spcBef>
                <a:spcPts val="1200"/>
              </a:spcBef>
              <a:spcAft>
                <a:spcPts val="0"/>
              </a:spcAft>
              <a:buSzPts val="2150"/>
              <a:buChar char="•"/>
            </a:pPr>
            <a:r>
              <a:rPr lang="de-DE" sz="2150"/>
              <a:t>Textbooks</a:t>
            </a:r>
            <a:endParaRPr sz="2150"/>
          </a:p>
          <a:p>
            <a:pPr indent="-365125" lvl="0" marL="457200" rtl="0" algn="l">
              <a:lnSpc>
                <a:spcPct val="115000"/>
              </a:lnSpc>
              <a:spcBef>
                <a:spcPts val="0"/>
              </a:spcBef>
              <a:spcAft>
                <a:spcPts val="0"/>
              </a:spcAft>
              <a:buSzPts val="2150"/>
              <a:buChar char="•"/>
            </a:pPr>
            <a:r>
              <a:rPr lang="de-DE" sz="2150"/>
              <a:t>Dictionaries</a:t>
            </a:r>
            <a:endParaRPr sz="2150"/>
          </a:p>
          <a:p>
            <a:pPr indent="-365125" lvl="0" marL="457200" rtl="0" algn="l">
              <a:lnSpc>
                <a:spcPct val="115000"/>
              </a:lnSpc>
              <a:spcBef>
                <a:spcPts val="0"/>
              </a:spcBef>
              <a:spcAft>
                <a:spcPts val="0"/>
              </a:spcAft>
              <a:buSzPts val="2150"/>
              <a:buChar char="•"/>
            </a:pPr>
            <a:r>
              <a:rPr lang="de-DE" sz="2150"/>
              <a:t>Encyclopedias</a:t>
            </a:r>
            <a:endParaRPr sz="2150"/>
          </a:p>
          <a:p>
            <a:pPr indent="-365125" lvl="0" marL="457200" rtl="0" algn="l">
              <a:lnSpc>
                <a:spcPct val="115000"/>
              </a:lnSpc>
              <a:spcBef>
                <a:spcPts val="0"/>
              </a:spcBef>
              <a:spcAft>
                <a:spcPts val="0"/>
              </a:spcAft>
              <a:buSzPts val="2150"/>
              <a:buChar char="•"/>
            </a:pPr>
            <a:r>
              <a:rPr lang="de-DE" sz="2150"/>
              <a:t>Handbooks</a:t>
            </a:r>
            <a:endParaRPr b="1" sz="2150"/>
          </a:p>
        </p:txBody>
      </p:sp>
      <p:sp>
        <p:nvSpPr>
          <p:cNvPr id="179" name="Google Shape;179;p14"/>
          <p:cNvSpPr txBox="1"/>
          <p:nvPr>
            <p:ph idx="1" type="body"/>
          </p:nvPr>
        </p:nvSpPr>
        <p:spPr>
          <a:xfrm>
            <a:off x="7133850" y="2738825"/>
            <a:ext cx="4020300" cy="6480000"/>
          </a:xfrm>
          <a:prstGeom prst="rect">
            <a:avLst/>
          </a:prstGeom>
          <a:noFill/>
          <a:ln>
            <a:noFill/>
          </a:ln>
        </p:spPr>
        <p:txBody>
          <a:bodyPr anchorCtr="0" anchor="t" bIns="45700" lIns="91425" spcFirstLastPara="1" rIns="91425" wrap="square" tIns="45700">
            <a:noAutofit/>
          </a:bodyPr>
          <a:lstStyle/>
          <a:p>
            <a:pPr indent="0" lvl="0" marL="0" rtl="0" algn="ctr">
              <a:lnSpc>
                <a:spcPct val="115000"/>
              </a:lnSpc>
              <a:spcBef>
                <a:spcPts val="1200"/>
              </a:spcBef>
              <a:spcAft>
                <a:spcPts val="0"/>
              </a:spcAft>
              <a:buClr>
                <a:schemeClr val="dk1"/>
              </a:buClr>
              <a:buSzPts val="1100"/>
              <a:buFont typeface="Arial"/>
              <a:buNone/>
            </a:pPr>
            <a:r>
              <a:rPr b="1" lang="de-DE" sz="3000"/>
              <a:t>Secondary Literature</a:t>
            </a:r>
            <a:endParaRPr b="1" sz="3000"/>
          </a:p>
          <a:p>
            <a:pPr indent="-365125" lvl="0" marL="457200" rtl="0" algn="l">
              <a:lnSpc>
                <a:spcPct val="115000"/>
              </a:lnSpc>
              <a:spcBef>
                <a:spcPts val="1200"/>
              </a:spcBef>
              <a:spcAft>
                <a:spcPts val="0"/>
              </a:spcAft>
              <a:buSzPts val="2150"/>
              <a:buChar char="•"/>
            </a:pPr>
            <a:r>
              <a:rPr lang="de-DE" sz="2150"/>
              <a:t>Summarizes and </a:t>
            </a:r>
            <a:r>
              <a:rPr lang="de-DE" sz="2150"/>
              <a:t>synthesizes</a:t>
            </a:r>
            <a:r>
              <a:rPr lang="de-DE" sz="2150"/>
              <a:t> primary literature</a:t>
            </a:r>
            <a:endParaRPr sz="2150"/>
          </a:p>
          <a:p>
            <a:pPr indent="-365125" lvl="0" marL="457200" rtl="0" algn="l">
              <a:lnSpc>
                <a:spcPct val="115000"/>
              </a:lnSpc>
              <a:spcBef>
                <a:spcPts val="0"/>
              </a:spcBef>
              <a:spcAft>
                <a:spcPts val="0"/>
              </a:spcAft>
              <a:buSzPts val="2150"/>
              <a:buChar char="•"/>
            </a:pPr>
            <a:r>
              <a:rPr lang="de-DE" sz="2150"/>
              <a:t>Usually broader and less current than primary literature</a:t>
            </a:r>
            <a:endParaRPr sz="2150"/>
          </a:p>
          <a:p>
            <a:pPr indent="0" lvl="0" marL="0" rtl="0" algn="l">
              <a:lnSpc>
                <a:spcPct val="115000"/>
              </a:lnSpc>
              <a:spcBef>
                <a:spcPts val="1200"/>
              </a:spcBef>
              <a:spcAft>
                <a:spcPts val="0"/>
              </a:spcAft>
              <a:buNone/>
            </a:pPr>
            <a:r>
              <a:rPr b="1" lang="de-DE" sz="2150"/>
              <a:t>Examples:</a:t>
            </a:r>
            <a:endParaRPr b="1" sz="2150"/>
          </a:p>
          <a:p>
            <a:pPr indent="-365125" lvl="0" marL="457200" rtl="0" algn="l">
              <a:lnSpc>
                <a:spcPct val="115000"/>
              </a:lnSpc>
              <a:spcBef>
                <a:spcPts val="1200"/>
              </a:spcBef>
              <a:spcAft>
                <a:spcPts val="0"/>
              </a:spcAft>
              <a:buSzPts val="2150"/>
              <a:buChar char="•"/>
            </a:pPr>
            <a:r>
              <a:rPr lang="de-DE" sz="2150"/>
              <a:t>literature review articles</a:t>
            </a:r>
            <a:endParaRPr sz="2150"/>
          </a:p>
          <a:p>
            <a:pPr indent="-365125" lvl="0" marL="457200" rtl="0" algn="l">
              <a:lnSpc>
                <a:spcPct val="115000"/>
              </a:lnSpc>
              <a:spcBef>
                <a:spcPts val="0"/>
              </a:spcBef>
              <a:spcAft>
                <a:spcPts val="0"/>
              </a:spcAft>
              <a:buSzPts val="2150"/>
              <a:buChar char="•"/>
            </a:pPr>
            <a:r>
              <a:rPr lang="de-DE" sz="2150"/>
              <a:t>books</a:t>
            </a:r>
            <a:endParaRPr sz="2150"/>
          </a:p>
          <a:p>
            <a:pPr indent="0" lvl="0" marL="0" rtl="0" algn="ctr">
              <a:lnSpc>
                <a:spcPct val="115000"/>
              </a:lnSpc>
              <a:spcBef>
                <a:spcPts val="1200"/>
              </a:spcBef>
              <a:spcAft>
                <a:spcPts val="1200"/>
              </a:spcAft>
              <a:buNone/>
            </a:pPr>
            <a:r>
              <a:rPr i="1" lang="de-DE" sz="2150"/>
              <a:t>Since most information sources in the secondary literature contain extensive bibliographies, they can be useful for finding more information on a topic</a:t>
            </a:r>
            <a:endParaRPr b="1" sz="215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5"/>
          <p:cNvSpPr txBox="1"/>
          <p:nvPr>
            <p:ph type="title"/>
          </p:nvPr>
        </p:nvSpPr>
        <p:spPr>
          <a:xfrm>
            <a:off x="1944000" y="1301860"/>
            <a:ext cx="14400000" cy="1260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Arial"/>
              <a:buNone/>
            </a:pPr>
            <a:r>
              <a:rPr b="1" lang="de-DE"/>
              <a:t>Types of Scientific Literature</a:t>
            </a:r>
            <a:endParaRPr b="1"/>
          </a:p>
        </p:txBody>
      </p:sp>
      <p:sp>
        <p:nvSpPr>
          <p:cNvPr id="186" name="Google Shape;186;p15"/>
          <p:cNvSpPr txBox="1"/>
          <p:nvPr>
            <p:ph idx="1" type="body"/>
          </p:nvPr>
        </p:nvSpPr>
        <p:spPr>
          <a:xfrm>
            <a:off x="1944000" y="2738825"/>
            <a:ext cx="14400000" cy="7284600"/>
          </a:xfrm>
          <a:prstGeom prst="rect">
            <a:avLst/>
          </a:prstGeom>
          <a:noFill/>
          <a:ln>
            <a:noFill/>
          </a:ln>
        </p:spPr>
        <p:txBody>
          <a:bodyPr anchorCtr="0" anchor="t" bIns="45700" lIns="91425" spcFirstLastPara="1" rIns="91425" wrap="square" tIns="45700">
            <a:noAutofit/>
          </a:bodyPr>
          <a:lstStyle/>
          <a:p>
            <a:pPr indent="-723900" lvl="0" marL="685800" rtl="0" algn="just">
              <a:lnSpc>
                <a:spcPct val="100000"/>
              </a:lnSpc>
              <a:spcBef>
                <a:spcPts val="0"/>
              </a:spcBef>
              <a:spcAft>
                <a:spcPts val="0"/>
              </a:spcAft>
              <a:buSzPts val="3000"/>
              <a:buAutoNum type="arabicPeriod"/>
            </a:pPr>
            <a:r>
              <a:rPr b="1" lang="de-DE" sz="3000"/>
              <a:t>Scientific Journal Article: </a:t>
            </a:r>
            <a:r>
              <a:rPr lang="de-DE" sz="3000"/>
              <a:t>is peer reviewed, discusses authors’ original research, offer analysis of results and cites other relevant papers (Swoger, 2014). </a:t>
            </a:r>
            <a:endParaRPr sz="3000"/>
          </a:p>
          <a:p>
            <a:pPr indent="-723900" lvl="0" marL="685800" rtl="0" algn="just">
              <a:lnSpc>
                <a:spcPct val="100000"/>
              </a:lnSpc>
              <a:spcBef>
                <a:spcPts val="2400"/>
              </a:spcBef>
              <a:spcAft>
                <a:spcPts val="0"/>
              </a:spcAft>
              <a:buSzPts val="3000"/>
              <a:buAutoNum type="arabicPeriod"/>
            </a:pPr>
            <a:r>
              <a:rPr b="1" lang="de-DE" sz="3000"/>
              <a:t>Review Article: </a:t>
            </a:r>
            <a:r>
              <a:rPr lang="de-DE" sz="3000"/>
              <a:t>outlines the current state of research in a particular field, cites appropriate literature and connects research (Swoger, 2014). </a:t>
            </a:r>
            <a:endParaRPr sz="3000"/>
          </a:p>
          <a:p>
            <a:pPr indent="-723900" lvl="0" marL="685800" rtl="0" algn="just">
              <a:lnSpc>
                <a:spcPct val="100000"/>
              </a:lnSpc>
              <a:spcBef>
                <a:spcPts val="2400"/>
              </a:spcBef>
              <a:spcAft>
                <a:spcPts val="0"/>
              </a:spcAft>
              <a:buSzPts val="3000"/>
              <a:buAutoNum type="arabicPeriod"/>
            </a:pPr>
            <a:r>
              <a:rPr b="1" lang="de-DE" sz="3000"/>
              <a:t>Technical Reports: </a:t>
            </a:r>
            <a:r>
              <a:rPr lang="de-DE" sz="3000"/>
              <a:t>scientific work produced by, for example the Government or NGO’s. They are not often peer reviewed (Swoger, 2014). </a:t>
            </a:r>
            <a:endParaRPr sz="3000"/>
          </a:p>
          <a:p>
            <a:pPr indent="-723900" lvl="0" marL="685800" rtl="0" algn="just">
              <a:lnSpc>
                <a:spcPct val="100000"/>
              </a:lnSpc>
              <a:spcBef>
                <a:spcPts val="1000"/>
              </a:spcBef>
              <a:spcAft>
                <a:spcPts val="0"/>
              </a:spcAft>
              <a:buSzPts val="3000"/>
              <a:buAutoNum type="arabicPeriod"/>
            </a:pPr>
            <a:r>
              <a:rPr b="1" lang="de-DE" sz="3000"/>
              <a:t>Grey literature: </a:t>
            </a:r>
            <a:r>
              <a:rPr lang="de-DE" sz="3000"/>
              <a:t>"information produced on all levels of government, academia, business and industry in electronic and print formats not controlled </a:t>
            </a:r>
            <a:endParaRPr sz="3000"/>
          </a:p>
          <a:p>
            <a:pPr indent="0" lvl="0" marL="457200" rtl="0" algn="just">
              <a:lnSpc>
                <a:spcPct val="100000"/>
              </a:lnSpc>
              <a:spcBef>
                <a:spcPts val="0"/>
              </a:spcBef>
              <a:spcAft>
                <a:spcPts val="0"/>
              </a:spcAft>
              <a:buNone/>
            </a:pPr>
            <a:r>
              <a:rPr lang="de-DE" sz="3000"/>
              <a:t>  by commercial publishing" ie. where publishing is not the primary activity </a:t>
            </a:r>
            <a:endParaRPr sz="3000"/>
          </a:p>
          <a:p>
            <a:pPr indent="0" lvl="0" marL="457200" rtl="0" algn="just">
              <a:lnSpc>
                <a:spcPct val="100000"/>
              </a:lnSpc>
              <a:spcBef>
                <a:spcPts val="0"/>
              </a:spcBef>
              <a:spcAft>
                <a:spcPts val="0"/>
              </a:spcAft>
              <a:buNone/>
            </a:pPr>
            <a:r>
              <a:rPr lang="de-DE" sz="3000"/>
              <a:t>  of the producing body." (ICGL Luxembourg definition, 1997).</a:t>
            </a:r>
            <a:endParaRPr sz="3000"/>
          </a:p>
          <a:p>
            <a:pPr indent="0" lvl="0" marL="0" rtl="0" algn="just">
              <a:lnSpc>
                <a:spcPct val="100000"/>
              </a:lnSpc>
              <a:spcBef>
                <a:spcPts val="0"/>
              </a:spcBef>
              <a:spcAft>
                <a:spcPts val="0"/>
              </a:spcAft>
              <a:buNone/>
            </a:pPr>
            <a:r>
              <a:t/>
            </a:r>
            <a:endParaRPr sz="3000"/>
          </a:p>
          <a:p>
            <a:pPr indent="0" lvl="0" marL="0" rtl="0" algn="l">
              <a:lnSpc>
                <a:spcPct val="100000"/>
              </a:lnSpc>
              <a:spcBef>
                <a:spcPts val="0"/>
              </a:spcBef>
              <a:spcAft>
                <a:spcPts val="0"/>
              </a:spcAft>
              <a:buNone/>
            </a:pPr>
            <a:r>
              <a:rPr b="1" lang="de-DE" sz="2500"/>
              <a:t>Peer review</a:t>
            </a:r>
            <a:r>
              <a:rPr lang="de-DE" sz="2500"/>
              <a:t>: Process to assess validity, quality and originality of articles. </a:t>
            </a:r>
            <a:r>
              <a:rPr lang="de-DE" sz="2500" u="sng">
                <a:solidFill>
                  <a:srgbClr val="AD1F1F"/>
                </a:solidFill>
                <a:hlinkClick r:id="rId3">
                  <a:extLst>
                    <a:ext uri="{A12FA001-AC4F-418D-AE19-62706E023703}">
                      <ahyp:hlinkClr val="tx"/>
                    </a:ext>
                  </a:extLst>
                </a:hlinkClick>
              </a:rPr>
              <a:t>To know more.</a:t>
            </a:r>
            <a:endParaRPr sz="2500"/>
          </a:p>
          <a:p>
            <a:pPr indent="0" lvl="0" marL="0" rtl="0" algn="l">
              <a:lnSpc>
                <a:spcPct val="100000"/>
              </a:lnSpc>
              <a:spcBef>
                <a:spcPts val="0"/>
              </a:spcBef>
              <a:spcAft>
                <a:spcPts val="0"/>
              </a:spcAft>
              <a:buNone/>
            </a:pPr>
            <a:r>
              <a:rPr lang="de-DE" sz="2500"/>
              <a:t>For </a:t>
            </a:r>
            <a:r>
              <a:rPr b="1" lang="de-DE" sz="2500"/>
              <a:t>more examples</a:t>
            </a:r>
            <a:r>
              <a:rPr lang="de-DE" sz="2500"/>
              <a:t>: </a:t>
            </a:r>
            <a:r>
              <a:rPr lang="de-DE" sz="2500" u="sng">
                <a:solidFill>
                  <a:srgbClr val="AD1F1F"/>
                </a:solidFill>
                <a:hlinkClick r:id="rId4">
                  <a:extLst>
                    <a:ext uri="{A12FA001-AC4F-418D-AE19-62706E023703}">
                      <ahyp:hlinkClr val="tx"/>
                    </a:ext>
                  </a:extLst>
                </a:hlinkClick>
              </a:rPr>
              <a:t>The undergraduate science librarian</a:t>
            </a:r>
            <a:endParaRPr sz="25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6"/>
          <p:cNvSpPr txBox="1"/>
          <p:nvPr>
            <p:ph type="title"/>
          </p:nvPr>
        </p:nvSpPr>
        <p:spPr>
          <a:xfrm>
            <a:off x="1944000" y="1301860"/>
            <a:ext cx="14400000" cy="1260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Arial"/>
              <a:buNone/>
            </a:pPr>
            <a:r>
              <a:rPr b="1" lang="de-DE"/>
              <a:t>How to Look for Scientific Literature</a:t>
            </a:r>
            <a:endParaRPr b="1"/>
          </a:p>
        </p:txBody>
      </p:sp>
      <p:sp>
        <p:nvSpPr>
          <p:cNvPr id="193" name="Google Shape;193;p16"/>
          <p:cNvSpPr txBox="1"/>
          <p:nvPr>
            <p:ph idx="1" type="body"/>
          </p:nvPr>
        </p:nvSpPr>
        <p:spPr>
          <a:xfrm>
            <a:off x="1944000" y="2738825"/>
            <a:ext cx="14400000" cy="7284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de-DE" sz="3100"/>
              <a:t>Always look for </a:t>
            </a:r>
            <a:r>
              <a:rPr b="1" lang="de-DE" sz="3100"/>
              <a:t>peer-reviewed</a:t>
            </a:r>
            <a:r>
              <a:rPr lang="de-DE" sz="3100"/>
              <a:t> articles or works that you can assess for validity and quality.</a:t>
            </a:r>
            <a:endParaRPr sz="3100"/>
          </a:p>
          <a:p>
            <a:pPr indent="0" lvl="0" marL="0" rtl="0" algn="l">
              <a:lnSpc>
                <a:spcPct val="100000"/>
              </a:lnSpc>
              <a:spcBef>
                <a:spcPts val="0"/>
              </a:spcBef>
              <a:spcAft>
                <a:spcPts val="0"/>
              </a:spcAft>
              <a:buNone/>
            </a:pPr>
            <a:r>
              <a:rPr i="1" lang="de-DE" sz="3100"/>
              <a:t>Most articles and databases will not indicate if the work is peer-reviewed or not. You will have to look for the information about the journal where it was published</a:t>
            </a:r>
            <a:endParaRPr i="1" sz="3100"/>
          </a:p>
          <a:p>
            <a:pPr indent="0" lvl="0" marL="0" rtl="0" algn="l">
              <a:lnSpc>
                <a:spcPct val="100000"/>
              </a:lnSpc>
              <a:spcBef>
                <a:spcPts val="0"/>
              </a:spcBef>
              <a:spcAft>
                <a:spcPts val="0"/>
              </a:spcAft>
              <a:buNone/>
            </a:pPr>
            <a:r>
              <a:t/>
            </a:r>
            <a:endParaRPr i="1" sz="3100"/>
          </a:p>
          <a:p>
            <a:pPr indent="0" lvl="0" marL="0" rtl="0" algn="l">
              <a:lnSpc>
                <a:spcPct val="100000"/>
              </a:lnSpc>
              <a:spcBef>
                <a:spcPts val="0"/>
              </a:spcBef>
              <a:spcAft>
                <a:spcPts val="0"/>
              </a:spcAft>
              <a:buNone/>
            </a:pPr>
            <a:r>
              <a:rPr lang="de-DE" sz="3100"/>
              <a:t>Make use of </a:t>
            </a:r>
            <a:r>
              <a:rPr b="1" lang="de-DE" sz="3100"/>
              <a:t>internet resources</a:t>
            </a:r>
            <a:r>
              <a:rPr lang="de-DE" sz="3100"/>
              <a:t> to look for sources.</a:t>
            </a:r>
            <a:endParaRPr sz="3100"/>
          </a:p>
          <a:p>
            <a:pPr indent="0" lvl="0" marL="0" rtl="0" algn="l">
              <a:lnSpc>
                <a:spcPct val="100000"/>
              </a:lnSpc>
              <a:spcBef>
                <a:spcPts val="0"/>
              </a:spcBef>
              <a:spcAft>
                <a:spcPts val="0"/>
              </a:spcAft>
              <a:buClr>
                <a:schemeClr val="dk1"/>
              </a:buClr>
              <a:buFont typeface="Arial"/>
              <a:buNone/>
            </a:pPr>
            <a:r>
              <a:rPr i="1" lang="de-DE" sz="3100"/>
              <a:t>Open Access Journal vs paid Journals: OA journals’ content can be accessed without subscription or payment. </a:t>
            </a:r>
            <a:endParaRPr sz="3100"/>
          </a:p>
          <a:p>
            <a:pPr indent="0" lvl="0" marL="0" rtl="0" algn="l">
              <a:lnSpc>
                <a:spcPct val="100000"/>
              </a:lnSpc>
              <a:spcBef>
                <a:spcPts val="0"/>
              </a:spcBef>
              <a:spcAft>
                <a:spcPts val="0"/>
              </a:spcAft>
              <a:buClr>
                <a:schemeClr val="dk1"/>
              </a:buClr>
              <a:buFont typeface="Arial"/>
              <a:buNone/>
            </a:pPr>
            <a:r>
              <a:rPr i="1" lang="de-DE" sz="3100"/>
              <a:t>For paid journals you can always check if Leuphana has a subscription or license for it. </a:t>
            </a:r>
            <a:endParaRPr sz="3100"/>
          </a:p>
          <a:p>
            <a:pPr indent="0" lvl="0" marL="0" rtl="0" algn="l">
              <a:lnSpc>
                <a:spcPct val="100000"/>
              </a:lnSpc>
              <a:spcBef>
                <a:spcPts val="0"/>
              </a:spcBef>
              <a:spcAft>
                <a:spcPts val="0"/>
              </a:spcAft>
              <a:buNone/>
            </a:pPr>
            <a:r>
              <a:t/>
            </a:r>
            <a:endParaRPr sz="3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7"/>
          <p:cNvSpPr txBox="1"/>
          <p:nvPr>
            <p:ph type="title"/>
          </p:nvPr>
        </p:nvSpPr>
        <p:spPr>
          <a:xfrm>
            <a:off x="1944000" y="1301860"/>
            <a:ext cx="14400000" cy="12600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ct val="100000"/>
              <a:buFont typeface="Arial"/>
              <a:buNone/>
            </a:pPr>
            <a:r>
              <a:rPr b="1" lang="de-DE"/>
              <a:t>How to Look for Scientific Literature</a:t>
            </a:r>
            <a:endParaRPr b="1"/>
          </a:p>
          <a:p>
            <a:pPr indent="0" lvl="0" marL="0" rtl="0" algn="l">
              <a:spcBef>
                <a:spcPts val="0"/>
              </a:spcBef>
              <a:spcAft>
                <a:spcPts val="0"/>
              </a:spcAft>
              <a:buClr>
                <a:schemeClr val="dk1"/>
              </a:buClr>
              <a:buSzPct val="100000"/>
              <a:buFont typeface="Arial"/>
              <a:buNone/>
            </a:pPr>
            <a:r>
              <a:rPr lang="de-DE"/>
              <a:t>Journal Articles</a:t>
            </a:r>
            <a:endParaRPr/>
          </a:p>
        </p:txBody>
      </p:sp>
      <p:sp>
        <p:nvSpPr>
          <p:cNvPr id="200" name="Google Shape;200;p17"/>
          <p:cNvSpPr txBox="1"/>
          <p:nvPr>
            <p:ph idx="1" type="body"/>
          </p:nvPr>
        </p:nvSpPr>
        <p:spPr>
          <a:xfrm>
            <a:off x="1944000" y="2738825"/>
            <a:ext cx="14400000" cy="7284600"/>
          </a:xfrm>
          <a:prstGeom prst="rect">
            <a:avLst/>
          </a:prstGeom>
          <a:noFill/>
          <a:ln>
            <a:noFill/>
          </a:ln>
        </p:spPr>
        <p:txBody>
          <a:bodyPr anchorCtr="0" anchor="t" bIns="45700" lIns="91425" spcFirstLastPara="1" rIns="91425" wrap="square" tIns="45700">
            <a:noAutofit/>
          </a:bodyPr>
          <a:lstStyle/>
          <a:p>
            <a:pPr indent="-419100" lvl="0" marL="457200" rtl="0" algn="l">
              <a:lnSpc>
                <a:spcPct val="100000"/>
              </a:lnSpc>
              <a:spcBef>
                <a:spcPts val="0"/>
              </a:spcBef>
              <a:spcAft>
                <a:spcPts val="0"/>
              </a:spcAft>
              <a:buSzPts val="3000"/>
              <a:buChar char="•"/>
            </a:pPr>
            <a:r>
              <a:rPr lang="de-DE" sz="3000"/>
              <a:t>Google Scholar </a:t>
            </a:r>
            <a:r>
              <a:rPr lang="de-DE" sz="3000" u="sng">
                <a:solidFill>
                  <a:srgbClr val="AD1F1F"/>
                </a:solidFill>
                <a:hlinkClick r:id="rId3">
                  <a:extLst>
                    <a:ext uri="{A12FA001-AC4F-418D-AE19-62706E023703}">
                      <ahyp:hlinkClr val="tx"/>
                    </a:ext>
                  </a:extLst>
                </a:hlinkClick>
              </a:rPr>
              <a:t>https://scholar.google.com/</a:t>
            </a:r>
            <a:endParaRPr sz="3000"/>
          </a:p>
          <a:p>
            <a:pPr indent="-419100" lvl="0" marL="457200" rtl="0" algn="l">
              <a:lnSpc>
                <a:spcPct val="100000"/>
              </a:lnSpc>
              <a:spcBef>
                <a:spcPts val="0"/>
              </a:spcBef>
              <a:spcAft>
                <a:spcPts val="0"/>
              </a:spcAft>
              <a:buSzPts val="3000"/>
              <a:buChar char="•"/>
            </a:pPr>
            <a:r>
              <a:rPr lang="de-DE" sz="3000"/>
              <a:t>JStor  </a:t>
            </a:r>
            <a:r>
              <a:rPr lang="de-DE" sz="3000" u="sng">
                <a:solidFill>
                  <a:srgbClr val="AD1F1F"/>
                </a:solidFill>
                <a:hlinkClick r:id="rId4">
                  <a:extLst>
                    <a:ext uri="{A12FA001-AC4F-418D-AE19-62706E023703}">
                      <ahyp:hlinkClr val="tx"/>
                    </a:ext>
                  </a:extLst>
                </a:hlinkClick>
              </a:rPr>
              <a:t>https://www.jstor.org/</a:t>
            </a:r>
            <a:endParaRPr sz="3000"/>
          </a:p>
          <a:p>
            <a:pPr indent="-419100" lvl="0" marL="457200" rtl="0" algn="l">
              <a:lnSpc>
                <a:spcPct val="100000"/>
              </a:lnSpc>
              <a:spcBef>
                <a:spcPts val="0"/>
              </a:spcBef>
              <a:spcAft>
                <a:spcPts val="0"/>
              </a:spcAft>
              <a:buSzPts val="3000"/>
              <a:buChar char="•"/>
            </a:pPr>
            <a:r>
              <a:rPr lang="de-DE" sz="3000"/>
              <a:t>Core </a:t>
            </a:r>
            <a:r>
              <a:rPr lang="de-DE" sz="3000" u="sng">
                <a:solidFill>
                  <a:srgbClr val="AD1F1F"/>
                </a:solidFill>
                <a:hlinkClick r:id="rId5">
                  <a:extLst>
                    <a:ext uri="{A12FA001-AC4F-418D-AE19-62706E023703}">
                      <ahyp:hlinkClr val="tx"/>
                    </a:ext>
                  </a:extLst>
                </a:hlinkClick>
              </a:rPr>
              <a:t>https://core.ac.uk/</a:t>
            </a:r>
            <a:endParaRPr sz="3000"/>
          </a:p>
          <a:p>
            <a:pPr indent="-419100" lvl="0" marL="457200" rtl="0" algn="l">
              <a:lnSpc>
                <a:spcPct val="100000"/>
              </a:lnSpc>
              <a:spcBef>
                <a:spcPts val="0"/>
              </a:spcBef>
              <a:spcAft>
                <a:spcPts val="0"/>
              </a:spcAft>
              <a:buSzPts val="3000"/>
              <a:buChar char="•"/>
            </a:pPr>
            <a:r>
              <a:rPr lang="de-DE" sz="3000"/>
              <a:t>ScienceOpen </a:t>
            </a:r>
            <a:r>
              <a:rPr lang="de-DE" sz="3000" u="sng">
                <a:solidFill>
                  <a:srgbClr val="AD1F1F"/>
                </a:solidFill>
                <a:hlinkClick r:id="rId6">
                  <a:extLst>
                    <a:ext uri="{A12FA001-AC4F-418D-AE19-62706E023703}">
                      <ahyp:hlinkClr val="tx"/>
                    </a:ext>
                  </a:extLst>
                </a:hlinkClick>
              </a:rPr>
              <a:t>https://www.scienceopen.com/</a:t>
            </a:r>
            <a:endParaRPr sz="3000"/>
          </a:p>
          <a:p>
            <a:pPr indent="-419100" lvl="0" marL="457200" rtl="0" algn="l">
              <a:lnSpc>
                <a:spcPct val="100000"/>
              </a:lnSpc>
              <a:spcBef>
                <a:spcPts val="0"/>
              </a:spcBef>
              <a:spcAft>
                <a:spcPts val="0"/>
              </a:spcAft>
              <a:buSzPts val="3000"/>
              <a:buChar char="•"/>
            </a:pPr>
            <a:r>
              <a:rPr lang="de-DE" sz="3000"/>
              <a:t>DOAJ </a:t>
            </a:r>
            <a:r>
              <a:rPr lang="de-DE" sz="3000" u="sng">
                <a:solidFill>
                  <a:srgbClr val="AD1F1F"/>
                </a:solidFill>
                <a:hlinkClick r:id="rId7">
                  <a:extLst>
                    <a:ext uri="{A12FA001-AC4F-418D-AE19-62706E023703}">
                      <ahyp:hlinkClr val="tx"/>
                    </a:ext>
                  </a:extLst>
                </a:hlinkClick>
              </a:rPr>
              <a:t>https://doaj.org/</a:t>
            </a:r>
            <a:endParaRPr sz="3000"/>
          </a:p>
          <a:p>
            <a:pPr indent="-419100" lvl="0" marL="457200" rtl="0" algn="l">
              <a:lnSpc>
                <a:spcPct val="100000"/>
              </a:lnSpc>
              <a:spcBef>
                <a:spcPts val="0"/>
              </a:spcBef>
              <a:spcAft>
                <a:spcPts val="0"/>
              </a:spcAft>
              <a:buSzPts val="3000"/>
              <a:buChar char="•"/>
            </a:pPr>
            <a:r>
              <a:rPr lang="de-DE" sz="3000"/>
              <a:t>SSRN </a:t>
            </a:r>
            <a:r>
              <a:rPr lang="de-DE" sz="3000" u="sng">
                <a:solidFill>
                  <a:srgbClr val="AD1F1F"/>
                </a:solidFill>
                <a:hlinkClick r:id="rId8">
                  <a:extLst>
                    <a:ext uri="{A12FA001-AC4F-418D-AE19-62706E023703}">
                      <ahyp:hlinkClr val="tx"/>
                    </a:ext>
                  </a:extLst>
                </a:hlinkClick>
              </a:rPr>
              <a:t>https://www.ssrn.com/index.cfm/en/</a:t>
            </a:r>
            <a:endParaRPr sz="3000"/>
          </a:p>
          <a:p>
            <a:pPr indent="-419100" lvl="0" marL="457200" rtl="0" algn="l">
              <a:lnSpc>
                <a:spcPct val="100000"/>
              </a:lnSpc>
              <a:spcBef>
                <a:spcPts val="0"/>
              </a:spcBef>
              <a:spcAft>
                <a:spcPts val="0"/>
              </a:spcAft>
              <a:buSzPts val="3000"/>
              <a:buChar char="•"/>
            </a:pPr>
            <a:r>
              <a:rPr lang="de-DE" sz="3000"/>
              <a:t>Academia </a:t>
            </a:r>
            <a:r>
              <a:rPr lang="de-DE" sz="3000" u="sng">
                <a:solidFill>
                  <a:srgbClr val="AD1F1F"/>
                </a:solidFill>
                <a:hlinkClick r:id="rId9">
                  <a:extLst>
                    <a:ext uri="{A12FA001-AC4F-418D-AE19-62706E023703}">
                      <ahyp:hlinkClr val="tx"/>
                    </a:ext>
                  </a:extLst>
                </a:hlinkClick>
              </a:rPr>
              <a:t>https://www.academia.edu/</a:t>
            </a:r>
            <a:endParaRPr sz="3000"/>
          </a:p>
          <a:p>
            <a:pPr indent="0" lvl="0" marL="0" rtl="0" algn="l">
              <a:lnSpc>
                <a:spcPct val="100000"/>
              </a:lnSpc>
              <a:spcBef>
                <a:spcPts val="0"/>
              </a:spcBef>
              <a:spcAft>
                <a:spcPts val="0"/>
              </a:spcAft>
              <a:buNone/>
            </a:pPr>
            <a:r>
              <a:t/>
            </a:r>
            <a:endParaRPr sz="3000"/>
          </a:p>
          <a:p>
            <a:pPr indent="0" lvl="0" marL="0" rtl="0" algn="l">
              <a:lnSpc>
                <a:spcPct val="100000"/>
              </a:lnSpc>
              <a:spcBef>
                <a:spcPts val="0"/>
              </a:spcBef>
              <a:spcAft>
                <a:spcPts val="0"/>
              </a:spcAft>
              <a:buClr>
                <a:schemeClr val="dk1"/>
              </a:buClr>
              <a:buFont typeface="Arial"/>
              <a:buNone/>
            </a:pPr>
            <a:r>
              <a:rPr lang="de-DE" sz="3000"/>
              <a:t>For more databases: </a:t>
            </a:r>
            <a:r>
              <a:rPr lang="de-DE" sz="3000" u="sng">
                <a:solidFill>
                  <a:srgbClr val="AD1F1F"/>
                </a:solidFill>
                <a:hlinkClick r:id="rId10">
                  <a:extLst>
                    <a:ext uri="{A12FA001-AC4F-418D-AE19-62706E023703}">
                      <ahyp:hlinkClr val="tx"/>
                    </a:ext>
                  </a:extLst>
                </a:hlinkClick>
              </a:rPr>
              <a:t>Scribendi.com</a:t>
            </a:r>
            <a:endParaRPr sz="3000">
              <a:solidFill>
                <a:srgbClr val="7C0E31"/>
              </a:solidFill>
            </a:endParaRPr>
          </a:p>
          <a:p>
            <a:pPr indent="0" lvl="0" marL="0" rtl="0" algn="l">
              <a:lnSpc>
                <a:spcPct val="100000"/>
              </a:lnSpc>
              <a:spcBef>
                <a:spcPts val="0"/>
              </a:spcBef>
              <a:spcAft>
                <a:spcPts val="0"/>
              </a:spcAft>
              <a:buClr>
                <a:schemeClr val="dk1"/>
              </a:buClr>
              <a:buFont typeface="Arial"/>
              <a:buNone/>
            </a:pPr>
            <a:r>
              <a:t/>
            </a:r>
            <a:endParaRPr sz="3000"/>
          </a:p>
          <a:p>
            <a:pPr indent="0" lvl="0" marL="0" rtl="0" algn="l">
              <a:lnSpc>
                <a:spcPct val="100000"/>
              </a:lnSpc>
              <a:spcBef>
                <a:spcPts val="0"/>
              </a:spcBef>
              <a:spcAft>
                <a:spcPts val="0"/>
              </a:spcAft>
              <a:buNone/>
            </a:pPr>
            <a:r>
              <a:t/>
            </a:r>
            <a:endParaRPr sz="3000"/>
          </a:p>
          <a:p>
            <a:pPr indent="0" lvl="0" marL="0" rtl="0" algn="l">
              <a:lnSpc>
                <a:spcPct val="100000"/>
              </a:lnSpc>
              <a:spcBef>
                <a:spcPts val="0"/>
              </a:spcBef>
              <a:spcAft>
                <a:spcPts val="0"/>
              </a:spcAft>
              <a:buNone/>
            </a:pPr>
            <a:r>
              <a:t/>
            </a:r>
            <a:endParaRPr sz="3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8"/>
          <p:cNvSpPr txBox="1"/>
          <p:nvPr>
            <p:ph type="title"/>
          </p:nvPr>
        </p:nvSpPr>
        <p:spPr>
          <a:xfrm>
            <a:off x="1944000" y="1301860"/>
            <a:ext cx="14400000" cy="12600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ct val="100000"/>
              <a:buFont typeface="Arial"/>
              <a:buNone/>
            </a:pPr>
            <a:r>
              <a:rPr b="1" lang="de-DE"/>
              <a:t>How to Look for Scientific Literature</a:t>
            </a:r>
            <a:endParaRPr b="1"/>
          </a:p>
          <a:p>
            <a:pPr indent="0" lvl="0" marL="0" rtl="0" algn="l">
              <a:spcBef>
                <a:spcPts val="0"/>
              </a:spcBef>
              <a:spcAft>
                <a:spcPts val="0"/>
              </a:spcAft>
              <a:buClr>
                <a:schemeClr val="dk1"/>
              </a:buClr>
              <a:buSzPct val="100000"/>
              <a:buFont typeface="Arial"/>
              <a:buNone/>
            </a:pPr>
            <a:r>
              <a:rPr lang="de-DE"/>
              <a:t>University Ressources</a:t>
            </a:r>
            <a:endParaRPr/>
          </a:p>
        </p:txBody>
      </p:sp>
      <p:sp>
        <p:nvSpPr>
          <p:cNvPr id="207" name="Google Shape;207;p18"/>
          <p:cNvSpPr txBox="1"/>
          <p:nvPr>
            <p:ph idx="1" type="body"/>
          </p:nvPr>
        </p:nvSpPr>
        <p:spPr>
          <a:xfrm>
            <a:off x="1944000" y="2738825"/>
            <a:ext cx="14400000" cy="7284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Font typeface="Arial"/>
              <a:buNone/>
            </a:pPr>
            <a:r>
              <a:rPr b="1" lang="de-DE" sz="3000">
                <a:solidFill>
                  <a:srgbClr val="7C0E31"/>
                </a:solidFill>
              </a:rPr>
              <a:t>LUX</a:t>
            </a:r>
            <a:r>
              <a:rPr lang="de-DE" sz="3000"/>
              <a:t> is the library's search engine. You can find all print and electronic titles, search within journals and e-books on article level, or access your library account.</a:t>
            </a:r>
            <a:endParaRPr sz="3000"/>
          </a:p>
          <a:p>
            <a:pPr indent="0" lvl="0" marL="0" rtl="0" algn="l">
              <a:lnSpc>
                <a:spcPct val="100000"/>
              </a:lnSpc>
              <a:spcBef>
                <a:spcPts val="0"/>
              </a:spcBef>
              <a:spcAft>
                <a:spcPts val="0"/>
              </a:spcAft>
              <a:buClr>
                <a:schemeClr val="dk1"/>
              </a:buClr>
              <a:buFont typeface="Arial"/>
              <a:buNone/>
            </a:pPr>
            <a:r>
              <a:t/>
            </a:r>
            <a:endParaRPr sz="3000"/>
          </a:p>
          <a:p>
            <a:pPr indent="0" lvl="0" marL="0" rtl="0" algn="l">
              <a:lnSpc>
                <a:spcPct val="100000"/>
              </a:lnSpc>
              <a:spcBef>
                <a:spcPts val="0"/>
              </a:spcBef>
              <a:spcAft>
                <a:spcPts val="0"/>
              </a:spcAft>
              <a:buClr>
                <a:schemeClr val="dk1"/>
              </a:buClr>
              <a:buFont typeface="Arial"/>
              <a:buNone/>
            </a:pPr>
            <a:r>
              <a:rPr b="1" lang="de-DE" sz="3000">
                <a:solidFill>
                  <a:srgbClr val="7C0E31"/>
                </a:solidFill>
              </a:rPr>
              <a:t>Library Catalogue </a:t>
            </a:r>
            <a:r>
              <a:rPr lang="de-DE" sz="3000"/>
              <a:t>as an alternative to LUX to find books and journals, place holds, or access your library account.</a:t>
            </a:r>
            <a:endParaRPr sz="3000"/>
          </a:p>
          <a:p>
            <a:pPr indent="0" lvl="0" marL="0" rtl="0" algn="l">
              <a:lnSpc>
                <a:spcPct val="100000"/>
              </a:lnSpc>
              <a:spcBef>
                <a:spcPts val="0"/>
              </a:spcBef>
              <a:spcAft>
                <a:spcPts val="0"/>
              </a:spcAft>
              <a:buClr>
                <a:schemeClr val="dk1"/>
              </a:buClr>
              <a:buFont typeface="Arial"/>
              <a:buNone/>
            </a:pPr>
            <a:r>
              <a:t/>
            </a:r>
            <a:endParaRPr sz="3000"/>
          </a:p>
          <a:p>
            <a:pPr indent="0" lvl="0" marL="0" rtl="0" algn="l">
              <a:lnSpc>
                <a:spcPct val="100000"/>
              </a:lnSpc>
              <a:spcBef>
                <a:spcPts val="0"/>
              </a:spcBef>
              <a:spcAft>
                <a:spcPts val="0"/>
              </a:spcAft>
              <a:buClr>
                <a:schemeClr val="dk1"/>
              </a:buClr>
              <a:buFont typeface="Arial"/>
              <a:buNone/>
            </a:pPr>
            <a:r>
              <a:rPr b="1" lang="de-DE" sz="3000">
                <a:solidFill>
                  <a:srgbClr val="7C0E31"/>
                </a:solidFill>
              </a:rPr>
              <a:t>Digital Library </a:t>
            </a:r>
            <a:r>
              <a:rPr lang="de-DE" sz="3000"/>
              <a:t>is used to do in-depth searching for bibliographic information. </a:t>
            </a:r>
            <a:endParaRPr sz="3000"/>
          </a:p>
          <a:p>
            <a:pPr indent="0" lvl="0" marL="0" rtl="0" algn="l">
              <a:lnSpc>
                <a:spcPct val="100000"/>
              </a:lnSpc>
              <a:spcBef>
                <a:spcPts val="0"/>
              </a:spcBef>
              <a:spcAft>
                <a:spcPts val="0"/>
              </a:spcAft>
              <a:buClr>
                <a:schemeClr val="dk1"/>
              </a:buClr>
              <a:buFont typeface="Arial"/>
              <a:buNone/>
            </a:pPr>
            <a:r>
              <a:t/>
            </a:r>
            <a:endParaRPr sz="3000"/>
          </a:p>
          <a:p>
            <a:pPr indent="0" lvl="0" marL="0" rtl="0" algn="l">
              <a:lnSpc>
                <a:spcPct val="100000"/>
              </a:lnSpc>
              <a:spcBef>
                <a:spcPts val="0"/>
              </a:spcBef>
              <a:spcAft>
                <a:spcPts val="0"/>
              </a:spcAft>
              <a:buClr>
                <a:schemeClr val="dk1"/>
              </a:buClr>
              <a:buFont typeface="Arial"/>
              <a:buNone/>
            </a:pPr>
            <a:r>
              <a:rPr lang="de-DE" sz="3000" u="sng">
                <a:solidFill>
                  <a:srgbClr val="AD1F1F"/>
                </a:solidFill>
                <a:hlinkClick r:id="rId3">
                  <a:extLst>
                    <a:ext uri="{A12FA001-AC4F-418D-AE19-62706E023703}">
                      <ahyp:hlinkClr val="tx"/>
                    </a:ext>
                  </a:extLst>
                </a:hlinkClick>
              </a:rPr>
              <a:t>https://www.leuphana.de/en/services/miz/searching-for-literature.html</a:t>
            </a:r>
            <a:endParaRPr sz="3000"/>
          </a:p>
          <a:p>
            <a:pPr indent="0" lvl="0" marL="0" rtl="0" algn="l">
              <a:lnSpc>
                <a:spcPct val="100000"/>
              </a:lnSpc>
              <a:spcBef>
                <a:spcPts val="0"/>
              </a:spcBef>
              <a:spcAft>
                <a:spcPts val="0"/>
              </a:spcAft>
              <a:buNone/>
            </a:pPr>
            <a:r>
              <a:t/>
            </a:r>
            <a:endParaRPr sz="3000"/>
          </a:p>
          <a:p>
            <a:pPr indent="0" lvl="0" marL="0" rtl="0" algn="l">
              <a:lnSpc>
                <a:spcPct val="100000"/>
              </a:lnSpc>
              <a:spcBef>
                <a:spcPts val="0"/>
              </a:spcBef>
              <a:spcAft>
                <a:spcPts val="0"/>
              </a:spcAft>
              <a:buNone/>
            </a:pPr>
            <a:r>
              <a:rPr b="1" lang="de-DE" sz="3000"/>
              <a:t>Other library catalogues</a:t>
            </a:r>
            <a:endParaRPr sz="3000"/>
          </a:p>
          <a:p>
            <a:pPr indent="0" lvl="0" marL="0" rtl="0" algn="l">
              <a:lnSpc>
                <a:spcPct val="100000"/>
              </a:lnSpc>
              <a:spcBef>
                <a:spcPts val="0"/>
              </a:spcBef>
              <a:spcAft>
                <a:spcPts val="0"/>
              </a:spcAft>
              <a:buNone/>
            </a:pPr>
            <a:r>
              <a:rPr b="1" lang="de-DE" sz="3000" u="sng">
                <a:solidFill>
                  <a:srgbClr val="AD1F1F"/>
                </a:solidFill>
                <a:hlinkClick r:id="rId4">
                  <a:extLst>
                    <a:ext uri="{A12FA001-AC4F-418D-AE19-62706E023703}">
                      <ahyp:hlinkClr val="tx"/>
                    </a:ext>
                  </a:extLst>
                </a:hlinkClick>
              </a:rPr>
              <a:t>GVK</a:t>
            </a:r>
            <a:r>
              <a:rPr lang="de-DE" sz="3000"/>
              <a:t> - Common Library Network, with interlibrary loan functionality.</a:t>
            </a:r>
            <a:endParaRPr sz="3000"/>
          </a:p>
          <a:p>
            <a:pPr indent="0" lvl="0" marL="0" rtl="0" algn="l">
              <a:lnSpc>
                <a:spcPct val="100000"/>
              </a:lnSpc>
              <a:spcBef>
                <a:spcPts val="0"/>
              </a:spcBef>
              <a:spcAft>
                <a:spcPts val="0"/>
              </a:spcAft>
              <a:buNone/>
            </a:pPr>
            <a:r>
              <a:t/>
            </a:r>
            <a:endParaRPr b="1" sz="3000"/>
          </a:p>
          <a:p>
            <a:pPr indent="0" lvl="0" marL="0" rtl="0" algn="l">
              <a:lnSpc>
                <a:spcPct val="100000"/>
              </a:lnSpc>
              <a:spcBef>
                <a:spcPts val="0"/>
              </a:spcBef>
              <a:spcAft>
                <a:spcPts val="0"/>
              </a:spcAft>
              <a:buNone/>
            </a:pPr>
            <a:r>
              <a:rPr b="1" lang="de-DE" sz="3000" u="sng">
                <a:solidFill>
                  <a:srgbClr val="AD1F1F"/>
                </a:solidFill>
                <a:hlinkClick r:id="rId5">
                  <a:extLst>
                    <a:ext uri="{A12FA001-AC4F-418D-AE19-62706E023703}">
                      <ahyp:hlinkClr val="tx"/>
                    </a:ext>
                  </a:extLst>
                </a:hlinkClick>
              </a:rPr>
              <a:t>Karlsruhe Virtual Catalogue- </a:t>
            </a:r>
            <a:r>
              <a:rPr lang="de-DE" sz="3000"/>
              <a:t>lets you search simultaneously in various library catalogues on both a national or international level.</a:t>
            </a:r>
            <a:endParaRPr sz="3000"/>
          </a:p>
          <a:p>
            <a:pPr indent="0" lvl="0" marL="0" rtl="0" algn="l">
              <a:lnSpc>
                <a:spcPct val="100000"/>
              </a:lnSpc>
              <a:spcBef>
                <a:spcPts val="0"/>
              </a:spcBef>
              <a:spcAft>
                <a:spcPts val="0"/>
              </a:spcAft>
              <a:buClr>
                <a:schemeClr val="dk1"/>
              </a:buClr>
              <a:buFont typeface="Arial"/>
              <a:buNone/>
            </a:pPr>
            <a:r>
              <a:t/>
            </a:r>
            <a:endParaRPr sz="3000"/>
          </a:p>
          <a:p>
            <a:pPr indent="0" lvl="0" marL="0" rtl="0" algn="l">
              <a:lnSpc>
                <a:spcPct val="100000"/>
              </a:lnSpc>
              <a:spcBef>
                <a:spcPts val="0"/>
              </a:spcBef>
              <a:spcAft>
                <a:spcPts val="0"/>
              </a:spcAft>
              <a:buNone/>
            </a:pPr>
            <a:r>
              <a:t/>
            </a:r>
            <a:endParaRPr sz="3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9"/>
          <p:cNvSpPr txBox="1"/>
          <p:nvPr>
            <p:ph type="title"/>
          </p:nvPr>
        </p:nvSpPr>
        <p:spPr>
          <a:xfrm>
            <a:off x="1944000" y="1301860"/>
            <a:ext cx="14400000" cy="12600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ct val="100000"/>
              <a:buFont typeface="Arial"/>
              <a:buNone/>
            </a:pPr>
            <a:r>
              <a:rPr b="1" lang="de-DE"/>
              <a:t>How to Look for Scientific Literature</a:t>
            </a:r>
            <a:endParaRPr b="1"/>
          </a:p>
          <a:p>
            <a:pPr indent="0" lvl="0" marL="0" rtl="0" algn="l">
              <a:spcBef>
                <a:spcPts val="0"/>
              </a:spcBef>
              <a:spcAft>
                <a:spcPts val="0"/>
              </a:spcAft>
              <a:buClr>
                <a:schemeClr val="dk1"/>
              </a:buClr>
              <a:buSzPct val="100000"/>
              <a:buFont typeface="Arial"/>
              <a:buNone/>
            </a:pPr>
            <a:r>
              <a:rPr lang="de-DE"/>
              <a:t>Google Scholar</a:t>
            </a:r>
            <a:endParaRPr/>
          </a:p>
        </p:txBody>
      </p:sp>
      <p:sp>
        <p:nvSpPr>
          <p:cNvPr id="214" name="Google Shape;214;p19"/>
          <p:cNvSpPr txBox="1"/>
          <p:nvPr>
            <p:ph idx="1" type="body"/>
          </p:nvPr>
        </p:nvSpPr>
        <p:spPr>
          <a:xfrm>
            <a:off x="1944000" y="2738825"/>
            <a:ext cx="14400000" cy="7284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Font typeface="Arial"/>
              <a:buNone/>
            </a:pPr>
            <a:r>
              <a:rPr b="1" lang="de-DE" sz="3000"/>
              <a:t>Use keywords instead of full sentences </a:t>
            </a:r>
            <a:endParaRPr b="1" sz="3000"/>
          </a:p>
          <a:p>
            <a:pPr indent="0" lvl="0" marL="0" rtl="0" algn="l">
              <a:lnSpc>
                <a:spcPct val="100000"/>
              </a:lnSpc>
              <a:spcBef>
                <a:spcPts val="0"/>
              </a:spcBef>
              <a:spcAft>
                <a:spcPts val="0"/>
              </a:spcAft>
              <a:buNone/>
            </a:pPr>
            <a:r>
              <a:rPr lang="de-DE" sz="3000"/>
              <a:t>Build lists of keywords and perform searches with them. When you start typing in the search field you will see related queries suggested by the tool.</a:t>
            </a:r>
            <a:endParaRPr sz="3000"/>
          </a:p>
          <a:p>
            <a:pPr indent="0" lvl="0" marL="0" rtl="0" algn="l">
              <a:lnSpc>
                <a:spcPct val="100000"/>
              </a:lnSpc>
              <a:spcBef>
                <a:spcPts val="0"/>
              </a:spcBef>
              <a:spcAft>
                <a:spcPts val="0"/>
              </a:spcAft>
              <a:buNone/>
            </a:pPr>
            <a:r>
              <a:rPr b="1" lang="de-DE" sz="3000"/>
              <a:t>Use quotes for exact match</a:t>
            </a:r>
            <a:endParaRPr b="1" sz="3000"/>
          </a:p>
          <a:p>
            <a:pPr indent="0" lvl="0" marL="0" rtl="0" algn="l">
              <a:lnSpc>
                <a:spcPct val="100000"/>
              </a:lnSpc>
              <a:spcBef>
                <a:spcPts val="0"/>
              </a:spcBef>
              <a:spcAft>
                <a:spcPts val="0"/>
              </a:spcAft>
              <a:buNone/>
            </a:pPr>
            <a:r>
              <a:rPr lang="de-DE" sz="3000"/>
              <a:t>By setting your phrase into quotes you can search for exact matches of that phrase in the title and the body text of the document.</a:t>
            </a:r>
            <a:endParaRPr sz="3000"/>
          </a:p>
          <a:p>
            <a:pPr indent="0" lvl="0" marL="0" rtl="0" algn="l">
              <a:lnSpc>
                <a:spcPct val="100000"/>
              </a:lnSpc>
              <a:spcBef>
                <a:spcPts val="0"/>
              </a:spcBef>
              <a:spcAft>
                <a:spcPts val="0"/>
              </a:spcAft>
              <a:buNone/>
            </a:pPr>
            <a:r>
              <a:rPr b="1" lang="de-DE" sz="3000"/>
              <a:t>Use Boolean operators</a:t>
            </a:r>
            <a:endParaRPr b="1" sz="3000"/>
          </a:p>
          <a:p>
            <a:pPr indent="0" lvl="0" marL="0" rtl="0" algn="l">
              <a:lnSpc>
                <a:spcPct val="100000"/>
              </a:lnSpc>
              <a:spcBef>
                <a:spcPts val="0"/>
              </a:spcBef>
              <a:spcAft>
                <a:spcPts val="0"/>
              </a:spcAft>
              <a:buNone/>
            </a:pPr>
            <a:r>
              <a:rPr b="1" lang="de-DE" sz="3000"/>
              <a:t>AND - </a:t>
            </a:r>
            <a:r>
              <a:rPr lang="de-DE" sz="3000"/>
              <a:t>requires both of the words or phrases on either side to be somewhere in the record.</a:t>
            </a:r>
            <a:endParaRPr sz="3000"/>
          </a:p>
          <a:p>
            <a:pPr indent="0" lvl="0" marL="0" rtl="0" algn="l">
              <a:lnSpc>
                <a:spcPct val="100000"/>
              </a:lnSpc>
              <a:spcBef>
                <a:spcPts val="0"/>
              </a:spcBef>
              <a:spcAft>
                <a:spcPts val="0"/>
              </a:spcAft>
              <a:buNone/>
            </a:pPr>
            <a:r>
              <a:rPr b="1" lang="de-DE" sz="3000"/>
              <a:t>OR - </a:t>
            </a:r>
            <a:r>
              <a:rPr lang="de-DE" sz="3000"/>
              <a:t>will give equal weight to results which match just one of the words or phrases on either side.</a:t>
            </a:r>
            <a:endParaRPr sz="3000"/>
          </a:p>
          <a:p>
            <a:pPr indent="0" lvl="0" marL="0" rtl="0" algn="l">
              <a:lnSpc>
                <a:spcPct val="100000"/>
              </a:lnSpc>
              <a:spcBef>
                <a:spcPts val="0"/>
              </a:spcBef>
              <a:spcAft>
                <a:spcPts val="0"/>
              </a:spcAft>
              <a:buNone/>
            </a:pPr>
            <a:r>
              <a:rPr b="1" lang="de-DE" sz="3000"/>
              <a:t>NOT - </a:t>
            </a:r>
            <a:r>
              <a:rPr lang="de-DE" sz="3000"/>
              <a:t>can be placed in front of a word or phrases to exclude results which include them.</a:t>
            </a:r>
            <a:endParaRPr sz="3000"/>
          </a:p>
          <a:p>
            <a:pPr indent="0" lvl="0" marL="0" rtl="0" algn="l">
              <a:lnSpc>
                <a:spcPct val="100000"/>
              </a:lnSpc>
              <a:spcBef>
                <a:spcPts val="0"/>
              </a:spcBef>
              <a:spcAft>
                <a:spcPts val="0"/>
              </a:spcAft>
              <a:buNone/>
            </a:pPr>
            <a:r>
              <a:t/>
            </a:r>
            <a:endParaRPr sz="3000"/>
          </a:p>
          <a:p>
            <a:pPr indent="0" lvl="0" marL="0" rtl="0" algn="l">
              <a:lnSpc>
                <a:spcPct val="100000"/>
              </a:lnSpc>
              <a:spcBef>
                <a:spcPts val="0"/>
              </a:spcBef>
              <a:spcAft>
                <a:spcPts val="0"/>
              </a:spcAft>
              <a:buNone/>
            </a:pPr>
            <a:r>
              <a:rPr b="1" lang="de-DE" sz="2000"/>
              <a:t>For more on Boolean Operators</a:t>
            </a:r>
            <a:endParaRPr b="1" sz="2000"/>
          </a:p>
          <a:p>
            <a:pPr indent="0" lvl="0" marL="0" rtl="0" algn="l">
              <a:lnSpc>
                <a:spcPct val="100000"/>
              </a:lnSpc>
              <a:spcBef>
                <a:spcPts val="0"/>
              </a:spcBef>
              <a:spcAft>
                <a:spcPts val="0"/>
              </a:spcAft>
              <a:buNone/>
            </a:pPr>
            <a:r>
              <a:rPr b="1" lang="de-DE" sz="2000" u="sng">
                <a:solidFill>
                  <a:srgbClr val="AD1F1F"/>
                </a:solidFill>
                <a:hlinkClick r:id="rId3">
                  <a:extLst>
                    <a:ext uri="{A12FA001-AC4F-418D-AE19-62706E023703}">
                      <ahyp:hlinkClr val="tx"/>
                    </a:ext>
                  </a:extLst>
                </a:hlinkClick>
              </a:rPr>
              <a:t>https://southern.libguides.com/google/boolean</a:t>
            </a:r>
            <a:endParaRPr b="1" sz="2000"/>
          </a:p>
          <a:p>
            <a:pPr indent="0" lvl="0" marL="0" rtl="0" algn="l">
              <a:lnSpc>
                <a:spcPct val="100000"/>
              </a:lnSpc>
              <a:spcBef>
                <a:spcPts val="0"/>
              </a:spcBef>
              <a:spcAft>
                <a:spcPts val="0"/>
              </a:spcAft>
              <a:buNone/>
            </a:pPr>
            <a:r>
              <a:rPr b="1" lang="de-DE" sz="2000" u="sng">
                <a:solidFill>
                  <a:srgbClr val="AD1F1F"/>
                </a:solidFill>
                <a:hlinkClick r:id="rId4">
                  <a:extLst>
                    <a:ext uri="{A12FA001-AC4F-418D-AE19-62706E023703}">
                      <ahyp:hlinkClr val="tx"/>
                    </a:ext>
                  </a:extLst>
                </a:hlinkClick>
              </a:rPr>
              <a:t>https://www.youtube.com/watch?v=u0KVJ0lj8rw&amp;t=52s</a:t>
            </a:r>
            <a:endParaRPr b="1" sz="2000"/>
          </a:p>
          <a:p>
            <a:pPr indent="0" lvl="0" marL="0" rtl="0" algn="l">
              <a:lnSpc>
                <a:spcPct val="100000"/>
              </a:lnSpc>
              <a:spcBef>
                <a:spcPts val="0"/>
              </a:spcBef>
              <a:spcAft>
                <a:spcPts val="0"/>
              </a:spcAft>
              <a:buNone/>
            </a:pPr>
            <a:r>
              <a:t/>
            </a:r>
            <a:endParaRPr b="1" sz="3000"/>
          </a:p>
          <a:p>
            <a:pPr indent="0" lvl="0" marL="0" rtl="0" algn="l">
              <a:lnSpc>
                <a:spcPct val="100000"/>
              </a:lnSpc>
              <a:spcBef>
                <a:spcPts val="0"/>
              </a:spcBef>
              <a:spcAft>
                <a:spcPts val="0"/>
              </a:spcAft>
              <a:buNone/>
            </a:pPr>
            <a:r>
              <a:t/>
            </a:r>
            <a:endParaRPr sz="3000"/>
          </a:p>
          <a:p>
            <a:pPr indent="0" lvl="0" marL="0" rtl="0" algn="l">
              <a:lnSpc>
                <a:spcPct val="100000"/>
              </a:lnSpc>
              <a:spcBef>
                <a:spcPts val="0"/>
              </a:spcBef>
              <a:spcAft>
                <a:spcPts val="0"/>
              </a:spcAft>
              <a:buNone/>
            </a:pPr>
            <a:r>
              <a:t/>
            </a:r>
            <a:endParaRPr sz="3000"/>
          </a:p>
          <a:p>
            <a:pPr indent="0" lvl="0" marL="0" rtl="0" algn="l">
              <a:lnSpc>
                <a:spcPct val="100000"/>
              </a:lnSpc>
              <a:spcBef>
                <a:spcPts val="0"/>
              </a:spcBef>
              <a:spcAft>
                <a:spcPts val="0"/>
              </a:spcAft>
              <a:buNone/>
            </a:pPr>
            <a:r>
              <a:t/>
            </a:r>
            <a:endParaRPr sz="3000"/>
          </a:p>
          <a:p>
            <a:pPr indent="0" lvl="0" marL="0" rtl="0" algn="l">
              <a:lnSpc>
                <a:spcPct val="100000"/>
              </a:lnSpc>
              <a:spcBef>
                <a:spcPts val="0"/>
              </a:spcBef>
              <a:spcAft>
                <a:spcPts val="0"/>
              </a:spcAft>
              <a:buClr>
                <a:schemeClr val="dk1"/>
              </a:buClr>
              <a:buFont typeface="Arial"/>
              <a:buNone/>
            </a:pPr>
            <a:r>
              <a:t/>
            </a:r>
            <a:endParaRPr sz="3000"/>
          </a:p>
          <a:p>
            <a:pPr indent="0" lvl="0" marL="0" rtl="0" algn="l">
              <a:lnSpc>
                <a:spcPct val="100000"/>
              </a:lnSpc>
              <a:spcBef>
                <a:spcPts val="0"/>
              </a:spcBef>
              <a:spcAft>
                <a:spcPts val="0"/>
              </a:spcAft>
              <a:buNone/>
            </a:pPr>
            <a:r>
              <a:t/>
            </a:r>
            <a:endParaRPr b="1" sz="3000">
              <a:solidFill>
                <a:srgbClr val="7C0E3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0"/>
          <p:cNvSpPr txBox="1"/>
          <p:nvPr>
            <p:ph type="title"/>
          </p:nvPr>
        </p:nvSpPr>
        <p:spPr>
          <a:xfrm>
            <a:off x="1944000" y="1301860"/>
            <a:ext cx="14400000" cy="1260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Arial"/>
              <a:buNone/>
            </a:pPr>
            <a:r>
              <a:rPr b="1" lang="de-DE"/>
              <a:t>Exercise</a:t>
            </a:r>
            <a:endParaRPr/>
          </a:p>
        </p:txBody>
      </p:sp>
      <p:sp>
        <p:nvSpPr>
          <p:cNvPr id="221" name="Google Shape;221;p20"/>
          <p:cNvSpPr txBox="1"/>
          <p:nvPr>
            <p:ph idx="1" type="body"/>
          </p:nvPr>
        </p:nvSpPr>
        <p:spPr>
          <a:xfrm>
            <a:off x="1944000" y="2738828"/>
            <a:ext cx="14400000" cy="648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2400"/>
              </a:spcBef>
              <a:spcAft>
                <a:spcPts val="0"/>
              </a:spcAft>
              <a:buClr>
                <a:schemeClr val="dk1"/>
              </a:buClr>
              <a:buSzPts val="1100"/>
              <a:buFont typeface="Arial"/>
              <a:buNone/>
            </a:pPr>
            <a:r>
              <a:rPr lang="de-DE" sz="3000"/>
              <a:t>Think about which exams you have to complete this semester and what kind of texts you might need for them. Spend the next 10 minutes searching the internet for suitable literature.</a:t>
            </a:r>
            <a:endParaRPr sz="3000"/>
          </a:p>
          <a:p>
            <a:pPr indent="0" lvl="0" marL="0" rtl="0" algn="l">
              <a:lnSpc>
                <a:spcPct val="100000"/>
              </a:lnSpc>
              <a:spcBef>
                <a:spcPts val="2400"/>
              </a:spcBef>
              <a:spcAft>
                <a:spcPts val="0"/>
              </a:spcAft>
              <a:buNone/>
            </a:pPr>
            <a:r>
              <a:rPr lang="de-DE" sz="3000"/>
              <a:t>After 10 minutes, discuss in the plenary how your research went and what difficulties you may have encountered.</a:t>
            </a:r>
            <a:endParaRPr sz="3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1"/>
          <p:cNvSpPr txBox="1"/>
          <p:nvPr>
            <p:ph type="ctrTitle"/>
          </p:nvPr>
        </p:nvSpPr>
        <p:spPr>
          <a:xfrm>
            <a:off x="2205643" y="2410767"/>
            <a:ext cx="13716000" cy="35814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Arial"/>
              <a:buNone/>
            </a:pPr>
            <a:r>
              <a:rPr b="1" lang="de-DE"/>
              <a:t>Research Time</a:t>
            </a:r>
            <a:endParaRPr b="1"/>
          </a:p>
        </p:txBody>
      </p:sp>
      <p:sp>
        <p:nvSpPr>
          <p:cNvPr id="228" name="Google Shape;228;p21"/>
          <p:cNvSpPr txBox="1"/>
          <p:nvPr>
            <p:ph idx="1" type="subTitle"/>
          </p:nvPr>
        </p:nvSpPr>
        <p:spPr>
          <a:xfrm>
            <a:off x="2205643" y="6130279"/>
            <a:ext cx="13716000" cy="2482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de-DE" sz="3500"/>
              <a:t>10 Minutes</a:t>
            </a:r>
            <a:endParaRPr sz="35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2"/>
          <p:cNvSpPr txBox="1"/>
          <p:nvPr>
            <p:ph type="ctrTitle"/>
          </p:nvPr>
        </p:nvSpPr>
        <p:spPr>
          <a:xfrm>
            <a:off x="2205643" y="2410767"/>
            <a:ext cx="13716000" cy="35814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Arial"/>
              <a:buNone/>
            </a:pPr>
            <a:r>
              <a:rPr b="1" lang="de-DE"/>
              <a:t>Plenary</a:t>
            </a:r>
            <a:endParaRPr b="1"/>
          </a:p>
        </p:txBody>
      </p:sp>
      <p:sp>
        <p:nvSpPr>
          <p:cNvPr id="235" name="Google Shape;235;p22"/>
          <p:cNvSpPr txBox="1"/>
          <p:nvPr>
            <p:ph idx="1" type="subTitle"/>
          </p:nvPr>
        </p:nvSpPr>
        <p:spPr>
          <a:xfrm>
            <a:off x="2205643" y="6130279"/>
            <a:ext cx="13716000" cy="2482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de-DE" sz="3500"/>
              <a:t>Let’s collect in the plenary</a:t>
            </a:r>
            <a:endParaRPr sz="35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3"/>
          <p:cNvSpPr txBox="1"/>
          <p:nvPr>
            <p:ph type="ctrTitle"/>
          </p:nvPr>
        </p:nvSpPr>
        <p:spPr>
          <a:xfrm>
            <a:off x="2205643" y="2410767"/>
            <a:ext cx="13716000" cy="35814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Arial"/>
              <a:buNone/>
            </a:pPr>
            <a:r>
              <a:rPr b="1" lang="de-DE"/>
              <a:t>Any questions?</a:t>
            </a:r>
            <a:endParaRPr b="1"/>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4"/>
          <p:cNvSpPr txBox="1"/>
          <p:nvPr>
            <p:ph type="ctrTitle"/>
          </p:nvPr>
        </p:nvSpPr>
        <p:spPr>
          <a:xfrm>
            <a:off x="2205643" y="2410767"/>
            <a:ext cx="13716000" cy="35814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Arial"/>
              <a:buNone/>
            </a:pPr>
            <a:r>
              <a:rPr b="1" lang="de-DE"/>
              <a:t>Break…</a:t>
            </a:r>
            <a:endParaRPr b="1"/>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5"/>
          <p:cNvSpPr txBox="1"/>
          <p:nvPr>
            <p:ph type="ctrTitle"/>
          </p:nvPr>
        </p:nvSpPr>
        <p:spPr>
          <a:xfrm>
            <a:off x="2205643" y="2410767"/>
            <a:ext cx="13716000" cy="35814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Arial"/>
              <a:buNone/>
            </a:pPr>
            <a:r>
              <a:rPr b="1" lang="de-DE"/>
              <a:t>Energizer!</a:t>
            </a:r>
            <a:endParaRPr b="1"/>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6"/>
          <p:cNvSpPr txBox="1"/>
          <p:nvPr>
            <p:ph type="ctrTitle"/>
          </p:nvPr>
        </p:nvSpPr>
        <p:spPr>
          <a:xfrm>
            <a:off x="2205643" y="2410767"/>
            <a:ext cx="13716000" cy="35814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Arial"/>
              <a:buNone/>
            </a:pPr>
            <a:r>
              <a:rPr b="1" lang="de-DE"/>
              <a:t>Welcome and Arrival</a:t>
            </a:r>
            <a:endParaRPr b="1"/>
          </a:p>
        </p:txBody>
      </p:sp>
    </p:spTree>
  </p:cSld>
  <p:clrMapOvr>
    <a:masterClrMapping/>
  </p:clrMapOvr>
</p:sld>
</file>

<file path=ppt/theme/theme1.xml><?xml version="1.0" encoding="utf-8"?>
<a:theme xmlns:a="http://schemas.openxmlformats.org/drawingml/2006/main" xmlns:r="http://schemas.openxmlformats.org/officeDocument/2006/relationships" name="Benutzerdefiniertes Design">
  <a:themeElements>
    <a:clrScheme name="Benutzerdefiniert 1">
      <a:dk1>
        <a:srgbClr val="000000"/>
      </a:dk1>
      <a:lt1>
        <a:srgbClr val="FFFFFF"/>
      </a:lt1>
      <a:dk2>
        <a:srgbClr val="771334"/>
      </a:dk2>
      <a:lt2>
        <a:srgbClr val="E8BAC7"/>
      </a:lt2>
      <a:accent1>
        <a:srgbClr val="771335"/>
      </a:accent1>
      <a:accent2>
        <a:srgbClr val="C59CAB"/>
      </a:accent2>
      <a:accent3>
        <a:srgbClr val="FECD78"/>
      </a:accent3>
      <a:accent4>
        <a:srgbClr val="8E3255"/>
      </a:accent4>
      <a:accent5>
        <a:srgbClr val="FFDA9C"/>
      </a:accent5>
      <a:accent6>
        <a:srgbClr val="4F4D4D"/>
      </a:accent6>
      <a:hlink>
        <a:srgbClr val="FECC78"/>
      </a:hlink>
      <a:folHlink>
        <a:srgbClr val="C59CA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4A71E891A511D040A52CA52D008DEB36" ma:contentTypeVersion="3" ma:contentTypeDescription="Ein neues Dokument erstellen." ma:contentTypeScope="" ma:versionID="4cba4315779cb03d474ae37b2c0aa786">
  <xsd:schema xmlns:xsd="http://www.w3.org/2001/XMLSchema" xmlns:xs="http://www.w3.org/2001/XMLSchema" xmlns:p="http://schemas.microsoft.com/office/2006/metadata/properties" xmlns:ns2="e0647eb4-fdd8-4a76-905c-ef029484ffcd" targetNamespace="http://schemas.microsoft.com/office/2006/metadata/properties" ma:root="true" ma:fieldsID="ffc498f6898bc391fabeb722ec17ef06" ns2:_="">
    <xsd:import namespace="e0647eb4-fdd8-4a76-905c-ef029484ffc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647eb4-fdd8-4a76-905c-ef029484ff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D5ACAB4-7E7F-4C35-86C8-5BC6B9BEB4B5}"/>
</file>

<file path=customXml/itemProps2.xml><?xml version="1.0" encoding="utf-8"?>
<ds:datastoreItem xmlns:ds="http://schemas.openxmlformats.org/officeDocument/2006/customXml" ds:itemID="{B22015D1-9067-4690-9662-CDD75EFBAB95}"/>
</file>

<file path=customXml/itemProps3.xml><?xml version="1.0" encoding="utf-8"?>
<ds:datastoreItem xmlns:ds="http://schemas.openxmlformats.org/officeDocument/2006/customXml" ds:itemID="{9E8AC1D0-17A9-4DDF-8A21-4AAC507479D2}"/>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0x0101004A71E891A511D040A52CA52D008DEB36</vt:lpwstr>
  </property>
</Properties>
</file>