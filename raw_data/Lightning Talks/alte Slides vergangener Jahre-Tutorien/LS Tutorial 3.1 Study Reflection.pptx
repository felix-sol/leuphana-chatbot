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entation.xml" ContentType="application/vnd.openxmlformats-officedocument.presentationml.presentation.main+xml"/>
  <Override PartName="/ppt/diagrams/data1.xml" ContentType="application/vnd.openxmlformats-officedocument.drawingml.diagramData+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02" r:id="rId1"/>
  </p:sldMasterIdLst>
  <p:notesMasterIdLst>
    <p:notesMasterId r:id="rId14"/>
  </p:notesMasterIdLst>
  <p:sldIdLst>
    <p:sldId id="269" r:id="rId2"/>
    <p:sldId id="257" r:id="rId3"/>
    <p:sldId id="258" r:id="rId4"/>
    <p:sldId id="259" r:id="rId5"/>
    <p:sldId id="260" r:id="rId6"/>
    <p:sldId id="262" r:id="rId7"/>
    <p:sldId id="263" r:id="rId8"/>
    <p:sldId id="264" r:id="rId9"/>
    <p:sldId id="265" r:id="rId10"/>
    <p:sldId id="266" r:id="rId11"/>
    <p:sldId id="267" r:id="rId12"/>
    <p:sldId id="270" r:id="rId13"/>
  </p:sldIdLst>
  <p:sldSz cx="9144000" cy="5143500" type="screen16x9"/>
  <p:notesSz cx="9144000" cy="5143500"/>
  <p:embeddedFontLst>
    <p:embeddedFont>
      <p:font typeface="Arial Narrow" panose="020B0604020202020204" pitchFamily="34" charset="0"/>
      <p:regular r:id="rId15"/>
      <p:bold r:id="rId16"/>
      <p:italic r:id="rId17"/>
      <p:boldItalic r:id="rId18"/>
    </p:embeddedFont>
    <p:embeddedFont>
      <p:font typeface="Lora" pitchFamily="2" charset="77"/>
      <p:regular r:id="rId19"/>
      <p:bold r:id="rId20"/>
      <p:italic r:id="rId21"/>
      <p:boldItalic r:id="rId22"/>
    </p:embeddedFont>
    <p:embeddedFont>
      <p:font typeface="Quattrocento Sans" panose="020B0502050000020003" pitchFamily="34" charset="0"/>
      <p:regular r:id="rId23"/>
      <p:bold r:id="rId24"/>
      <p:italic r:id="rId25"/>
      <p:boldItalic r:id="rId26"/>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6"/>
    <p:restoredTop sz="83745"/>
  </p:normalViewPr>
  <p:slideViewPr>
    <p:cSldViewPr>
      <p:cViewPr varScale="1">
        <p:scale>
          <a:sx n="134" d="100"/>
          <a:sy n="134" d="100"/>
        </p:scale>
        <p:origin x="904"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881592-BA59-4345-A63D-EC66813BC1F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0DC1A808-FE44-468F-B586-DF1829FDC276}">
      <dgm:prSet/>
      <dgm:spPr/>
      <dgm:t>
        <a:bodyPr/>
        <a:lstStyle/>
        <a:p>
          <a:r>
            <a:rPr lang="de-DE" dirty="0"/>
            <a:t>What are my learning moments from the last lesson?</a:t>
          </a:r>
          <a:endParaRPr lang="en-US" dirty="0"/>
        </a:p>
      </dgm:t>
    </dgm:pt>
    <dgm:pt modelId="{84BBAFA9-92D3-441E-89DE-2078C4604FA4}" type="parTrans" cxnId="{F4C3C136-7ABE-4E99-9BA3-27AF0C824091}">
      <dgm:prSet/>
      <dgm:spPr/>
      <dgm:t>
        <a:bodyPr/>
        <a:lstStyle/>
        <a:p>
          <a:endParaRPr lang="en-US"/>
        </a:p>
      </dgm:t>
    </dgm:pt>
    <dgm:pt modelId="{85B15BC4-114E-4F05-A175-0C9A7A07EFFF}" type="sibTrans" cxnId="{F4C3C136-7ABE-4E99-9BA3-27AF0C824091}">
      <dgm:prSet/>
      <dgm:spPr/>
      <dgm:t>
        <a:bodyPr/>
        <a:lstStyle/>
        <a:p>
          <a:endParaRPr lang="en-US"/>
        </a:p>
      </dgm:t>
    </dgm:pt>
    <dgm:pt modelId="{3B58ADFD-BDBF-4112-9CF5-D2B201ECB9BE}">
      <dgm:prSet/>
      <dgm:spPr/>
      <dgm:t>
        <a:bodyPr/>
        <a:lstStyle/>
        <a:p>
          <a:r>
            <a:rPr lang="de-DE"/>
            <a:t>What exactly do I want to change? </a:t>
          </a:r>
          <a:endParaRPr lang="en-US"/>
        </a:p>
      </dgm:t>
    </dgm:pt>
    <dgm:pt modelId="{B9DA269F-331C-4B50-A4F3-AA9E9A847E99}" type="parTrans" cxnId="{D63C17C0-7B3F-4398-A8B4-057C1271744A}">
      <dgm:prSet/>
      <dgm:spPr/>
      <dgm:t>
        <a:bodyPr/>
        <a:lstStyle/>
        <a:p>
          <a:endParaRPr lang="en-US"/>
        </a:p>
      </dgm:t>
    </dgm:pt>
    <dgm:pt modelId="{1D023C37-5902-40F5-BE52-D157288B11E9}" type="sibTrans" cxnId="{D63C17C0-7B3F-4398-A8B4-057C1271744A}">
      <dgm:prSet/>
      <dgm:spPr/>
      <dgm:t>
        <a:bodyPr/>
        <a:lstStyle/>
        <a:p>
          <a:endParaRPr lang="en-US"/>
        </a:p>
      </dgm:t>
    </dgm:pt>
    <dgm:pt modelId="{43E37924-8493-4C66-882D-A1007F57BBCB}">
      <dgm:prSet/>
      <dgm:spPr/>
      <dgm:t>
        <a:bodyPr/>
        <a:lstStyle/>
        <a:p>
          <a:r>
            <a:rPr lang="de-DE"/>
            <a:t>What help can and should I get?</a:t>
          </a:r>
          <a:endParaRPr lang="en-US"/>
        </a:p>
      </dgm:t>
    </dgm:pt>
    <dgm:pt modelId="{C33C8CA1-942F-4341-9865-61A33D1C7A66}" type="parTrans" cxnId="{BC59E490-9B95-4664-B464-625B01E736BC}">
      <dgm:prSet/>
      <dgm:spPr/>
      <dgm:t>
        <a:bodyPr/>
        <a:lstStyle/>
        <a:p>
          <a:endParaRPr lang="en-US"/>
        </a:p>
      </dgm:t>
    </dgm:pt>
    <dgm:pt modelId="{06EE47F0-595C-4FA1-8D49-72E85AB8C827}" type="sibTrans" cxnId="{BC59E490-9B95-4664-B464-625B01E736BC}">
      <dgm:prSet/>
      <dgm:spPr/>
      <dgm:t>
        <a:bodyPr/>
        <a:lstStyle/>
        <a:p>
          <a:endParaRPr lang="en-US"/>
        </a:p>
      </dgm:t>
    </dgm:pt>
    <dgm:pt modelId="{033670B9-25B7-DE49-9E61-C9FF75DF8A96}" type="pres">
      <dgm:prSet presAssocID="{59881592-BA59-4345-A63D-EC66813BC1FF}" presName="hierChild1" presStyleCnt="0">
        <dgm:presLayoutVars>
          <dgm:chPref val="1"/>
          <dgm:dir/>
          <dgm:animOne val="branch"/>
          <dgm:animLvl val="lvl"/>
          <dgm:resizeHandles/>
        </dgm:presLayoutVars>
      </dgm:prSet>
      <dgm:spPr/>
    </dgm:pt>
    <dgm:pt modelId="{4A6CA3C1-6165-B74B-932D-235CF6D43B0F}" type="pres">
      <dgm:prSet presAssocID="{0DC1A808-FE44-468F-B586-DF1829FDC276}" presName="hierRoot1" presStyleCnt="0"/>
      <dgm:spPr/>
    </dgm:pt>
    <dgm:pt modelId="{7E9A0E71-EC86-2846-8745-387E4A8714E0}" type="pres">
      <dgm:prSet presAssocID="{0DC1A808-FE44-468F-B586-DF1829FDC276}" presName="composite" presStyleCnt="0"/>
      <dgm:spPr/>
    </dgm:pt>
    <dgm:pt modelId="{EE00D51F-7734-7040-A227-4B23A72894FC}" type="pres">
      <dgm:prSet presAssocID="{0DC1A808-FE44-468F-B586-DF1829FDC276}" presName="background" presStyleLbl="node0" presStyleIdx="0" presStyleCnt="3"/>
      <dgm:spPr/>
    </dgm:pt>
    <dgm:pt modelId="{7D1C1432-BD70-2F40-B840-32898CE0DF62}" type="pres">
      <dgm:prSet presAssocID="{0DC1A808-FE44-468F-B586-DF1829FDC276}" presName="text" presStyleLbl="fgAcc0" presStyleIdx="0" presStyleCnt="3">
        <dgm:presLayoutVars>
          <dgm:chPref val="3"/>
        </dgm:presLayoutVars>
      </dgm:prSet>
      <dgm:spPr/>
    </dgm:pt>
    <dgm:pt modelId="{C49429AD-20D8-1A46-9DFA-19D9726DA4DA}" type="pres">
      <dgm:prSet presAssocID="{0DC1A808-FE44-468F-B586-DF1829FDC276}" presName="hierChild2" presStyleCnt="0"/>
      <dgm:spPr/>
    </dgm:pt>
    <dgm:pt modelId="{59CB18BC-C800-A843-887D-69610BCE7BFB}" type="pres">
      <dgm:prSet presAssocID="{3B58ADFD-BDBF-4112-9CF5-D2B201ECB9BE}" presName="hierRoot1" presStyleCnt="0"/>
      <dgm:spPr/>
    </dgm:pt>
    <dgm:pt modelId="{1DA02468-EE6B-F245-A143-CC3B9C79F036}" type="pres">
      <dgm:prSet presAssocID="{3B58ADFD-BDBF-4112-9CF5-D2B201ECB9BE}" presName="composite" presStyleCnt="0"/>
      <dgm:spPr/>
    </dgm:pt>
    <dgm:pt modelId="{99414101-6112-F143-81CF-50D2E8632C15}" type="pres">
      <dgm:prSet presAssocID="{3B58ADFD-BDBF-4112-9CF5-D2B201ECB9BE}" presName="background" presStyleLbl="node0" presStyleIdx="1" presStyleCnt="3"/>
      <dgm:spPr/>
    </dgm:pt>
    <dgm:pt modelId="{BC86D721-DD13-6C4A-A3F4-E4D5D2E6673D}" type="pres">
      <dgm:prSet presAssocID="{3B58ADFD-BDBF-4112-9CF5-D2B201ECB9BE}" presName="text" presStyleLbl="fgAcc0" presStyleIdx="1" presStyleCnt="3">
        <dgm:presLayoutVars>
          <dgm:chPref val="3"/>
        </dgm:presLayoutVars>
      </dgm:prSet>
      <dgm:spPr/>
    </dgm:pt>
    <dgm:pt modelId="{7A46805E-C061-1742-BE91-72E8068DB039}" type="pres">
      <dgm:prSet presAssocID="{3B58ADFD-BDBF-4112-9CF5-D2B201ECB9BE}" presName="hierChild2" presStyleCnt="0"/>
      <dgm:spPr/>
    </dgm:pt>
    <dgm:pt modelId="{6FEBF51B-58B5-1C42-917C-916CB6D434FB}" type="pres">
      <dgm:prSet presAssocID="{43E37924-8493-4C66-882D-A1007F57BBCB}" presName="hierRoot1" presStyleCnt="0"/>
      <dgm:spPr/>
    </dgm:pt>
    <dgm:pt modelId="{0627FA43-A295-6B4C-89B8-FE0D94C630C1}" type="pres">
      <dgm:prSet presAssocID="{43E37924-8493-4C66-882D-A1007F57BBCB}" presName="composite" presStyleCnt="0"/>
      <dgm:spPr/>
    </dgm:pt>
    <dgm:pt modelId="{E84C45B1-D11B-9A42-9735-8336529A21E3}" type="pres">
      <dgm:prSet presAssocID="{43E37924-8493-4C66-882D-A1007F57BBCB}" presName="background" presStyleLbl="node0" presStyleIdx="2" presStyleCnt="3"/>
      <dgm:spPr/>
    </dgm:pt>
    <dgm:pt modelId="{6F93C11A-A42B-C148-AA66-56D0510681A1}" type="pres">
      <dgm:prSet presAssocID="{43E37924-8493-4C66-882D-A1007F57BBCB}" presName="text" presStyleLbl="fgAcc0" presStyleIdx="2" presStyleCnt="3">
        <dgm:presLayoutVars>
          <dgm:chPref val="3"/>
        </dgm:presLayoutVars>
      </dgm:prSet>
      <dgm:spPr/>
    </dgm:pt>
    <dgm:pt modelId="{8AB8C7FE-EB51-1145-AD76-447251A2C6EA}" type="pres">
      <dgm:prSet presAssocID="{43E37924-8493-4C66-882D-A1007F57BBCB}" presName="hierChild2" presStyleCnt="0"/>
      <dgm:spPr/>
    </dgm:pt>
  </dgm:ptLst>
  <dgm:cxnLst>
    <dgm:cxn modelId="{C981780B-CCB8-1944-8851-A63AB0881D5E}" type="presOf" srcId="{0DC1A808-FE44-468F-B586-DF1829FDC276}" destId="{7D1C1432-BD70-2F40-B840-32898CE0DF62}" srcOrd="0" destOrd="0" presId="urn:microsoft.com/office/officeart/2005/8/layout/hierarchy1"/>
    <dgm:cxn modelId="{5DAF4434-B77C-1B47-B2B4-AEE1D0A4C2EA}" type="presOf" srcId="{3B58ADFD-BDBF-4112-9CF5-D2B201ECB9BE}" destId="{BC86D721-DD13-6C4A-A3F4-E4D5D2E6673D}" srcOrd="0" destOrd="0" presId="urn:microsoft.com/office/officeart/2005/8/layout/hierarchy1"/>
    <dgm:cxn modelId="{F4C3C136-7ABE-4E99-9BA3-27AF0C824091}" srcId="{59881592-BA59-4345-A63D-EC66813BC1FF}" destId="{0DC1A808-FE44-468F-B586-DF1829FDC276}" srcOrd="0" destOrd="0" parTransId="{84BBAFA9-92D3-441E-89DE-2078C4604FA4}" sibTransId="{85B15BC4-114E-4F05-A175-0C9A7A07EFFF}"/>
    <dgm:cxn modelId="{41E5768B-3966-7241-B039-91E35E0EEAEB}" type="presOf" srcId="{43E37924-8493-4C66-882D-A1007F57BBCB}" destId="{6F93C11A-A42B-C148-AA66-56D0510681A1}" srcOrd="0" destOrd="0" presId="urn:microsoft.com/office/officeart/2005/8/layout/hierarchy1"/>
    <dgm:cxn modelId="{DEF2C98F-ACE5-774B-9064-87C258D02D44}" type="presOf" srcId="{59881592-BA59-4345-A63D-EC66813BC1FF}" destId="{033670B9-25B7-DE49-9E61-C9FF75DF8A96}" srcOrd="0" destOrd="0" presId="urn:microsoft.com/office/officeart/2005/8/layout/hierarchy1"/>
    <dgm:cxn modelId="{BC59E490-9B95-4664-B464-625B01E736BC}" srcId="{59881592-BA59-4345-A63D-EC66813BC1FF}" destId="{43E37924-8493-4C66-882D-A1007F57BBCB}" srcOrd="2" destOrd="0" parTransId="{C33C8CA1-942F-4341-9865-61A33D1C7A66}" sibTransId="{06EE47F0-595C-4FA1-8D49-72E85AB8C827}"/>
    <dgm:cxn modelId="{D63C17C0-7B3F-4398-A8B4-057C1271744A}" srcId="{59881592-BA59-4345-A63D-EC66813BC1FF}" destId="{3B58ADFD-BDBF-4112-9CF5-D2B201ECB9BE}" srcOrd="1" destOrd="0" parTransId="{B9DA269F-331C-4B50-A4F3-AA9E9A847E99}" sibTransId="{1D023C37-5902-40F5-BE52-D157288B11E9}"/>
    <dgm:cxn modelId="{B13B230E-A048-604E-B585-446979E32530}" type="presParOf" srcId="{033670B9-25B7-DE49-9E61-C9FF75DF8A96}" destId="{4A6CA3C1-6165-B74B-932D-235CF6D43B0F}" srcOrd="0" destOrd="0" presId="urn:microsoft.com/office/officeart/2005/8/layout/hierarchy1"/>
    <dgm:cxn modelId="{8D27F0D0-45E7-2E48-9414-1F7A6DC61D5A}" type="presParOf" srcId="{4A6CA3C1-6165-B74B-932D-235CF6D43B0F}" destId="{7E9A0E71-EC86-2846-8745-387E4A8714E0}" srcOrd="0" destOrd="0" presId="urn:microsoft.com/office/officeart/2005/8/layout/hierarchy1"/>
    <dgm:cxn modelId="{3B3E2C10-1690-444B-9150-EF62ED39FF86}" type="presParOf" srcId="{7E9A0E71-EC86-2846-8745-387E4A8714E0}" destId="{EE00D51F-7734-7040-A227-4B23A72894FC}" srcOrd="0" destOrd="0" presId="urn:microsoft.com/office/officeart/2005/8/layout/hierarchy1"/>
    <dgm:cxn modelId="{8CF40548-F7AC-5749-8762-F07F57C9862B}" type="presParOf" srcId="{7E9A0E71-EC86-2846-8745-387E4A8714E0}" destId="{7D1C1432-BD70-2F40-B840-32898CE0DF62}" srcOrd="1" destOrd="0" presId="urn:microsoft.com/office/officeart/2005/8/layout/hierarchy1"/>
    <dgm:cxn modelId="{DC007774-0FF7-5E40-99FC-3C65DC1D0ED7}" type="presParOf" srcId="{4A6CA3C1-6165-B74B-932D-235CF6D43B0F}" destId="{C49429AD-20D8-1A46-9DFA-19D9726DA4DA}" srcOrd="1" destOrd="0" presId="urn:microsoft.com/office/officeart/2005/8/layout/hierarchy1"/>
    <dgm:cxn modelId="{6642478E-5195-A041-8D60-44A9F81D9173}" type="presParOf" srcId="{033670B9-25B7-DE49-9E61-C9FF75DF8A96}" destId="{59CB18BC-C800-A843-887D-69610BCE7BFB}" srcOrd="1" destOrd="0" presId="urn:microsoft.com/office/officeart/2005/8/layout/hierarchy1"/>
    <dgm:cxn modelId="{5979A234-5007-EB41-A95C-F7C8AE65879F}" type="presParOf" srcId="{59CB18BC-C800-A843-887D-69610BCE7BFB}" destId="{1DA02468-EE6B-F245-A143-CC3B9C79F036}" srcOrd="0" destOrd="0" presId="urn:microsoft.com/office/officeart/2005/8/layout/hierarchy1"/>
    <dgm:cxn modelId="{2C7E5640-E841-024B-B2B5-C585A01EA576}" type="presParOf" srcId="{1DA02468-EE6B-F245-A143-CC3B9C79F036}" destId="{99414101-6112-F143-81CF-50D2E8632C15}" srcOrd="0" destOrd="0" presId="urn:microsoft.com/office/officeart/2005/8/layout/hierarchy1"/>
    <dgm:cxn modelId="{7C5F95BF-1D98-6148-AB9A-652392F7AF3D}" type="presParOf" srcId="{1DA02468-EE6B-F245-A143-CC3B9C79F036}" destId="{BC86D721-DD13-6C4A-A3F4-E4D5D2E6673D}" srcOrd="1" destOrd="0" presId="urn:microsoft.com/office/officeart/2005/8/layout/hierarchy1"/>
    <dgm:cxn modelId="{E1E9A825-1C24-DD44-8BE0-ADB0DD38AB7F}" type="presParOf" srcId="{59CB18BC-C800-A843-887D-69610BCE7BFB}" destId="{7A46805E-C061-1742-BE91-72E8068DB039}" srcOrd="1" destOrd="0" presId="urn:microsoft.com/office/officeart/2005/8/layout/hierarchy1"/>
    <dgm:cxn modelId="{543FBA16-3D59-B645-809B-1A33B9486DF3}" type="presParOf" srcId="{033670B9-25B7-DE49-9E61-C9FF75DF8A96}" destId="{6FEBF51B-58B5-1C42-917C-916CB6D434FB}" srcOrd="2" destOrd="0" presId="urn:microsoft.com/office/officeart/2005/8/layout/hierarchy1"/>
    <dgm:cxn modelId="{CAEF22CF-AF76-3048-A23D-4EBEEBF76E07}" type="presParOf" srcId="{6FEBF51B-58B5-1C42-917C-916CB6D434FB}" destId="{0627FA43-A295-6B4C-89B8-FE0D94C630C1}" srcOrd="0" destOrd="0" presId="urn:microsoft.com/office/officeart/2005/8/layout/hierarchy1"/>
    <dgm:cxn modelId="{91836F9F-AD76-9144-9289-A48478B8BC2B}" type="presParOf" srcId="{0627FA43-A295-6B4C-89B8-FE0D94C630C1}" destId="{E84C45B1-D11B-9A42-9735-8336529A21E3}" srcOrd="0" destOrd="0" presId="urn:microsoft.com/office/officeart/2005/8/layout/hierarchy1"/>
    <dgm:cxn modelId="{DDB85BC9-E5B9-F44F-B5C3-E7E102676983}" type="presParOf" srcId="{0627FA43-A295-6B4C-89B8-FE0D94C630C1}" destId="{6F93C11A-A42B-C148-AA66-56D0510681A1}" srcOrd="1" destOrd="0" presId="urn:microsoft.com/office/officeart/2005/8/layout/hierarchy1"/>
    <dgm:cxn modelId="{85C2FDF8-08BE-084A-AF1D-70858E80E99B}" type="presParOf" srcId="{6FEBF51B-58B5-1C42-917C-916CB6D434FB}" destId="{8AB8C7FE-EB51-1145-AD76-447251A2C6E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0D51F-7734-7040-A227-4B23A72894FC}">
      <dsp:nvSpPr>
        <dsp:cNvPr id="0" name=""/>
        <dsp:cNvSpPr/>
      </dsp:nvSpPr>
      <dsp:spPr>
        <a:xfrm>
          <a:off x="0" y="870187"/>
          <a:ext cx="2025000" cy="128587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1C1432-BD70-2F40-B840-32898CE0DF62}">
      <dsp:nvSpPr>
        <dsp:cNvPr id="0" name=""/>
        <dsp:cNvSpPr/>
      </dsp:nvSpPr>
      <dsp:spPr>
        <a:xfrm>
          <a:off x="225000" y="1083937"/>
          <a:ext cx="2025000" cy="128587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dirty="0"/>
            <a:t>What are my learning moments from the last lesson?</a:t>
          </a:r>
          <a:endParaRPr lang="en-US" sz="2000" kern="1200" dirty="0"/>
        </a:p>
      </dsp:txBody>
      <dsp:txXfrm>
        <a:off x="262662" y="1121599"/>
        <a:ext cx="1949676" cy="1210550"/>
      </dsp:txXfrm>
    </dsp:sp>
    <dsp:sp modelId="{99414101-6112-F143-81CF-50D2E8632C15}">
      <dsp:nvSpPr>
        <dsp:cNvPr id="0" name=""/>
        <dsp:cNvSpPr/>
      </dsp:nvSpPr>
      <dsp:spPr>
        <a:xfrm>
          <a:off x="2475000" y="870187"/>
          <a:ext cx="2025000" cy="128587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86D721-DD13-6C4A-A3F4-E4D5D2E6673D}">
      <dsp:nvSpPr>
        <dsp:cNvPr id="0" name=""/>
        <dsp:cNvSpPr/>
      </dsp:nvSpPr>
      <dsp:spPr>
        <a:xfrm>
          <a:off x="2700000" y="1083937"/>
          <a:ext cx="2025000" cy="128587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What exactly do I want to change? </a:t>
          </a:r>
          <a:endParaRPr lang="en-US" sz="2000" kern="1200"/>
        </a:p>
      </dsp:txBody>
      <dsp:txXfrm>
        <a:off x="2737662" y="1121599"/>
        <a:ext cx="1949676" cy="1210550"/>
      </dsp:txXfrm>
    </dsp:sp>
    <dsp:sp modelId="{E84C45B1-D11B-9A42-9735-8336529A21E3}">
      <dsp:nvSpPr>
        <dsp:cNvPr id="0" name=""/>
        <dsp:cNvSpPr/>
      </dsp:nvSpPr>
      <dsp:spPr>
        <a:xfrm>
          <a:off x="4950000" y="870187"/>
          <a:ext cx="2025000" cy="128587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93C11A-A42B-C148-AA66-56D0510681A1}">
      <dsp:nvSpPr>
        <dsp:cNvPr id="0" name=""/>
        <dsp:cNvSpPr/>
      </dsp:nvSpPr>
      <dsp:spPr>
        <a:xfrm>
          <a:off x="5175000" y="1083937"/>
          <a:ext cx="2025000" cy="128587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What help can and should I get?</a:t>
          </a:r>
          <a:endParaRPr lang="en-US" sz="2000" kern="1200"/>
        </a:p>
      </dsp:txBody>
      <dsp:txXfrm>
        <a:off x="5212662" y="1121599"/>
        <a:ext cx="1949676" cy="121055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777938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dirty="0"/>
              <a:t>This could be a warm-up to approach the study reflection in a fun way, but also so that the tutorium can get to know each other better.</a:t>
            </a:r>
            <a:endParaRPr dirty="0"/>
          </a:p>
          <a:p>
            <a:pPr>
              <a:defRPr/>
            </a:pPr>
            <a:r>
              <a:rPr lang="de-DE" dirty="0"/>
              <a:t>Depending on how full your tutorial is, you could have the first-year students present their subject in small groups or in plenary, and the others would then have to guess the major</a:t>
            </a:r>
            <a:endParaRPr dirty="0"/>
          </a:p>
          <a:p>
            <a:pPr>
              <a:defRPr/>
            </a:pPr>
            <a:r>
              <a:rPr lang="de-DE" dirty="0"/>
              <a:t>Make sure you don't lose too much time here, but you can take 10 minutes</a:t>
            </a:r>
          </a:p>
          <a:p>
            <a:pPr>
              <a:defRPr/>
            </a:pPr>
            <a:endParaRPr lang="de-DE" sz="1100" dirty="0"/>
          </a:p>
          <a:p>
            <a:pPr>
              <a:defRPr/>
            </a:pPr>
            <a:r>
              <a:rPr lang="de-DE" sz="1100" dirty="0"/>
              <a:t>Ex: Which subject would best describe my major / field of study?</a:t>
            </a:r>
            <a:endParaRPr lang="de-DE" dirty="0"/>
          </a:p>
          <a:p>
            <a:pPr>
              <a:defRPr/>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lgn="l"/>
            <a:r>
              <a:rPr lang="de-DE" b="1" i="0" u="none" strike="noStrike" dirty="0">
                <a:solidFill>
                  <a:srgbClr val="000000"/>
                </a:solidFill>
                <a:effectLst/>
              </a:rPr>
              <a:t>Aim of the task: </a:t>
            </a:r>
            <a:r>
              <a:rPr lang="de-DE" b="0" i="0" u="none" strike="noStrike" dirty="0">
                <a:solidFill>
                  <a:srgbClr val="000000"/>
                </a:solidFill>
                <a:effectLst/>
              </a:rPr>
              <a:t>The "time capsule" task is intended to give first semester students the opportunity to record their thoughts, expectations and feelings at the beginning of their studies so that they can reflect on </a:t>
            </a:r>
            <a:r>
              <a:rPr lang="de-DE" b="0" i="0" u="none" strike="noStrike" dirty="0" err="1">
                <a:solidFill>
                  <a:srgbClr val="000000"/>
                </a:solidFill>
                <a:effectLst/>
              </a:rPr>
              <a:t>them</a:t>
            </a:r>
            <a:r>
              <a:rPr lang="de-DE" b="0" i="0" u="none" strike="noStrike" dirty="0">
                <a:solidFill>
                  <a:srgbClr val="000000"/>
                </a:solidFill>
                <a:effectLst/>
              </a:rPr>
              <a:t> at the end of the semester. In this way, we encourage self-reflection and personal development, which is particularly valuable in the initial phase of a degree course.</a:t>
            </a:r>
            <a:br>
              <a:rPr lang="de-DE" b="0" i="0" u="none" strike="noStrike" dirty="0">
                <a:solidFill>
                  <a:srgbClr val="000000"/>
                </a:solidFill>
                <a:effectLst/>
              </a:rPr>
            </a:br>
            <a:br>
              <a:rPr lang="de-DE" b="0" i="0" u="none" strike="noStrike" dirty="0">
                <a:solidFill>
                  <a:srgbClr val="000000"/>
                </a:solidFill>
                <a:effectLst/>
              </a:rPr>
            </a:br>
            <a:endParaRPr lang="de-DE" b="0" i="0" u="none" strike="noStrike" dirty="0">
              <a:solidFill>
                <a:srgbClr val="000000"/>
              </a:solidFill>
              <a:effectLst/>
            </a:endParaRPr>
          </a:p>
          <a:p>
            <a:pPr algn="l">
              <a:buFont typeface="+mj-lt"/>
              <a:buAutoNum type="arabicPeriod"/>
            </a:pPr>
            <a:r>
              <a:rPr lang="de-DE" b="1" i="0" u="none" strike="noStrike" dirty="0">
                <a:solidFill>
                  <a:srgbClr val="000000"/>
                </a:solidFill>
                <a:effectLst/>
              </a:rPr>
              <a:t>Introduction of the task:</a:t>
            </a:r>
            <a:br>
              <a:rPr lang="de-DE" b="0" i="0" u="none" strike="noStrike" dirty="0">
                <a:solidFill>
                  <a:srgbClr val="000000"/>
                </a:solidFill>
                <a:effectLst/>
              </a:rPr>
            </a:br>
            <a:r>
              <a:rPr lang="de-DE" b="0" i="0" u="none" strike="noStrike" dirty="0">
                <a:solidFill>
                  <a:srgbClr val="000000"/>
                </a:solidFill>
                <a:effectLst/>
              </a:rPr>
              <a:t>Explain to the students that they are now going to write a text. This does not have to be formal or detailed - it can also be simple notes on a cell phone. It is important that the students can find and read these notes at the end of the semester. If everyone agrees, you can also collect them and hand them out at the end.</a:t>
            </a:r>
          </a:p>
          <a:p>
            <a:pPr algn="l">
              <a:buFont typeface="+mj-lt"/>
              <a:buAutoNum type="arabicPeriod"/>
            </a:pPr>
            <a:r>
              <a:rPr lang="de-DE" b="1" i="0" u="none" strike="noStrike" dirty="0">
                <a:solidFill>
                  <a:srgbClr val="000000"/>
                </a:solidFill>
                <a:effectLst/>
              </a:rPr>
              <a:t>Duration: 20-30min </a:t>
            </a:r>
            <a:br>
              <a:rPr lang="de-DE" b="1" i="0" u="none" strike="noStrike" dirty="0">
                <a:solidFill>
                  <a:srgbClr val="000000"/>
                </a:solidFill>
                <a:effectLst/>
              </a:rPr>
            </a:br>
            <a:r>
              <a:rPr lang="de-DE" b="1" i="0" u="none" strike="noStrike" dirty="0">
                <a:solidFill>
                  <a:srgbClr val="000000"/>
                </a:solidFill>
                <a:effectLst/>
              </a:rPr>
              <a:t>- After approx. 10 minutes</a:t>
            </a:r>
            <a:r>
              <a:rPr lang="de-DE" b="0" i="0" u="none" strike="noStrike" dirty="0">
                <a:solidFill>
                  <a:srgbClr val="000000"/>
                </a:solidFill>
                <a:effectLst/>
              </a:rPr>
              <a:t>, you fade in a new slide with further questions or perspectives to give the students new impulses</a:t>
            </a:r>
          </a:p>
          <a:p>
            <a:pPr algn="l">
              <a:buFont typeface="+mj-lt"/>
              <a:buAutoNum type="arabicPeriod"/>
            </a:pPr>
            <a:r>
              <a:rPr lang="de-DE" b="1" i="0" u="none" strike="noStrike" dirty="0">
                <a:solidFill>
                  <a:srgbClr val="000000"/>
                </a:solidFill>
                <a:effectLst/>
              </a:rPr>
              <a:t>Encourage reflection:</a:t>
            </a:r>
            <a:br>
              <a:rPr lang="de-DE" b="0" i="0" u="none" strike="noStrike" dirty="0">
                <a:solidFill>
                  <a:srgbClr val="000000"/>
                </a:solidFill>
                <a:effectLst/>
              </a:rPr>
            </a:br>
            <a:r>
              <a:rPr lang="de-DE" b="0" i="0" u="none" strike="noStrike" dirty="0">
                <a:solidFill>
                  <a:srgbClr val="000000"/>
                </a:solidFill>
                <a:effectLst/>
              </a:rPr>
              <a:t>Make it clear to students that this assignment is intended to help them clarify their goals, expectations, and current feelings. This reflection can provide guidance and help them understand their personal and academic development during the semester.</a:t>
            </a:r>
            <a:br>
              <a:rPr lang="de-DE" b="0" i="0" u="none" strike="noStrike" dirty="0">
                <a:solidFill>
                  <a:srgbClr val="000000"/>
                </a:solidFill>
                <a:effectLst/>
              </a:rPr>
            </a:br>
            <a:r>
              <a:rPr lang="de-DE" b="0" i="0" u="none" strike="noStrike" dirty="0">
                <a:solidFill>
                  <a:srgbClr val="000000"/>
                </a:solidFill>
                <a:effectLst/>
              </a:rPr>
              <a:t>Point out that the assignment is not just a snapshot, but will be a valuable tool at the end of the semester to see how they have developed and what they have achieved.</a:t>
            </a:r>
          </a:p>
          <a:p>
            <a:pPr algn="l"/>
            <a:endParaRPr lang="de-DE" b="1" i="0" u="none" strike="noStrike" dirty="0">
              <a:solidFill>
                <a:srgbClr val="000000"/>
              </a:solidFill>
              <a:effectLst/>
            </a:endParaRPr>
          </a:p>
          <a:p>
            <a:pPr algn="l"/>
            <a:r>
              <a:rPr lang="de-DE" b="1" i="0" u="none" strike="noStrike" dirty="0">
                <a:solidFill>
                  <a:srgbClr val="000000"/>
                </a:solidFill>
                <a:effectLst/>
              </a:rPr>
              <a:t>Additional tips:</a:t>
            </a:r>
            <a:endParaRPr lang="de-DE" b="0" i="0" u="none" strike="noStrike" dirty="0">
              <a:solidFill>
                <a:srgbClr val="000000"/>
              </a:solidFill>
              <a:effectLst/>
            </a:endParaRPr>
          </a:p>
          <a:p>
            <a:pPr algn="l">
              <a:buFont typeface="Arial" panose="020B0604020202020204" pitchFamily="34" charset="0"/>
              <a:buChar char="•"/>
            </a:pPr>
            <a:r>
              <a:rPr lang="de-DE" b="0" i="0" u="none" strike="noStrike" dirty="0">
                <a:solidFill>
                  <a:srgbClr val="000000"/>
                </a:solidFill>
                <a:effectLst/>
              </a:rPr>
              <a:t>Emphasizes that it is not about perfection. The "Brief" is intended to benefit the students themselves and support them in consciously shaping their path in their studies.</a:t>
            </a:r>
          </a:p>
          <a:p>
            <a:pPr algn="l">
              <a:buFont typeface="Arial" panose="020B0604020202020204" pitchFamily="34" charset="0"/>
              <a:buChar char="•"/>
            </a:pPr>
            <a:r>
              <a:rPr lang="de-DE" b="0" i="0" u="none" strike="noStrike" dirty="0">
                <a:solidFill>
                  <a:srgbClr val="000000"/>
                </a:solidFill>
                <a:effectLst/>
              </a:rPr>
              <a:t>The task can also have a stress-relieving effect by allowing students to write down their worries and concerns and thus let them go.</a:t>
            </a:r>
          </a:p>
          <a:p>
            <a:pPr algn="l">
              <a:buFont typeface="Arial" panose="020B0604020202020204" pitchFamily="34" charset="0"/>
              <a:buChar char="•"/>
            </a:pPr>
            <a:r>
              <a:rPr lang="de-DE" b="0" i="0" u="none" strike="noStrike" dirty="0">
                <a:solidFill>
                  <a:srgbClr val="000000"/>
                </a:solidFill>
                <a:effectLst/>
              </a:rPr>
              <a:t>This "time capsule" will provide a valuable opportunity for students to reflect on their progress and changes at the end of the semester.</a:t>
            </a:r>
          </a:p>
          <a:p>
            <a:pPr>
              <a:defRPr/>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379860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dirty="0"/>
              <a:t>That was really a lot at first, so maybe take a short break here. You can also turn on 1-2 songs or everyone stands up briefly</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dirty="0"/>
              <a:t>The first-year students first think independently and then come together in a small group (next slide)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Everything can, nothing has to - feel good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878767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dirty="0"/>
              <a:t>Everything can, nothing has to - feel good</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2" y="1205384"/>
            <a:ext cx="6858000" cy="1790700"/>
          </a:xfrm>
        </p:spPr>
        <p:txBody>
          <a:bodyPr anchor="b"/>
          <a:lstStyle>
            <a:lvl1pPr algn="ctr">
              <a:defRPr sz="3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135556" y="3174862"/>
            <a:ext cx="4812708" cy="391596"/>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de-DE" dirty="0"/>
              <a:t>Tutor*in: </a:t>
            </a:r>
          </a:p>
          <a:p>
            <a:r>
              <a:rPr lang="de-DE" dirty="0"/>
              <a:t>Date:</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3139550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3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1009333" y="253259"/>
            <a:ext cx="1404703" cy="132166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281392" y="2212337"/>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883" y="-130302"/>
            <a:ext cx="1947126" cy="2034243"/>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499118" y="493623"/>
            <a:ext cx="1736763" cy="1457318"/>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274238" y="-352704"/>
            <a:ext cx="1600562" cy="1594025"/>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83369" y="391072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525253" y="-281905"/>
            <a:ext cx="1079111" cy="14324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2631132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241837"/>
          </a:xfrm>
        </p:spPr>
        <p:txBody>
          <a:bodyPr lIns="90000" anchor="ctr"/>
          <a:lstStyle>
            <a:lvl1pPr>
              <a:defRPr sz="3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2314904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972000" y="650930"/>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972000" y="1369414"/>
            <a:ext cx="7200000" cy="32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403070" y="-401868"/>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5926566D-A50F-E915-FB4C-1392EE78A825}"/>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FD49F164-DAE8-6727-6DAB-B303AC9C1A18}"/>
              </a:ext>
            </a:extLst>
          </p:cNvPr>
          <p:cNvSpPr/>
          <p:nvPr userDrawn="1"/>
        </p:nvSpPr>
        <p:spPr>
          <a:xfrm>
            <a:off x="-120597" y="73093"/>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8385884" y="108129"/>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7823310" y="-18835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405769" y="1869879"/>
            <a:ext cx="1254981" cy="10477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8659208" y="1141819"/>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565003B8-E35C-4A98-29B0-022ACADD0DE8}"/>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Tree>
    <p:extLst>
      <p:ext uri="{BB962C8B-B14F-4D97-AF65-F5344CB8AC3E}">
        <p14:creationId xmlns:p14="http://schemas.microsoft.com/office/powerpoint/2010/main" val="1871648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1977806"/>
          </a:xfrm>
        </p:spPr>
        <p:txBody>
          <a:bodyPr lIns="90000" anchor="b"/>
          <a:lstStyle>
            <a:lvl1pPr>
              <a:defRPr sz="3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2612232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3374145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1377232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972000" y="683383"/>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9720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46101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92922934-2D9F-FFEA-894A-C9CB5345C80F}"/>
              </a:ext>
            </a:extLst>
          </p:cNvPr>
          <p:cNvSpPr/>
          <p:nvPr userDrawn="1"/>
        </p:nvSpPr>
        <p:spPr>
          <a:xfrm>
            <a:off x="-120597" y="73093"/>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826629" y="-26985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203778" y="425211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243BE1EB-BFDE-6083-A284-87D7CF37DB8D}"/>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8200771" y="357236"/>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8458522" y="3343840"/>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1345972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972000" y="587312"/>
            <a:ext cx="7200000" cy="63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972000" y="1878807"/>
            <a:ext cx="3526181"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4629151" y="1878807"/>
            <a:ext cx="3542850"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4">
            <a:extLst>
              <a:ext uri="{FF2B5EF4-FFF2-40B4-BE49-F238E27FC236}">
                <a16:creationId xmlns:a16="http://schemas.microsoft.com/office/drawing/2014/main" id="{35889E93-2A5D-58AD-C395-D2FD5A443DED}"/>
              </a:ext>
            </a:extLst>
          </p:cNvPr>
          <p:cNvSpPr/>
          <p:nvPr userDrawn="1"/>
        </p:nvSpPr>
        <p:spPr>
          <a:xfrm>
            <a:off x="8302970" y="3145869"/>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8336347" y="2932849"/>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8355052" y="526573"/>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7695168" y="-263701"/>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8578643" y="65966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21" name="Freeform 13">
            <a:extLst>
              <a:ext uri="{FF2B5EF4-FFF2-40B4-BE49-F238E27FC236}">
                <a16:creationId xmlns:a16="http://schemas.microsoft.com/office/drawing/2014/main" id="{ED978E30-DF37-EF1E-4EDA-D257DB52A802}"/>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22" name="Freeform 2">
            <a:extLst>
              <a:ext uri="{FF2B5EF4-FFF2-40B4-BE49-F238E27FC236}">
                <a16:creationId xmlns:a16="http://schemas.microsoft.com/office/drawing/2014/main" id="{BC28FAE3-EF77-16F7-D36F-89291BDBA23F}"/>
              </a:ext>
            </a:extLst>
          </p:cNvPr>
          <p:cNvSpPr/>
          <p:nvPr userDrawn="1"/>
        </p:nvSpPr>
        <p:spPr>
          <a:xfrm>
            <a:off x="-624791" y="2068766"/>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377688" y="2336570"/>
            <a:ext cx="800478" cy="822848"/>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377291" y="-103887"/>
            <a:ext cx="941388" cy="84247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5" name="Freeform 4">
            <a:extLst>
              <a:ext uri="{FF2B5EF4-FFF2-40B4-BE49-F238E27FC236}">
                <a16:creationId xmlns:a16="http://schemas.microsoft.com/office/drawing/2014/main" id="{64108208-23A2-8DFE-FE94-2A9E0DE10064}"/>
              </a:ext>
            </a:extLst>
          </p:cNvPr>
          <p:cNvSpPr/>
          <p:nvPr userDrawn="1"/>
        </p:nvSpPr>
        <p:spPr>
          <a:xfrm>
            <a:off x="-306763" y="-466327"/>
            <a:ext cx="1304903" cy="1296699"/>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Tree>
    <p:extLst>
      <p:ext uri="{BB962C8B-B14F-4D97-AF65-F5344CB8AC3E}">
        <p14:creationId xmlns:p14="http://schemas.microsoft.com/office/powerpoint/2010/main" val="1115960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317117" y="-65398"/>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46472" y="301604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408800" y="-370708"/>
            <a:ext cx="1456094" cy="155485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916997" y="356402"/>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48477" y="3943212"/>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Tree>
    <p:extLst>
      <p:ext uri="{BB962C8B-B14F-4D97-AF65-F5344CB8AC3E}">
        <p14:creationId xmlns:p14="http://schemas.microsoft.com/office/powerpoint/2010/main" val="785513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924497" y="-196079"/>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5" name="Freeform 2">
            <a:extLst>
              <a:ext uri="{FF2B5EF4-FFF2-40B4-BE49-F238E27FC236}">
                <a16:creationId xmlns:a16="http://schemas.microsoft.com/office/drawing/2014/main" id="{7138968B-20AA-CAF8-700F-BAB93331E2BF}"/>
              </a:ext>
            </a:extLst>
          </p:cNvPr>
          <p:cNvSpPr/>
          <p:nvPr userDrawn="1"/>
        </p:nvSpPr>
        <p:spPr>
          <a:xfrm>
            <a:off x="175579" y="2794604"/>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7" name="Freeform 4">
            <a:extLst>
              <a:ext uri="{FF2B5EF4-FFF2-40B4-BE49-F238E27FC236}">
                <a16:creationId xmlns:a16="http://schemas.microsoft.com/office/drawing/2014/main" id="{9CF66559-D777-73EC-5EEC-F85C25559919}"/>
              </a:ext>
            </a:extLst>
          </p:cNvPr>
          <p:cNvSpPr/>
          <p:nvPr userDrawn="1"/>
        </p:nvSpPr>
        <p:spPr>
          <a:xfrm>
            <a:off x="-408800" y="-370708"/>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7679348" y="1225890"/>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351399" y="2868168"/>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7870781" y="494660"/>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7415292" y="-128621"/>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8513894" y="2483256"/>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309959" y="349560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8106435" y="541755"/>
            <a:ext cx="1106586" cy="113686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3">
            <a:extLst>
              <a:ext uri="{FF2B5EF4-FFF2-40B4-BE49-F238E27FC236}">
                <a16:creationId xmlns:a16="http://schemas.microsoft.com/office/drawing/2014/main" id="{16DFAD4E-E1FC-D536-8781-C7766040C289}"/>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Tree>
    <p:extLst>
      <p:ext uri="{BB962C8B-B14F-4D97-AF65-F5344CB8AC3E}">
        <p14:creationId xmlns:p14="http://schemas.microsoft.com/office/powerpoint/2010/main" val="3449804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972000" y="740569"/>
            <a:ext cx="2617783" cy="630000"/>
          </a:xfrm>
        </p:spPr>
        <p:txBody>
          <a:bodyPr anchor="b"/>
          <a:lstStyle>
            <a:lvl1pPr>
              <a:defRPr sz="16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22" name="Freeform 2">
            <a:extLst>
              <a:ext uri="{FF2B5EF4-FFF2-40B4-BE49-F238E27FC236}">
                <a16:creationId xmlns:a16="http://schemas.microsoft.com/office/drawing/2014/main" id="{B785267F-9B21-E2D1-8B7C-5852346519D4}"/>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4" name="Freeform 5">
            <a:extLst>
              <a:ext uri="{FF2B5EF4-FFF2-40B4-BE49-F238E27FC236}">
                <a16:creationId xmlns:a16="http://schemas.microsoft.com/office/drawing/2014/main" id="{A2353211-40FC-5740-32CD-1C4B636D7A37}"/>
              </a:ext>
            </a:extLst>
          </p:cNvPr>
          <p:cNvSpPr/>
          <p:nvPr userDrawn="1"/>
        </p:nvSpPr>
        <p:spPr>
          <a:xfrm>
            <a:off x="-172348" y="-51867"/>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8464614" y="-142622"/>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Tree>
    <p:extLst>
      <p:ext uri="{BB962C8B-B14F-4D97-AF65-F5344CB8AC3E}">
        <p14:creationId xmlns:p14="http://schemas.microsoft.com/office/powerpoint/2010/main" val="76469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AAC90572-095E-D207-28CC-5CC7CE8AAB54}"/>
              </a:ext>
            </a:extLst>
          </p:cNvPr>
          <p:cNvSpPr/>
          <p:nvPr userDrawn="1"/>
        </p:nvSpPr>
        <p:spPr>
          <a:xfrm>
            <a:off x="-172348" y="-51867"/>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8464614" y="-142622"/>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88CBCFF4-7254-B7D0-3D1F-F21E7E31B92C}"/>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972000" y="740569"/>
            <a:ext cx="2617783" cy="630000"/>
          </a:xfrm>
          <a:prstGeom prst="rect">
            <a:avLst/>
          </a:prstGeom>
        </p:spPr>
        <p:txBody>
          <a:bodyPr vert="horz" lIns="45720" tIns="22860" rIns="45720" bIns="2286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sz="1600"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3663132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2" y="1205384"/>
            <a:ext cx="6858000" cy="3115147"/>
          </a:xfrm>
        </p:spPr>
        <p:txBody>
          <a:bodyPr anchor="ctr"/>
          <a:lstStyle>
            <a:lvl1pPr algn="ctr">
              <a:defRPr sz="3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929956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102822"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2" y="1205384"/>
            <a:ext cx="6858000" cy="3110692"/>
          </a:xfrm>
        </p:spPr>
        <p:txBody>
          <a:bodyPr anchor="ctr"/>
          <a:lstStyle>
            <a:lvl1pPr algn="ctr">
              <a:defRPr sz="3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11550214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7938453" y="2403662"/>
            <a:ext cx="1186907" cy="796382"/>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6010783" y="3445901"/>
            <a:ext cx="751320" cy="796382"/>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6819900" y="3319345"/>
            <a:ext cx="974652" cy="796382"/>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4838862" y="3461046"/>
            <a:ext cx="1129342" cy="796382"/>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5663452" y="2532242"/>
            <a:ext cx="1016933" cy="796382"/>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7242634" y="1610492"/>
            <a:ext cx="887671" cy="796382"/>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8110215" y="4263375"/>
            <a:ext cx="1040121" cy="796382"/>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1174630" y="2400004"/>
            <a:ext cx="1096610" cy="796382"/>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8046601" y="1573302"/>
            <a:ext cx="1078758" cy="796382"/>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1485260" y="1915658"/>
            <a:ext cx="598450" cy="419877"/>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455258" y="371497"/>
            <a:ext cx="602899" cy="590266"/>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3044197" y="1787344"/>
            <a:ext cx="487469" cy="487469"/>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2257175" y="1768499"/>
            <a:ext cx="502567" cy="502567"/>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3112532" y="862396"/>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3953034" y="875127"/>
            <a:ext cx="811428" cy="781450"/>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850062" y="445288"/>
            <a:ext cx="1460500" cy="1054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264809" y="608962"/>
            <a:ext cx="1860550" cy="1041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877905" y="2425108"/>
            <a:ext cx="863029" cy="72676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6116484" y="1547700"/>
            <a:ext cx="943808" cy="8774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337980" y="2706391"/>
            <a:ext cx="1310095" cy="53740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5708567" y="4450677"/>
            <a:ext cx="1195255" cy="57861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3651866" y="3468365"/>
            <a:ext cx="1144417" cy="793875"/>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8092365" y="3339198"/>
            <a:ext cx="974652" cy="75972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2762724" y="3423649"/>
            <a:ext cx="781191" cy="788702"/>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721573" y="4543052"/>
            <a:ext cx="823451" cy="489558"/>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2479165" y="4320618"/>
            <a:ext cx="969969" cy="681896"/>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3627971" y="4462442"/>
            <a:ext cx="853281" cy="56885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7029668" y="4212351"/>
            <a:ext cx="1016933" cy="769332"/>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2346799" y="2400151"/>
            <a:ext cx="831850" cy="762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3247154" y="2524678"/>
            <a:ext cx="901700" cy="78105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1191182" y="4234357"/>
            <a:ext cx="829270" cy="747326"/>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a:extLst>
              <a:ext uri="{28A0092B-C50C-407E-A947-70E740481C1C}">
                <a14:useLocalDpi xmlns:a14="http://schemas.microsoft.com/office/drawing/2010/main" val="0"/>
              </a:ext>
            </a:extLst>
          </a:blip>
          <a:srcRect/>
          <a:stretch>
            <a:fillRect/>
          </a:stretch>
        </p:blipFill>
        <p:spPr bwMode="auto">
          <a:xfrm>
            <a:off x="1387706" y="3291089"/>
            <a:ext cx="1282700" cy="80645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a:extLst>
              <a:ext uri="{28A0092B-C50C-407E-A947-70E740481C1C}">
                <a14:useLocalDpi xmlns:a14="http://schemas.microsoft.com/office/drawing/2010/main" val="0"/>
              </a:ext>
            </a:extLst>
          </a:blip>
          <a:srcRect/>
          <a:stretch>
            <a:fillRect/>
          </a:stretch>
        </p:blipFill>
        <p:spPr bwMode="auto">
          <a:xfrm>
            <a:off x="4915631" y="1000385"/>
            <a:ext cx="934431" cy="605512"/>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3679869" y="1770274"/>
            <a:ext cx="1188887" cy="65991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a:extLst>
              <a:ext uri="{28A0092B-C50C-407E-A947-70E740481C1C}">
                <a14:useLocalDpi xmlns:a14="http://schemas.microsoft.com/office/drawing/2010/main" val="0"/>
              </a:ext>
            </a:extLst>
          </a:blip>
          <a:srcRect/>
          <a:stretch>
            <a:fillRect/>
          </a:stretch>
        </p:blipFill>
        <p:spPr bwMode="auto">
          <a:xfrm>
            <a:off x="98519" y="3483555"/>
            <a:ext cx="1049499" cy="773873"/>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a:extLst>
              <a:ext uri="{28A0092B-C50C-407E-A947-70E740481C1C}">
                <a14:useLocalDpi xmlns:a14="http://schemas.microsoft.com/office/drawing/2010/main" val="0"/>
              </a:ext>
            </a:extLst>
          </a:blip>
          <a:srcRect/>
          <a:stretch>
            <a:fillRect/>
          </a:stretch>
        </p:blipFill>
        <p:spPr bwMode="auto">
          <a:xfrm>
            <a:off x="13765" y="4356037"/>
            <a:ext cx="1083635" cy="714738"/>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152696" y="1112985"/>
            <a:ext cx="1056700" cy="200055"/>
          </a:xfrm>
          <a:prstGeom prst="rect">
            <a:avLst/>
          </a:prstGeom>
          <a:noFill/>
        </p:spPr>
        <p:txBody>
          <a:bodyPr wrap="none" rtlCol="0">
            <a:spAutoFit/>
          </a:bodyPr>
          <a:lstStyle/>
          <a:p>
            <a:r>
              <a:rPr lang="de-DE" sz="700" dirty="0"/>
              <a:t>Icon für extra Material</a:t>
            </a:r>
          </a:p>
        </p:txBody>
      </p:sp>
    </p:spTree>
    <p:extLst>
      <p:ext uri="{BB962C8B-B14F-4D97-AF65-F5344CB8AC3E}">
        <p14:creationId xmlns:p14="http://schemas.microsoft.com/office/powerpoint/2010/main" val="3939747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extLst>
      <p:ext uri="{BB962C8B-B14F-4D97-AF65-F5344CB8AC3E}">
        <p14:creationId xmlns:p14="http://schemas.microsoft.com/office/powerpoint/2010/main" val="2957432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13" name="Textfeld 12"/>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4" name="Textfeld 13"/>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spTree>
    <p:extLst>
      <p:ext uri="{BB962C8B-B14F-4D97-AF65-F5344CB8AC3E}">
        <p14:creationId xmlns:p14="http://schemas.microsoft.com/office/powerpoint/2010/main" val="11787569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extLst>
      <p:ext uri="{BB962C8B-B14F-4D97-AF65-F5344CB8AC3E}">
        <p14:creationId xmlns:p14="http://schemas.microsoft.com/office/powerpoint/2010/main" val="427006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13" name="Textfeld 12"/>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4" name="Textfeld 13"/>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spTree>
    <p:extLst>
      <p:ext uri="{BB962C8B-B14F-4D97-AF65-F5344CB8AC3E}">
        <p14:creationId xmlns:p14="http://schemas.microsoft.com/office/powerpoint/2010/main" val="17099157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extLst>
      <p:ext uri="{BB962C8B-B14F-4D97-AF65-F5344CB8AC3E}">
        <p14:creationId xmlns:p14="http://schemas.microsoft.com/office/powerpoint/2010/main" val="2384230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13" name="Textfeld 12"/>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4" name="Textfeld 13"/>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spTree>
    <p:extLst>
      <p:ext uri="{BB962C8B-B14F-4D97-AF65-F5344CB8AC3E}">
        <p14:creationId xmlns:p14="http://schemas.microsoft.com/office/powerpoint/2010/main" val="71402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972000" y="661070"/>
            <a:ext cx="7200000" cy="630000"/>
          </a:xfrm>
          <a:prstGeom prst="rect">
            <a:avLst/>
          </a:prstGeom>
        </p:spPr>
        <p:txBody>
          <a:bodyPr vert="horz" lIns="91440" tIns="45720" rIns="91440" bIns="45720" rtlCol="0" anchor="ctr" anchorCtr="1">
            <a:normAutofit/>
          </a:bodyPr>
          <a:lstStyle/>
          <a:p>
            <a:r>
              <a:rPr lang="de-DE" dirty="0"/>
              <a:t>Edit master title format</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972000" y="1384556"/>
            <a:ext cx="7200000" cy="3240000"/>
          </a:xfrm>
          <a:prstGeom prst="rect">
            <a:avLst/>
          </a:prstGeom>
        </p:spPr>
        <p:txBody>
          <a:bodyPr vert="horz" lIns="91440" tIns="45720" rIns="91440" bIns="45720" rtlCol="0">
            <a:normAutofit/>
          </a:bodyPr>
          <a:lstStyle/>
          <a:p>
            <a:pPr lvl="0"/>
            <a:r>
              <a:rPr lang="de-DE"/>
              <a:t>Edit master text format</a:t>
            </a:r>
          </a:p>
          <a:p>
            <a:pPr lvl="1"/>
            <a:r>
              <a:rPr lang="de-DE"/>
              <a:t>Second level</a:t>
            </a:r>
          </a:p>
          <a:p>
            <a:pPr lvl="2"/>
            <a:r>
              <a:rPr lang="de-DE"/>
              <a:t>Third level</a:t>
            </a:r>
          </a:p>
          <a:p>
            <a:pPr lvl="3"/>
            <a:r>
              <a:rPr lang="de-DE"/>
              <a:t>Fourth level</a:t>
            </a:r>
          </a:p>
          <a:p>
            <a:pPr lvl="4"/>
            <a:r>
              <a:rPr lang="de-DE"/>
              <a:t>Fifth level</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4"/>
            <a:stretch>
              <a:fillRect/>
            </a:stretch>
          </a:blipFill>
        </p:spPr>
        <p:txBody>
          <a:bodyPr/>
          <a:lstStyle/>
          <a:p>
            <a:endParaRPr lang="de-DE" sz="700"/>
          </a:p>
        </p:txBody>
      </p:sp>
    </p:spTree>
    <p:extLst>
      <p:ext uri="{BB962C8B-B14F-4D97-AF65-F5344CB8AC3E}">
        <p14:creationId xmlns:p14="http://schemas.microsoft.com/office/powerpoint/2010/main" val="237415651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31" r:id="rId19"/>
    <p:sldLayoutId id="2147483732" r:id="rId20"/>
    <p:sldLayoutId id="2147483743" r:id="rId21"/>
    <p:sldLayoutId id="2147483744" r:id="rId22"/>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E7CE02-99D6-316D-7D6E-241DE626D174}"/>
              </a:ext>
            </a:extLst>
          </p:cNvPr>
          <p:cNvSpPr>
            <a:spLocks noGrp="1"/>
          </p:cNvSpPr>
          <p:nvPr>
            <p:ph type="ctrTitle"/>
          </p:nvPr>
        </p:nvSpPr>
        <p:spPr/>
        <p:txBody>
          <a:bodyPr/>
          <a:lstStyle/>
          <a:p>
            <a:r>
              <a:rPr lang="de-DE" dirty="0"/>
              <a:t>3. Study </a:t>
            </a:r>
            <a:r>
              <a:rPr lang="de-DE" dirty="0" err="1"/>
              <a:t>Reflection</a:t>
            </a:r>
            <a:endParaRPr lang="de-DE" dirty="0"/>
          </a:p>
        </p:txBody>
      </p:sp>
      <p:sp>
        <p:nvSpPr>
          <p:cNvPr id="3" name="Untertitel 2">
            <a:extLst>
              <a:ext uri="{FF2B5EF4-FFF2-40B4-BE49-F238E27FC236}">
                <a16:creationId xmlns:a16="http://schemas.microsoft.com/office/drawing/2014/main" id="{00B5A826-99C6-5B20-8FB4-374385F8B442}"/>
              </a:ext>
            </a:extLst>
          </p:cNvPr>
          <p:cNvSpPr>
            <a:spLocks noGrp="1"/>
          </p:cNvSpPr>
          <p:nvPr>
            <p:ph type="subTitle" idx="1"/>
          </p:nvPr>
        </p:nvSpPr>
        <p:spPr/>
        <p:txBody>
          <a:bodyPr>
            <a:noAutofit/>
          </a:bodyPr>
          <a:lstStyle/>
          <a:p>
            <a:r>
              <a:rPr lang="de-DE" sz="1400" dirty="0"/>
              <a:t>Tutor:</a:t>
            </a:r>
          </a:p>
          <a:p>
            <a:r>
              <a:rPr lang="de-DE" sz="1400" dirty="0"/>
              <a:t>Date: </a:t>
            </a:r>
          </a:p>
        </p:txBody>
      </p:sp>
    </p:spTree>
    <p:extLst>
      <p:ext uri="{BB962C8B-B14F-4D97-AF65-F5344CB8AC3E}">
        <p14:creationId xmlns:p14="http://schemas.microsoft.com/office/powerpoint/2010/main" val="925629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a:extLst>
              <a:ext uri="{FF2B5EF4-FFF2-40B4-BE49-F238E27FC236}">
                <a16:creationId xmlns:a16="http://schemas.microsoft.com/office/drawing/2014/main" id="{4E978EE2-58C1-9282-74DB-BD4368B5176F}"/>
              </a:ext>
            </a:extLst>
          </p:cNvPr>
          <p:cNvSpPr>
            <a:spLocks noGrp="1"/>
          </p:cNvSpPr>
          <p:nvPr>
            <p:ph type="title"/>
          </p:nvPr>
        </p:nvSpPr>
        <p:spPr/>
        <p:txBody>
          <a:bodyPr/>
          <a:lstStyle/>
          <a:p>
            <a:endParaRPr lang="de-DE"/>
          </a:p>
        </p:txBody>
      </p:sp>
      <p:sp>
        <p:nvSpPr>
          <p:cNvPr id="3" name="Textplatzhalter 2"/>
          <p:cNvSpPr>
            <a:spLocks noGrp="1"/>
          </p:cNvSpPr>
          <p:nvPr>
            <p:ph idx="1"/>
          </p:nvPr>
        </p:nvSpPr>
        <p:spPr bwMode="auto"/>
        <p:txBody>
          <a:bodyPr/>
          <a:lstStyle/>
          <a:p>
            <a:pPr marL="342900" indent="-342900">
              <a:lnSpc>
                <a:spcPct val="150000"/>
              </a:lnSpc>
              <a:buFont typeface="+mj-lt"/>
              <a:buAutoNum type="arabicPeriod"/>
              <a:defRPr/>
            </a:pPr>
            <a:r>
              <a:rPr lang="de-DE" dirty="0"/>
              <a:t>How am I doing in my studies?</a:t>
            </a:r>
            <a:endParaRPr dirty="0"/>
          </a:p>
          <a:p>
            <a:pPr marL="342900" indent="-342900">
              <a:lnSpc>
                <a:spcPct val="150000"/>
              </a:lnSpc>
              <a:buFont typeface="+mj-lt"/>
              <a:buAutoNum type="arabicPeriod"/>
              <a:defRPr/>
            </a:pPr>
            <a:r>
              <a:rPr lang="de-DE" dirty="0"/>
              <a:t>What do I want to learn?</a:t>
            </a:r>
            <a:endParaRPr dirty="0"/>
          </a:p>
          <a:p>
            <a:pPr marL="342900" indent="-342900">
              <a:lnSpc>
                <a:spcPct val="150000"/>
              </a:lnSpc>
              <a:buFont typeface="+mj-lt"/>
              <a:buAutoNum type="arabicPeriod"/>
              <a:defRPr/>
            </a:pPr>
            <a:r>
              <a:rPr lang="de-DE" dirty="0"/>
              <a:t>What am I going to do?</a:t>
            </a:r>
            <a:endParaRPr dirty="0"/>
          </a:p>
          <a:p>
            <a:pPr marL="342900" indent="-342900">
              <a:lnSpc>
                <a:spcPct val="150000"/>
              </a:lnSpc>
              <a:buFont typeface="+mj-lt"/>
              <a:buAutoNum type="arabicPeriod"/>
              <a:defRPr/>
            </a:pPr>
            <a:r>
              <a:rPr lang="de-DE" dirty="0"/>
              <a:t>How do I get the most out of my studies?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a:extLst>
              <a:ext uri="{FF2B5EF4-FFF2-40B4-BE49-F238E27FC236}">
                <a16:creationId xmlns:a16="http://schemas.microsoft.com/office/drawing/2014/main" id="{4B650EC8-B336-5660-7190-4D6BAD37B67E}"/>
              </a:ext>
            </a:extLst>
          </p:cNvPr>
          <p:cNvSpPr>
            <a:spLocks noGrp="1"/>
          </p:cNvSpPr>
          <p:nvPr>
            <p:ph type="title"/>
          </p:nvPr>
        </p:nvSpPr>
        <p:spPr/>
        <p:txBody>
          <a:bodyPr/>
          <a:lstStyle/>
          <a:p>
            <a:r>
              <a:rPr lang="de-DE" dirty="0"/>
              <a:t>CHECK-IN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dirty="0"/>
              <a:t>Time capsule - Reflection</a:t>
            </a:r>
            <a:endParaRPr dirty="0"/>
          </a:p>
        </p:txBody>
      </p:sp>
      <p:sp>
        <p:nvSpPr>
          <p:cNvPr id="6" name="Textplatzhalter 5"/>
          <p:cNvSpPr>
            <a:spLocks noGrp="1"/>
          </p:cNvSpPr>
          <p:nvPr>
            <p:ph idx="1"/>
          </p:nvPr>
        </p:nvSpPr>
        <p:spPr bwMode="auto"/>
        <p:txBody>
          <a:bodyPr>
            <a:normAutofit/>
          </a:bodyPr>
          <a:lstStyle/>
          <a:p>
            <a:pPr marL="0" indent="0">
              <a:lnSpc>
                <a:spcPct val="150000"/>
              </a:lnSpc>
              <a:buNone/>
              <a:defRPr/>
            </a:pPr>
            <a:r>
              <a:rPr lang="de-DE" sz="1600" dirty="0"/>
              <a:t>The following questions may be helpful (1/2):</a:t>
            </a:r>
            <a:endParaRPr sz="1600" dirty="0"/>
          </a:p>
          <a:p>
            <a:pPr lvl="0">
              <a:lnSpc>
                <a:spcPct val="150000"/>
              </a:lnSpc>
              <a:defRPr/>
            </a:pPr>
            <a:r>
              <a:rPr lang="de-DE" dirty="0"/>
              <a:t>Why did I choose this degree program?</a:t>
            </a:r>
          </a:p>
          <a:p>
            <a:pPr lvl="0">
              <a:lnSpc>
                <a:spcPct val="150000"/>
              </a:lnSpc>
              <a:defRPr/>
            </a:pPr>
            <a:r>
              <a:rPr lang="de-DE" dirty="0"/>
              <a:t>What expectations do I have of my subject and the Leuphana semester?</a:t>
            </a:r>
          </a:p>
          <a:p>
            <a:pPr lvl="0">
              <a:lnSpc>
                <a:spcPct val="150000"/>
              </a:lnSpc>
              <a:defRPr/>
            </a:pPr>
            <a:r>
              <a:rPr lang="de-DE" dirty="0"/>
              <a:t>What do I hope to achieve through my studies?</a:t>
            </a:r>
          </a:p>
          <a:p>
            <a:pPr lvl="0">
              <a:lnSpc>
                <a:spcPct val="150000"/>
              </a:lnSpc>
              <a:defRPr/>
            </a:pPr>
            <a:r>
              <a:rPr lang="de-DE" dirty="0"/>
              <a:t>What do I want to take away from the Leuphana semester?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dirty="0"/>
              <a:t>Time capsule - Reflection</a:t>
            </a:r>
            <a:endParaRPr dirty="0"/>
          </a:p>
        </p:txBody>
      </p:sp>
      <p:sp>
        <p:nvSpPr>
          <p:cNvPr id="6" name="Textplatzhalter 5"/>
          <p:cNvSpPr>
            <a:spLocks noGrp="1"/>
          </p:cNvSpPr>
          <p:nvPr>
            <p:ph idx="1"/>
          </p:nvPr>
        </p:nvSpPr>
        <p:spPr bwMode="auto"/>
        <p:txBody>
          <a:bodyPr>
            <a:normAutofit/>
          </a:bodyPr>
          <a:lstStyle/>
          <a:p>
            <a:pPr marL="0" lvl="0" indent="0">
              <a:lnSpc>
                <a:spcPct val="150000"/>
              </a:lnSpc>
              <a:buNone/>
              <a:defRPr/>
            </a:pPr>
            <a:r>
              <a:rPr lang="de-DE" sz="1600" dirty="0"/>
              <a:t>Questions (2/2):</a:t>
            </a:r>
          </a:p>
          <a:p>
            <a:pPr lvl="0">
              <a:lnSpc>
                <a:spcPct val="150000"/>
              </a:lnSpc>
              <a:defRPr/>
            </a:pPr>
            <a:r>
              <a:rPr lang="de-DE" sz="1400" dirty="0"/>
              <a:t>How do I currently feel about my studies?</a:t>
            </a:r>
          </a:p>
          <a:p>
            <a:pPr lvl="0">
              <a:lnSpc>
                <a:spcPct val="150000"/>
              </a:lnSpc>
              <a:defRPr/>
            </a:pPr>
            <a:r>
              <a:rPr lang="de-DE" sz="1400" dirty="0"/>
              <a:t>What has surprised me or broadened my horizons so far?</a:t>
            </a:r>
          </a:p>
          <a:p>
            <a:pPr lvl="0">
              <a:lnSpc>
                <a:spcPct val="150000"/>
              </a:lnSpc>
              <a:defRPr/>
            </a:pPr>
            <a:r>
              <a:rPr lang="de-DE" sz="1400" dirty="0"/>
              <a:t>What challenges am I currently facing?</a:t>
            </a:r>
          </a:p>
          <a:p>
            <a:pPr lvl="0">
              <a:lnSpc>
                <a:spcPct val="150000"/>
              </a:lnSpc>
              <a:defRPr/>
            </a:pPr>
            <a:r>
              <a:rPr lang="de-DE" sz="1400" dirty="0"/>
              <a:t>What do I want to experience or achieve in the coming months?</a:t>
            </a:r>
          </a:p>
          <a:p>
            <a:pPr lvl="0">
              <a:lnSpc>
                <a:spcPct val="150000"/>
              </a:lnSpc>
              <a:defRPr/>
            </a:pPr>
            <a:r>
              <a:rPr lang="de-DE" sz="1400" dirty="0"/>
              <a:t>What is particularly important to me at the moment?</a:t>
            </a:r>
          </a:p>
          <a:p>
            <a:pPr lvl="0">
              <a:lnSpc>
                <a:spcPct val="150000"/>
              </a:lnSpc>
              <a:defRPr/>
            </a:pPr>
            <a:r>
              <a:rPr lang="de-DE" sz="1400" dirty="0"/>
              <a:t>What do I want to let go of?</a:t>
            </a:r>
            <a:endParaRPr lang="de-DE" sz="1100" dirty="0"/>
          </a:p>
        </p:txBody>
      </p:sp>
      <p:sp>
        <p:nvSpPr>
          <p:cNvPr id="8" name="Textfeld 7"/>
          <p:cNvSpPr txBox="1"/>
          <p:nvPr/>
        </p:nvSpPr>
        <p:spPr bwMode="auto">
          <a:xfrm>
            <a:off x="467254"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a:extLst>
              <a:ext uri="{FF2B5EF4-FFF2-40B4-BE49-F238E27FC236}">
                <a16:creationId xmlns:a16="http://schemas.microsoft.com/office/drawing/2014/main" id="{C276C189-C549-2C48-1310-B27207C90CCC}"/>
              </a:ext>
            </a:extLst>
          </p:cNvPr>
          <p:cNvSpPr>
            <a:spLocks noGrp="1"/>
          </p:cNvSpPr>
          <p:nvPr>
            <p:ph type="title"/>
          </p:nvPr>
        </p:nvSpPr>
        <p:spPr/>
        <p:txBody>
          <a:bodyPr/>
          <a:lstStyle/>
          <a:p>
            <a:r>
              <a:rPr lang="de-DE" dirty="0"/>
              <a:t>BREAK</a:t>
            </a: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6</a:t>
            </a:fld>
            <a:endParaRPr lang="de-D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dirty="0"/>
              <a:t>Self - Reflection</a:t>
            </a:r>
            <a:endParaRPr dirty="0"/>
          </a:p>
        </p:txBody>
      </p:sp>
      <p:sp>
        <p:nvSpPr>
          <p:cNvPr id="6" name="Textplatzhalter 5"/>
          <p:cNvSpPr>
            <a:spLocks noGrp="1"/>
          </p:cNvSpPr>
          <p:nvPr>
            <p:ph idx="1"/>
          </p:nvPr>
        </p:nvSpPr>
        <p:spPr bwMode="auto"/>
        <p:txBody>
          <a:bodyPr/>
          <a:lstStyle/>
          <a:p>
            <a:pPr>
              <a:lnSpc>
                <a:spcPct val="150000"/>
              </a:lnSpc>
              <a:defRPr/>
            </a:pPr>
            <a:r>
              <a:rPr lang="de-DE" dirty="0"/>
              <a:t>How am I doing at the moment? What is going well? </a:t>
            </a:r>
          </a:p>
          <a:p>
            <a:pPr>
              <a:lnSpc>
                <a:spcPct val="150000"/>
              </a:lnSpc>
              <a:defRPr/>
            </a:pPr>
            <a:r>
              <a:rPr lang="de-DE" dirty="0"/>
              <a:t>What are the possible difficulties? What exactly do they look like? </a:t>
            </a:r>
            <a:br>
              <a:rPr lang="de-DE" dirty="0"/>
            </a:br>
            <a:r>
              <a:rPr lang="de-DE" dirty="0"/>
              <a:t>What should or could be different for me to feel better?</a:t>
            </a:r>
            <a:endParaRPr dirty="0"/>
          </a:p>
          <a:p>
            <a:pPr>
              <a:lnSpc>
                <a:spcPct val="150000"/>
              </a:lnSpc>
              <a:defRPr/>
            </a:pPr>
            <a:r>
              <a:rPr lang="de-DE" dirty="0"/>
              <a:t>Which of these difficulties / problems can I solve myself? </a:t>
            </a:r>
            <a:br>
              <a:rPr lang="de-DE" dirty="0"/>
            </a:br>
            <a:r>
              <a:rPr lang="de-DE" dirty="0"/>
              <a:t>Where do I need outside help?</a:t>
            </a:r>
            <a:endParaRPr dirty="0"/>
          </a:p>
          <a:p>
            <a:pPr>
              <a:lnSpc>
                <a:spcPct val="150000"/>
              </a:lnSpc>
              <a:defRPr/>
            </a:pPr>
            <a:r>
              <a:rPr lang="de-DE" dirty="0"/>
              <a:t>What could this help / support look like and where could it come from? (Friends / shared flat, AStA, university, tutorial etc.)</a:t>
            </a:r>
            <a:endParaRPr dirty="0"/>
          </a:p>
          <a:p>
            <a:pPr marL="285750" indent="-285750">
              <a:buFontTx/>
              <a:buChar char="-"/>
              <a:defRPr/>
            </a:pPr>
            <a:endParaRPr lang="de-DE" dirty="0"/>
          </a:p>
        </p:txBody>
      </p:sp>
      <p:sp>
        <p:nvSpPr>
          <p:cNvPr id="8" name="Textfeld 7"/>
          <p:cNvSpPr txBox="1"/>
          <p:nvPr/>
        </p:nvSpPr>
        <p:spPr bwMode="auto">
          <a:xfrm>
            <a:off x="467254"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a:t>Joint reflection</a:t>
            </a:r>
          </a:p>
        </p:txBody>
      </p:sp>
      <p:sp>
        <p:nvSpPr>
          <p:cNvPr id="6" name="Textplatzhalter 5"/>
          <p:cNvSpPr>
            <a:spLocks noGrp="1"/>
          </p:cNvSpPr>
          <p:nvPr>
            <p:ph idx="1"/>
          </p:nvPr>
        </p:nvSpPr>
        <p:spPr bwMode="auto"/>
        <p:txBody>
          <a:bodyPr/>
          <a:lstStyle/>
          <a:p>
            <a:pPr marL="0" indent="0" algn="ctr">
              <a:lnSpc>
                <a:spcPct val="150000"/>
              </a:lnSpc>
              <a:buNone/>
              <a:defRPr/>
            </a:pPr>
            <a:r>
              <a:rPr lang="de-DE" sz="1600" dirty="0"/>
              <a:t>Exchange ideas in groups of 3:</a:t>
            </a:r>
          </a:p>
          <a:p>
            <a:pPr marL="0" indent="0" algn="ctr">
              <a:lnSpc>
                <a:spcPct val="150000"/>
              </a:lnSpc>
              <a:buNone/>
              <a:defRPr/>
            </a:pPr>
            <a:endParaRPr sz="1600" dirty="0"/>
          </a:p>
          <a:p>
            <a:pPr algn="ctr">
              <a:lnSpc>
                <a:spcPct val="150000"/>
              </a:lnSpc>
              <a:defRPr/>
            </a:pPr>
            <a:r>
              <a:rPr lang="de-DE" dirty="0"/>
              <a:t>What is easy and what is not?</a:t>
            </a:r>
            <a:endParaRPr dirty="0"/>
          </a:p>
          <a:p>
            <a:pPr algn="ctr">
              <a:lnSpc>
                <a:spcPct val="150000"/>
              </a:lnSpc>
              <a:defRPr/>
            </a:pPr>
            <a:r>
              <a:rPr lang="de-DE" dirty="0"/>
              <a:t>Where are the similarities, where are the differences?</a:t>
            </a:r>
            <a:endParaRPr dirty="0"/>
          </a:p>
          <a:p>
            <a:pPr algn="ctr">
              <a:lnSpc>
                <a:spcPct val="150000"/>
              </a:lnSpc>
              <a:defRPr/>
            </a:pPr>
            <a:r>
              <a:rPr lang="de-DE" dirty="0"/>
              <a:t>What tips can I give the others?</a:t>
            </a:r>
            <a:endParaRPr dirty="0"/>
          </a:p>
          <a:p>
            <a:pPr marL="285750" indent="-285750">
              <a:buFontTx/>
              <a:buChar char="-"/>
              <a:defRPr/>
            </a:pPr>
            <a:endParaRPr lang="de-DE" dirty="0"/>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smtClean="0"/>
              <a:t>8</a:t>
            </a:fld>
            <a:endParaRPr lang="de-D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normAutofit/>
          </a:bodyPr>
          <a:lstStyle/>
          <a:p>
            <a:pPr>
              <a:defRPr/>
            </a:pPr>
            <a:r>
              <a:rPr lang="de-DE" dirty="0"/>
              <a:t>Lectures / Seminars:</a:t>
            </a:r>
            <a:endParaRPr dirty="0"/>
          </a:p>
        </p:txBody>
      </p:sp>
      <p:sp>
        <p:nvSpPr>
          <p:cNvPr id="6" name="Textplatzhalter 5"/>
          <p:cNvSpPr>
            <a:spLocks noGrp="1"/>
          </p:cNvSpPr>
          <p:nvPr>
            <p:ph sz="half" idx="1"/>
          </p:nvPr>
        </p:nvSpPr>
        <p:spPr bwMode="auto"/>
        <p:txBody>
          <a:bodyPr>
            <a:normAutofit/>
          </a:bodyPr>
          <a:lstStyle/>
          <a:p>
            <a:pPr marL="0" indent="0">
              <a:lnSpc>
                <a:spcPct val="150000"/>
              </a:lnSpc>
              <a:buNone/>
              <a:defRPr/>
            </a:pPr>
            <a:r>
              <a:rPr lang="en-US" sz="2200" dirty="0"/>
              <a:t>Self - Reflection</a:t>
            </a:r>
          </a:p>
          <a:p>
            <a:pPr>
              <a:lnSpc>
                <a:spcPct val="150000"/>
              </a:lnSpc>
              <a:defRPr/>
            </a:pPr>
            <a:r>
              <a:rPr lang="en-US" dirty="0"/>
              <a:t>How were the first few weeks in the lectures/seminars?</a:t>
            </a:r>
          </a:p>
          <a:p>
            <a:pPr>
              <a:lnSpc>
                <a:spcPct val="150000"/>
              </a:lnSpc>
              <a:defRPr/>
            </a:pPr>
            <a:r>
              <a:rPr lang="en-US" dirty="0"/>
              <a:t>When do I learn best, when not?</a:t>
            </a:r>
          </a:p>
          <a:p>
            <a:pPr>
              <a:lnSpc>
                <a:spcPct val="150000"/>
              </a:lnSpc>
              <a:defRPr/>
            </a:pPr>
            <a:r>
              <a:rPr lang="en-US" dirty="0"/>
              <a:t>What helps me, what doesn't?</a:t>
            </a:r>
          </a:p>
        </p:txBody>
      </p:sp>
      <p:sp>
        <p:nvSpPr>
          <p:cNvPr id="2" name="Inhaltsplatzhalter 1">
            <a:extLst>
              <a:ext uri="{FF2B5EF4-FFF2-40B4-BE49-F238E27FC236}">
                <a16:creationId xmlns:a16="http://schemas.microsoft.com/office/drawing/2014/main" id="{45004034-1650-DEA6-BF02-9D14019A39A2}"/>
              </a:ext>
            </a:extLst>
          </p:cNvPr>
          <p:cNvSpPr>
            <a:spLocks noGrp="1"/>
          </p:cNvSpPr>
          <p:nvPr>
            <p:ph sz="half" idx="2"/>
          </p:nvPr>
        </p:nvSpPr>
        <p:spPr>
          <a:xfrm>
            <a:off x="4610100" y="1369219"/>
            <a:ext cx="3778324" cy="3263900"/>
          </a:xfrm>
        </p:spPr>
        <p:txBody>
          <a:bodyPr>
            <a:normAutofit/>
          </a:bodyPr>
          <a:lstStyle/>
          <a:p>
            <a:pPr marL="0" indent="0">
              <a:lnSpc>
                <a:spcPct val="150000"/>
              </a:lnSpc>
              <a:buNone/>
              <a:defRPr/>
            </a:pPr>
            <a:r>
              <a:rPr lang="de-DE" sz="2200" dirty="0"/>
              <a:t>Thinking together</a:t>
            </a:r>
          </a:p>
          <a:p>
            <a:pPr marL="0" indent="0">
              <a:lnSpc>
                <a:spcPct val="150000"/>
              </a:lnSpc>
              <a:buNone/>
              <a:defRPr/>
            </a:pPr>
            <a:r>
              <a:rPr lang="de-DE" dirty="0"/>
              <a:t>What are good strategies for getting the most out of lectures and seminars?</a:t>
            </a:r>
          </a:p>
        </p:txBody>
      </p:sp>
      <p:cxnSp>
        <p:nvCxnSpPr>
          <p:cNvPr id="7" name="Gerade Verbindung 6">
            <a:extLst>
              <a:ext uri="{FF2B5EF4-FFF2-40B4-BE49-F238E27FC236}">
                <a16:creationId xmlns:a16="http://schemas.microsoft.com/office/drawing/2014/main" id="{9EF74249-6977-BF13-D1E8-609A989BC93F}"/>
              </a:ext>
            </a:extLst>
          </p:cNvPr>
          <p:cNvCxnSpPr/>
          <p:nvPr/>
        </p:nvCxnSpPr>
        <p:spPr>
          <a:xfrm>
            <a:off x="4572000" y="1313383"/>
            <a:ext cx="0" cy="3319736"/>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a:xfrm>
            <a:off x="972000" y="650930"/>
            <a:ext cx="7200000" cy="630000"/>
          </a:xfrm>
        </p:spPr>
        <p:txBody>
          <a:bodyPr anchor="ctr">
            <a:normAutofit/>
          </a:bodyPr>
          <a:lstStyle/>
          <a:p>
            <a:pPr>
              <a:defRPr/>
            </a:pPr>
            <a:r>
              <a:rPr lang="de-DE" dirty="0"/>
              <a:t>Conclusion Reflection</a:t>
            </a:r>
            <a:endParaRPr dirty="0"/>
          </a:p>
        </p:txBody>
      </p:sp>
      <p:graphicFrame>
        <p:nvGraphicFramePr>
          <p:cNvPr id="8" name="Textplatzhalter 5">
            <a:extLst>
              <a:ext uri="{FF2B5EF4-FFF2-40B4-BE49-F238E27FC236}">
                <a16:creationId xmlns:a16="http://schemas.microsoft.com/office/drawing/2014/main" id="{D2D0A031-C9AC-9E02-E57B-CBC3310F9CD0}"/>
              </a:ext>
            </a:extLst>
          </p:cNvPr>
          <p:cNvGraphicFramePr>
            <a:graphicFrameLocks noGrp="1"/>
          </p:cNvGraphicFramePr>
          <p:nvPr>
            <p:ph idx="1"/>
            <p:extLst>
              <p:ext uri="{D42A27DB-BD31-4B8C-83A1-F6EECF244321}">
                <p14:modId xmlns:p14="http://schemas.microsoft.com/office/powerpoint/2010/main" val="3546221755"/>
              </p:ext>
            </p:extLst>
          </p:nvPr>
        </p:nvGraphicFramePr>
        <p:xfrm>
          <a:off x="972000" y="1059582"/>
          <a:ext cx="7200000" cy="324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liennummernplatzhalter 3" hidden="1"/>
          <p:cNvSpPr>
            <a:spLocks noGrp="1"/>
          </p:cNvSpPr>
          <p:nvPr>
            <p:ph type="sldNum" idx="4294967295"/>
          </p:nvPr>
        </p:nvSpPr>
        <p:spPr bwMode="auto">
          <a:xfrm>
            <a:off x="8594725" y="4822825"/>
            <a:ext cx="549275" cy="393700"/>
          </a:xfrm>
          <a:prstGeom prst="rect">
            <a:avLst/>
          </a:prstGeom>
        </p:spPr>
        <p:txBody>
          <a:bodyPr/>
          <a:lstStyle/>
          <a:p>
            <a:pPr>
              <a:spcAft>
                <a:spcPts val="600"/>
              </a:spcAft>
              <a:defRPr/>
            </a:pPr>
            <a:fld id="{00000000-1234-1234-1234-123412341234}" type="slidenum">
              <a:rPr lang="de-DE"/>
              <a:t>10</a:t>
            </a:fld>
            <a:endParaRPr lang="de-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a:extLst>
              <a:ext uri="{FF2B5EF4-FFF2-40B4-BE49-F238E27FC236}">
                <a16:creationId xmlns:a16="http://schemas.microsoft.com/office/drawing/2014/main" id="{9EDA54CF-362B-B6C8-DD44-B052B0CEFC4D}"/>
              </a:ext>
            </a:extLst>
          </p:cNvPr>
          <p:cNvSpPr>
            <a:spLocks noGrp="1"/>
          </p:cNvSpPr>
          <p:nvPr>
            <p:ph type="ctrTitle"/>
          </p:nvPr>
        </p:nvSpPr>
        <p:spPr/>
        <p:txBody>
          <a:bodyPr/>
          <a:lstStyle/>
          <a:p>
            <a:r>
              <a:rPr lang="de-DE" dirty="0"/>
              <a:t>Are there any unanswered questions?</a:t>
            </a: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11</a:t>
            </a:fld>
            <a:endParaRPr lang="de-DE"/>
          </a:p>
        </p:txBody>
      </p:sp>
      <p:pic>
        <p:nvPicPr>
          <p:cNvPr id="11" name="Grafik 10" descr="Marke Fragezeichen"/>
          <p:cNvPicPr>
            <a:picLocks noChangeAspect="1"/>
          </p:cNvPicPr>
          <p:nvPr/>
        </p:nvPicPr>
        <p:blipFill>
          <a:blip r:embed="rId2"/>
          <a:stretch/>
        </p:blipFill>
        <p:spPr bwMode="auto">
          <a:xfrm>
            <a:off x="738312" y="880335"/>
            <a:ext cx="45720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9226EA-22DB-FAE6-51BD-E560CAB1E7DE}"/>
              </a:ext>
            </a:extLst>
          </p:cNvPr>
          <p:cNvSpPr>
            <a:spLocks noGrp="1"/>
          </p:cNvSpPr>
          <p:nvPr>
            <p:ph type="ctrTitle"/>
          </p:nvPr>
        </p:nvSpPr>
        <p:spPr/>
        <p:txBody>
          <a:bodyPr/>
          <a:lstStyle/>
          <a:p>
            <a:r>
              <a:rPr lang="en-US" dirty="0"/>
              <a:t>Nice that you were here! </a:t>
            </a:r>
            <a:br>
              <a:rPr lang="en-US" dirty="0"/>
            </a:br>
            <a:r>
              <a:rPr lang="en-US" dirty="0"/>
              <a:t>See you next time.</a:t>
            </a:r>
          </a:p>
        </p:txBody>
      </p:sp>
    </p:spTree>
    <p:extLst>
      <p:ext uri="{BB962C8B-B14F-4D97-AF65-F5344CB8AC3E}">
        <p14:creationId xmlns:p14="http://schemas.microsoft.com/office/powerpoint/2010/main" val="83782921"/>
      </p:ext>
    </p:extLst>
  </p:cSld>
  <p:clrMapOvr>
    <a:masterClrMapping/>
  </p:clrMapOvr>
</p:sld>
</file>

<file path=ppt/theme/theme1.xml><?xml version="1.0" encoding="utf-8"?>
<a:theme xmlns:a="http://schemas.openxmlformats.org/drawingml/2006/main" name="1_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693B57A-4CED-4D55-BD5A-C9C41C8AC40F}"/>
</file>

<file path=customXml/itemProps2.xml><?xml version="1.0" encoding="utf-8"?>
<ds:datastoreItem xmlns:ds="http://schemas.openxmlformats.org/officeDocument/2006/customXml" ds:itemID="{8ED8E4F8-773C-4FA9-A1A3-750EDB1135F4}"/>
</file>

<file path=customXml/itemProps3.xml><?xml version="1.0" encoding="utf-8"?>
<ds:datastoreItem xmlns:ds="http://schemas.openxmlformats.org/officeDocument/2006/customXml" ds:itemID="{2B90860D-3927-4E0E-871A-D2773250A91D}"/>
</file>

<file path=docProps/app.xml><?xml version="1.0" encoding="utf-8"?>
<Properties xmlns="http://schemas.openxmlformats.org/officeDocument/2006/extended-properties" xmlns:vt="http://schemas.openxmlformats.org/officeDocument/2006/docPropsVTypes">
  <Template/>
  <TotalTime>0</TotalTime>
  <Words>896</Words>
  <Application>Microsoft Macintosh PowerPoint</Application>
  <DocSecurity>0</DocSecurity>
  <PresentationFormat>Bildschirmpräsentation (16:9)</PresentationFormat>
  <Paragraphs>71</Paragraphs>
  <Slides>12</Slides>
  <Notes>9</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12</vt:i4>
      </vt:variant>
    </vt:vector>
  </HeadingPairs>
  <TitlesOfParts>
    <vt:vector size="17" baseType="lpstr">
      <vt:lpstr>Arial Narrow</vt:lpstr>
      <vt:lpstr>Arial</vt:lpstr>
      <vt:lpstr>Quattrocento Sans</vt:lpstr>
      <vt:lpstr>Lora</vt:lpstr>
      <vt:lpstr>1_Benutzerdefiniertes Design</vt:lpstr>
      <vt:lpstr>3. Study Reflection</vt:lpstr>
      <vt:lpstr>PowerPoint-Präsentation</vt:lpstr>
      <vt:lpstr>CHECK-IN</vt:lpstr>
      <vt:lpstr>Time capsule - Reflection</vt:lpstr>
      <vt:lpstr>Time capsule - Reflection</vt:lpstr>
      <vt:lpstr>BREAK</vt:lpstr>
      <vt:lpstr>Self - Reflection</vt:lpstr>
      <vt:lpstr>Joint reflection</vt:lpstr>
      <vt:lpstr>Lectures / Seminars:</vt:lpstr>
      <vt:lpstr>Conclusion Reflection</vt:lpstr>
      <vt:lpstr>Are there any unanswered questions?</vt:lpstr>
      <vt:lpstr>Nice that you were here!  See you next time.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docId:3039FB199D95A209309BFFEA531F95B6</cp:keywords>
  <dc:description/>
  <cp:lastModifiedBy>Lina Bücher</cp:lastModifiedBy>
  <cp:revision>352</cp:revision>
  <dcterms:modified xsi:type="dcterms:W3CDTF">2024-09-03T19:06:09Z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