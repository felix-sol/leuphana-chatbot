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8" Type="http://schemas.openxmlformats.org/officeDocument/2006/relationships/slide" Target="slides/slide3.xml"/><Relationship Id="rId18" Type="http://schemas.openxmlformats.org/officeDocument/2006/relationships/customXml" Target="../customXml/item2.xml"/><Relationship Id="rId3" Type="http://schemas.openxmlformats.org/officeDocument/2006/relationships/presProps" Target="presProps.xml"/><Relationship Id="rId12" Type="http://schemas.openxmlformats.org/officeDocument/2006/relationships/slide" Target="slides/slide7.xml"/><Relationship Id="rId7" Type="http://schemas.openxmlformats.org/officeDocument/2006/relationships/slide" Target="slides/slide2.xml"/><Relationship Id="rId17" Type="http://schemas.openxmlformats.org/officeDocument/2006/relationships/customXml" Target="../customXml/item1.xml"/><Relationship Id="rId2"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1" Type="http://schemas.openxmlformats.org/officeDocument/2006/relationships/theme" Target="theme/theme1.xml"/><Relationship Id="rId6" Type="http://schemas.openxmlformats.org/officeDocument/2006/relationships/slide" Target="slides/slide1.xml"/><Relationship Id="rId15" Type="http://schemas.openxmlformats.org/officeDocument/2006/relationships/slide" Target="slides/slide10.xml"/><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20826bfcb3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220826bfcb3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There will be three sessions on reading: Taking Stock, Tools and Reading for Writing</a:t>
            </a:r>
            <a:endParaRPr sz="1100"/>
          </a:p>
        </p:txBody>
      </p:sp>
      <p:sp>
        <p:nvSpPr>
          <p:cNvPr id="153" name="Google Shape;153;g220826bfcb3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fb27464b2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2fb27464b2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2fb27464b2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20824003ec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220824003ec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220824003ec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20826bfcb3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220826bfcb3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220826bfcb3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20824003ec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220824003ec_1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220824003ec_1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20824003ec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220824003ec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Clr>
                <a:schemeClr val="dk1"/>
              </a:buClr>
              <a:buSzPts val="1400"/>
              <a:buChar char="●"/>
            </a:pPr>
            <a:r>
              <a:rPr lang="de-DE" sz="1100"/>
              <a:t>This input is used to make the students understand why it makes sense to talk about academic reading again separately. They learn to read at primary school age - the point here is to make clear that there is a difference between academic and leisure reading.</a:t>
            </a:r>
            <a:endParaRPr/>
          </a:p>
        </p:txBody>
      </p:sp>
      <p:sp>
        <p:nvSpPr>
          <p:cNvPr id="195" name="Google Shape;195;g220824003ec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20824003ec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220824003ec_1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220824003ec_1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fb24d2ba6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2fb24d2ba6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in die Präsentation eingefügt werden, falls an einer bestimmten Stelle eine Pause gemacht werden soll.</a:t>
            </a:r>
            <a:endParaRPr/>
          </a:p>
        </p:txBody>
      </p:sp>
      <p:sp>
        <p:nvSpPr>
          <p:cNvPr id="208" name="Google Shape;208;g2fb24d2ba6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fb24d2ba6a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2fb24d2ba6a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an einer Stelle in die Präsentation eingefügt werden an der ein kurzes Spiel gespielt wird oder es eine andere Art von Energizer gibt.</a:t>
            </a:r>
            <a:endParaRPr/>
          </a:p>
        </p:txBody>
      </p:sp>
      <p:sp>
        <p:nvSpPr>
          <p:cNvPr id="214" name="Google Shape;214;g2fb24d2ba6a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fb69155f9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fb69155f9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de-DE"/>
              <a:t>This slide can be inserted at the beginning in case you want to do a short warm-up exercise</a:t>
            </a:r>
            <a:endParaRPr/>
          </a:p>
        </p:txBody>
      </p:sp>
      <p:sp>
        <p:nvSpPr>
          <p:cNvPr id="220" name="Google Shape;220;g2fb69155f9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3" name="Shape 13"/>
        <p:cNvGrpSpPr/>
        <p:nvPr/>
      </p:nvGrpSpPr>
      <p:grpSpPr>
        <a:xfrm>
          <a:off x="0" y="0"/>
          <a:ext cx="0" cy="0"/>
          <a:chOff x="0" y="0"/>
          <a:chExt cx="0" cy="0"/>
        </a:xfrm>
      </p:grpSpPr>
      <p:sp>
        <p:nvSpPr>
          <p:cNvPr id="14" name="Google Shape;14;p2"/>
          <p:cNvSpPr/>
          <p:nvPr/>
        </p:nvSpPr>
        <p:spPr>
          <a:xfrm rot="-2487859">
            <a:off x="1848993" y="-392157"/>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Google Shape;15;p2"/>
          <p:cNvSpPr/>
          <p:nvPr/>
        </p:nvSpPr>
        <p:spPr>
          <a:xfrm>
            <a:off x="351158" y="5589207"/>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Google Shape;16;p2"/>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Google Shape;17;p2"/>
          <p:cNvSpPr/>
          <p:nvPr/>
        </p:nvSpPr>
        <p:spPr>
          <a:xfrm>
            <a:off x="-817599" y="-741417"/>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Google Shape;18;p2"/>
          <p:cNvSpPr/>
          <p:nvPr/>
        </p:nvSpPr>
        <p:spPr>
          <a:xfrm rot="-5591590">
            <a:off x="15358696" y="245178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Google Shape;19;p2"/>
          <p:cNvSpPr/>
          <p:nvPr/>
        </p:nvSpPr>
        <p:spPr>
          <a:xfrm rot="7860677">
            <a:off x="702797" y="573633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Google Shape;20;p2"/>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Google Shape;21;p2"/>
          <p:cNvSpPr/>
          <p:nvPr/>
        </p:nvSpPr>
        <p:spPr>
          <a:xfrm rot="-458312">
            <a:off x="15741562" y="989320"/>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2"/>
          <p:cNvSpPr/>
          <p:nvPr/>
        </p:nvSpPr>
        <p:spPr>
          <a:xfrm rot="1296289">
            <a:off x="14830585" y="-257242"/>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Google Shape;23;p2"/>
          <p:cNvSpPr/>
          <p:nvPr/>
        </p:nvSpPr>
        <p:spPr>
          <a:xfrm rot="-2487859">
            <a:off x="17027787" y="496651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Google Shape;24;p2"/>
          <p:cNvSpPr/>
          <p:nvPr/>
        </p:nvSpPr>
        <p:spPr>
          <a:xfrm rot="1296289">
            <a:off x="619918" y="6991212"/>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Google Shape;25;p2"/>
          <p:cNvSpPr/>
          <p:nvPr/>
        </p:nvSpPr>
        <p:spPr>
          <a:xfrm rot="2046247">
            <a:off x="16212870" y="1083509"/>
            <a:ext cx="2213171" cy="2273738"/>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Google Shape;26;p2"/>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27" name="Shape 27"/>
        <p:cNvGrpSpPr/>
        <p:nvPr/>
      </p:nvGrpSpPr>
      <p:grpSpPr>
        <a:xfrm>
          <a:off x="0" y="0"/>
          <a:ext cx="0" cy="0"/>
          <a:chOff x="0" y="0"/>
          <a:chExt cx="0" cy="0"/>
        </a:xfrm>
      </p:grpSpPr>
      <p:sp>
        <p:nvSpPr>
          <p:cNvPr id="28" name="Google Shape;28;p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 type="subTitle"/>
          </p:nvPr>
        </p:nvSpPr>
        <p:spPr>
          <a:xfrm>
            <a:off x="2205643" y="6130279"/>
            <a:ext cx="13716000" cy="248285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3"/>
          <p:cNvSpPr/>
          <p:nvPr/>
        </p:nvSpPr>
        <p:spPr>
          <a:xfrm>
            <a:off x="-1263092" y="4204093"/>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Google Shape;31;p3"/>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Google Shape;32;p3"/>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Google Shape;33;p3"/>
          <p:cNvSpPr/>
          <p:nvPr/>
        </p:nvSpPr>
        <p:spPr>
          <a:xfrm>
            <a:off x="-241193" y="146185"/>
            <a:ext cx="2813227" cy="278186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Google Shape;34;p3"/>
          <p:cNvSpPr/>
          <p:nvPr/>
        </p:nvSpPr>
        <p:spPr>
          <a:xfrm rot="7860677">
            <a:off x="63301" y="315707"/>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Google Shape;35;p3"/>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Google Shape;36;p3"/>
          <p:cNvSpPr/>
          <p:nvPr/>
        </p:nvSpPr>
        <p:spPr>
          <a:xfrm rot="-458312">
            <a:off x="16269322" y="-478677"/>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Google Shape;37;p3"/>
          <p:cNvSpPr/>
          <p:nvPr/>
        </p:nvSpPr>
        <p:spPr>
          <a:xfrm rot="1296289">
            <a:off x="16320004" y="1512598"/>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Google Shape;38;p3"/>
          <p:cNvSpPr/>
          <p:nvPr/>
        </p:nvSpPr>
        <p:spPr>
          <a:xfrm rot="-2487859">
            <a:off x="1794946" y="-277491"/>
            <a:ext cx="2161751" cy="1802118"/>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Google Shape;39;p3"/>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Google Shape;40;p3"/>
          <p:cNvSpPr/>
          <p:nvPr/>
        </p:nvSpPr>
        <p:spPr>
          <a:xfrm rot="7628195">
            <a:off x="15300850" y="559721"/>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41" name="Shape 41"/>
        <p:cNvGrpSpPr/>
        <p:nvPr/>
      </p:nvGrpSpPr>
      <p:grpSpPr>
        <a:xfrm>
          <a:off x="0" y="0"/>
          <a:ext cx="0" cy="0"/>
          <a:chOff x="0" y="0"/>
          <a:chExt cx="0" cy="0"/>
        </a:xfrm>
      </p:grpSpPr>
      <p:sp>
        <p:nvSpPr>
          <p:cNvPr id="42" name="Google Shape;42;p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
          <p:cNvSpPr/>
          <p:nvPr/>
        </p:nvSpPr>
        <p:spPr>
          <a:xfrm>
            <a:off x="-806140" y="-803735"/>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 name="Google Shape;45;p4"/>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 name="Google Shape;46;p4"/>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 name="Google Shape;47;p4"/>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 name="Google Shape;48;p4"/>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 name="Google Shape;49;p4"/>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 name="Google Shape;50;p4"/>
          <p:cNvSpPr/>
          <p:nvPr/>
        </p:nvSpPr>
        <p:spPr>
          <a:xfrm rot="-458312">
            <a:off x="16771767" y="216258"/>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1" name="Google Shape;51;p4"/>
          <p:cNvSpPr/>
          <p:nvPr/>
        </p:nvSpPr>
        <p:spPr>
          <a:xfrm rot="1296289">
            <a:off x="15646620" y="-376703"/>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2" name="Google Shape;52;p4"/>
          <p:cNvSpPr/>
          <p:nvPr/>
        </p:nvSpPr>
        <p:spPr>
          <a:xfrm rot="2310651">
            <a:off x="-811537" y="3739758"/>
            <a:ext cx="2509961" cy="20955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Google Shape;53;p4"/>
          <p:cNvSpPr/>
          <p:nvPr/>
        </p:nvSpPr>
        <p:spPr>
          <a:xfrm rot="7628195">
            <a:off x="17318415" y="2283638"/>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Google Shape;54;p4"/>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55" name="Shape 55"/>
        <p:cNvGrpSpPr/>
        <p:nvPr/>
      </p:nvGrpSpPr>
      <p:grpSpPr>
        <a:xfrm>
          <a:off x="0" y="0"/>
          <a:ext cx="0" cy="0"/>
          <a:chOff x="0" y="0"/>
          <a:chExt cx="0" cy="0"/>
        </a:xfrm>
      </p:grpSpPr>
      <p:sp>
        <p:nvSpPr>
          <p:cNvPr id="56" name="Google Shape;56;p5"/>
          <p:cNvSpPr txBox="1"/>
          <p:nvPr>
            <p:ph type="title"/>
          </p:nvPr>
        </p:nvSpPr>
        <p:spPr>
          <a:xfrm>
            <a:off x="1906800" y="2171700"/>
            <a:ext cx="14400000" cy="3955611"/>
          </a:xfrm>
          <a:prstGeom prst="rect">
            <a:avLst/>
          </a:prstGeom>
          <a:noFill/>
          <a:ln>
            <a:noFill/>
          </a:ln>
        </p:spPr>
        <p:txBody>
          <a:bodyPr anchorCtr="0" anchor="b" bIns="45700" lIns="90000"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5"/>
          <p:cNvSpPr txBox="1"/>
          <p:nvPr>
            <p:ph idx="1" type="body"/>
          </p:nvPr>
        </p:nvSpPr>
        <p:spPr>
          <a:xfrm>
            <a:off x="1906800" y="6491289"/>
            <a:ext cx="14400000" cy="2079814"/>
          </a:xfrm>
          <a:prstGeom prst="rect">
            <a:avLst/>
          </a:prstGeom>
          <a:noFill/>
          <a:ln>
            <a:noFill/>
          </a:ln>
        </p:spPr>
        <p:txBody>
          <a:bodyPr anchorCtr="0" anchor="t" bIns="45700" lIns="90000"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8" name="Google Shape;58;p5"/>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Google Shape;59;p5"/>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Google Shape;60;p5"/>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Google Shape;61;p5"/>
          <p:cNvSpPr/>
          <p:nvPr/>
        </p:nvSpPr>
        <p:spPr>
          <a:xfrm>
            <a:off x="-844430" y="-193109"/>
            <a:ext cx="2311228" cy="296222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Google Shape;62;p5"/>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Google Shape;63;p5"/>
          <p:cNvSpPr/>
          <p:nvPr/>
        </p:nvSpPr>
        <p:spPr>
          <a:xfrm rot="-458312">
            <a:off x="16209917" y="184642"/>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Google Shape;64;p5"/>
          <p:cNvSpPr/>
          <p:nvPr/>
        </p:nvSpPr>
        <p:spPr>
          <a:xfrm rot="1296289">
            <a:off x="15248400" y="253720"/>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Google Shape;65;p5"/>
          <p:cNvSpPr/>
          <p:nvPr/>
        </p:nvSpPr>
        <p:spPr>
          <a:xfrm rot="-2487859">
            <a:off x="1040125" y="-8334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Google Shape;66;p5"/>
          <p:cNvSpPr/>
          <p:nvPr/>
        </p:nvSpPr>
        <p:spPr>
          <a:xfrm rot="1296289">
            <a:off x="554481" y="867779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Google Shape;67;p5"/>
          <p:cNvSpPr/>
          <p:nvPr/>
        </p:nvSpPr>
        <p:spPr>
          <a:xfrm rot="7628195">
            <a:off x="15096766" y="-48757"/>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Google Shape;68;p5"/>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Google Shape;69;p5"/>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70" name="Shape 70"/>
        <p:cNvGrpSpPr/>
        <p:nvPr/>
      </p:nvGrpSpPr>
      <p:grpSpPr>
        <a:xfrm>
          <a:off x="0" y="0"/>
          <a:ext cx="0" cy="0"/>
          <a:chOff x="0" y="0"/>
          <a:chExt cx="0" cy="0"/>
        </a:xfrm>
      </p:grpSpPr>
      <p:sp>
        <p:nvSpPr>
          <p:cNvPr id="71" name="Google Shape;71;p6"/>
          <p:cNvSpPr txBox="1"/>
          <p:nvPr>
            <p:ph type="title"/>
          </p:nvPr>
        </p:nvSpPr>
        <p:spPr>
          <a:xfrm>
            <a:off x="1944000" y="1366765"/>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txBox="1"/>
          <p:nvPr>
            <p:ph idx="1" type="body"/>
          </p:nvPr>
        </p:nvSpPr>
        <p:spPr>
          <a:xfrm>
            <a:off x="19440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6"/>
          <p:cNvSpPr txBox="1"/>
          <p:nvPr>
            <p:ph idx="2" type="body"/>
          </p:nvPr>
        </p:nvSpPr>
        <p:spPr>
          <a:xfrm>
            <a:off x="92202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Google Shape;75;p6"/>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rot="-2487859">
            <a:off x="1653257" y="-539706"/>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Google Shape;78;p6"/>
          <p:cNvSpPr/>
          <p:nvPr/>
        </p:nvSpPr>
        <p:spPr>
          <a:xfrm rot="1296289">
            <a:off x="-407556" y="850423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Google Shape;79;p6"/>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Google Shape;80;p6"/>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Google Shape;81;p6"/>
          <p:cNvSpPr/>
          <p:nvPr/>
        </p:nvSpPr>
        <p:spPr>
          <a:xfrm rot="-5591590">
            <a:off x="16401541" y="71447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Google Shape;82;p6"/>
          <p:cNvSpPr/>
          <p:nvPr/>
        </p:nvSpPr>
        <p:spPr>
          <a:xfrm rot="7860677">
            <a:off x="16917043" y="6687679"/>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3" name="Google Shape;83;p6"/>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4" name="Google Shape;84;p6"/>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5" name="Google Shape;85;p6"/>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86" name="Shape 86"/>
        <p:cNvGrpSpPr/>
        <p:nvPr/>
      </p:nvGrpSpPr>
      <p:grpSpPr>
        <a:xfrm>
          <a:off x="0" y="0"/>
          <a:ext cx="0" cy="0"/>
          <a:chOff x="0" y="0"/>
          <a:chExt cx="0" cy="0"/>
        </a:xfrm>
      </p:grpSpPr>
      <p:sp>
        <p:nvSpPr>
          <p:cNvPr id="87" name="Google Shape;87;p7"/>
          <p:cNvSpPr txBox="1"/>
          <p:nvPr>
            <p:ph type="title"/>
          </p:nvPr>
        </p:nvSpPr>
        <p:spPr>
          <a:xfrm>
            <a:off x="1944000" y="1174623"/>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7"/>
          <p:cNvSpPr txBox="1"/>
          <p:nvPr>
            <p:ph idx="1" type="body"/>
          </p:nvPr>
        </p:nvSpPr>
        <p:spPr>
          <a:xfrm>
            <a:off x="1944000" y="2522538"/>
            <a:ext cx="7052362"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7"/>
          <p:cNvSpPr txBox="1"/>
          <p:nvPr>
            <p:ph idx="2" type="body"/>
          </p:nvPr>
        </p:nvSpPr>
        <p:spPr>
          <a:xfrm>
            <a:off x="1944000" y="3757613"/>
            <a:ext cx="7052362"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
          <p:cNvSpPr txBox="1"/>
          <p:nvPr>
            <p:ph idx="3" type="body"/>
          </p:nvPr>
        </p:nvSpPr>
        <p:spPr>
          <a:xfrm>
            <a:off x="9258301" y="2522538"/>
            <a:ext cx="7085700"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1" name="Google Shape;91;p7"/>
          <p:cNvSpPr txBox="1"/>
          <p:nvPr>
            <p:ph idx="4" type="body"/>
          </p:nvPr>
        </p:nvSpPr>
        <p:spPr>
          <a:xfrm>
            <a:off x="9258301" y="3757613"/>
            <a:ext cx="7085700"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7"/>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3" name="Google Shape;93;p7"/>
          <p:cNvSpPr/>
          <p:nvPr/>
        </p:nvSpPr>
        <p:spPr>
          <a:xfrm>
            <a:off x="16605940" y="6291738"/>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4" name="Google Shape;94;p7"/>
          <p:cNvSpPr/>
          <p:nvPr/>
        </p:nvSpPr>
        <p:spPr>
          <a:xfrm rot="7860677">
            <a:off x="16672693" y="586569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5" name="Google Shape;95;p7"/>
          <p:cNvSpPr/>
          <p:nvPr/>
        </p:nvSpPr>
        <p:spPr>
          <a:xfrm rot="-458312">
            <a:off x="16710104" y="1053145"/>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6" name="Google Shape;96;p7"/>
          <p:cNvSpPr/>
          <p:nvPr/>
        </p:nvSpPr>
        <p:spPr>
          <a:xfrm rot="1296289">
            <a:off x="15390336" y="-527401"/>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7" name="Google Shape;97;p7"/>
          <p:cNvSpPr/>
          <p:nvPr/>
        </p:nvSpPr>
        <p:spPr>
          <a:xfrm rot="7628195">
            <a:off x="17157286" y="131932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8" name="Google Shape;98;p7"/>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9" name="Google Shape;99;p7"/>
          <p:cNvSpPr/>
          <p:nvPr/>
        </p:nvSpPr>
        <p:spPr>
          <a:xfrm>
            <a:off x="-1249582" y="4137531"/>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0" name="Google Shape;100;p7"/>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1" name="Google Shape;101;p7"/>
          <p:cNvSpPr/>
          <p:nvPr/>
        </p:nvSpPr>
        <p:spPr>
          <a:xfrm rot="7860677">
            <a:off x="-755376" y="4673141"/>
            <a:ext cx="1600955" cy="1645696"/>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2" name="Google Shape;102;p7"/>
          <p:cNvSpPr/>
          <p:nvPr/>
        </p:nvSpPr>
        <p:spPr>
          <a:xfrm rot="-2487859">
            <a:off x="754582" y="-207773"/>
            <a:ext cx="1882775" cy="168495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3" name="Google Shape;103;p7"/>
          <p:cNvSpPr/>
          <p:nvPr/>
        </p:nvSpPr>
        <p:spPr>
          <a:xfrm>
            <a:off x="-613526" y="-932654"/>
            <a:ext cx="2609805" cy="259339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104" name="Shape 104"/>
        <p:cNvGrpSpPr/>
        <p:nvPr/>
      </p:nvGrpSpPr>
      <p:grpSpPr>
        <a:xfrm>
          <a:off x="0" y="0"/>
          <a:ext cx="0" cy="0"/>
          <a:chOff x="0" y="0"/>
          <a:chExt cx="0" cy="0"/>
        </a:xfrm>
      </p:grpSpPr>
      <p:sp>
        <p:nvSpPr>
          <p:cNvPr id="105" name="Google Shape;105;p8"/>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8"/>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7" name="Google Shape;107;p8"/>
          <p:cNvSpPr/>
          <p:nvPr/>
        </p:nvSpPr>
        <p:spPr>
          <a:xfrm rot="-2487859">
            <a:off x="634233" y="-130796"/>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8" name="Google Shape;108;p8"/>
          <p:cNvSpPr/>
          <p:nvPr/>
        </p:nvSpPr>
        <p:spPr>
          <a:xfrm>
            <a:off x="92944" y="603209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9" name="Google Shape;109;p8"/>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0" name="Google Shape;110;p8"/>
          <p:cNvSpPr/>
          <p:nvPr/>
        </p:nvSpPr>
        <p:spPr>
          <a:xfrm>
            <a:off x="-817599" y="-741416"/>
            <a:ext cx="2912187" cy="3109714"/>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1" name="Google Shape;111;p8"/>
          <p:cNvSpPr/>
          <p:nvPr/>
        </p:nvSpPr>
        <p:spPr>
          <a:xfrm rot="-5591590">
            <a:off x="15833994" y="712804"/>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2" name="Google Shape;112;p8"/>
          <p:cNvSpPr/>
          <p:nvPr/>
        </p:nvSpPr>
        <p:spPr>
          <a:xfrm rot="7860677">
            <a:off x="126546" y="7226320"/>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3" name="Google Shape;113;p8"/>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4" name="Google Shape;114;p8"/>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5" name="Google Shape;115;p8"/>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6" name="Google Shape;116;p8"/>
          <p:cNvSpPr/>
          <p:nvPr/>
        </p:nvSpPr>
        <p:spPr>
          <a:xfrm rot="1296289">
            <a:off x="296953" y="7886423"/>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7" name="Google Shape;117;p8"/>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118" name="Shape 118"/>
        <p:cNvGrpSpPr/>
        <p:nvPr/>
      </p:nvGrpSpPr>
      <p:grpSpPr>
        <a:xfrm>
          <a:off x="0" y="0"/>
          <a:ext cx="0" cy="0"/>
          <a:chOff x="0" y="0"/>
          <a:chExt cx="0" cy="0"/>
        </a:xfrm>
      </p:grpSpPr>
      <p:sp>
        <p:nvSpPr>
          <p:cNvPr id="119" name="Google Shape;119;p9"/>
          <p:cNvSpPr txBox="1"/>
          <p:nvPr>
            <p:ph type="title"/>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9"/>
          <p:cNvSpPr txBox="1"/>
          <p:nvPr>
            <p:ph idx="1" type="body"/>
          </p:nvPr>
        </p:nvSpPr>
        <p:spPr>
          <a:xfrm>
            <a:off x="7775574" y="1481138"/>
            <a:ext cx="8568425" cy="731043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1" name="Google Shape;121;p9"/>
          <p:cNvSpPr txBox="1"/>
          <p:nvPr>
            <p:ph idx="2"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9"/>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3" name="Google Shape;123;p9"/>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4" name="Google Shape;124;p9"/>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5" name="Google Shape;125;p9"/>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6" name="Google Shape;126;p9"/>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7" name="Google Shape;127;p9"/>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8" name="Google Shape;128;p9"/>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9" name="Google Shape;129;p9"/>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0" name="Google Shape;130;p9"/>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1" name="Google Shape;131;p9"/>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2" name="Google Shape;132;p9"/>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3" name="Google Shape;133;p9"/>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p:cSld name="Bild mit Überschrift">
    <p:spTree>
      <p:nvGrpSpPr>
        <p:cNvPr id="134" name="Shape 134"/>
        <p:cNvGrpSpPr/>
        <p:nvPr/>
      </p:nvGrpSpPr>
      <p:grpSpPr>
        <a:xfrm>
          <a:off x="0" y="0"/>
          <a:ext cx="0" cy="0"/>
          <a:chOff x="0" y="0"/>
          <a:chExt cx="0" cy="0"/>
        </a:xfrm>
      </p:grpSpPr>
      <p:sp>
        <p:nvSpPr>
          <p:cNvPr id="135" name="Google Shape;135;p10"/>
          <p:cNvSpPr/>
          <p:nvPr>
            <p:ph idx="2" type="pic"/>
          </p:nvPr>
        </p:nvSpPr>
        <p:spPr>
          <a:xfrm>
            <a:off x="7775575" y="1481138"/>
            <a:ext cx="8568424" cy="7310437"/>
          </a:xfrm>
          <a:prstGeom prst="rect">
            <a:avLst/>
          </a:prstGeom>
          <a:noFill/>
          <a:ln>
            <a:noFill/>
          </a:ln>
        </p:spPr>
      </p:sp>
      <p:sp>
        <p:nvSpPr>
          <p:cNvPr id="136" name="Google Shape;136;p10"/>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7" name="Google Shape;137;p10"/>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8" name="Google Shape;138;p10"/>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9" name="Google Shape;139;p10"/>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0" name="Google Shape;140;p10"/>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1" name="Google Shape;141;p10"/>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2" name="Google Shape;142;p10"/>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3" name="Google Shape;143;p10"/>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4" name="Google Shape;144;p10"/>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5" name="Google Shape;145;p10"/>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6" name="Google Shape;146;p10"/>
          <p:cNvSpPr txBox="1"/>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de-DE" sz="3200" u="none" cap="none" strike="noStrike">
                <a:solidFill>
                  <a:schemeClr val="dk1"/>
                </a:solidFill>
                <a:latin typeface="Arial"/>
                <a:ea typeface="Arial"/>
                <a:cs typeface="Arial"/>
                <a:sym typeface="Arial"/>
              </a:rPr>
              <a:t>Mastertitelformat bearbeiten</a:t>
            </a:r>
            <a:endParaRPr b="0" i="0" sz="3200" u="none" cap="none" strike="noStrike">
              <a:solidFill>
                <a:schemeClr val="dk1"/>
              </a:solidFill>
              <a:latin typeface="Arial"/>
              <a:ea typeface="Arial"/>
              <a:cs typeface="Arial"/>
              <a:sym typeface="Arial"/>
            </a:endParaRPr>
          </a:p>
        </p:txBody>
      </p:sp>
      <p:sp>
        <p:nvSpPr>
          <p:cNvPr id="147" name="Google Shape;147;p10"/>
          <p:cNvSpPr txBox="1"/>
          <p:nvPr>
            <p:ph idx="1"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10"/>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9" name="Google Shape;149;p10"/>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944000" y="2769110"/>
            <a:ext cx="14400000" cy="6480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1906800" y="2171700"/>
            <a:ext cx="14400000" cy="3955500"/>
          </a:xfrm>
          <a:prstGeom prst="rect">
            <a:avLst/>
          </a:prstGeom>
          <a:noFill/>
          <a:ln>
            <a:noFill/>
          </a:ln>
        </p:spPr>
        <p:txBody>
          <a:bodyPr anchorCtr="0" anchor="b" bIns="45700" lIns="90000"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Scientific </a:t>
            </a:r>
            <a:r>
              <a:rPr b="1" lang="de-DE"/>
              <a:t>Reading |</a:t>
            </a:r>
            <a:r>
              <a:rPr lang="de-DE"/>
              <a:t>Part 1 </a:t>
            </a:r>
            <a:endParaRPr/>
          </a:p>
          <a:p>
            <a:pPr indent="0" lvl="0" marL="0" rtl="0" algn="l">
              <a:lnSpc>
                <a:spcPct val="90000"/>
              </a:lnSpc>
              <a:spcBef>
                <a:spcPts val="0"/>
              </a:spcBef>
              <a:spcAft>
                <a:spcPts val="0"/>
              </a:spcAft>
              <a:buClr>
                <a:schemeClr val="dk1"/>
              </a:buClr>
              <a:buSzPts val="6000"/>
              <a:buFont typeface="Arial"/>
              <a:buNone/>
            </a:pPr>
            <a:r>
              <a:rPr lang="de-DE"/>
              <a:t>Taking Stock</a:t>
            </a:r>
            <a:endParaRPr/>
          </a:p>
        </p:txBody>
      </p:sp>
      <p:sp>
        <p:nvSpPr>
          <p:cNvPr id="156" name="Google Shape;156;p11"/>
          <p:cNvSpPr txBox="1"/>
          <p:nvPr>
            <p:ph idx="1" type="body"/>
          </p:nvPr>
        </p:nvSpPr>
        <p:spPr>
          <a:xfrm>
            <a:off x="1906800" y="6491289"/>
            <a:ext cx="14400000" cy="2079900"/>
          </a:xfrm>
          <a:prstGeom prst="rect">
            <a:avLst/>
          </a:prstGeom>
          <a:noFill/>
          <a:ln>
            <a:noFill/>
          </a:ln>
        </p:spPr>
        <p:txBody>
          <a:bodyPr anchorCtr="0" anchor="t" bIns="45700" lIns="90000"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de-DE"/>
              <a:t>Tutor:</a:t>
            </a:r>
            <a:endParaRPr/>
          </a:p>
          <a:p>
            <a:pPr indent="0" lvl="0" marL="0" rtl="0" algn="l">
              <a:lnSpc>
                <a:spcPct val="90000"/>
              </a:lnSpc>
              <a:spcBef>
                <a:spcPts val="0"/>
              </a:spcBef>
              <a:spcAft>
                <a:spcPts val="0"/>
              </a:spcAft>
              <a:buClr>
                <a:srgbClr val="757575"/>
              </a:buClr>
              <a:buSzPts val="2400"/>
              <a:buNone/>
            </a:pPr>
            <a:r>
              <a:rPr lang="de-DE"/>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Reading Exercise</a:t>
            </a:r>
            <a:endParaRPr b="1"/>
          </a:p>
        </p:txBody>
      </p:sp>
      <p:sp>
        <p:nvSpPr>
          <p:cNvPr id="163" name="Google Shape;163;p12"/>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p>
            <a:pPr indent="-374650" lvl="0" marL="266700" rtl="0" algn="l">
              <a:lnSpc>
                <a:spcPct val="114999"/>
              </a:lnSpc>
              <a:spcBef>
                <a:spcPts val="600"/>
              </a:spcBef>
              <a:spcAft>
                <a:spcPts val="0"/>
              </a:spcAft>
              <a:buClr>
                <a:srgbClr val="C6BEAB"/>
              </a:buClr>
              <a:buSzPts val="3140"/>
              <a:buFont typeface="Arial"/>
              <a:buChar char="•"/>
            </a:pPr>
            <a:r>
              <a:rPr lang="de-DE" sz="3500"/>
              <a:t>each person reads a text excerpt for 10 minutes</a:t>
            </a:r>
            <a:endParaRPr sz="3500"/>
          </a:p>
          <a:p>
            <a:pPr indent="-427990" lvl="1" marL="914400" rtl="0" algn="l">
              <a:lnSpc>
                <a:spcPct val="114999"/>
              </a:lnSpc>
              <a:spcBef>
                <a:spcPts val="600"/>
              </a:spcBef>
              <a:spcAft>
                <a:spcPts val="0"/>
              </a:spcAft>
              <a:buClr>
                <a:srgbClr val="A19574"/>
              </a:buClr>
              <a:buSzPts val="3140"/>
              <a:buFont typeface="Arial"/>
              <a:buChar char="•"/>
            </a:pPr>
            <a:r>
              <a:rPr lang="de-DE" sz="3500"/>
              <a:t>use a text from one of your seminars </a:t>
            </a:r>
            <a:endParaRPr sz="3500"/>
          </a:p>
          <a:p>
            <a:pPr indent="-427990" lvl="1" marL="914400" rtl="0" algn="l">
              <a:lnSpc>
                <a:spcPct val="114999"/>
              </a:lnSpc>
              <a:spcBef>
                <a:spcPts val="600"/>
              </a:spcBef>
              <a:spcAft>
                <a:spcPts val="0"/>
              </a:spcAft>
              <a:buClr>
                <a:srgbClr val="A19574"/>
              </a:buClr>
              <a:buSzPts val="3140"/>
              <a:buFont typeface="Arial"/>
              <a:buChar char="•"/>
            </a:pPr>
            <a:r>
              <a:rPr lang="de-DE" sz="3500"/>
              <a:t>look at it in advance and estimate how far you will get in 10 minutes</a:t>
            </a:r>
            <a:endParaRPr sz="3500"/>
          </a:p>
          <a:p>
            <a:pPr indent="-374650" lvl="0" marL="266700" rtl="0" algn="l">
              <a:lnSpc>
                <a:spcPct val="114999"/>
              </a:lnSpc>
              <a:spcBef>
                <a:spcPts val="600"/>
              </a:spcBef>
              <a:spcAft>
                <a:spcPts val="0"/>
              </a:spcAft>
              <a:buClr>
                <a:srgbClr val="C6BEAB"/>
              </a:buClr>
              <a:buSzPts val="3140"/>
              <a:buFont typeface="Arial"/>
              <a:buChar char="•"/>
            </a:pPr>
            <a:r>
              <a:rPr lang="de-DE" sz="3500"/>
              <a:t>approach the text as you would normally do for texts in seminars or lectures</a:t>
            </a:r>
            <a:endParaRPr sz="3500"/>
          </a:p>
          <a:p>
            <a:pPr indent="-374650" lvl="0" marL="266700" rtl="0" algn="l">
              <a:lnSpc>
                <a:spcPct val="114999"/>
              </a:lnSpc>
              <a:spcBef>
                <a:spcPts val="600"/>
              </a:spcBef>
              <a:spcAft>
                <a:spcPts val="0"/>
              </a:spcAft>
              <a:buClr>
                <a:srgbClr val="C6BEAB"/>
              </a:buClr>
              <a:buSzPts val="3140"/>
              <a:buFont typeface="Arial"/>
              <a:buChar char="•"/>
            </a:pPr>
            <a:r>
              <a:rPr lang="de-DE" sz="3500"/>
              <a:t>after 10 minutes we exchange ideas</a:t>
            </a:r>
            <a:endParaRPr sz="3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Reading Time</a:t>
            </a:r>
            <a:endParaRPr b="1"/>
          </a:p>
        </p:txBody>
      </p:sp>
      <p:sp>
        <p:nvSpPr>
          <p:cNvPr id="170" name="Google Shape;170;p13"/>
          <p:cNvSpPr txBox="1"/>
          <p:nvPr>
            <p:ph idx="1" type="subTitle"/>
          </p:nvPr>
        </p:nvSpPr>
        <p:spPr>
          <a:xfrm>
            <a:off x="2205643" y="6130279"/>
            <a:ext cx="13716000" cy="24828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10 Minutes</a:t>
            </a:r>
            <a:endParaRPr sz="3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Individual Exercise</a:t>
            </a:r>
            <a:endParaRPr b="1"/>
          </a:p>
        </p:txBody>
      </p:sp>
      <p:sp>
        <p:nvSpPr>
          <p:cNvPr id="177" name="Google Shape;177;p1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p>
            <a:pPr indent="-397510" lvl="0" marL="266700" rtl="0" algn="l">
              <a:lnSpc>
                <a:spcPct val="114999"/>
              </a:lnSpc>
              <a:spcBef>
                <a:spcPts val="600"/>
              </a:spcBef>
              <a:spcAft>
                <a:spcPts val="0"/>
              </a:spcAft>
              <a:buClr>
                <a:srgbClr val="C6BEAB"/>
              </a:buClr>
              <a:buSzPts val="3500"/>
              <a:buFont typeface="Arial"/>
              <a:buChar char="•"/>
            </a:pPr>
            <a:r>
              <a:rPr lang="de-DE" sz="3500"/>
              <a:t>How far did you get reading the text? Were you faster or slower than you estimated at the beginning? How do you feel about it?</a:t>
            </a:r>
            <a:endParaRPr sz="3500"/>
          </a:p>
          <a:p>
            <a:pPr indent="-397510" lvl="0" marL="266700" rtl="0" algn="l">
              <a:lnSpc>
                <a:spcPct val="114999"/>
              </a:lnSpc>
              <a:spcBef>
                <a:spcPts val="600"/>
              </a:spcBef>
              <a:spcAft>
                <a:spcPts val="0"/>
              </a:spcAft>
              <a:buClr>
                <a:srgbClr val="C6BEAB"/>
              </a:buClr>
              <a:buSzPts val="3500"/>
              <a:buFont typeface="Arial"/>
              <a:buChar char="•"/>
            </a:pPr>
            <a:r>
              <a:rPr lang="de-DE" sz="3500"/>
              <a:t>How did you approach the reading of the text? Did you use certain techniques? If possible, write down each step.</a:t>
            </a:r>
            <a:endParaRPr sz="3500"/>
          </a:p>
          <a:p>
            <a:pPr indent="-397510" lvl="0" marL="266700" rtl="0" algn="l">
              <a:lnSpc>
                <a:spcPct val="114999"/>
              </a:lnSpc>
              <a:spcBef>
                <a:spcPts val="600"/>
              </a:spcBef>
              <a:spcAft>
                <a:spcPts val="0"/>
              </a:spcAft>
              <a:buClr>
                <a:srgbClr val="C6BEAB"/>
              </a:buClr>
              <a:buSzPts val="3500"/>
              <a:buFont typeface="Arial"/>
              <a:buChar char="•"/>
            </a:pPr>
            <a:r>
              <a:rPr lang="de-DE" sz="3500"/>
              <a:t>Thinking about other texts, do you use different strategies? If so, how do they differ?</a:t>
            </a:r>
            <a:endParaRPr sz="3500"/>
          </a:p>
          <a:p>
            <a:pPr indent="-397510" lvl="0" marL="266700" rtl="0" algn="l">
              <a:lnSpc>
                <a:spcPct val="114999"/>
              </a:lnSpc>
              <a:spcBef>
                <a:spcPts val="600"/>
              </a:spcBef>
              <a:spcAft>
                <a:spcPts val="0"/>
              </a:spcAft>
              <a:buClr>
                <a:srgbClr val="C6BEAB"/>
              </a:buClr>
              <a:buSzPts val="3500"/>
              <a:buFont typeface="Arial"/>
              <a:buChar char="•"/>
            </a:pPr>
            <a:r>
              <a:rPr lang="de-DE" sz="3500"/>
              <a:t>What works well for you? What did you find difficult when reading?</a:t>
            </a:r>
            <a:endParaRPr sz="3500"/>
          </a:p>
          <a:p>
            <a:pPr indent="0" lvl="0" marL="0" rtl="0" algn="l">
              <a:lnSpc>
                <a:spcPct val="114999"/>
              </a:lnSpc>
              <a:spcBef>
                <a:spcPts val="600"/>
              </a:spcBef>
              <a:spcAft>
                <a:spcPts val="0"/>
              </a:spcAft>
              <a:buNone/>
            </a:pPr>
            <a:r>
              <a:t/>
            </a:r>
            <a:endParaRPr sz="3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Exercise for Two</a:t>
            </a:r>
            <a:endParaRPr b="1"/>
          </a:p>
        </p:txBody>
      </p:sp>
      <p:sp>
        <p:nvSpPr>
          <p:cNvPr id="184" name="Google Shape;184;p15"/>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p>
            <a:pPr indent="0" lvl="0" marL="0" rtl="0" algn="l">
              <a:lnSpc>
                <a:spcPct val="114999"/>
              </a:lnSpc>
              <a:spcBef>
                <a:spcPts val="600"/>
              </a:spcBef>
              <a:spcAft>
                <a:spcPts val="0"/>
              </a:spcAft>
              <a:buClr>
                <a:schemeClr val="dk1"/>
              </a:buClr>
              <a:buSzPts val="1440"/>
              <a:buFont typeface="Arial"/>
              <a:buNone/>
            </a:pPr>
            <a:r>
              <a:rPr lang="de-DE" sz="3500"/>
              <a:t>In pairs, share your notes.</a:t>
            </a:r>
            <a:endParaRPr sz="3500"/>
          </a:p>
          <a:p>
            <a:pPr indent="-416560" lvl="0" marL="285750" rtl="0" algn="l">
              <a:lnSpc>
                <a:spcPct val="114999"/>
              </a:lnSpc>
              <a:spcBef>
                <a:spcPts val="600"/>
              </a:spcBef>
              <a:spcAft>
                <a:spcPts val="0"/>
              </a:spcAft>
              <a:buClr>
                <a:srgbClr val="C6BEAB"/>
              </a:buClr>
              <a:buSzPts val="3500"/>
              <a:buChar char="•"/>
            </a:pPr>
            <a:r>
              <a:rPr lang="de-DE" sz="3500"/>
              <a:t>Do you notice different approaches?</a:t>
            </a:r>
            <a:endParaRPr sz="3500"/>
          </a:p>
          <a:p>
            <a:pPr indent="-416560" lvl="0" marL="285750" rtl="0" algn="l">
              <a:lnSpc>
                <a:spcPct val="114999"/>
              </a:lnSpc>
              <a:spcBef>
                <a:spcPts val="600"/>
              </a:spcBef>
              <a:spcAft>
                <a:spcPts val="0"/>
              </a:spcAft>
              <a:buClr>
                <a:srgbClr val="C6BEAB"/>
              </a:buClr>
              <a:buSzPts val="3500"/>
              <a:buChar char="•"/>
            </a:pPr>
            <a:r>
              <a:rPr lang="de-DE" sz="3500"/>
              <a:t>Do you notice strategies that your partner has used that could be useful for you too?</a:t>
            </a:r>
            <a:endParaRPr sz="3500"/>
          </a:p>
          <a:p>
            <a:pPr indent="0" lvl="0" marL="0" rtl="0" algn="l">
              <a:lnSpc>
                <a:spcPct val="114999"/>
              </a:lnSpc>
              <a:spcBef>
                <a:spcPts val="600"/>
              </a:spcBef>
              <a:spcAft>
                <a:spcPts val="0"/>
              </a:spcAft>
              <a:buNone/>
            </a:pPr>
            <a:r>
              <a:t/>
            </a:r>
            <a:endParaRPr sz="3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Plenary</a:t>
            </a:r>
            <a:endParaRPr b="1"/>
          </a:p>
        </p:txBody>
      </p:sp>
      <p:sp>
        <p:nvSpPr>
          <p:cNvPr id="191" name="Google Shape;191;p16"/>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Let’s collect in the plenary</a:t>
            </a:r>
            <a:endParaRPr sz="3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lang="de-DE"/>
              <a:t>Why do we talk about academic reading?</a:t>
            </a:r>
            <a:endParaRPr b="1"/>
          </a:p>
        </p:txBody>
      </p:sp>
      <p:sp>
        <p:nvSpPr>
          <p:cNvPr id="198" name="Google Shape;198;p17"/>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14999"/>
              </a:lnSpc>
              <a:spcBef>
                <a:spcPts val="0"/>
              </a:spcBef>
              <a:spcAft>
                <a:spcPts val="0"/>
              </a:spcAft>
              <a:buClr>
                <a:schemeClr val="dk1"/>
              </a:buClr>
              <a:buSzPts val="1280"/>
              <a:buFont typeface="Arial"/>
              <a:buNone/>
            </a:pPr>
            <a:r>
              <a:rPr lang="de-DE" sz="3000"/>
              <a:t>We want to...</a:t>
            </a:r>
            <a:endParaRPr sz="3000"/>
          </a:p>
          <a:p>
            <a:pPr indent="-394970" lvl="0" marL="285750" rtl="0" algn="l">
              <a:lnSpc>
                <a:spcPct val="114999"/>
              </a:lnSpc>
              <a:spcBef>
                <a:spcPts val="0"/>
              </a:spcBef>
              <a:spcAft>
                <a:spcPts val="0"/>
              </a:spcAft>
              <a:buClr>
                <a:srgbClr val="C6BEAB"/>
              </a:buClr>
              <a:buSzPts val="3000"/>
              <a:buChar char="•"/>
            </a:pPr>
            <a:r>
              <a:rPr lang="de-DE" sz="3000"/>
              <a:t>Understand reading as an academic practice closely related to, but also distinct from, writing in that the former brings with it a set of challenges all its own.</a:t>
            </a:r>
            <a:endParaRPr sz="3000"/>
          </a:p>
          <a:p>
            <a:pPr indent="-394970" lvl="0" marL="285750" rtl="0" algn="l">
              <a:lnSpc>
                <a:spcPct val="114999"/>
              </a:lnSpc>
              <a:spcBef>
                <a:spcPts val="0"/>
              </a:spcBef>
              <a:spcAft>
                <a:spcPts val="0"/>
              </a:spcAft>
              <a:buClr>
                <a:srgbClr val="C6BEAB"/>
              </a:buClr>
              <a:buSzPts val="3000"/>
              <a:buChar char="•"/>
            </a:pPr>
            <a:r>
              <a:rPr lang="de-DE" sz="3000"/>
              <a:t>Learn to reflect on reading habits and practices and get an idea of what it can mean to read strategically, to set specific goals for different contexts, to reflect on one's progress and to adjust one's approach if necessary.</a:t>
            </a:r>
            <a:endParaRPr sz="3000"/>
          </a:p>
          <a:p>
            <a:pPr indent="-394970" lvl="0" marL="285750" rtl="0" algn="l">
              <a:lnSpc>
                <a:spcPct val="114999"/>
              </a:lnSpc>
              <a:spcBef>
                <a:spcPts val="0"/>
              </a:spcBef>
              <a:spcAft>
                <a:spcPts val="0"/>
              </a:spcAft>
              <a:buClr>
                <a:srgbClr val="C6BEAB"/>
              </a:buClr>
              <a:buSzPts val="3000"/>
              <a:buChar char="•"/>
            </a:pPr>
            <a:r>
              <a:rPr lang="de-DE" sz="3000"/>
              <a:t>Learn to read rhetorically, i.e. reading not only to gather information or understand an argument, but also to grasp how information is presented in a text or how an argument can be constructed. (And that there are different types of texts that handle this quite differently).</a:t>
            </a:r>
            <a:endParaRPr sz="3000"/>
          </a:p>
          <a:p>
            <a:pPr indent="0" lvl="0" marL="0" rtl="0" algn="l">
              <a:lnSpc>
                <a:spcPct val="114999"/>
              </a:lnSpc>
              <a:spcBef>
                <a:spcPts val="600"/>
              </a:spcBef>
              <a:spcAft>
                <a:spcPts val="0"/>
              </a:spcAft>
              <a:buNone/>
            </a:pPr>
            <a:r>
              <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Any questions?</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Break</a:t>
            </a:r>
            <a:r>
              <a:rPr b="1" lang="de-DE"/>
              <a:t>…</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Energizer!</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Welcome and Arrival</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7110FE-C066-498F-B1A2-1F356E1FB1C7}"/>
</file>

<file path=customXml/itemProps2.xml><?xml version="1.0" encoding="utf-8"?>
<ds:datastoreItem xmlns:ds="http://schemas.openxmlformats.org/officeDocument/2006/customXml" ds:itemID="{85D622CD-DFFD-4CB3-8641-218FD439500F}"/>
</file>

<file path=customXml/itemProps3.xml><?xml version="1.0" encoding="utf-8"?>
<ds:datastoreItem xmlns:ds="http://schemas.openxmlformats.org/officeDocument/2006/customXml" ds:itemID="{526CF760-6A16-44CD-9BCE-15F846BC0B11}"/>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