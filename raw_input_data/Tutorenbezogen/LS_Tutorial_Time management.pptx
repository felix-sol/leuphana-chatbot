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1A_B5F5EF6D.xml" ContentType="application/vnd.ms-powerpoint.comments+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56" r:id="rId5"/>
  </p:sldMasterIdLst>
  <p:notesMasterIdLst>
    <p:notesMasterId r:id="rId24"/>
  </p:notesMasterIdLst>
  <p:sldIdLst>
    <p:sldId id="256" r:id="rId6"/>
    <p:sldId id="257" r:id="rId7"/>
    <p:sldId id="258" r:id="rId8"/>
    <p:sldId id="273" r:id="rId9"/>
    <p:sldId id="279" r:id="rId10"/>
    <p:sldId id="275" r:id="rId11"/>
    <p:sldId id="277" r:id="rId12"/>
    <p:sldId id="288" r:id="rId13"/>
    <p:sldId id="285" r:id="rId14"/>
    <p:sldId id="284" r:id="rId15"/>
    <p:sldId id="283" r:id="rId16"/>
    <p:sldId id="289" r:id="rId17"/>
    <p:sldId id="281" r:id="rId18"/>
    <p:sldId id="286" r:id="rId19"/>
    <p:sldId id="278" r:id="rId20"/>
    <p:sldId id="272" r:id="rId21"/>
    <p:sldId id="282" r:id="rId22"/>
    <p:sldId id="274" r:id="rId23"/>
  </p:sldIdLst>
  <p:sldSz cx="18288000" cy="10287000"/>
  <p:notesSz cx="6858000" cy="9144000"/>
  <p:embeddedFontLst>
    <p:embeddedFont>
      <p:font typeface="Abadi" panose="020F0502020204030204" pitchFamily="34" charset="0"/>
      <p:regular r:id="rId25"/>
      <p:bold r:id="rId26"/>
      <p:italic r:id="rId27"/>
      <p:boldItalic r:id="rId28"/>
    </p:embeddedFont>
    <p:embeddedFont>
      <p:font typeface="Liberation Sans" panose="020B0604020202020204" pitchFamily="3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6287E6-2D0B-5399-21B8-C5743DBCC9CE}" name="Wanja Tolksdorf" initials="WT" userId="S::Wanja.Tolksdorf@ms.leuphana.de::34943d69-ef16-4754-92a4-1851a1a3e90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B989"/>
    <a:srgbClr val="D7F7B6"/>
    <a:srgbClr val="257F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67FFCC-D8D2-CD49-BF73-A1904E0573FB}" v="1311" dt="2025-11-11T19:49:29.294"/>
    <p1510:client id="{9346B1E8-E351-B6FD-8FC5-943977B9DF52}" v="525" dt="2025-11-11T18:47:21.7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71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1.fntdata"/><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comments/modernComment_11A_B5F5EF6D.xml><?xml version="1.0" encoding="utf-8"?>
<p188:cmLst xmlns:a="http://schemas.openxmlformats.org/drawingml/2006/main" xmlns:r="http://schemas.openxmlformats.org/officeDocument/2006/relationships" xmlns:p188="http://schemas.microsoft.com/office/powerpoint/2018/8/main">
  <p188:cm id="{47FB6D6E-0B12-4032-A8AB-9EC45AF719D5}" authorId="{BF6287E6-2D0B-5399-21B8-C5743DBCC9CE}" created="2024-08-15T19:54:19.217">
    <ac:txMkLst xmlns:ac="http://schemas.microsoft.com/office/drawing/2013/main/command">
      <pc:docMk xmlns:pc="http://schemas.microsoft.com/office/powerpoint/2013/main/command"/>
      <pc:sldMk xmlns:pc="http://schemas.microsoft.com/office/powerpoint/2013/main/command" cId="3052793709" sldId="282"/>
      <ac:spMk id="2" creationId="{34B35867-A04D-0588-319B-357E07D86F8B}"/>
      <ac:txMk cp="0" len="52">
        <ac:context len="53" hash="2087637611"/>
      </ac:txMk>
    </ac:txMkLst>
    <p188:pos x="14273660" y="733974"/>
    <p188:txBody>
      <a:bodyPr/>
      <a:lstStyle/>
      <a:p>
        <a:r>
          <a:rPr lang="en-GB"/>
          <a:t>An andere SHKs: Achtung: bisher nur meine persönlichen Tipps. Bitte recherchieren oder mit eigener Erfahrung gegenchecken und ändern/ergänzen.</a:t>
        </a:r>
      </a:p>
    </p188:txBody>
  </p188:cm>
</p188:cmLst>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574BCE-B4BA-40B7-966D-F8569860A283}" type="doc">
      <dgm:prSet loTypeId="urn:microsoft.com/office/officeart/2005/8/layout/default" loCatId="list" qsTypeId="urn:microsoft.com/office/officeart/2005/8/quickstyle/simple1" qsCatId="simple" csTypeId="urn:microsoft.com/office/officeart/2005/8/colors/accent1_4" csCatId="accent1" phldr="1"/>
      <dgm:spPr/>
      <dgm:t>
        <a:bodyPr/>
        <a:lstStyle/>
        <a:p>
          <a:endParaRPr lang="en-GB"/>
        </a:p>
      </dgm:t>
    </dgm:pt>
    <dgm:pt modelId="{EBF5A5C2-E091-46F3-8871-09D647AF790E}">
      <dgm:prSet phldrT="[Text]"/>
      <dgm:spPr/>
      <dgm:t>
        <a:bodyPr/>
        <a:lstStyle/>
        <a:p>
          <a:r>
            <a:rPr lang="en-AU" noProof="0"/>
            <a:t>Discipline /focus</a:t>
          </a:r>
        </a:p>
      </dgm:t>
    </dgm:pt>
    <dgm:pt modelId="{30368AD8-1E68-42C4-9F0D-1191F162E470}" type="sibTrans" cxnId="{1396738C-E5E1-44C2-A167-61F7708AC517}">
      <dgm:prSet/>
      <dgm:spPr/>
      <dgm:t>
        <a:bodyPr/>
        <a:lstStyle/>
        <a:p>
          <a:endParaRPr lang="de-DE" noProof="0"/>
        </a:p>
      </dgm:t>
    </dgm:pt>
    <dgm:pt modelId="{CCD333D5-5017-49AA-AB90-502B278A4646}" type="parTrans" cxnId="{1396738C-E5E1-44C2-A167-61F7708AC517}">
      <dgm:prSet/>
      <dgm:spPr/>
      <dgm:t>
        <a:bodyPr/>
        <a:lstStyle/>
        <a:p>
          <a:endParaRPr lang="de-DE" noProof="0"/>
        </a:p>
      </dgm:t>
    </dgm:pt>
    <dgm:pt modelId="{46A6BD6D-36E6-4092-9CFA-27214C53008D}">
      <dgm:prSet phldrT="[Text]"/>
      <dgm:spPr/>
      <dgm:t>
        <a:bodyPr/>
        <a:lstStyle/>
        <a:p>
          <a:r>
            <a:rPr lang="en-AU" noProof="0"/>
            <a:t>Learn to say „No“</a:t>
          </a:r>
        </a:p>
      </dgm:t>
    </dgm:pt>
    <dgm:pt modelId="{41DDF2C1-F25D-4731-943F-B0CB55A8ECF4}" type="sibTrans" cxnId="{22BE4E4D-3D43-4337-AEF1-D7147878A6F0}">
      <dgm:prSet/>
      <dgm:spPr/>
      <dgm:t>
        <a:bodyPr/>
        <a:lstStyle/>
        <a:p>
          <a:endParaRPr lang="de-DE" noProof="0"/>
        </a:p>
      </dgm:t>
    </dgm:pt>
    <dgm:pt modelId="{A2DF2C14-7E08-4F5D-ABAC-9A96F2EC292D}" type="parTrans" cxnId="{22BE4E4D-3D43-4337-AEF1-D7147878A6F0}">
      <dgm:prSet/>
      <dgm:spPr/>
      <dgm:t>
        <a:bodyPr/>
        <a:lstStyle/>
        <a:p>
          <a:endParaRPr lang="de-DE" noProof="0"/>
        </a:p>
      </dgm:t>
    </dgm:pt>
    <dgm:pt modelId="{0BFB1AFA-F238-49B5-AEEB-BD7181A71B57}">
      <dgm:prSet phldrT="[Text]"/>
      <dgm:spPr/>
      <dgm:t>
        <a:bodyPr/>
        <a:lstStyle/>
        <a:p>
          <a:r>
            <a:rPr lang="en-AU" noProof="0"/>
            <a:t>Self-care</a:t>
          </a:r>
        </a:p>
      </dgm:t>
    </dgm:pt>
    <dgm:pt modelId="{7421A97A-E546-4588-845E-853AA97B77B1}" type="sibTrans" cxnId="{07692DF5-FB7C-4378-8F13-FF1F28B84A75}">
      <dgm:prSet/>
      <dgm:spPr/>
      <dgm:t>
        <a:bodyPr/>
        <a:lstStyle/>
        <a:p>
          <a:endParaRPr lang="de-DE" noProof="0"/>
        </a:p>
      </dgm:t>
    </dgm:pt>
    <dgm:pt modelId="{515C2546-51E1-43A7-A261-F61609C57430}" type="parTrans" cxnId="{07692DF5-FB7C-4378-8F13-FF1F28B84A75}">
      <dgm:prSet/>
      <dgm:spPr/>
      <dgm:t>
        <a:bodyPr/>
        <a:lstStyle/>
        <a:p>
          <a:endParaRPr lang="de-DE" noProof="0"/>
        </a:p>
      </dgm:t>
    </dgm:pt>
    <dgm:pt modelId="{93CD0F63-E6FA-41DC-A951-3B67A426AA33}">
      <dgm:prSet phldrT="[Text]"/>
      <dgm:spPr/>
      <dgm:t>
        <a:bodyPr/>
        <a:lstStyle/>
        <a:p>
          <a:r>
            <a:rPr lang="en-AU" noProof="0"/>
            <a:t>Planning / Structuring / routine</a:t>
          </a:r>
        </a:p>
      </dgm:t>
    </dgm:pt>
    <dgm:pt modelId="{61DEB3FC-211B-4057-B16C-64E00957B5B8}" type="sibTrans" cxnId="{DF1EF7A0-C682-4E99-BEF7-69945C8D3863}">
      <dgm:prSet/>
      <dgm:spPr/>
      <dgm:t>
        <a:bodyPr/>
        <a:lstStyle/>
        <a:p>
          <a:endParaRPr lang="de-DE" noProof="0"/>
        </a:p>
      </dgm:t>
    </dgm:pt>
    <dgm:pt modelId="{73A4704F-2E7A-4971-A975-D9CC079FC8E9}" type="parTrans" cxnId="{DF1EF7A0-C682-4E99-BEF7-69945C8D3863}">
      <dgm:prSet/>
      <dgm:spPr/>
      <dgm:t>
        <a:bodyPr/>
        <a:lstStyle/>
        <a:p>
          <a:endParaRPr lang="de-DE" noProof="0"/>
        </a:p>
      </dgm:t>
    </dgm:pt>
    <dgm:pt modelId="{CBFC12A6-F610-4584-9DB4-9260CEA93823}">
      <dgm:prSet phldrT="[Text]"/>
      <dgm:spPr/>
      <dgm:t>
        <a:bodyPr/>
        <a:lstStyle/>
        <a:p>
          <a:r>
            <a:rPr lang="en-AU" noProof="0"/>
            <a:t>Goal setting</a:t>
          </a:r>
        </a:p>
      </dgm:t>
    </dgm:pt>
    <dgm:pt modelId="{0F57948C-6F0C-4406-BF24-F55DA7DB986E}" type="sibTrans" cxnId="{762FB42F-69D9-4AAB-9882-DAB07D115D20}">
      <dgm:prSet/>
      <dgm:spPr/>
      <dgm:t>
        <a:bodyPr/>
        <a:lstStyle/>
        <a:p>
          <a:endParaRPr lang="de-DE" noProof="0"/>
        </a:p>
      </dgm:t>
    </dgm:pt>
    <dgm:pt modelId="{3D257782-8445-471A-95A1-90ECB5F11A21}" type="parTrans" cxnId="{762FB42F-69D9-4AAB-9882-DAB07D115D20}">
      <dgm:prSet/>
      <dgm:spPr/>
      <dgm:t>
        <a:bodyPr/>
        <a:lstStyle/>
        <a:p>
          <a:endParaRPr lang="de-DE" noProof="0"/>
        </a:p>
      </dgm:t>
    </dgm:pt>
    <dgm:pt modelId="{F4DEB254-1FAE-47B0-80CE-5BD7F487FD66}">
      <dgm:prSet phldrT="[Text]"/>
      <dgm:spPr/>
      <dgm:t>
        <a:bodyPr/>
        <a:lstStyle/>
        <a:p>
          <a:r>
            <a:rPr lang="en-AU" noProof="0"/>
            <a:t>Prioritization</a:t>
          </a:r>
        </a:p>
      </dgm:t>
    </dgm:pt>
    <dgm:pt modelId="{D9482282-066C-46E4-A3AC-8F8C1D709589}" type="parTrans" cxnId="{93B3945A-F0EE-41EE-95C6-C427072B99DA}">
      <dgm:prSet/>
      <dgm:spPr/>
      <dgm:t>
        <a:bodyPr/>
        <a:lstStyle/>
        <a:p>
          <a:endParaRPr lang="de-DE" noProof="0"/>
        </a:p>
      </dgm:t>
    </dgm:pt>
    <dgm:pt modelId="{6FB0BDD8-255C-40EC-96B9-229BEA41E6CA}" type="sibTrans" cxnId="{93B3945A-F0EE-41EE-95C6-C427072B99DA}">
      <dgm:prSet/>
      <dgm:spPr/>
      <dgm:t>
        <a:bodyPr/>
        <a:lstStyle/>
        <a:p>
          <a:endParaRPr lang="de-DE" noProof="0"/>
        </a:p>
      </dgm:t>
    </dgm:pt>
    <dgm:pt modelId="{A2F81E58-B2AF-4CC4-BF7E-61F17F392458}">
      <dgm:prSet phldrT="[Text]"/>
      <dgm:spPr/>
      <dgm:t>
        <a:bodyPr/>
        <a:lstStyle/>
        <a:p>
          <a:r>
            <a:rPr lang="en-AU" noProof="0"/>
            <a:t>A System</a:t>
          </a:r>
        </a:p>
      </dgm:t>
    </dgm:pt>
    <dgm:pt modelId="{DE9CE5CB-6D8A-4467-85F0-9037214F55EC}" type="parTrans" cxnId="{67A11E06-4A77-4275-B252-A7EB49699E16}">
      <dgm:prSet/>
      <dgm:spPr/>
      <dgm:t>
        <a:bodyPr/>
        <a:lstStyle/>
        <a:p>
          <a:endParaRPr lang="de-DE" noProof="0"/>
        </a:p>
      </dgm:t>
    </dgm:pt>
    <dgm:pt modelId="{48F7756C-7F2F-4BFA-83AC-E9A2DD4E9F67}" type="sibTrans" cxnId="{67A11E06-4A77-4275-B252-A7EB49699E16}">
      <dgm:prSet/>
      <dgm:spPr/>
      <dgm:t>
        <a:bodyPr/>
        <a:lstStyle/>
        <a:p>
          <a:endParaRPr lang="de-DE" noProof="0"/>
        </a:p>
      </dgm:t>
    </dgm:pt>
    <dgm:pt modelId="{8E797B98-41DB-48B0-B4F9-E63CC1AB06DA}">
      <dgm:prSet phldrT="[Text]"/>
      <dgm:spPr/>
      <dgm:t>
        <a:bodyPr/>
        <a:lstStyle/>
        <a:p>
          <a:r>
            <a:rPr lang="en-AU" noProof="0"/>
            <a:t>Avoid procrastination</a:t>
          </a:r>
        </a:p>
      </dgm:t>
    </dgm:pt>
    <dgm:pt modelId="{62AA037A-4635-4B14-A318-F1BAFE631105}" type="parTrans" cxnId="{270CEA88-6EB5-4412-A388-381ECC88B07D}">
      <dgm:prSet/>
      <dgm:spPr/>
      <dgm:t>
        <a:bodyPr/>
        <a:lstStyle/>
        <a:p>
          <a:endParaRPr lang="de-DE" noProof="0"/>
        </a:p>
      </dgm:t>
    </dgm:pt>
    <dgm:pt modelId="{D0AF33C3-4FF8-4B74-8EB9-AA70A393B906}" type="sibTrans" cxnId="{270CEA88-6EB5-4412-A388-381ECC88B07D}">
      <dgm:prSet/>
      <dgm:spPr/>
      <dgm:t>
        <a:bodyPr/>
        <a:lstStyle/>
        <a:p>
          <a:endParaRPr lang="de-DE" noProof="0"/>
        </a:p>
      </dgm:t>
    </dgm:pt>
    <dgm:pt modelId="{5D945FA6-C358-48CD-9FC6-E0AADCA70394}" type="pres">
      <dgm:prSet presAssocID="{29574BCE-B4BA-40B7-966D-F8569860A283}" presName="diagram" presStyleCnt="0">
        <dgm:presLayoutVars>
          <dgm:dir/>
          <dgm:resizeHandles val="exact"/>
        </dgm:presLayoutVars>
      </dgm:prSet>
      <dgm:spPr/>
    </dgm:pt>
    <dgm:pt modelId="{553B38F3-B028-44AA-8B16-DB7095794017}" type="pres">
      <dgm:prSet presAssocID="{CBFC12A6-F610-4584-9DB4-9260CEA93823}" presName="node" presStyleLbl="node1" presStyleIdx="0" presStyleCnt="8">
        <dgm:presLayoutVars>
          <dgm:bulletEnabled val="1"/>
        </dgm:presLayoutVars>
      </dgm:prSet>
      <dgm:spPr/>
    </dgm:pt>
    <dgm:pt modelId="{7AB3BB53-5D45-4523-8032-6970E4E3BF65}" type="pres">
      <dgm:prSet presAssocID="{0F57948C-6F0C-4406-BF24-F55DA7DB986E}" presName="sibTrans" presStyleCnt="0"/>
      <dgm:spPr/>
    </dgm:pt>
    <dgm:pt modelId="{ED7583D0-B63D-43A0-977B-2B391B857F44}" type="pres">
      <dgm:prSet presAssocID="{93CD0F63-E6FA-41DC-A951-3B67A426AA33}" presName="node" presStyleLbl="node1" presStyleIdx="1" presStyleCnt="8">
        <dgm:presLayoutVars>
          <dgm:bulletEnabled val="1"/>
        </dgm:presLayoutVars>
      </dgm:prSet>
      <dgm:spPr/>
    </dgm:pt>
    <dgm:pt modelId="{51CA603A-1A7C-434A-BD06-0FA07FD206D1}" type="pres">
      <dgm:prSet presAssocID="{61DEB3FC-211B-4057-B16C-64E00957B5B8}" presName="sibTrans" presStyleCnt="0"/>
      <dgm:spPr/>
    </dgm:pt>
    <dgm:pt modelId="{97809766-24F6-40D3-9103-9B0F22BC821B}" type="pres">
      <dgm:prSet presAssocID="{0BFB1AFA-F238-49B5-AEEB-BD7181A71B57}" presName="node" presStyleLbl="node1" presStyleIdx="2" presStyleCnt="8">
        <dgm:presLayoutVars>
          <dgm:bulletEnabled val="1"/>
        </dgm:presLayoutVars>
      </dgm:prSet>
      <dgm:spPr/>
    </dgm:pt>
    <dgm:pt modelId="{227A4213-D116-4A8F-AADE-E9B0CA7D821D}" type="pres">
      <dgm:prSet presAssocID="{7421A97A-E546-4588-845E-853AA97B77B1}" presName="sibTrans" presStyleCnt="0"/>
      <dgm:spPr/>
    </dgm:pt>
    <dgm:pt modelId="{64CA66B2-67B1-42AC-8545-FBF122ED9EEF}" type="pres">
      <dgm:prSet presAssocID="{46A6BD6D-36E6-4092-9CFA-27214C53008D}" presName="node" presStyleLbl="node1" presStyleIdx="3" presStyleCnt="8">
        <dgm:presLayoutVars>
          <dgm:bulletEnabled val="1"/>
        </dgm:presLayoutVars>
      </dgm:prSet>
      <dgm:spPr/>
    </dgm:pt>
    <dgm:pt modelId="{FECB6EC9-E3F3-4073-8C5B-219CF8033F0C}" type="pres">
      <dgm:prSet presAssocID="{41DDF2C1-F25D-4731-943F-B0CB55A8ECF4}" presName="sibTrans" presStyleCnt="0"/>
      <dgm:spPr/>
    </dgm:pt>
    <dgm:pt modelId="{45B4926D-D3C3-4E40-AD09-02F2D50E5B22}" type="pres">
      <dgm:prSet presAssocID="{EBF5A5C2-E091-46F3-8871-09D647AF790E}" presName="node" presStyleLbl="node1" presStyleIdx="4" presStyleCnt="8">
        <dgm:presLayoutVars>
          <dgm:bulletEnabled val="1"/>
        </dgm:presLayoutVars>
      </dgm:prSet>
      <dgm:spPr/>
    </dgm:pt>
    <dgm:pt modelId="{ECBE10D4-D44C-409A-8717-2487C4559DA6}" type="pres">
      <dgm:prSet presAssocID="{30368AD8-1E68-42C4-9F0D-1191F162E470}" presName="sibTrans" presStyleCnt="0"/>
      <dgm:spPr/>
    </dgm:pt>
    <dgm:pt modelId="{62119217-D9A4-40D2-B4A7-C36761E5F666}" type="pres">
      <dgm:prSet presAssocID="{F4DEB254-1FAE-47B0-80CE-5BD7F487FD66}" presName="node" presStyleLbl="node1" presStyleIdx="5" presStyleCnt="8">
        <dgm:presLayoutVars>
          <dgm:bulletEnabled val="1"/>
        </dgm:presLayoutVars>
      </dgm:prSet>
      <dgm:spPr/>
    </dgm:pt>
    <dgm:pt modelId="{A824AE95-938F-438A-811A-A84F83F0ECEA}" type="pres">
      <dgm:prSet presAssocID="{6FB0BDD8-255C-40EC-96B9-229BEA41E6CA}" presName="sibTrans" presStyleCnt="0"/>
      <dgm:spPr/>
    </dgm:pt>
    <dgm:pt modelId="{1A8838D0-8582-44F2-9BB2-17580F580106}" type="pres">
      <dgm:prSet presAssocID="{A2F81E58-B2AF-4CC4-BF7E-61F17F392458}" presName="node" presStyleLbl="node1" presStyleIdx="6" presStyleCnt="8">
        <dgm:presLayoutVars>
          <dgm:bulletEnabled val="1"/>
        </dgm:presLayoutVars>
      </dgm:prSet>
      <dgm:spPr/>
    </dgm:pt>
    <dgm:pt modelId="{00E43B6C-3E1F-4E99-8B79-765035AE5C08}" type="pres">
      <dgm:prSet presAssocID="{48F7756C-7F2F-4BFA-83AC-E9A2DD4E9F67}" presName="sibTrans" presStyleCnt="0"/>
      <dgm:spPr/>
    </dgm:pt>
    <dgm:pt modelId="{DBB3F992-08A5-47E1-82FF-C31119EDF5E4}" type="pres">
      <dgm:prSet presAssocID="{8E797B98-41DB-48B0-B4F9-E63CC1AB06DA}" presName="node" presStyleLbl="node1" presStyleIdx="7" presStyleCnt="8">
        <dgm:presLayoutVars>
          <dgm:bulletEnabled val="1"/>
        </dgm:presLayoutVars>
      </dgm:prSet>
      <dgm:spPr/>
    </dgm:pt>
  </dgm:ptLst>
  <dgm:cxnLst>
    <dgm:cxn modelId="{21FE2C03-535B-4C94-BE34-FD934ADC12D2}" type="presOf" srcId="{A2F81E58-B2AF-4CC4-BF7E-61F17F392458}" destId="{1A8838D0-8582-44F2-9BB2-17580F580106}" srcOrd="0" destOrd="0" presId="urn:microsoft.com/office/officeart/2005/8/layout/default"/>
    <dgm:cxn modelId="{7983F903-2194-4A69-B26D-2824C6C7C678}" type="presOf" srcId="{0BFB1AFA-F238-49B5-AEEB-BD7181A71B57}" destId="{97809766-24F6-40D3-9103-9B0F22BC821B}" srcOrd="0" destOrd="0" presId="urn:microsoft.com/office/officeart/2005/8/layout/default"/>
    <dgm:cxn modelId="{67A11E06-4A77-4275-B252-A7EB49699E16}" srcId="{29574BCE-B4BA-40B7-966D-F8569860A283}" destId="{A2F81E58-B2AF-4CC4-BF7E-61F17F392458}" srcOrd="6" destOrd="0" parTransId="{DE9CE5CB-6D8A-4467-85F0-9037214F55EC}" sibTransId="{48F7756C-7F2F-4BFA-83AC-E9A2DD4E9F67}"/>
    <dgm:cxn modelId="{762FB42F-69D9-4AAB-9882-DAB07D115D20}" srcId="{29574BCE-B4BA-40B7-966D-F8569860A283}" destId="{CBFC12A6-F610-4584-9DB4-9260CEA93823}" srcOrd="0" destOrd="0" parTransId="{3D257782-8445-471A-95A1-90ECB5F11A21}" sibTransId="{0F57948C-6F0C-4406-BF24-F55DA7DB986E}"/>
    <dgm:cxn modelId="{BD40A169-2B1F-46BA-9495-73D85A966992}" type="presOf" srcId="{F4DEB254-1FAE-47B0-80CE-5BD7F487FD66}" destId="{62119217-D9A4-40D2-B4A7-C36761E5F666}" srcOrd="0" destOrd="0" presId="urn:microsoft.com/office/officeart/2005/8/layout/default"/>
    <dgm:cxn modelId="{22BE4E4D-3D43-4337-AEF1-D7147878A6F0}" srcId="{29574BCE-B4BA-40B7-966D-F8569860A283}" destId="{46A6BD6D-36E6-4092-9CFA-27214C53008D}" srcOrd="3" destOrd="0" parTransId="{A2DF2C14-7E08-4F5D-ABAC-9A96F2EC292D}" sibTransId="{41DDF2C1-F25D-4731-943F-B0CB55A8ECF4}"/>
    <dgm:cxn modelId="{6A565976-CA02-4126-9844-26975CCBFB69}" type="presOf" srcId="{29574BCE-B4BA-40B7-966D-F8569860A283}" destId="{5D945FA6-C358-48CD-9FC6-E0AADCA70394}" srcOrd="0" destOrd="0" presId="urn:microsoft.com/office/officeart/2005/8/layout/default"/>
    <dgm:cxn modelId="{9A6A3058-FFF9-4DB6-B898-74AA12938EC7}" type="presOf" srcId="{46A6BD6D-36E6-4092-9CFA-27214C53008D}" destId="{64CA66B2-67B1-42AC-8545-FBF122ED9EEF}" srcOrd="0" destOrd="0" presId="urn:microsoft.com/office/officeart/2005/8/layout/default"/>
    <dgm:cxn modelId="{93B3945A-F0EE-41EE-95C6-C427072B99DA}" srcId="{29574BCE-B4BA-40B7-966D-F8569860A283}" destId="{F4DEB254-1FAE-47B0-80CE-5BD7F487FD66}" srcOrd="5" destOrd="0" parTransId="{D9482282-066C-46E4-A3AC-8F8C1D709589}" sibTransId="{6FB0BDD8-255C-40EC-96B9-229BEA41E6CA}"/>
    <dgm:cxn modelId="{270CEA88-6EB5-4412-A388-381ECC88B07D}" srcId="{29574BCE-B4BA-40B7-966D-F8569860A283}" destId="{8E797B98-41DB-48B0-B4F9-E63CC1AB06DA}" srcOrd="7" destOrd="0" parTransId="{62AA037A-4635-4B14-A318-F1BAFE631105}" sibTransId="{D0AF33C3-4FF8-4B74-8EB9-AA70A393B906}"/>
    <dgm:cxn modelId="{1396738C-E5E1-44C2-A167-61F7708AC517}" srcId="{29574BCE-B4BA-40B7-966D-F8569860A283}" destId="{EBF5A5C2-E091-46F3-8871-09D647AF790E}" srcOrd="4" destOrd="0" parTransId="{CCD333D5-5017-49AA-AB90-502B278A4646}" sibTransId="{30368AD8-1E68-42C4-9F0D-1191F162E470}"/>
    <dgm:cxn modelId="{A897FB95-5CC3-4A06-A3A0-CE7524795E5C}" type="presOf" srcId="{8E797B98-41DB-48B0-B4F9-E63CC1AB06DA}" destId="{DBB3F992-08A5-47E1-82FF-C31119EDF5E4}" srcOrd="0" destOrd="0" presId="urn:microsoft.com/office/officeart/2005/8/layout/default"/>
    <dgm:cxn modelId="{DF1EF7A0-C682-4E99-BEF7-69945C8D3863}" srcId="{29574BCE-B4BA-40B7-966D-F8569860A283}" destId="{93CD0F63-E6FA-41DC-A951-3B67A426AA33}" srcOrd="1" destOrd="0" parTransId="{73A4704F-2E7A-4971-A975-D9CC079FC8E9}" sibTransId="{61DEB3FC-211B-4057-B16C-64E00957B5B8}"/>
    <dgm:cxn modelId="{2E707BA5-8CAC-4555-883D-76007D8FDEC8}" type="presOf" srcId="{93CD0F63-E6FA-41DC-A951-3B67A426AA33}" destId="{ED7583D0-B63D-43A0-977B-2B391B857F44}" srcOrd="0" destOrd="0" presId="urn:microsoft.com/office/officeart/2005/8/layout/default"/>
    <dgm:cxn modelId="{C56D05AC-9003-4B00-BDD3-4CF9C8DF727A}" type="presOf" srcId="{CBFC12A6-F610-4584-9DB4-9260CEA93823}" destId="{553B38F3-B028-44AA-8B16-DB7095794017}" srcOrd="0" destOrd="0" presId="urn:microsoft.com/office/officeart/2005/8/layout/default"/>
    <dgm:cxn modelId="{0B5E4AB8-A30A-487C-B3E5-36528F609567}" type="presOf" srcId="{EBF5A5C2-E091-46F3-8871-09D647AF790E}" destId="{45B4926D-D3C3-4E40-AD09-02F2D50E5B22}" srcOrd="0" destOrd="0" presId="urn:microsoft.com/office/officeart/2005/8/layout/default"/>
    <dgm:cxn modelId="{07692DF5-FB7C-4378-8F13-FF1F28B84A75}" srcId="{29574BCE-B4BA-40B7-966D-F8569860A283}" destId="{0BFB1AFA-F238-49B5-AEEB-BD7181A71B57}" srcOrd="2" destOrd="0" parTransId="{515C2546-51E1-43A7-A261-F61609C57430}" sibTransId="{7421A97A-E546-4588-845E-853AA97B77B1}"/>
    <dgm:cxn modelId="{3E8ABDFC-0EB9-4A93-AEB3-D5CCFE629850}" type="presParOf" srcId="{5D945FA6-C358-48CD-9FC6-E0AADCA70394}" destId="{553B38F3-B028-44AA-8B16-DB7095794017}" srcOrd="0" destOrd="0" presId="urn:microsoft.com/office/officeart/2005/8/layout/default"/>
    <dgm:cxn modelId="{A35A44D3-2170-4931-96CC-9072E4793A34}" type="presParOf" srcId="{5D945FA6-C358-48CD-9FC6-E0AADCA70394}" destId="{7AB3BB53-5D45-4523-8032-6970E4E3BF65}" srcOrd="1" destOrd="0" presId="urn:microsoft.com/office/officeart/2005/8/layout/default"/>
    <dgm:cxn modelId="{3FF355B7-974B-4F9B-951D-BA5752D3C60E}" type="presParOf" srcId="{5D945FA6-C358-48CD-9FC6-E0AADCA70394}" destId="{ED7583D0-B63D-43A0-977B-2B391B857F44}" srcOrd="2" destOrd="0" presId="urn:microsoft.com/office/officeart/2005/8/layout/default"/>
    <dgm:cxn modelId="{DD249FB1-13C3-4FAC-8A2E-90EE8B4CE223}" type="presParOf" srcId="{5D945FA6-C358-48CD-9FC6-E0AADCA70394}" destId="{51CA603A-1A7C-434A-BD06-0FA07FD206D1}" srcOrd="3" destOrd="0" presId="urn:microsoft.com/office/officeart/2005/8/layout/default"/>
    <dgm:cxn modelId="{F555265F-7271-4683-9AF8-6A8530A4B4F9}" type="presParOf" srcId="{5D945FA6-C358-48CD-9FC6-E0AADCA70394}" destId="{97809766-24F6-40D3-9103-9B0F22BC821B}" srcOrd="4" destOrd="0" presId="urn:microsoft.com/office/officeart/2005/8/layout/default"/>
    <dgm:cxn modelId="{1E3276EF-B641-4B54-99C1-F62E24B138E6}" type="presParOf" srcId="{5D945FA6-C358-48CD-9FC6-E0AADCA70394}" destId="{227A4213-D116-4A8F-AADE-E9B0CA7D821D}" srcOrd="5" destOrd="0" presId="urn:microsoft.com/office/officeart/2005/8/layout/default"/>
    <dgm:cxn modelId="{F2914B24-C641-44AE-991C-42D4F3303435}" type="presParOf" srcId="{5D945FA6-C358-48CD-9FC6-E0AADCA70394}" destId="{64CA66B2-67B1-42AC-8545-FBF122ED9EEF}" srcOrd="6" destOrd="0" presId="urn:microsoft.com/office/officeart/2005/8/layout/default"/>
    <dgm:cxn modelId="{1DA8534E-133C-4F3C-98E6-B49E199C4DAF}" type="presParOf" srcId="{5D945FA6-C358-48CD-9FC6-E0AADCA70394}" destId="{FECB6EC9-E3F3-4073-8C5B-219CF8033F0C}" srcOrd="7" destOrd="0" presId="urn:microsoft.com/office/officeart/2005/8/layout/default"/>
    <dgm:cxn modelId="{B7B46F13-7E6D-4680-9553-5E0EFF569792}" type="presParOf" srcId="{5D945FA6-C358-48CD-9FC6-E0AADCA70394}" destId="{45B4926D-D3C3-4E40-AD09-02F2D50E5B22}" srcOrd="8" destOrd="0" presId="urn:microsoft.com/office/officeart/2005/8/layout/default"/>
    <dgm:cxn modelId="{9291980D-AD09-49DA-AB53-F713659DD68D}" type="presParOf" srcId="{5D945FA6-C358-48CD-9FC6-E0AADCA70394}" destId="{ECBE10D4-D44C-409A-8717-2487C4559DA6}" srcOrd="9" destOrd="0" presId="urn:microsoft.com/office/officeart/2005/8/layout/default"/>
    <dgm:cxn modelId="{C4674364-8CD1-4011-A3EE-DE77287ED374}" type="presParOf" srcId="{5D945FA6-C358-48CD-9FC6-E0AADCA70394}" destId="{62119217-D9A4-40D2-B4A7-C36761E5F666}" srcOrd="10" destOrd="0" presId="urn:microsoft.com/office/officeart/2005/8/layout/default"/>
    <dgm:cxn modelId="{1EAA12BF-A5D2-4639-9D74-8AFD71BF11A2}" type="presParOf" srcId="{5D945FA6-C358-48CD-9FC6-E0AADCA70394}" destId="{A824AE95-938F-438A-811A-A84F83F0ECEA}" srcOrd="11" destOrd="0" presId="urn:microsoft.com/office/officeart/2005/8/layout/default"/>
    <dgm:cxn modelId="{4D222577-D900-4681-B0D2-B4198DE65BA9}" type="presParOf" srcId="{5D945FA6-C358-48CD-9FC6-E0AADCA70394}" destId="{1A8838D0-8582-44F2-9BB2-17580F580106}" srcOrd="12" destOrd="0" presId="urn:microsoft.com/office/officeart/2005/8/layout/default"/>
    <dgm:cxn modelId="{CE16F168-ADAC-49B8-8F64-5DEC247F915C}" type="presParOf" srcId="{5D945FA6-C358-48CD-9FC6-E0AADCA70394}" destId="{00E43B6C-3E1F-4E99-8B79-765035AE5C08}" srcOrd="13" destOrd="0" presId="urn:microsoft.com/office/officeart/2005/8/layout/default"/>
    <dgm:cxn modelId="{25D303E8-3E44-4ACF-B75D-75CC1752C094}" type="presParOf" srcId="{5D945FA6-C358-48CD-9FC6-E0AADCA70394}" destId="{DBB3F992-08A5-47E1-82FF-C31119EDF5E4}"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B38F3-B028-44AA-8B16-DB7095794017}">
      <dsp:nvSpPr>
        <dsp:cNvPr id="0" name=""/>
        <dsp:cNvSpPr/>
      </dsp:nvSpPr>
      <dsp:spPr>
        <a:xfrm>
          <a:off x="0" y="270523"/>
          <a:ext cx="3517784" cy="2110670"/>
        </a:xfrm>
        <a:prstGeom prst="rect">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Goal setting</a:t>
          </a:r>
        </a:p>
      </dsp:txBody>
      <dsp:txXfrm>
        <a:off x="0" y="270523"/>
        <a:ext cx="3517784" cy="2110670"/>
      </dsp:txXfrm>
    </dsp:sp>
    <dsp:sp modelId="{ED7583D0-B63D-43A0-977B-2B391B857F44}">
      <dsp:nvSpPr>
        <dsp:cNvPr id="0" name=""/>
        <dsp:cNvSpPr/>
      </dsp:nvSpPr>
      <dsp:spPr>
        <a:xfrm>
          <a:off x="3869563" y="270523"/>
          <a:ext cx="3517784" cy="2110670"/>
        </a:xfrm>
        <a:prstGeom prst="rect">
          <a:avLst/>
        </a:prstGeom>
        <a:solidFill>
          <a:schemeClr val="accent1">
            <a:shade val="50000"/>
            <a:hueOff val="151529"/>
            <a:satOff val="-16384"/>
            <a:lumOff val="136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Planning / Structuring / routine</a:t>
          </a:r>
        </a:p>
      </dsp:txBody>
      <dsp:txXfrm>
        <a:off x="3869563" y="270523"/>
        <a:ext cx="3517784" cy="2110670"/>
      </dsp:txXfrm>
    </dsp:sp>
    <dsp:sp modelId="{97809766-24F6-40D3-9103-9B0F22BC821B}">
      <dsp:nvSpPr>
        <dsp:cNvPr id="0" name=""/>
        <dsp:cNvSpPr/>
      </dsp:nvSpPr>
      <dsp:spPr>
        <a:xfrm>
          <a:off x="7739127" y="270523"/>
          <a:ext cx="3517784" cy="2110670"/>
        </a:xfrm>
        <a:prstGeom prst="rect">
          <a:avLst/>
        </a:prstGeom>
        <a:solidFill>
          <a:schemeClr val="accent1">
            <a:shade val="50000"/>
            <a:hueOff val="303058"/>
            <a:satOff val="-32768"/>
            <a:lumOff val="27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Self-care</a:t>
          </a:r>
        </a:p>
      </dsp:txBody>
      <dsp:txXfrm>
        <a:off x="7739127" y="270523"/>
        <a:ext cx="3517784" cy="2110670"/>
      </dsp:txXfrm>
    </dsp:sp>
    <dsp:sp modelId="{64CA66B2-67B1-42AC-8545-FBF122ED9EEF}">
      <dsp:nvSpPr>
        <dsp:cNvPr id="0" name=""/>
        <dsp:cNvSpPr/>
      </dsp:nvSpPr>
      <dsp:spPr>
        <a:xfrm>
          <a:off x="0" y="2732972"/>
          <a:ext cx="3517784" cy="2110670"/>
        </a:xfrm>
        <a:prstGeom prst="rect">
          <a:avLst/>
        </a:prstGeom>
        <a:solidFill>
          <a:schemeClr val="accent1">
            <a:shade val="50000"/>
            <a:hueOff val="454587"/>
            <a:satOff val="-49152"/>
            <a:lumOff val="410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Learn to say „No“</a:t>
          </a:r>
        </a:p>
      </dsp:txBody>
      <dsp:txXfrm>
        <a:off x="0" y="2732972"/>
        <a:ext cx="3517784" cy="2110670"/>
      </dsp:txXfrm>
    </dsp:sp>
    <dsp:sp modelId="{45B4926D-D3C3-4E40-AD09-02F2D50E5B22}">
      <dsp:nvSpPr>
        <dsp:cNvPr id="0" name=""/>
        <dsp:cNvSpPr/>
      </dsp:nvSpPr>
      <dsp:spPr>
        <a:xfrm>
          <a:off x="3869563" y="2732972"/>
          <a:ext cx="3517784" cy="2110670"/>
        </a:xfrm>
        <a:prstGeom prst="rect">
          <a:avLst/>
        </a:prstGeom>
        <a:solidFill>
          <a:schemeClr val="accent1">
            <a:shade val="50000"/>
            <a:hueOff val="606116"/>
            <a:satOff val="-65536"/>
            <a:lumOff val="5471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Discipline /focus</a:t>
          </a:r>
        </a:p>
      </dsp:txBody>
      <dsp:txXfrm>
        <a:off x="3869563" y="2732972"/>
        <a:ext cx="3517784" cy="2110670"/>
      </dsp:txXfrm>
    </dsp:sp>
    <dsp:sp modelId="{62119217-D9A4-40D2-B4A7-C36761E5F666}">
      <dsp:nvSpPr>
        <dsp:cNvPr id="0" name=""/>
        <dsp:cNvSpPr/>
      </dsp:nvSpPr>
      <dsp:spPr>
        <a:xfrm>
          <a:off x="7739127" y="2732972"/>
          <a:ext cx="3517784" cy="2110670"/>
        </a:xfrm>
        <a:prstGeom prst="rect">
          <a:avLst/>
        </a:prstGeom>
        <a:solidFill>
          <a:schemeClr val="accent1">
            <a:shade val="50000"/>
            <a:hueOff val="454587"/>
            <a:satOff val="-49152"/>
            <a:lumOff val="4103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Prioritization</a:t>
          </a:r>
        </a:p>
      </dsp:txBody>
      <dsp:txXfrm>
        <a:off x="7739127" y="2732972"/>
        <a:ext cx="3517784" cy="2110670"/>
      </dsp:txXfrm>
    </dsp:sp>
    <dsp:sp modelId="{1A8838D0-8582-44F2-9BB2-17580F580106}">
      <dsp:nvSpPr>
        <dsp:cNvPr id="0" name=""/>
        <dsp:cNvSpPr/>
      </dsp:nvSpPr>
      <dsp:spPr>
        <a:xfrm>
          <a:off x="1934781" y="5195421"/>
          <a:ext cx="3517784" cy="2110670"/>
        </a:xfrm>
        <a:prstGeom prst="rect">
          <a:avLst/>
        </a:prstGeom>
        <a:solidFill>
          <a:schemeClr val="accent1">
            <a:shade val="50000"/>
            <a:hueOff val="303058"/>
            <a:satOff val="-32768"/>
            <a:lumOff val="2735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A System</a:t>
          </a:r>
        </a:p>
      </dsp:txBody>
      <dsp:txXfrm>
        <a:off x="1934781" y="5195421"/>
        <a:ext cx="3517784" cy="2110670"/>
      </dsp:txXfrm>
    </dsp:sp>
    <dsp:sp modelId="{DBB3F992-08A5-47E1-82FF-C31119EDF5E4}">
      <dsp:nvSpPr>
        <dsp:cNvPr id="0" name=""/>
        <dsp:cNvSpPr/>
      </dsp:nvSpPr>
      <dsp:spPr>
        <a:xfrm>
          <a:off x="5804345" y="5195421"/>
          <a:ext cx="3517784" cy="2110670"/>
        </a:xfrm>
        <a:prstGeom prst="rect">
          <a:avLst/>
        </a:prstGeom>
        <a:solidFill>
          <a:schemeClr val="accent1">
            <a:shade val="50000"/>
            <a:hueOff val="151529"/>
            <a:satOff val="-16384"/>
            <a:lumOff val="136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AU" sz="3800" kern="1200" noProof="0"/>
            <a:t>Avoid procrastination</a:t>
          </a:r>
        </a:p>
      </dsp:txBody>
      <dsp:txXfrm>
        <a:off x="5804345" y="5195421"/>
        <a:ext cx="3517784" cy="211067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22.06.2026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atin typeface="Calibri"/>
                <a:ea typeface="Calibri"/>
                <a:cs typeface="Calibri"/>
              </a:rPr>
              <a:t>Sarah</a:t>
            </a:r>
          </a:p>
        </p:txBody>
      </p:sp>
      <p:sp>
        <p:nvSpPr>
          <p:cNvPr id="4" name="Foliennummernplatzhalter 3"/>
          <p:cNvSpPr>
            <a:spLocks noGrp="1"/>
          </p:cNvSpPr>
          <p:nvPr>
            <p:ph type="sldNum" sz="quarter" idx="5"/>
          </p:nvPr>
        </p:nvSpPr>
        <p:spPr/>
        <p:txBody>
          <a:bodyPr/>
          <a:lstStyle/>
          <a:p>
            <a:fld id="{91C7837A-BE0C-8E44-AC6E-3BD867A160FB}" type="slidenum">
              <a:rPr lang="de-DE" smtClean="0"/>
              <a:t>1</a:t>
            </a:fld>
            <a:endParaRPr lang="de-DE"/>
          </a:p>
        </p:txBody>
      </p:sp>
    </p:spTree>
    <p:extLst>
      <p:ext uri="{BB962C8B-B14F-4D97-AF65-F5344CB8AC3E}">
        <p14:creationId xmlns:p14="http://schemas.microsoft.com/office/powerpoint/2010/main" val="944173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atin typeface="Calibri"/>
                <a:ea typeface="Calibri"/>
                <a:cs typeface="Calibri"/>
              </a:rPr>
              <a:t>Sarah</a:t>
            </a:r>
          </a:p>
        </p:txBody>
      </p:sp>
      <p:sp>
        <p:nvSpPr>
          <p:cNvPr id="4" name="Foliennummernplatzhalter 3"/>
          <p:cNvSpPr>
            <a:spLocks noGrp="1"/>
          </p:cNvSpPr>
          <p:nvPr>
            <p:ph type="sldNum" sz="quarter" idx="5"/>
          </p:nvPr>
        </p:nvSpPr>
        <p:spPr/>
        <p:txBody>
          <a:bodyPr/>
          <a:lstStyle/>
          <a:p>
            <a:fld id="{91C7837A-BE0C-8E44-AC6E-3BD867A160FB}" type="slidenum">
              <a:rPr lang="de-DE" smtClean="0"/>
              <a:t>2</a:t>
            </a:fld>
            <a:endParaRPr lang="de-DE"/>
          </a:p>
        </p:txBody>
      </p:sp>
    </p:spTree>
    <p:extLst>
      <p:ext uri="{BB962C8B-B14F-4D97-AF65-F5344CB8AC3E}">
        <p14:creationId xmlns:p14="http://schemas.microsoft.com/office/powerpoint/2010/main" val="3114724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800">
                <a:solidFill>
                  <a:srgbClr val="000000"/>
                </a:solidFill>
                <a:latin typeface="Arial"/>
                <a:cs typeface="Arial"/>
              </a:rPr>
              <a:t>Sarah</a:t>
            </a:r>
          </a:p>
          <a:p>
            <a:pPr marL="0" marR="0" lvl="0" indent="0" algn="l" defTabSz="914400">
              <a:lnSpc>
                <a:spcPct val="100000"/>
              </a:lnSpc>
              <a:spcBef>
                <a:spcPts val="0"/>
              </a:spcBef>
              <a:spcAft>
                <a:spcPts val="0"/>
              </a:spcAft>
              <a:buClrTx/>
              <a:buSzTx/>
              <a:buFontTx/>
              <a:buNone/>
              <a:tabLst/>
              <a:defRPr/>
            </a:pPr>
            <a:r>
              <a:rPr lang="en-US" sz="1800">
                <a:solidFill>
                  <a:srgbClr val="000000"/>
                </a:solidFill>
                <a:effectLst/>
                <a:latin typeface="Arial"/>
                <a:cs typeface="Arial"/>
              </a:rPr>
              <a:t>To You: Ask the students about their expectations. </a:t>
            </a:r>
            <a:r>
              <a:rPr lang="en-US" sz="1800">
                <a:solidFill>
                  <a:srgbClr val="000000"/>
                </a:solidFill>
                <a:effectLst/>
                <a:latin typeface="Liberation Sans"/>
                <a:ea typeface="Liberation Sans"/>
                <a:cs typeface="Liberation Sans"/>
              </a:rPr>
              <a:t>If the response is little, try specifying for example exam phase and workload. If not mentioned, ask for differences regarding their secondary school and other comparable experiences.</a:t>
            </a:r>
            <a:endParaRPr lang="de-DE">
              <a:latin typeface="Liberation Sans"/>
              <a:ea typeface="Liberation Sans"/>
              <a:cs typeface="Liberation Sans"/>
            </a:endParaRPr>
          </a:p>
          <a:p>
            <a:endParaRPr lang="en-GB"/>
          </a:p>
        </p:txBody>
      </p:sp>
      <p:sp>
        <p:nvSpPr>
          <p:cNvPr id="4" name="Slide Number Placehold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2733233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de-DE"/>
              <a:t>Why time </a:t>
            </a:r>
            <a:r>
              <a:rPr lang="de-DE" err="1"/>
              <a:t>management</a:t>
            </a:r>
            <a:r>
              <a:rPr lang="de-DE"/>
              <a:t> </a:t>
            </a:r>
            <a:r>
              <a:rPr lang="de-DE" err="1"/>
              <a:t>matters</a:t>
            </a:r>
            <a:r>
              <a:rPr lang="de-DE"/>
              <a:t>!</a:t>
            </a:r>
          </a:p>
          <a:p>
            <a:pPr>
              <a:defRPr/>
            </a:pPr>
            <a:endParaRPr lang="de-DE"/>
          </a:p>
          <a:p>
            <a:pPr>
              <a:defRPr/>
            </a:pPr>
            <a:r>
              <a:rPr lang="de-DE"/>
              <a:t>Time </a:t>
            </a:r>
            <a:r>
              <a:rPr lang="de-DE" err="1"/>
              <a:t>management</a:t>
            </a:r>
            <a:r>
              <a:rPr lang="de-DE"/>
              <a:t> </a:t>
            </a:r>
            <a:r>
              <a:rPr lang="de-DE" err="1"/>
              <a:t>allows</a:t>
            </a:r>
            <a:r>
              <a:rPr lang="de-DE"/>
              <a:t> you to </a:t>
            </a:r>
            <a:r>
              <a:rPr lang="de-DE" err="1"/>
              <a:t>intentional</a:t>
            </a:r>
            <a:r>
              <a:rPr lang="de-DE"/>
              <a:t> plan and use your time in the Leuphana Semester and we all know the time </a:t>
            </a:r>
            <a:r>
              <a:rPr lang="en-US"/>
              <a:t>during the Leuphana semester is flying. </a:t>
            </a:r>
          </a:p>
          <a:p>
            <a:pPr>
              <a:defRPr/>
            </a:pPr>
            <a:endParaRPr lang="en-US"/>
          </a:p>
          <a:p>
            <a:pPr>
              <a:defRPr/>
            </a:pPr>
            <a:r>
              <a:rPr lang="en-US"/>
              <a:t>With a working time management you can use your time better for your studies </a:t>
            </a:r>
          </a:p>
          <a:p>
            <a:pPr>
              <a:defRPr/>
            </a:pPr>
            <a:r>
              <a:rPr lang="en-US"/>
              <a:t>your work or private stuff. </a:t>
            </a:r>
          </a:p>
          <a:p>
            <a:pPr>
              <a:defRPr/>
            </a:pPr>
            <a:endParaRPr lang="en-US"/>
          </a:p>
          <a:p>
            <a:pPr>
              <a:defRPr/>
            </a:pPr>
            <a:r>
              <a:rPr lang="en-US"/>
              <a:t>It can help to reduce your stress , especially in stressful times like the semester finals. </a:t>
            </a:r>
          </a:p>
          <a:p>
            <a:pPr>
              <a:defRPr/>
            </a:pPr>
            <a:endParaRPr lang="en-US"/>
          </a:p>
          <a:p>
            <a:pPr>
              <a:defRPr/>
            </a:pPr>
            <a:r>
              <a:rPr lang="en-US"/>
              <a:t>A good working time management is often the key to achieve your goals in academic or personal life </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b="1">
                <a:solidFill>
                  <a:srgbClr val="000000"/>
                </a:solidFill>
                <a:latin typeface="Liberation Sans"/>
                <a:ea typeface="Liberation Sans"/>
                <a:cs typeface="Liberation Sans"/>
              </a:rPr>
              <a:t>Merle</a:t>
            </a:r>
          </a:p>
          <a:p>
            <a:pPr marL="0" marR="0" lvl="0" indent="0" algn="l" defTabSz="914400">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5 principles you can follow in your organizational system. There are also other guidelines. This one is a system that is recommend by the method center.</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Capture everything that needs your attention and put it in one place. That can be an notebook, a list or an App</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Clarify each commitment, what does it mean and what is the desired outcome. What is the next step to complete your goal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Try then to organize your tasks maybe with a list or a different tool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Reflect your system on a weakly basis. Track your tasks and your progress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Execute your tasks by thinking step by step.</a:t>
            </a:r>
          </a:p>
        </p:txBody>
      </p:sp>
      <p:sp>
        <p:nvSpPr>
          <p:cNvPr id="4" name="Slide Number Placeholder 3"/>
          <p:cNvSpPr>
            <a:spLocks noGrp="1"/>
          </p:cNvSpPr>
          <p:nvPr>
            <p:ph type="sldNum" sz="quarter" idx="10"/>
          </p:nvPr>
        </p:nvSpPr>
        <p:spPr bwMode="auto"/>
        <p:txBody>
          <a:bodyPr/>
          <a:lstStyle/>
          <a:p>
            <a:pPr marL="0" marR="0" lvl="0" indent="0" algn="r" defTabSz="91440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endParaRPr>
          </a:p>
        </p:txBody>
      </p:sp>
    </p:spTree>
    <p:extLst>
      <p:ext uri="{BB962C8B-B14F-4D97-AF65-F5344CB8AC3E}">
        <p14:creationId xmlns:p14="http://schemas.microsoft.com/office/powerpoint/2010/main" val="1911535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b="1">
                <a:solidFill>
                  <a:srgbClr val="000000"/>
                </a:solidFill>
                <a:latin typeface="Liberation Sans"/>
                <a:ea typeface="Liberation Sans"/>
                <a:cs typeface="Liberation Sans"/>
              </a:rPr>
              <a:t>Merle</a:t>
            </a:r>
          </a:p>
          <a:p>
            <a:pPr marL="0" marR="0" lvl="0" indent="0" algn="l" defTabSz="914400">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You're always smarter afterwards and it's okay to miscalculate a lot of things in the first semester and also in the second semester, it's going to happen . </a:t>
            </a:r>
          </a:p>
          <a:p>
            <a:pPr marL="0" marR="0" lvl="0" indent="0" algn="l" defTabSz="914400">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a:lnSpc>
                <a:spcPct val="100000"/>
              </a:lnSpc>
              <a:spcBef>
                <a:spcPts val="0"/>
              </a:spcBef>
              <a:spcAft>
                <a:spcPts val="0"/>
              </a:spcAft>
              <a:buClrTx/>
              <a:buSzTx/>
              <a:buFontTx/>
              <a:buNone/>
              <a:tabLst/>
              <a:defRPr/>
            </a:pPr>
            <a:endParaRPr lang="en-US"/>
          </a:p>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The most important thing is a systematic approach. This basically just means that you have an order where input and output are clearly regulated and organized. </a:t>
            </a:r>
          </a:p>
          <a:p>
            <a:pPr marL="0" marR="0" lvl="0" indent="0" algn="l" defTabSz="914400" eaLnBrk="1" fontAlgn="auto" latinLnBrk="0" hangingPunct="1">
              <a:lnSpc>
                <a:spcPct val="100000"/>
              </a:lnSpc>
              <a:spcBef>
                <a:spcPts val="0"/>
              </a:spcBef>
              <a:spcAft>
                <a:spcPts val="0"/>
              </a:spcAft>
              <a:buClrTx/>
              <a:buSzTx/>
              <a:buFontTx/>
              <a:buNone/>
              <a:tabLst/>
              <a:defRPr/>
            </a:pPr>
            <a:endParaRPr lang="en-US" sz="1200" b="0" i="0" u="none">
              <a:solidFill>
                <a:srgbClr val="000000"/>
              </a:solidFill>
              <a:latin typeface="Liberation Sans"/>
              <a:ea typeface="Liberation Sans"/>
              <a:cs typeface="Liberation Sans"/>
            </a:endParaRPr>
          </a:p>
          <a:p>
            <a:pPr marL="0" marR="0" lvl="0" indent="0" algn="l" defTabSz="914400" eaLnBrk="1" fontAlgn="auto" latinLnBrk="0" hangingPunct="1">
              <a:lnSpc>
                <a:spcPct val="100000"/>
              </a:lnSpc>
              <a:spcBef>
                <a:spcPts val="0"/>
              </a:spcBef>
              <a:spcAft>
                <a:spcPts val="0"/>
              </a:spcAft>
              <a:buClrTx/>
              <a:buSzTx/>
              <a:buFontTx/>
              <a:buNone/>
              <a:tabLst/>
              <a:defRPr/>
            </a:pPr>
            <a:r>
              <a:rPr lang="en-US" sz="1200" b="0" i="0" u="none">
                <a:solidFill>
                  <a:srgbClr val="000000"/>
                </a:solidFill>
                <a:latin typeface="Liberation Sans"/>
                <a:ea typeface="Liberation Sans"/>
                <a:cs typeface="Liberation Sans"/>
              </a:rPr>
              <a:t>Whether the system is digital or analog, simple or complicated is up to you. You have to like the system so that it works for you.</a:t>
            </a:r>
            <a:endParaRPr lang="de-DE" b="0"/>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r>
              <a:rPr lang="en-US" b="1"/>
              <a:t>Ina</a:t>
            </a:r>
          </a:p>
          <a:p>
            <a:pPr marL="0" marR="0" lvl="0" indent="0" algn="l" defTabSz="914400">
              <a:lnSpc>
                <a:spcPct val="100000"/>
              </a:lnSpc>
              <a:spcBef>
                <a:spcPts val="0"/>
              </a:spcBef>
              <a:spcAft>
                <a:spcPts val="0"/>
              </a:spcAft>
              <a:buClrTx/>
              <a:buSzTx/>
              <a:buFontTx/>
              <a:buNone/>
              <a:tabLst/>
              <a:defRPr/>
            </a:pPr>
            <a:r>
              <a:rPr lang="en-US" b="1"/>
              <a:t>To you: </a:t>
            </a:r>
            <a:r>
              <a:rPr lang="en-US" b="0"/>
              <a:t>Encourage exchange and present and collect ideas and experiences on the topic of self-organization during your studies. Share your own tips as a tutor. We have already started a list here, feel free to add to it. Ask for suggestions from which everyone can choose what works for them (e.g. </a:t>
            </a:r>
            <a:r>
              <a:rPr lang="en-US" b="1"/>
              <a:t>to the students</a:t>
            </a:r>
            <a:r>
              <a:rPr lang="en-US" b="0"/>
              <a:t>: We are collecting a few organizational strategies here that you can try out. In the end, you should pick what works for you. You're not stupid or lazy if a popular strategy doesn't work for you. Just try something else again!)</a:t>
            </a:r>
            <a:endParaRPr lang="en-US"/>
          </a:p>
          <a:p>
            <a:pPr marL="0" marR="0" lvl="0" indent="0" algn="l" defTabSz="914400" eaLnBrk="1" fontAlgn="auto" latinLnBrk="0" hangingPunct="1">
              <a:lnSpc>
                <a:spcPct val="100000"/>
              </a:lnSpc>
              <a:spcBef>
                <a:spcPts val="0"/>
              </a:spcBef>
              <a:spcAft>
                <a:spcPts val="0"/>
              </a:spcAft>
              <a:buClrTx/>
              <a:buSzTx/>
              <a:buFontTx/>
              <a:buNone/>
              <a:tabLst/>
              <a:defRPr/>
            </a:pPr>
            <a:endParaRPr lang="en-US" b="0"/>
          </a:p>
          <a:p>
            <a:pPr marL="0" marR="0" lvl="0" indent="0" algn="l" defTabSz="914400" eaLnBrk="1" fontAlgn="auto" latinLnBrk="0" hangingPunct="1">
              <a:lnSpc>
                <a:spcPct val="100000"/>
              </a:lnSpc>
              <a:spcBef>
                <a:spcPts val="0"/>
              </a:spcBef>
              <a:spcAft>
                <a:spcPts val="0"/>
              </a:spcAft>
              <a:buClrTx/>
              <a:buSzTx/>
              <a:buFontTx/>
              <a:buNone/>
              <a:tabLst/>
              <a:defRPr/>
            </a:pPr>
            <a:r>
              <a:rPr lang="en-US" b="0"/>
              <a:t>To-do list: simple but effective; tip: a list with everything you can think of and one with the 1-3 most important things you want to do today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Eisenhower matrix: good for prioritizing; depending on whether the task is urgent and/or important, it is treated differently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Time blocking: schedule blocks in the calendar for focused work, organization, but also leisure activities</a:t>
            </a:r>
          </a:p>
          <a:p>
            <a:pPr marL="0" marR="0" lvl="0" indent="0" algn="l" defTabSz="914400" eaLnBrk="1" fontAlgn="auto" latinLnBrk="0" hangingPunct="1">
              <a:lnSpc>
                <a:spcPct val="100000"/>
              </a:lnSpc>
              <a:spcBef>
                <a:spcPts val="0"/>
              </a:spcBef>
              <a:spcAft>
                <a:spcPts val="0"/>
              </a:spcAft>
              <a:buClrTx/>
              <a:buSzTx/>
              <a:buFontTx/>
              <a:buNone/>
              <a:tabLst/>
              <a:defRPr/>
            </a:pPr>
            <a:r>
              <a:rPr lang="en-US" b="0"/>
              <a:t>Pomodoro method: set a timer for 25 minutes and work, then take a 5-minute break (there are also apps that restrict cell phone use during this time); the exact length can of course be changed depending on your own workflow, e.g. some people prefer to work for 50 minutes at a time</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2E522-C06D-E829-D505-FDBB94D06376}"/>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34DB57F3-E4D6-F468-1E6D-8B124E335C4B}"/>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7CEBF3D0-45A0-D4A7-F47C-20AB214AA1C5}"/>
              </a:ext>
            </a:extLst>
          </p:cNvPr>
          <p:cNvSpPr>
            <a:spLocks noGrp="1"/>
          </p:cNvSpPr>
          <p:nvPr>
            <p:ph type="body" idx="1"/>
          </p:nvPr>
        </p:nvSpPr>
        <p:spPr bwMode="auto"/>
        <p:txBody>
          <a:bodyPr/>
          <a:lstStyle/>
          <a:p>
            <a:pPr>
              <a:defRPr/>
            </a:pPr>
            <a:r>
              <a:rPr lang="de-DE"/>
              <a:t>Ina</a:t>
            </a:r>
          </a:p>
          <a:p>
            <a:pPr>
              <a:defRPr/>
            </a:pPr>
            <a:r>
              <a:rPr lang="de-DE"/>
              <a:t>Time </a:t>
            </a:r>
            <a:r>
              <a:rPr lang="de-DE" err="1"/>
              <a:t>management</a:t>
            </a:r>
            <a:endParaRPr/>
          </a:p>
        </p:txBody>
      </p:sp>
      <p:sp>
        <p:nvSpPr>
          <p:cNvPr id="4" name="Slide Number Placeholder 3">
            <a:extLst>
              <a:ext uri="{FF2B5EF4-FFF2-40B4-BE49-F238E27FC236}">
                <a16:creationId xmlns:a16="http://schemas.microsoft.com/office/drawing/2014/main" id="{A297171E-D301-F017-AB74-3A2EABD70C26}"/>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3321509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CBFDF-163F-6597-EA9C-4C9EF3787538}"/>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B1DE829-F0DC-FA09-E738-830EDFE24916}"/>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97E32D1C-1313-35AC-E66D-BF545A199EBA}"/>
              </a:ext>
            </a:extLst>
          </p:cNvPr>
          <p:cNvSpPr>
            <a:spLocks noGrp="1"/>
          </p:cNvSpPr>
          <p:nvPr>
            <p:ph type="body" idx="1"/>
          </p:nvPr>
        </p:nvSpPr>
        <p:spPr bwMode="auto"/>
        <p:txBody>
          <a:bodyPr/>
          <a:lstStyle/>
          <a:p>
            <a:pPr>
              <a:defRPr/>
            </a:pPr>
            <a:r>
              <a:rPr lang="de-DE"/>
              <a:t>Ina</a:t>
            </a:r>
          </a:p>
          <a:p>
            <a:pPr>
              <a:defRPr/>
            </a:pPr>
            <a:r>
              <a:rPr lang="de-DE"/>
              <a:t>Time </a:t>
            </a:r>
            <a:r>
              <a:rPr lang="de-DE" err="1"/>
              <a:t>management</a:t>
            </a:r>
            <a:endParaRPr/>
          </a:p>
        </p:txBody>
      </p:sp>
      <p:sp>
        <p:nvSpPr>
          <p:cNvPr id="4" name="Slide Number Placeholder 3">
            <a:extLst>
              <a:ext uri="{FF2B5EF4-FFF2-40B4-BE49-F238E27FC236}">
                <a16:creationId xmlns:a16="http://schemas.microsoft.com/office/drawing/2014/main" id="{305DA1BD-AC4F-A594-8D6C-853A9E667455}"/>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3823783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D70A-F12E-A2CB-6B9C-B69F1F5457AD}"/>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5F6055B-36B5-6413-7B9E-8FB6CCE332AB}"/>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EFDD4A8F-1CE4-7253-E5B1-E6B15EFEF537}"/>
              </a:ext>
            </a:extLst>
          </p:cNvPr>
          <p:cNvSpPr>
            <a:spLocks noGrp="1"/>
          </p:cNvSpPr>
          <p:nvPr>
            <p:ph type="body" idx="1"/>
          </p:nvPr>
        </p:nvSpPr>
        <p:spPr bwMode="auto"/>
        <p:txBody>
          <a:bodyPr/>
          <a:lstStyle/>
          <a:p>
            <a:pPr>
              <a:defRPr/>
            </a:pPr>
            <a:r>
              <a:rPr lang="de-DE"/>
              <a:t>Ina</a:t>
            </a:r>
          </a:p>
          <a:p>
            <a:pPr>
              <a:defRPr/>
            </a:pPr>
            <a:r>
              <a:rPr lang="de-DE"/>
              <a:t>Time </a:t>
            </a:r>
            <a:r>
              <a:rPr lang="de-DE" err="1"/>
              <a:t>management</a:t>
            </a:r>
            <a:endParaRPr/>
          </a:p>
        </p:txBody>
      </p:sp>
      <p:sp>
        <p:nvSpPr>
          <p:cNvPr id="4" name="Slide Number Placeholder 3">
            <a:extLst>
              <a:ext uri="{FF2B5EF4-FFF2-40B4-BE49-F238E27FC236}">
                <a16:creationId xmlns:a16="http://schemas.microsoft.com/office/drawing/2014/main" id="{8AF47B7E-DDE9-A4D6-3CB8-A6BD0AA8AFAD}"/>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3545942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C383B-B18A-F65E-725E-A56CE366227A}"/>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0A638D81-80AF-38C0-5988-002333B84459}"/>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14FCDEB1-946D-C0C4-5AC2-C3A5FC7D6F91}"/>
              </a:ext>
            </a:extLst>
          </p:cNvPr>
          <p:cNvSpPr>
            <a:spLocks noGrp="1"/>
          </p:cNvSpPr>
          <p:nvPr>
            <p:ph type="body" idx="1"/>
          </p:nvPr>
        </p:nvSpPr>
        <p:spPr bwMode="auto"/>
        <p:txBody>
          <a:bodyPr/>
          <a:lstStyle/>
          <a:p>
            <a:pPr>
              <a:defRPr/>
            </a:pPr>
            <a:r>
              <a:rPr lang="en-US" b="1"/>
              <a:t>Sarah</a:t>
            </a:r>
          </a:p>
          <a:p>
            <a:pPr marL="0" marR="0" lvl="0" indent="0" algn="l" defTabSz="914400">
              <a:lnSpc>
                <a:spcPct val="100000"/>
              </a:lnSpc>
              <a:spcBef>
                <a:spcPts val="0"/>
              </a:spcBef>
              <a:spcAft>
                <a:spcPts val="0"/>
              </a:spcAft>
              <a:buClrTx/>
              <a:buSzTx/>
              <a:buFontTx/>
              <a:buNone/>
              <a:tabLst/>
              <a:defRPr/>
            </a:pPr>
            <a:r>
              <a:rPr lang="en-US" b="1"/>
              <a:t>To you: </a:t>
            </a:r>
            <a:r>
              <a:rPr lang="en-US" b="0"/>
              <a:t>Encourage exchange and present and collect ideas and experiences on the topic of self-organization during your studies. Share your own tips as a tutor. We have already started a list here, feel free to add to it. Ask for suggestions from which everyone can choose what works for them (e.g. </a:t>
            </a:r>
            <a:r>
              <a:rPr lang="en-US" b="1"/>
              <a:t>to the students</a:t>
            </a:r>
            <a:r>
              <a:rPr lang="en-US" b="0"/>
              <a:t>: We are collecting a few organizational strategies here that you can try out. In the end, you should pick what works for you. You're not stupid or lazy if a popular strategy doesn't work for you. Just try something else again!)</a:t>
            </a:r>
            <a:endParaRPr lang="en-US"/>
          </a:p>
          <a:p>
            <a:pPr marL="0" marR="0" lvl="0" indent="0" algn="l" defTabSz="914400" eaLnBrk="1" fontAlgn="auto" latinLnBrk="0" hangingPunct="1">
              <a:lnSpc>
                <a:spcPct val="100000"/>
              </a:lnSpc>
              <a:spcBef>
                <a:spcPts val="0"/>
              </a:spcBef>
              <a:spcAft>
                <a:spcPts val="0"/>
              </a:spcAft>
              <a:buClrTx/>
              <a:buSzTx/>
              <a:buFontTx/>
              <a:buNone/>
              <a:tabLst/>
              <a:defRPr/>
            </a:pPr>
            <a:endParaRPr lang="en-US" b="0"/>
          </a:p>
          <a:p>
            <a:pPr marL="0" marR="0" lvl="0" indent="0" algn="l" defTabSz="914400" eaLnBrk="1" fontAlgn="auto" latinLnBrk="0" hangingPunct="1">
              <a:lnSpc>
                <a:spcPct val="100000"/>
              </a:lnSpc>
              <a:spcBef>
                <a:spcPts val="0"/>
              </a:spcBef>
              <a:spcAft>
                <a:spcPts val="0"/>
              </a:spcAft>
              <a:buClrTx/>
              <a:buSzTx/>
              <a:buFontTx/>
              <a:buNone/>
              <a:tabLst/>
              <a:defRPr/>
            </a:pPr>
            <a:r>
              <a:rPr lang="en-US" b="0"/>
              <a:t>To-do list: simple but effective; tip: a list with everything you can think of and one with the 1-3 most important things you want to do today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Eisenhower matrix: good for prioritizing; depending on whether the task is urgent and/or important, it is treated differently</a:t>
            </a:r>
          </a:p>
          <a:p>
            <a:pPr marL="0" marR="0" lvl="0" indent="0" algn="l" defTabSz="914400" eaLnBrk="1" fontAlgn="auto" latinLnBrk="0" hangingPunct="1">
              <a:lnSpc>
                <a:spcPct val="100000"/>
              </a:lnSpc>
              <a:spcBef>
                <a:spcPts val="0"/>
              </a:spcBef>
              <a:spcAft>
                <a:spcPts val="0"/>
              </a:spcAft>
              <a:buClrTx/>
              <a:buSzTx/>
              <a:buFontTx/>
              <a:buNone/>
              <a:tabLst/>
              <a:defRPr/>
            </a:pPr>
            <a:r>
              <a:rPr lang="en-US" b="0"/>
              <a:t>Time blocking: schedule blocks in the calendar for focused work, organization, but also leisure activities</a:t>
            </a:r>
          </a:p>
          <a:p>
            <a:pPr marL="0" marR="0" lvl="0" indent="0" algn="l" defTabSz="914400" eaLnBrk="1" fontAlgn="auto" latinLnBrk="0" hangingPunct="1">
              <a:lnSpc>
                <a:spcPct val="100000"/>
              </a:lnSpc>
              <a:spcBef>
                <a:spcPts val="0"/>
              </a:spcBef>
              <a:spcAft>
                <a:spcPts val="0"/>
              </a:spcAft>
              <a:buClrTx/>
              <a:buSzTx/>
              <a:buFontTx/>
              <a:buNone/>
              <a:tabLst/>
              <a:defRPr/>
            </a:pPr>
            <a:r>
              <a:rPr lang="en-US" b="0"/>
              <a:t>Pomodoro method: set a timer for 25 minutes and work, then take a 5-minute break (there are also apps that restrict cell phone use during this time); the exact length can of course be changed depending on your own workflow, e.g. some people prefer to work for 50 minutes at a time</a:t>
            </a:r>
          </a:p>
        </p:txBody>
      </p:sp>
      <p:sp>
        <p:nvSpPr>
          <p:cNvPr id="4" name="Slide Number Placeholder 3">
            <a:extLst>
              <a:ext uri="{FF2B5EF4-FFF2-40B4-BE49-F238E27FC236}">
                <a16:creationId xmlns:a16="http://schemas.microsoft.com/office/drawing/2014/main" id="{71360F27-A274-33CD-FEE7-E144B5892FFC}"/>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1944120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A067C-9A4D-C3FA-7D83-888BDDA43425}"/>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DA7614F2-DEE1-AF42-7E65-43E0349690CD}"/>
              </a:ext>
            </a:extLst>
          </p:cNvPr>
          <p:cNvSpPr>
            <a:spLocks noGrp="1" noRot="1" noChangeAspect="1"/>
          </p:cNvSpPr>
          <p:nvPr>
            <p:ph type="sldImg"/>
          </p:nvPr>
        </p:nvSpPr>
        <p:spPr bwMode="auto"/>
      </p:sp>
      <p:sp>
        <p:nvSpPr>
          <p:cNvPr id="3" name="Notes Placeholder 2">
            <a:extLst>
              <a:ext uri="{FF2B5EF4-FFF2-40B4-BE49-F238E27FC236}">
                <a16:creationId xmlns:a16="http://schemas.microsoft.com/office/drawing/2014/main" id="{53B96179-BDA2-201B-8336-C763DC311C25}"/>
              </a:ext>
            </a:extLst>
          </p:cNvPr>
          <p:cNvSpPr>
            <a:spLocks noGrp="1"/>
          </p:cNvSpPr>
          <p:nvPr>
            <p:ph type="body" idx="1"/>
          </p:nvPr>
        </p:nvSpPr>
        <p:spPr bwMode="auto"/>
        <p:txBody>
          <a:bodyPr/>
          <a:lstStyle/>
          <a:p>
            <a:pPr>
              <a:defRPr/>
            </a:pPr>
            <a:r>
              <a:rPr lang="en-US" b="1"/>
              <a:t>Ina</a:t>
            </a:r>
          </a:p>
        </p:txBody>
      </p:sp>
      <p:sp>
        <p:nvSpPr>
          <p:cNvPr id="4" name="Slide Number Placeholder 3">
            <a:extLst>
              <a:ext uri="{FF2B5EF4-FFF2-40B4-BE49-F238E27FC236}">
                <a16:creationId xmlns:a16="http://schemas.microsoft.com/office/drawing/2014/main" id="{032F3A96-A7E6-05E0-7247-05D2001F98A1}"/>
              </a:ext>
            </a:extLst>
          </p:cNvPr>
          <p:cNvSpPr>
            <a:spLocks noGrp="1"/>
          </p:cNvSpPr>
          <p:nvPr>
            <p:ph type="sldNum" sz="quarter" idx="10"/>
          </p:nvPr>
        </p:nvSpPr>
        <p:spPr bwMode="auto"/>
        <p:txBody>
          <a:bodyPr/>
          <a:lstStyle/>
          <a:p>
            <a:pPr>
              <a:defRPr/>
            </a:pPr>
            <a:endParaRPr/>
          </a:p>
        </p:txBody>
      </p:sp>
    </p:spTree>
    <p:extLst>
      <p:ext uri="{BB962C8B-B14F-4D97-AF65-F5344CB8AC3E}">
        <p14:creationId xmlns:p14="http://schemas.microsoft.com/office/powerpoint/2010/main" val="2710236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a:t>To You: </a:t>
            </a:r>
            <a:r>
              <a:rPr lang="en-GB"/>
              <a:t>a collection of Wiki articles for further information</a:t>
            </a:r>
          </a:p>
        </p:txBody>
      </p:sp>
      <p:sp>
        <p:nvSpPr>
          <p:cNvPr id="4" name="Slide Number Placeholder 3"/>
          <p:cNvSpPr>
            <a:spLocks noGrp="1"/>
          </p:cNvSpPr>
          <p:nvPr>
            <p:ph type="sldNum" sz="quarter" idx="5"/>
          </p:nvPr>
        </p:nvSpPr>
        <p:spPr/>
        <p:txBody>
          <a:bodyPr/>
          <a:lstStyle/>
          <a:p>
            <a:fld id="{91C7837A-BE0C-8E44-AC6E-3BD867A160FB}" type="slidenum">
              <a:rPr lang="de-DE" smtClean="0"/>
              <a:t>13</a:t>
            </a:fld>
            <a:endParaRPr lang="de-DE"/>
          </a:p>
        </p:txBody>
      </p:sp>
    </p:spTree>
    <p:extLst>
      <p:ext uri="{BB962C8B-B14F-4D97-AF65-F5344CB8AC3E}">
        <p14:creationId xmlns:p14="http://schemas.microsoft.com/office/powerpoint/2010/main" val="4205090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86B13-1C36-6E86-61DD-DDA1F6E8AE35}"/>
            </a:ext>
          </a:extLst>
        </p:cNvPr>
        <p:cNvGrpSpPr/>
        <p:nvPr/>
      </p:nvGrpSpPr>
      <p:grpSpPr bwMode="auto">
        <a:xfrm>
          <a:off x="0" y="0"/>
          <a:ext cx="0" cy="0"/>
          <a:chOff x="0" y="0"/>
          <a:chExt cx="0" cy="0"/>
        </a:xfrm>
      </p:grpSpPr>
      <p:sp>
        <p:nvSpPr>
          <p:cNvPr id="2" name="Slide Image Placeholder 1">
            <a:extLst>
              <a:ext uri="{FF2B5EF4-FFF2-40B4-BE49-F238E27FC236}">
                <a16:creationId xmlns:a16="http://schemas.microsoft.com/office/drawing/2014/main" id="{B188BEC5-956E-0BEE-34FE-23BA5D89F96E}"/>
              </a:ext>
            </a:extLst>
          </p:cNvPr>
          <p:cNvSpPr>
            <a:spLocks noGrp="1" noRot="1" noChangeAspect="1"/>
          </p:cNvSpPr>
          <p:nvPr>
            <p:ph type="sldImg"/>
          </p:nvPr>
        </p:nvSpPr>
        <p:spPr bwMode="auto">
          <a:xfrm>
            <a:off x="381000" y="685800"/>
            <a:ext cx="6096000" cy="3429000"/>
          </a:xfrm>
        </p:spPr>
      </p:sp>
      <p:sp>
        <p:nvSpPr>
          <p:cNvPr id="3" name="Notes Placeholder 2">
            <a:extLst>
              <a:ext uri="{FF2B5EF4-FFF2-40B4-BE49-F238E27FC236}">
                <a16:creationId xmlns:a16="http://schemas.microsoft.com/office/drawing/2014/main" id="{FCCA0F8A-0150-6E94-EE4A-D14C28D4778A}"/>
              </a:ext>
            </a:extLst>
          </p:cNvPr>
          <p:cNvSpPr>
            <a:spLocks noGrp="1"/>
          </p:cNvSpPr>
          <p:nvPr>
            <p:ph type="body" idx="1"/>
          </p:nvPr>
        </p:nvSpPr>
        <p:spPr bwMode="auto"/>
        <p:txBody>
          <a:bodyPr/>
          <a:lstStyle/>
          <a:p>
            <a:pPr>
              <a:defRPr/>
            </a:pPr>
            <a:r>
              <a:rPr lang="en-US"/>
              <a:t>ari</a:t>
            </a:r>
          </a:p>
          <a:p>
            <a:pPr>
              <a:defRPr/>
            </a:pPr>
            <a:endParaRPr lang="en-US"/>
          </a:p>
        </p:txBody>
      </p:sp>
      <p:sp>
        <p:nvSpPr>
          <p:cNvPr id="4" name="Slide Number Placeholder 3">
            <a:extLst>
              <a:ext uri="{FF2B5EF4-FFF2-40B4-BE49-F238E27FC236}">
                <a16:creationId xmlns:a16="http://schemas.microsoft.com/office/drawing/2014/main" id="{3200F9A7-8EF1-AAB6-E3B0-9F23A0BFAADA}"/>
              </a:ext>
            </a:extLst>
          </p:cNvPr>
          <p:cNvSpPr>
            <a:spLocks noGrp="1"/>
          </p:cNvSpPr>
          <p:nvPr>
            <p:ph type="sldNum" sz="quarter" idx="10"/>
          </p:nvPr>
        </p:nvSpPr>
        <p:spPr bwMode="auto"/>
        <p:txBody>
          <a:bodyPr/>
          <a:lstStyle/>
          <a:p>
            <a:pPr>
              <a:defRPr/>
            </a:pPr>
            <a:fld id="{3FBF71C9-B1D1-2F3E-4637-A33F591CE0D5}" type="slidenum">
              <a:rPr/>
              <a:t>14</a:t>
            </a:fld>
            <a:endParaRPr/>
          </a:p>
        </p:txBody>
      </p:sp>
    </p:spTree>
    <p:extLst>
      <p:ext uri="{BB962C8B-B14F-4D97-AF65-F5344CB8AC3E}">
        <p14:creationId xmlns:p14="http://schemas.microsoft.com/office/powerpoint/2010/main" val="1611275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the students: </a:t>
            </a:r>
            <a:r>
              <a:rPr lang="en-US" sz="1200" b="0" i="0" u="none">
                <a:solidFill>
                  <a:srgbClr val="000000"/>
                </a:solidFill>
                <a:latin typeface="Liberation Sans"/>
                <a:ea typeface="Liberation Sans"/>
                <a:cs typeface="Liberation Sans"/>
              </a:rPr>
              <a:t>System, system - what kind of system? Sounds like a computer program... But it doesn't have to be. And don't worry, you don't have to program anything. If you prefer a physical calendar and are comfortable keeping your to-do's in paper form, then go for it. But there are plenty of advantages to a digital approach and very few disadvantages. We recommend giving the Notion app a try. The program has been flourishing for students for a few years now and combines a writing program, calendar, to-do list and much more. What's more, the app costs nothing for </a:t>
            </a:r>
            <a:r>
              <a:rPr lang="en-US" sz="1200" b="0" i="0" u="none" err="1">
                <a:solidFill>
                  <a:srgbClr val="000000"/>
                </a:solidFill>
                <a:latin typeface="Liberation Sans"/>
                <a:ea typeface="Liberation Sans"/>
                <a:cs typeface="Liberation Sans"/>
              </a:rPr>
              <a:t>Leuphana</a:t>
            </a:r>
            <a:r>
              <a:rPr lang="en-US" sz="1200" b="0" i="0" u="none">
                <a:solidFill>
                  <a:srgbClr val="000000"/>
                </a:solidFill>
                <a:latin typeface="Liberation Sans"/>
                <a:ea typeface="Liberation Sans"/>
                <a:cs typeface="Liberation Sans"/>
              </a:rPr>
              <a:t> students and there is a template that was created especially for the </a:t>
            </a:r>
            <a:r>
              <a:rPr lang="en-US" sz="1200" b="0" i="0" u="none" err="1">
                <a:solidFill>
                  <a:srgbClr val="000000"/>
                </a:solidFill>
                <a:latin typeface="Liberation Sans"/>
                <a:ea typeface="Liberation Sans"/>
                <a:cs typeface="Liberation Sans"/>
              </a:rPr>
              <a:t>Leuphana</a:t>
            </a:r>
            <a:r>
              <a:rPr lang="en-US" sz="1200" b="0" i="0" u="none">
                <a:solidFill>
                  <a:srgbClr val="000000"/>
                </a:solidFill>
                <a:latin typeface="Liberation Sans"/>
                <a:ea typeface="Liberation Sans"/>
                <a:cs typeface="Liberation Sans"/>
              </a:rPr>
              <a:t> semester. </a:t>
            </a: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200" b="1" i="0" u="none">
                <a:solidFill>
                  <a:srgbClr val="000000"/>
                </a:solidFill>
                <a:latin typeface="Liberation Sans"/>
                <a:ea typeface="Liberation Sans"/>
                <a:cs typeface="Liberation Sans"/>
              </a:rPr>
              <a:t>To you: </a:t>
            </a:r>
            <a:r>
              <a:rPr lang="en-US" sz="1200" b="0" i="0" u="none">
                <a:solidFill>
                  <a:srgbClr val="000000"/>
                </a:solidFill>
                <a:latin typeface="Liberation Sans"/>
                <a:ea typeface="Liberation Sans"/>
                <a:cs typeface="Liberation Sans"/>
              </a:rPr>
              <a:t>Some classic reflections after the first semester are already listed here, add your own if necessary. Try not to frame the points as gloomy prophecies, but rather as situations that could possibly occur. If this is the case, then the first-year students are definitely not alone in this; many others are experiencing this and students before them have done so too. Please emphasize the last point in particular. Of course, you can't prevent some students from no longer coming to the tutorial. But try to convey the value of the tutorials and how they help first-year students to overcome the challenges that await them. We are convinced that the absence from tutorials will lead to considerable additional work and make the start of the semester unnecessarily difficult. Meaningful content is covered that is selected by students themselves.</a:t>
            </a:r>
            <a:endParaRPr lang="de-DE" b="0"/>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To the students: </a:t>
            </a:r>
            <a:r>
              <a:rPr lang="en-US" b="0"/>
              <a:t>You learn to distinguish the important from the unimportant from facts and information. It can help to ask questions such as “Why is the topic important?” or “What is the main message?”, as this allows you to keep the bigger picture in mind and take notes based on it. It might also help to pay attention to what the professor is focusing </a:t>
            </a:r>
            <a:r>
              <a:rPr lang="en-US" b="0" err="1"/>
              <a:t>on</a:t>
            </a:r>
            <a:r>
              <a:rPr lang="en-US" b="0"/>
              <a:t>. You learn the most when you really have to use your brain when taking notes, because you formulate things yourself, try to understand, recognize connections,...</a:t>
            </a:r>
            <a:endParaRPr lang="en-GB" b="0"/>
          </a:p>
        </p:txBody>
      </p:sp>
      <p:sp>
        <p:nvSpPr>
          <p:cNvPr id="4" name="Slide Number Placeholder 3"/>
          <p:cNvSpPr>
            <a:spLocks noGrp="1"/>
          </p:cNvSpPr>
          <p:nvPr>
            <p:ph type="sldNum" sz="quarter" idx="5"/>
          </p:nvPr>
        </p:nvSpPr>
        <p:spPr/>
        <p:txBody>
          <a:bodyPr/>
          <a:lstStyle/>
          <a:p>
            <a:fld id="{91C7837A-BE0C-8E44-AC6E-3BD867A160FB}" type="slidenum">
              <a:rPr lang="de-DE" smtClean="0"/>
              <a:t>17</a:t>
            </a:fld>
            <a:endParaRPr lang="de-DE"/>
          </a:p>
        </p:txBody>
      </p:sp>
    </p:spTree>
    <p:extLst>
      <p:ext uri="{BB962C8B-B14F-4D97-AF65-F5344CB8AC3E}">
        <p14:creationId xmlns:p14="http://schemas.microsoft.com/office/powerpoint/2010/main" val="3934854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de-DE" b="1" err="1"/>
              <a:t>To</a:t>
            </a:r>
            <a:r>
              <a:rPr lang="de-DE" b="1"/>
              <a:t> </a:t>
            </a:r>
            <a:r>
              <a:rPr lang="de-DE" b="1" err="1"/>
              <a:t>the</a:t>
            </a:r>
            <a:r>
              <a:rPr lang="de-DE" b="1"/>
              <a:t> </a:t>
            </a:r>
            <a:r>
              <a:rPr lang="de-DE" b="1" err="1"/>
              <a:t>students</a:t>
            </a:r>
            <a:r>
              <a:rPr lang="de-DE" b="1"/>
              <a:t>: </a:t>
            </a:r>
            <a:r>
              <a:rPr lang="en-US" sz="1800">
                <a:solidFill>
                  <a:srgbClr val="000000"/>
                </a:solidFill>
                <a:effectLst/>
                <a:latin typeface="Arial" panose="020B0604020202020204" pitchFamily="34" charset="0"/>
              </a:rPr>
              <a:t>Here are some aspects of effective time management that we find important.</a:t>
            </a:r>
            <a:endParaRPr lang="en-US">
              <a:effectLst/>
            </a:endParaRPr>
          </a:p>
        </p:txBody>
      </p:sp>
      <p:sp>
        <p:nvSpPr>
          <p:cNvPr id="4" name="Slide Number Placeholder 3"/>
          <p:cNvSpPr>
            <a:spLocks noGrp="1"/>
          </p:cNvSpPr>
          <p:nvPr>
            <p:ph type="sldNum" sz="quarter" idx="5"/>
          </p:nvPr>
        </p:nvSpPr>
        <p:spPr/>
        <p:txBody>
          <a:bodyPr/>
          <a:lstStyle/>
          <a:p>
            <a:fld id="{91C7837A-BE0C-8E44-AC6E-3BD867A160FB}" type="slidenum">
              <a:rPr lang="de-DE" smtClean="0"/>
              <a:t>18</a:t>
            </a:fld>
            <a:endParaRPr lang="de-DE"/>
          </a:p>
        </p:txBody>
      </p:sp>
    </p:spTree>
    <p:extLst>
      <p:ext uri="{BB962C8B-B14F-4D97-AF65-F5344CB8AC3E}">
        <p14:creationId xmlns:p14="http://schemas.microsoft.com/office/powerpoint/2010/main" val="25563476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sv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Master" Target="../slideMasters/slideMaster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Master" Target="../slideMasters/slideMaster2.xml"/><Relationship Id="rId6" Type="http://schemas.openxmlformats.org/officeDocument/2006/relationships/image" Target="../media/image1.jpeg"/><Relationship Id="rId5" Type="http://schemas.openxmlformats.org/officeDocument/2006/relationships/image" Target="../media/image40.png"/><Relationship Id="rId4" Type="http://schemas.openxmlformats.org/officeDocument/2006/relationships/image" Target="../media/image3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Master" Target="../slideMasters/slideMaster2.xml"/><Relationship Id="rId6" Type="http://schemas.openxmlformats.org/officeDocument/2006/relationships/image" Target="../media/image1.jpeg"/><Relationship Id="rId5" Type="http://schemas.openxmlformats.org/officeDocument/2006/relationships/image" Target="../media/image37.png"/><Relationship Id="rId4" Type="http://schemas.openxmlformats.org/officeDocument/2006/relationships/image" Target="../media/image4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Tutor*in: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4" name="Untertitel 2">
            <a:extLst>
              <a:ext uri="{FF2B5EF4-FFF2-40B4-BE49-F238E27FC236}">
                <a16:creationId xmlns:a16="http://schemas.microsoft.com/office/drawing/2014/main" id="{098E5780-8526-6089-883C-304A7B1FEF87}"/>
              </a:ext>
            </a:extLst>
          </p:cNvPr>
          <p:cNvSpPr txBox="1">
            <a:spLocks/>
          </p:cNvSpPr>
          <p:nvPr userDrawn="1"/>
        </p:nvSpPr>
        <p:spPr>
          <a:xfrm>
            <a:off x="2205642" y="6228658"/>
            <a:ext cx="13716000" cy="127604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de-DE"/>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a:t> </a:t>
            </a:r>
          </a:p>
          <a:p>
            <a:pPr lvl="1"/>
            <a:r>
              <a:rPr lang="de-DE"/>
              <a:t>  </a:t>
            </a:r>
          </a:p>
          <a:p>
            <a:pPr lvl="0"/>
            <a:r>
              <a:rPr lang="de-DE"/>
              <a:t>  </a:t>
            </a:r>
          </a:p>
          <a:p>
            <a:pPr lvl="1"/>
            <a:r>
              <a:rPr lang="de-DE"/>
              <a:t>  </a:t>
            </a:r>
          </a:p>
          <a:p>
            <a:pPr lvl="1"/>
            <a:r>
              <a:rPr lang="de-DE"/>
              <a:t> </a:t>
            </a:r>
          </a:p>
          <a:p>
            <a:pPr lvl="0"/>
            <a:r>
              <a:rPr lang="de-DE"/>
              <a:t>  </a:t>
            </a:r>
          </a:p>
          <a:p>
            <a:pPr lvl="1"/>
            <a:r>
              <a:rPr lang="de-DE"/>
              <a:t> </a:t>
            </a:r>
          </a:p>
          <a:p>
            <a:pPr lvl="1"/>
            <a:r>
              <a:rPr lang="de-DE"/>
              <a:t> </a:t>
            </a:r>
          </a:p>
          <a:p>
            <a:pPr lvl="1"/>
            <a:r>
              <a:rPr lang="de-DE"/>
              <a:t> </a:t>
            </a:r>
          </a:p>
          <a:p>
            <a:pPr lvl="0"/>
            <a:r>
              <a:rPr lang="de-DE"/>
              <a:t> </a:t>
            </a:r>
          </a:p>
          <a:p>
            <a:pPr lvl="0"/>
            <a:endParaRPr lang="de-DE"/>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a:t>Schön das Ihr da wart!</a:t>
            </a:r>
            <a:br>
              <a:rPr lang="de-DE"/>
            </a:br>
            <a:r>
              <a:rPr lang="de-DE"/>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Mastertitelformat bearbeiten</a:t>
            </a:r>
            <a:endParaRPr/>
          </a:p>
        </p:txBody>
      </p:sp>
      <p:sp>
        <p:nvSpPr>
          <p:cNvPr id="17"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1400"/>
          </a:p>
        </p:txBody>
      </p:sp>
      <p:sp>
        <p:nvSpPr>
          <p:cNvPr id="30" name="Freeform 10"/>
          <p:cNvSpPr/>
          <p:nvPr userDrawn="1"/>
        </p:nvSpPr>
        <p:spPr bwMode="auto">
          <a:xfrm rot="-2487859">
            <a:off x="634235" y="-130796"/>
            <a:ext cx="2100922"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1400"/>
          </a:p>
        </p:txBody>
      </p:sp>
      <p:sp>
        <p:nvSpPr>
          <p:cNvPr id="31" name="Freeform 2"/>
          <p:cNvSpPr/>
          <p:nvPr userDrawn="1"/>
        </p:nvSpPr>
        <p:spPr bwMode="auto">
          <a:xfrm>
            <a:off x="92944" y="603209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1400"/>
          </a:p>
        </p:txBody>
      </p:sp>
      <p:sp>
        <p:nvSpPr>
          <p:cNvPr id="32"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1400"/>
          </a:p>
        </p:txBody>
      </p:sp>
      <p:sp>
        <p:nvSpPr>
          <p:cNvPr id="33" name="Freeform 4"/>
          <p:cNvSpPr/>
          <p:nvPr userDrawn="1"/>
        </p:nvSpPr>
        <p:spPr bwMode="auto">
          <a:xfrm>
            <a:off x="-817600" y="-741415"/>
            <a:ext cx="2912188"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1400"/>
          </a:p>
        </p:txBody>
      </p:sp>
      <p:sp>
        <p:nvSpPr>
          <p:cNvPr id="34" name="Freeform 5"/>
          <p:cNvSpPr/>
          <p:nvPr userDrawn="1"/>
        </p:nvSpPr>
        <p:spPr bwMode="auto">
          <a:xfrm rot="16008410">
            <a:off x="15833994" y="712804"/>
            <a:ext cx="2347588"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1400"/>
          </a:p>
        </p:txBody>
      </p:sp>
      <p:sp>
        <p:nvSpPr>
          <p:cNvPr id="35" name="Freeform 6"/>
          <p:cNvSpPr/>
          <p:nvPr userDrawn="1"/>
        </p:nvSpPr>
        <p:spPr bwMode="auto">
          <a:xfrm rot="7860678">
            <a:off x="126546" y="7226320"/>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1400"/>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1400"/>
          </a:p>
        </p:txBody>
      </p:sp>
      <p:sp>
        <p:nvSpPr>
          <p:cNvPr id="38" name="Freeform 9"/>
          <p:cNvSpPr/>
          <p:nvPr userDrawn="1"/>
        </p:nvSpPr>
        <p:spPr bwMode="auto">
          <a:xfrm rot="1296289">
            <a:off x="15384350" y="-545920"/>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1400"/>
          </a:p>
        </p:txBody>
      </p:sp>
      <p:sp>
        <p:nvSpPr>
          <p:cNvPr id="39" name="Freeform 10"/>
          <p:cNvSpPr/>
          <p:nvPr userDrawn="1"/>
        </p:nvSpPr>
        <p:spPr bwMode="auto">
          <a:xfrm rot="-2487859">
            <a:off x="16952454" y="4767485"/>
            <a:ext cx="2033724" cy="1619754"/>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1400"/>
          </a:p>
        </p:txBody>
      </p:sp>
      <p:sp>
        <p:nvSpPr>
          <p:cNvPr id="40" name="Freeform 11"/>
          <p:cNvSpPr/>
          <p:nvPr userDrawn="1"/>
        </p:nvSpPr>
        <p:spPr bwMode="auto">
          <a:xfrm rot="1296289">
            <a:off x="296954" y="7886424"/>
            <a:ext cx="3294096" cy="275408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1400"/>
          </a:p>
        </p:txBody>
      </p:sp>
      <p:sp>
        <p:nvSpPr>
          <p:cNvPr id="41" name="Freeform 12"/>
          <p:cNvSpPr/>
          <p:nvPr userDrawn="1"/>
        </p:nvSpPr>
        <p:spPr bwMode="auto">
          <a:xfrm rot="2046247">
            <a:off x="17723194" y="-357479"/>
            <a:ext cx="1707092"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3548780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5" y="-392158"/>
            <a:ext cx="2100922"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1400"/>
          </a:p>
        </p:txBody>
      </p:sp>
      <p:sp>
        <p:nvSpPr>
          <p:cNvPr id="5" name="Freeform 2"/>
          <p:cNvSpPr/>
          <p:nvPr userDrawn="1"/>
        </p:nvSpPr>
        <p:spPr bwMode="auto">
          <a:xfrm>
            <a:off x="351158" y="5589209"/>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1400"/>
          </a:p>
        </p:txBody>
      </p:sp>
      <p:sp>
        <p:nvSpPr>
          <p:cNvPr id="6"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1400"/>
          </a:p>
        </p:txBody>
      </p:sp>
      <p:sp>
        <p:nvSpPr>
          <p:cNvPr id="7" name="Freeform 4"/>
          <p:cNvSpPr/>
          <p:nvPr userDrawn="1"/>
        </p:nvSpPr>
        <p:spPr bwMode="auto">
          <a:xfrm>
            <a:off x="-817599" y="-741416"/>
            <a:ext cx="3505910" cy="3416668"/>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sz="1400"/>
          </a:p>
        </p:txBody>
      </p:sp>
      <p:sp>
        <p:nvSpPr>
          <p:cNvPr id="8" name="Freeform 5"/>
          <p:cNvSpPr/>
          <p:nvPr userDrawn="1"/>
        </p:nvSpPr>
        <p:spPr bwMode="auto">
          <a:xfrm rot="16008410">
            <a:off x="15358696" y="2451780"/>
            <a:ext cx="2347588"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1400"/>
          </a:p>
        </p:txBody>
      </p:sp>
      <p:sp>
        <p:nvSpPr>
          <p:cNvPr id="9" name="Freeform 6"/>
          <p:cNvSpPr/>
          <p:nvPr userDrawn="1"/>
        </p:nvSpPr>
        <p:spPr bwMode="auto">
          <a:xfrm rot="7860678">
            <a:off x="702798" y="5736336"/>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1400"/>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1400"/>
          </a:p>
        </p:txBody>
      </p:sp>
      <p:sp>
        <p:nvSpPr>
          <p:cNvPr id="11" name="Freeform 8"/>
          <p:cNvSpPr/>
          <p:nvPr userDrawn="1"/>
        </p:nvSpPr>
        <p:spPr bwMode="auto">
          <a:xfrm rot="-458312">
            <a:off x="15741562" y="989321"/>
            <a:ext cx="3155792" cy="3023822"/>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1400"/>
          </a:p>
        </p:txBody>
      </p:sp>
      <p:sp>
        <p:nvSpPr>
          <p:cNvPr id="12" name="Freeform 9"/>
          <p:cNvSpPr/>
          <p:nvPr userDrawn="1"/>
        </p:nvSpPr>
        <p:spPr bwMode="auto">
          <a:xfrm rot="1296289">
            <a:off x="14830584"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sz="1400"/>
          </a:p>
        </p:txBody>
      </p:sp>
      <p:sp>
        <p:nvSpPr>
          <p:cNvPr id="13" name="Freeform 10"/>
          <p:cNvSpPr/>
          <p:nvPr userDrawn="1"/>
        </p:nvSpPr>
        <p:spPr bwMode="auto">
          <a:xfrm rot="-2487859">
            <a:off x="17027788" y="4966512"/>
            <a:ext cx="1763768" cy="149439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1400"/>
          </a:p>
        </p:txBody>
      </p:sp>
      <p:sp>
        <p:nvSpPr>
          <p:cNvPr id="14" name="Freeform 11"/>
          <p:cNvSpPr/>
          <p:nvPr userDrawn="1"/>
        </p:nvSpPr>
        <p:spPr bwMode="auto">
          <a:xfrm rot="1296289">
            <a:off x="619918" y="6991212"/>
            <a:ext cx="3294096" cy="275408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sz="1400"/>
          </a:p>
        </p:txBody>
      </p:sp>
      <p:sp>
        <p:nvSpPr>
          <p:cNvPr id="15" name="Freeform 12"/>
          <p:cNvSpPr/>
          <p:nvPr userDrawn="1"/>
        </p:nvSpPr>
        <p:spPr bwMode="auto">
          <a:xfrm rot="2046247">
            <a:off x="16212870" y="1083511"/>
            <a:ext cx="2213172"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1400"/>
          </a:p>
        </p:txBody>
      </p:sp>
      <p:sp>
        <p:nvSpPr>
          <p:cNvPr id="16"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3627602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obj" preserve="1" userDrawn="1">
  <p:cSld name="Titel und Inhalt">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1944000" y="1301860"/>
            <a:ext cx="14400000" cy="1260000"/>
          </a:xfrm>
        </p:spPr>
        <p:txBody>
          <a:bodyPr/>
          <a:lstStyle/>
          <a:p>
            <a:pPr>
              <a:defRPr/>
            </a:pPr>
            <a:r>
              <a:rPr lang="de-DE"/>
              <a:t>Mastertitelformat bearbeiten</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1400"/>
          </a:p>
        </p:txBody>
      </p:sp>
      <p:sp>
        <p:nvSpPr>
          <p:cNvPr id="8" name="Freeform 3"/>
          <p:cNvSpPr/>
          <p:nvPr userDrawn="1"/>
        </p:nvSpPr>
        <p:spPr bwMode="auto">
          <a:xfrm rot="4680788">
            <a:off x="16257419" y="8270983"/>
            <a:ext cx="2635834" cy="2525610"/>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1400"/>
          </a:p>
        </p:txBody>
      </p:sp>
      <p:sp>
        <p:nvSpPr>
          <p:cNvPr id="9" name="Freeform 4"/>
          <p:cNvSpPr/>
          <p:nvPr userDrawn="1"/>
        </p:nvSpPr>
        <p:spPr bwMode="auto">
          <a:xfrm>
            <a:off x="15433703" y="7133472"/>
            <a:ext cx="3505910" cy="3416668"/>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1400"/>
          </a:p>
        </p:txBody>
      </p:sp>
      <p:sp>
        <p:nvSpPr>
          <p:cNvPr id="10" name="Freeform 5"/>
          <p:cNvSpPr/>
          <p:nvPr userDrawn="1"/>
        </p:nvSpPr>
        <p:spPr bwMode="auto">
          <a:xfrm>
            <a:off x="-241194" y="146187"/>
            <a:ext cx="2085372" cy="203229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1400"/>
          </a:p>
        </p:txBody>
      </p:sp>
      <p:sp>
        <p:nvSpPr>
          <p:cNvPr id="11" name="Freeform 6"/>
          <p:cNvSpPr/>
          <p:nvPr userDrawn="1"/>
        </p:nvSpPr>
        <p:spPr bwMode="auto">
          <a:xfrm rot="7860678">
            <a:off x="668732" y="930928"/>
            <a:ext cx="1600956" cy="1490344"/>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1400"/>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1400"/>
          </a:p>
        </p:txBody>
      </p:sp>
      <p:sp>
        <p:nvSpPr>
          <p:cNvPr id="13" name="Freeform 8"/>
          <p:cNvSpPr/>
          <p:nvPr userDrawn="1"/>
        </p:nvSpPr>
        <p:spPr bwMode="auto">
          <a:xfrm rot="-458312">
            <a:off x="16771768" y="216259"/>
            <a:ext cx="3155792" cy="3023822"/>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1400"/>
          </a:p>
        </p:txBody>
      </p:sp>
      <p:sp>
        <p:nvSpPr>
          <p:cNvPr id="14" name="Freeform 9"/>
          <p:cNvSpPr/>
          <p:nvPr userDrawn="1"/>
        </p:nvSpPr>
        <p:spPr bwMode="auto">
          <a:xfrm rot="1296289">
            <a:off x="15646620" y="-376703"/>
            <a:ext cx="2265600" cy="1919582"/>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1400"/>
          </a:p>
        </p:txBody>
      </p:sp>
      <p:sp>
        <p:nvSpPr>
          <p:cNvPr id="15" name="Freeform 10"/>
          <p:cNvSpPr/>
          <p:nvPr userDrawn="1"/>
        </p:nvSpPr>
        <p:spPr bwMode="auto">
          <a:xfrm rot="2310651">
            <a:off x="-811537" y="3739758"/>
            <a:ext cx="2509962" cy="209559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1400"/>
          </a:p>
        </p:txBody>
      </p:sp>
      <p:sp>
        <p:nvSpPr>
          <p:cNvPr id="17" name="Freeform 12"/>
          <p:cNvSpPr/>
          <p:nvPr userDrawn="1"/>
        </p:nvSpPr>
        <p:spPr bwMode="auto">
          <a:xfrm rot="7628196">
            <a:off x="17318416" y="2283639"/>
            <a:ext cx="1939168" cy="1805190"/>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1400"/>
          </a:p>
        </p:txBody>
      </p:sp>
      <p:sp>
        <p:nvSpPr>
          <p:cNvPr id="18"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1400"/>
          </a:p>
        </p:txBody>
      </p:sp>
    </p:spTree>
    <p:extLst>
      <p:ext uri="{BB962C8B-B14F-4D97-AF65-F5344CB8AC3E}">
        <p14:creationId xmlns:p14="http://schemas.microsoft.com/office/powerpoint/2010/main" val="2420628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78" r:id="rId4"/>
    <p:sldLayoutId id="2147483677"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ormAutofit/>
          </a:bodyPr>
          <a:lstStyle/>
          <a:p>
            <a:pPr>
              <a:defRPr/>
            </a:pPr>
            <a:r>
              <a:rPr lang="de-DE"/>
              <a:t>Mastertitelformat bearbeiten</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8" name="Freeform 13"/>
          <p:cNvSpPr/>
          <p:nvPr userDrawn="1"/>
        </p:nvSpPr>
        <p:spPr bwMode="auto">
          <a:xfrm>
            <a:off x="7687909" y="30603"/>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5"/>
            <a:stretch/>
          </a:blipFill>
        </p:spPr>
        <p:txBody>
          <a:bodyPr/>
          <a:lstStyle/>
          <a:p>
            <a:pPr>
              <a:defRPr/>
            </a:pPr>
            <a:endParaRPr lang="de-DE" sz="1400"/>
          </a:p>
        </p:txBody>
      </p:sp>
    </p:spTree>
    <p:extLst>
      <p:ext uri="{BB962C8B-B14F-4D97-AF65-F5344CB8AC3E}">
        <p14:creationId xmlns:p14="http://schemas.microsoft.com/office/powerpoint/2010/main" val="73175606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58" r:id="rId3"/>
  </p:sldLayoutIdLst>
  <p:txStyles>
    <p:titleStyle>
      <a:lvl1pPr algn="l" defTabSz="457200">
        <a:lnSpc>
          <a:spcPct val="90000"/>
        </a:lnSpc>
        <a:spcBef>
          <a:spcPts val="0"/>
        </a:spcBef>
        <a:buNone/>
        <a:defRPr sz="2200">
          <a:solidFill>
            <a:schemeClr val="tx1"/>
          </a:solidFill>
          <a:latin typeface="+mj-lt"/>
          <a:ea typeface="+mj-ea"/>
          <a:cs typeface="+mj-cs"/>
        </a:defRPr>
      </a:lvl1pPr>
    </p:titleStyle>
    <p:bodyStyle>
      <a:lvl1pPr marL="114300" indent="-114300" algn="l" defTabSz="457200">
        <a:lnSpc>
          <a:spcPct val="90000"/>
        </a:lnSpc>
        <a:spcBef>
          <a:spcPts val="500"/>
        </a:spcBef>
        <a:buFont typeface="Arial"/>
        <a:buChar char="•"/>
        <a:defRPr sz="1400">
          <a:solidFill>
            <a:schemeClr val="tx1"/>
          </a:solidFill>
          <a:latin typeface="+mn-lt"/>
          <a:ea typeface="+mn-ea"/>
          <a:cs typeface="+mn-cs"/>
        </a:defRPr>
      </a:lvl1pPr>
      <a:lvl2pPr marL="342900" indent="-114300" algn="l" defTabSz="457200">
        <a:lnSpc>
          <a:spcPct val="90000"/>
        </a:lnSpc>
        <a:spcBef>
          <a:spcPts val="250"/>
        </a:spcBef>
        <a:buFont typeface="Arial"/>
        <a:buChar char="•"/>
        <a:defRPr sz="1200">
          <a:solidFill>
            <a:schemeClr val="tx1"/>
          </a:solidFill>
          <a:latin typeface="+mn-lt"/>
          <a:ea typeface="+mn-ea"/>
          <a:cs typeface="+mn-cs"/>
        </a:defRPr>
      </a:lvl2pPr>
      <a:lvl3pPr marL="571500" indent="-114300" algn="l" defTabSz="457200">
        <a:lnSpc>
          <a:spcPct val="90000"/>
        </a:lnSpc>
        <a:spcBef>
          <a:spcPts val="250"/>
        </a:spcBef>
        <a:buFont typeface="Arial"/>
        <a:buChar char="•"/>
        <a:defRPr sz="1000">
          <a:solidFill>
            <a:schemeClr val="tx1"/>
          </a:solidFill>
          <a:latin typeface="+mn-lt"/>
          <a:ea typeface="+mn-ea"/>
          <a:cs typeface="+mn-cs"/>
        </a:defRPr>
      </a:lvl3pPr>
      <a:lvl4pPr marL="800100" indent="-114300" algn="l" defTabSz="457200">
        <a:lnSpc>
          <a:spcPct val="90000"/>
        </a:lnSpc>
        <a:spcBef>
          <a:spcPts val="250"/>
        </a:spcBef>
        <a:buFont typeface="Arial"/>
        <a:buChar char="•"/>
        <a:defRPr sz="900">
          <a:solidFill>
            <a:schemeClr val="tx1"/>
          </a:solidFill>
          <a:latin typeface="+mn-lt"/>
          <a:ea typeface="+mn-ea"/>
          <a:cs typeface="+mn-cs"/>
        </a:defRPr>
      </a:lvl4pPr>
      <a:lvl5pPr marL="1028700" indent="-114300" algn="l" defTabSz="457200">
        <a:lnSpc>
          <a:spcPct val="90000"/>
        </a:lnSpc>
        <a:spcBef>
          <a:spcPts val="250"/>
        </a:spcBef>
        <a:buFont typeface="Arial"/>
        <a:buChar char="•"/>
        <a:defRPr sz="900">
          <a:solidFill>
            <a:schemeClr val="tx1"/>
          </a:solidFill>
          <a:latin typeface="+mn-lt"/>
          <a:ea typeface="+mn-ea"/>
          <a:cs typeface="+mn-cs"/>
        </a:defRPr>
      </a:lvl5pPr>
      <a:lvl6pPr marL="1257300" indent="-114300" algn="l" defTabSz="457200">
        <a:lnSpc>
          <a:spcPct val="90000"/>
        </a:lnSpc>
        <a:spcBef>
          <a:spcPts val="250"/>
        </a:spcBef>
        <a:buFont typeface="Arial"/>
        <a:buChar char="•"/>
        <a:defRPr sz="900">
          <a:solidFill>
            <a:schemeClr val="tx1"/>
          </a:solidFill>
          <a:latin typeface="+mn-lt"/>
          <a:ea typeface="+mn-ea"/>
          <a:cs typeface="+mn-cs"/>
        </a:defRPr>
      </a:lvl6pPr>
      <a:lvl7pPr marL="1485900" indent="-114300" algn="l" defTabSz="457200">
        <a:lnSpc>
          <a:spcPct val="90000"/>
        </a:lnSpc>
        <a:spcBef>
          <a:spcPts val="250"/>
        </a:spcBef>
        <a:buFont typeface="Arial"/>
        <a:buChar char="•"/>
        <a:defRPr sz="900">
          <a:solidFill>
            <a:schemeClr val="tx1"/>
          </a:solidFill>
          <a:latin typeface="+mn-lt"/>
          <a:ea typeface="+mn-ea"/>
          <a:cs typeface="+mn-cs"/>
        </a:defRPr>
      </a:lvl7pPr>
      <a:lvl8pPr marL="1714500" indent="-114300" algn="l" defTabSz="457200">
        <a:lnSpc>
          <a:spcPct val="90000"/>
        </a:lnSpc>
        <a:spcBef>
          <a:spcPts val="250"/>
        </a:spcBef>
        <a:buFont typeface="Arial"/>
        <a:buChar char="•"/>
        <a:defRPr sz="900">
          <a:solidFill>
            <a:schemeClr val="tx1"/>
          </a:solidFill>
          <a:latin typeface="+mn-lt"/>
          <a:ea typeface="+mn-ea"/>
          <a:cs typeface="+mn-cs"/>
        </a:defRPr>
      </a:lvl8pPr>
      <a:lvl9pPr marL="1943100" indent="-114300" algn="l" defTabSz="457200">
        <a:lnSpc>
          <a:spcPct val="90000"/>
        </a:lnSpc>
        <a:spcBef>
          <a:spcPts val="250"/>
        </a:spcBef>
        <a:buFont typeface="Arial"/>
        <a:buChar char="•"/>
        <a:defRPr sz="900">
          <a:solidFill>
            <a:schemeClr val="tx1"/>
          </a:solidFill>
          <a:latin typeface="+mn-lt"/>
          <a:ea typeface="+mn-ea"/>
          <a:cs typeface="+mn-cs"/>
        </a:defRPr>
      </a:lvl9pPr>
    </p:bodyStyle>
    <p:otherStyle>
      <a:defPPr>
        <a:defRPr lang="de-DE"/>
      </a:defPPr>
      <a:lvl1pPr marL="0" algn="l" defTabSz="457200">
        <a:defRPr sz="900">
          <a:solidFill>
            <a:schemeClr val="tx1"/>
          </a:solidFill>
          <a:latin typeface="+mn-lt"/>
          <a:ea typeface="+mn-ea"/>
          <a:cs typeface="+mn-cs"/>
        </a:defRPr>
      </a:lvl1pPr>
      <a:lvl2pPr marL="228600" algn="l" defTabSz="457200">
        <a:defRPr sz="900">
          <a:solidFill>
            <a:schemeClr val="tx1"/>
          </a:solidFill>
          <a:latin typeface="+mn-lt"/>
          <a:ea typeface="+mn-ea"/>
          <a:cs typeface="+mn-cs"/>
        </a:defRPr>
      </a:lvl2pPr>
      <a:lvl3pPr marL="457200" algn="l" defTabSz="457200">
        <a:defRPr sz="900">
          <a:solidFill>
            <a:schemeClr val="tx1"/>
          </a:solidFill>
          <a:latin typeface="+mn-lt"/>
          <a:ea typeface="+mn-ea"/>
          <a:cs typeface="+mn-cs"/>
        </a:defRPr>
      </a:lvl3pPr>
      <a:lvl4pPr marL="685800" algn="l" defTabSz="457200">
        <a:defRPr sz="900">
          <a:solidFill>
            <a:schemeClr val="tx1"/>
          </a:solidFill>
          <a:latin typeface="+mn-lt"/>
          <a:ea typeface="+mn-ea"/>
          <a:cs typeface="+mn-cs"/>
        </a:defRPr>
      </a:lvl4pPr>
      <a:lvl5pPr marL="914400" algn="l" defTabSz="457200">
        <a:defRPr sz="900">
          <a:solidFill>
            <a:schemeClr val="tx1"/>
          </a:solidFill>
          <a:latin typeface="+mn-lt"/>
          <a:ea typeface="+mn-ea"/>
          <a:cs typeface="+mn-cs"/>
        </a:defRPr>
      </a:lvl5pPr>
      <a:lvl6pPr marL="1143000" algn="l" defTabSz="457200">
        <a:defRPr sz="900">
          <a:solidFill>
            <a:schemeClr val="tx1"/>
          </a:solidFill>
          <a:latin typeface="+mn-lt"/>
          <a:ea typeface="+mn-ea"/>
          <a:cs typeface="+mn-cs"/>
        </a:defRPr>
      </a:lvl6pPr>
      <a:lvl7pPr marL="1371600" algn="l" defTabSz="457200">
        <a:defRPr sz="900">
          <a:solidFill>
            <a:schemeClr val="tx1"/>
          </a:solidFill>
          <a:latin typeface="+mn-lt"/>
          <a:ea typeface="+mn-ea"/>
          <a:cs typeface="+mn-cs"/>
        </a:defRPr>
      </a:lvl7pPr>
      <a:lvl8pPr marL="1600200" algn="l" defTabSz="457200">
        <a:defRPr sz="900">
          <a:solidFill>
            <a:schemeClr val="tx1"/>
          </a:solidFill>
          <a:latin typeface="+mn-lt"/>
          <a:ea typeface="+mn-ea"/>
          <a:cs typeface="+mn-cs"/>
        </a:defRPr>
      </a:lvl8pPr>
      <a:lvl9pPr marL="1828800" algn="l" defTabSz="457200">
        <a:defRPr sz="9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hyperlink" Target="https://sustainabilitymethods.org/index.php/Studying"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hyperlink" Target="https://sustainabilitymethods.org/index.php/Coping_with_psychological_problems" TargetMode="External"/><Relationship Id="rId5" Type="http://schemas.openxmlformats.org/officeDocument/2006/relationships/hyperlink" Target="https://sustainabilitymethods.org/index.php/Notion" TargetMode="External"/><Relationship Id="rId4" Type="http://schemas.openxmlformats.org/officeDocument/2006/relationships/hyperlink" Target="https://sustainabilitymethods.org/index.php/Pomodoro"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47.png"/><Relationship Id="rId2" Type="http://schemas.openxmlformats.org/officeDocument/2006/relationships/slideLayout" Target="../slideLayouts/slideLayout10.xml"/><Relationship Id="rId1" Type="http://schemas.openxmlformats.org/officeDocument/2006/relationships/video" Target="https://www.youtube.com/embed/aA7si7AmPkY?feature=oembed" TargetMode="External"/><Relationship Id="rId6" Type="http://schemas.openxmlformats.org/officeDocument/2006/relationships/hyperlink" Target="https://lstemplates.notion.site/Leuphana-Templates-abb41bc9039a4263bfefc55c6701b77d?pvs=4" TargetMode="External"/><Relationship Id="rId5" Type="http://schemas.openxmlformats.org/officeDocument/2006/relationships/image" Target="../media/image46.jpeg"/><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1A_B5F5EF6D.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a:latin typeface="Arial"/>
              </a:rPr>
              <a:t>Time-management in </a:t>
            </a:r>
            <a:r>
              <a:rPr lang="de-DE" err="1">
                <a:latin typeface="Arial"/>
              </a:rPr>
              <a:t>your</a:t>
            </a:r>
            <a:r>
              <a:rPr lang="de-DE">
                <a:latin typeface="Arial"/>
              </a:rPr>
              <a:t> </a:t>
            </a:r>
            <a:r>
              <a:rPr lang="de-DE" err="1">
                <a:latin typeface="Arial"/>
              </a:rPr>
              <a:t>studies</a:t>
            </a:r>
            <a:endParaRPr lang="de-DE"/>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vert="horz" lIns="91440" tIns="45720" rIns="91440" bIns="45720" rtlCol="0" anchor="t">
            <a:normAutofit/>
          </a:bodyPr>
          <a:lstStyle/>
          <a:p>
            <a:r>
              <a:rPr lang="de-DE"/>
              <a:t>Tutor*in: Sarah, Ina, Merle</a:t>
            </a:r>
          </a:p>
        </p:txBody>
      </p:sp>
      <p:sp>
        <p:nvSpPr>
          <p:cNvPr id="4" name="Textfeld 3">
            <a:extLst>
              <a:ext uri="{FF2B5EF4-FFF2-40B4-BE49-F238E27FC236}">
                <a16:creationId xmlns:a16="http://schemas.microsoft.com/office/drawing/2014/main" id="{A1656D96-C536-B9F6-54B2-2D2250C5E574}"/>
              </a:ext>
            </a:extLst>
          </p:cNvPr>
          <p:cNvSpPr txBox="1"/>
          <p:nvPr/>
        </p:nvSpPr>
        <p:spPr>
          <a:xfrm>
            <a:off x="13111843" y="7984671"/>
            <a:ext cx="195942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DE" sz="2400">
                <a:cs typeface="Arial"/>
              </a:rPr>
              <a:t>12.11.2025</a:t>
            </a:r>
            <a:endParaRPr lang="de-DE" sz="2400"/>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a:xfrm>
            <a:off x="3987694" y="1953349"/>
            <a:ext cx="11452143" cy="1250314"/>
          </a:xfrm>
        </p:spPr>
        <p:txBody>
          <a:bodyPr/>
          <a:lstStyle/>
          <a:p>
            <a:r>
              <a:rPr lang="de-DE"/>
              <a:t>Agenda</a:t>
            </a:r>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a:xfrm>
            <a:off x="4887036" y="3734368"/>
            <a:ext cx="8498307" cy="4048169"/>
          </a:xfrm>
        </p:spPr>
        <p:txBody>
          <a:bodyPr vert="horz" lIns="91440" tIns="45720" rIns="91440" bIns="45720" rtlCol="0" anchor="t">
            <a:normAutofit/>
          </a:bodyPr>
          <a:lstStyle/>
          <a:p>
            <a:pPr>
              <a:lnSpc>
                <a:spcPct val="150000"/>
              </a:lnSpc>
            </a:pPr>
            <a:r>
              <a:rPr lang="de-DE">
                <a:cs typeface="Arial"/>
              </a:rPr>
              <a:t> </a:t>
            </a:r>
            <a:r>
              <a:rPr lang="de-DE" err="1">
                <a:cs typeface="Arial"/>
              </a:rPr>
              <a:t>Your</a:t>
            </a:r>
            <a:r>
              <a:rPr lang="de-DE">
                <a:cs typeface="Arial"/>
              </a:rPr>
              <a:t> </a:t>
            </a:r>
            <a:r>
              <a:rPr lang="de-DE" err="1">
                <a:cs typeface="Arial"/>
              </a:rPr>
              <a:t>Experiences</a:t>
            </a:r>
            <a:endParaRPr lang="de-DE">
              <a:cs typeface="Arial"/>
            </a:endParaRPr>
          </a:p>
          <a:p>
            <a:pPr>
              <a:lnSpc>
                <a:spcPct val="150000"/>
              </a:lnSpc>
            </a:pPr>
            <a:r>
              <a:rPr lang="de-DE"/>
              <a:t> Time Management – </a:t>
            </a:r>
            <a:r>
              <a:rPr lang="de-DE" err="1"/>
              <a:t>Our</a:t>
            </a:r>
            <a:r>
              <a:rPr lang="de-DE"/>
              <a:t> </a:t>
            </a:r>
            <a:r>
              <a:rPr lang="de-DE" err="1"/>
              <a:t>Strategies</a:t>
            </a:r>
            <a:endParaRPr lang="de-DE" err="1">
              <a:cs typeface="Arial"/>
            </a:endParaRPr>
          </a:p>
          <a:p>
            <a:pPr>
              <a:lnSpc>
                <a:spcPct val="150000"/>
              </a:lnSpc>
            </a:pPr>
            <a:r>
              <a:rPr lang="de-DE"/>
              <a:t> </a:t>
            </a:r>
            <a:r>
              <a:rPr lang="de-DE" err="1"/>
              <a:t>Conclusion</a:t>
            </a:r>
            <a:r>
              <a:rPr lang="de-DE"/>
              <a:t> </a:t>
            </a:r>
            <a:endParaRPr lang="de-DE">
              <a:cs typeface="Arial"/>
            </a:endParaRPr>
          </a:p>
          <a:p>
            <a:pPr>
              <a:lnSpc>
                <a:spcPct val="150000"/>
              </a:lnSpc>
              <a:buFont typeface="Arial" panose="020B0604020202020204"/>
              <a:buAutoNum type="arabicPeriod"/>
            </a:pPr>
            <a:endParaRPr lang="de-DE">
              <a:cs typeface="Arial"/>
            </a:endParaRPr>
          </a:p>
        </p:txBody>
      </p:sp>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54EE25-6DB5-A8B3-73ED-80E08B7CE1A5}"/>
              </a:ext>
            </a:extLst>
          </p:cNvPr>
          <p:cNvSpPr>
            <a:spLocks noGrp="1"/>
          </p:cNvSpPr>
          <p:nvPr>
            <p:ph type="title"/>
          </p:nvPr>
        </p:nvSpPr>
        <p:spPr/>
        <p:txBody>
          <a:bodyPr>
            <a:normAutofit/>
          </a:bodyPr>
          <a:lstStyle/>
          <a:p>
            <a:pPr algn="ctr"/>
            <a:r>
              <a:rPr lang="en-GB" sz="5400">
                <a:cs typeface="Arial"/>
              </a:rPr>
              <a:t>Have you already found good strategies for a good time management in your studies?</a:t>
            </a:r>
          </a:p>
        </p:txBody>
      </p:sp>
    </p:spTree>
    <p:extLst>
      <p:ext uri="{BB962C8B-B14F-4D97-AF65-F5344CB8AC3E}">
        <p14:creationId xmlns:p14="http://schemas.microsoft.com/office/powerpoint/2010/main" val="409895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5" name="Objekt 4"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err="1"/>
              <a:t>Why</a:t>
            </a:r>
            <a:r>
              <a:rPr lang="de-DE" sz="4400"/>
              <a:t> time </a:t>
            </a:r>
            <a:r>
              <a:rPr lang="de-DE" sz="4400" err="1"/>
              <a:t>management</a:t>
            </a:r>
            <a:r>
              <a:rPr lang="de-DE" sz="4400"/>
              <a:t> </a:t>
            </a:r>
            <a:r>
              <a:rPr lang="de-DE" sz="4400" err="1"/>
              <a:t>matters</a:t>
            </a:r>
            <a:r>
              <a:rPr lang="de-DE" sz="4400"/>
              <a:t>!</a:t>
            </a:r>
          </a:p>
        </p:txBody>
      </p:sp>
      <p:sp>
        <p:nvSpPr>
          <p:cNvPr id="3" name="Textplatzhalter 2"/>
          <p:cNvSpPr>
            <a:spLocks noGrp="1"/>
          </p:cNvSpPr>
          <p:nvPr>
            <p:ph idx="1"/>
          </p:nvPr>
        </p:nvSpPr>
        <p:spPr bwMode="auto">
          <a:xfrm>
            <a:off x="3048000" y="2781300"/>
            <a:ext cx="12192000" cy="5452672"/>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nSpc>
                <a:spcPct val="150000"/>
              </a:lnSpc>
            </a:pPr>
            <a:r>
              <a:rPr lang="de-DE" sz="3600" err="1">
                <a:latin typeface="+mn-lt"/>
              </a:rPr>
              <a:t>Intentional</a:t>
            </a:r>
            <a:r>
              <a:rPr lang="de-DE" sz="3600">
                <a:latin typeface="+mn-lt"/>
              </a:rPr>
              <a:t> </a:t>
            </a:r>
            <a:r>
              <a:rPr lang="en-US" sz="3600">
                <a:solidFill>
                  <a:srgbClr val="000000"/>
                </a:solidFill>
                <a:effectLst/>
                <a:latin typeface="+mn-lt"/>
              </a:rPr>
              <a:t>planning and use of time</a:t>
            </a:r>
            <a:endParaRPr lang="en-US" sz="4800">
              <a:effectLst/>
              <a:latin typeface="+mn-lt"/>
            </a:endParaRPr>
          </a:p>
          <a:p>
            <a:pPr>
              <a:lnSpc>
                <a:spcPct val="150000"/>
              </a:lnSpc>
            </a:pPr>
            <a:r>
              <a:rPr lang="en-US" sz="3600">
                <a:solidFill>
                  <a:srgbClr val="000000"/>
                </a:solidFill>
                <a:effectLst/>
                <a:latin typeface="+mn-lt"/>
              </a:rPr>
              <a:t>Use your time better for university, work and private stuff</a:t>
            </a:r>
            <a:endParaRPr lang="en-US" sz="4800">
              <a:effectLst/>
              <a:latin typeface="+mn-lt"/>
            </a:endParaRPr>
          </a:p>
          <a:p>
            <a:pPr>
              <a:lnSpc>
                <a:spcPct val="150000"/>
              </a:lnSpc>
            </a:pPr>
            <a:r>
              <a:rPr lang="en-US" sz="3600">
                <a:solidFill>
                  <a:srgbClr val="000000"/>
                </a:solidFill>
                <a:effectLst/>
                <a:latin typeface="+mn-lt"/>
              </a:rPr>
              <a:t>Reduce your stress level to a minimum</a:t>
            </a:r>
            <a:endParaRPr lang="en-US" sz="4800">
              <a:effectLst/>
              <a:latin typeface="+mn-lt"/>
            </a:endParaRPr>
          </a:p>
          <a:p>
            <a:pPr>
              <a:lnSpc>
                <a:spcPct val="150000"/>
              </a:lnSpc>
            </a:pPr>
            <a:r>
              <a:rPr lang="en-US" sz="3600">
                <a:solidFill>
                  <a:srgbClr val="000000"/>
                </a:solidFill>
                <a:effectLst/>
                <a:latin typeface="+mn-lt"/>
              </a:rPr>
              <a:t>Reaching your academic and personal goals</a:t>
            </a:r>
            <a:endParaRPr lang="en-US" sz="4800">
              <a:effectLst/>
              <a:latin typeface="+mn-lt"/>
            </a:endParaRPr>
          </a:p>
        </p:txBody>
      </p:sp>
    </p:spTree>
    <p:extLst>
      <p:ext uri="{BB962C8B-B14F-4D97-AF65-F5344CB8AC3E}">
        <p14:creationId xmlns:p14="http://schemas.microsoft.com/office/powerpoint/2010/main" val="3579388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p:txBody>
          <a:bodyPr vert="horz"/>
          <a:lstStyle/>
          <a:p>
            <a:pPr>
              <a:defRPr/>
            </a:pPr>
            <a:r>
              <a:rPr lang="de-DE" b="1" err="1"/>
              <a:t>Getting</a:t>
            </a:r>
            <a:r>
              <a:rPr lang="de-DE" b="1"/>
              <a:t> </a:t>
            </a:r>
            <a:r>
              <a:rPr lang="de-DE" b="1" err="1"/>
              <a:t>things</a:t>
            </a:r>
            <a:r>
              <a:rPr lang="de-DE" b="1"/>
              <a:t> </a:t>
            </a:r>
            <a:r>
              <a:rPr lang="de-DE" b="1" err="1"/>
              <a:t>done</a:t>
            </a:r>
            <a:r>
              <a:rPr lang="de-DE" b="1"/>
              <a:t> (David Allen)</a:t>
            </a:r>
            <a:endParaRPr lang="de-DE" b="1">
              <a:cs typeface="Arial"/>
            </a:endParaRPr>
          </a:p>
        </p:txBody>
      </p:sp>
      <p:sp>
        <p:nvSpPr>
          <p:cNvPr id="3" name="Textfeld 2"/>
          <p:cNvSpPr txBox="1"/>
          <p:nvPr/>
        </p:nvSpPr>
        <p:spPr bwMode="auto">
          <a:xfrm>
            <a:off x="305928" y="8769696"/>
            <a:ext cx="12347366" cy="430887"/>
          </a:xfrm>
          <a:prstGeom prst="rect">
            <a:avLst/>
          </a:prstGeom>
          <a:noFill/>
        </p:spPr>
        <p:txBody>
          <a:bodyPr wrap="square" rtlCol="0">
            <a:spAutoFit/>
          </a:bodyPr>
          <a:lstStyle/>
          <a:p>
            <a:pPr defTabSz="1828800">
              <a:buClr>
                <a:srgbClr val="000000"/>
              </a:buClr>
              <a:defRPr/>
            </a:pPr>
            <a:r>
              <a:rPr lang="de-DE" sz="2200" kern="0">
                <a:solidFill>
                  <a:srgbClr val="000000"/>
                </a:solidFill>
                <a:latin typeface="Arial"/>
                <a:cs typeface="Arial"/>
              </a:rPr>
              <a:t>Source: https://evernote.com/blog/getting-started-with-gtd-templates/</a:t>
            </a:r>
            <a:endParaRPr sz="2800" kern="0">
              <a:solidFill>
                <a:srgbClr val="000000"/>
              </a:solidFill>
              <a:latin typeface="Arial"/>
              <a:cs typeface="Arial"/>
            </a:endParaRPr>
          </a:p>
        </p:txBody>
      </p:sp>
      <p:sp>
        <p:nvSpPr>
          <p:cNvPr id="10" name="Alternativer Prozess 9">
            <a:extLst>
              <a:ext uri="{FF2B5EF4-FFF2-40B4-BE49-F238E27FC236}">
                <a16:creationId xmlns:a16="http://schemas.microsoft.com/office/drawing/2014/main" id="{05D3D754-F33C-BE44-DFEC-3391FCEB4E3D}"/>
              </a:ext>
            </a:extLst>
          </p:cNvPr>
          <p:cNvSpPr/>
          <p:nvPr/>
        </p:nvSpPr>
        <p:spPr>
          <a:xfrm>
            <a:off x="305928" y="2695237"/>
            <a:ext cx="3599794"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FFC000"/>
                </a:solidFill>
                <a:latin typeface="Arial"/>
                <a:cs typeface="Arial"/>
              </a:rPr>
              <a:t>CAPTURE</a:t>
            </a:r>
          </a:p>
          <a:p>
            <a:pPr marL="0" lvl="1" defTabSz="1828800">
              <a:buClr>
                <a:srgbClr val="000000"/>
              </a:buClr>
              <a:defRPr/>
            </a:pPr>
            <a:r>
              <a:rPr lang="en-US" sz="3000">
                <a:solidFill>
                  <a:srgbClr val="000000"/>
                </a:solidFill>
                <a:latin typeface="Arial" panose="020B0604020202020204" pitchFamily="34" charset="0"/>
              </a:rPr>
              <a:t>every </a:t>
            </a:r>
            <a:r>
              <a:rPr lang="en-US" sz="2800">
                <a:solidFill>
                  <a:srgbClr val="000000"/>
                </a:solidFill>
                <a:latin typeface="Arial" panose="020B0604020202020204" pitchFamily="34" charset="0"/>
              </a:rPr>
              <a:t>commitment</a:t>
            </a:r>
            <a:r>
              <a:rPr lang="en-US" sz="3000">
                <a:solidFill>
                  <a:srgbClr val="000000"/>
                </a:solidFill>
                <a:latin typeface="Arial" panose="020B0604020202020204" pitchFamily="34" charset="0"/>
              </a:rPr>
              <a:t> in your life in a trusted place outside your head (like a software </a:t>
            </a:r>
          </a:p>
          <a:p>
            <a:pPr marL="0" lvl="1" defTabSz="1828800">
              <a:buClr>
                <a:srgbClr val="000000"/>
              </a:buClr>
              <a:defRPr/>
            </a:pPr>
            <a:r>
              <a:rPr lang="en-US" sz="3000">
                <a:solidFill>
                  <a:srgbClr val="000000"/>
                </a:solidFill>
                <a:latin typeface="Arial" panose="020B0604020202020204" pitchFamily="34" charset="0"/>
              </a:rPr>
              <a:t>program or a piece of paper)</a:t>
            </a:r>
          </a:p>
          <a:p>
            <a:pPr marL="0" lvl="1" defTabSz="1828800">
              <a:buClr>
                <a:srgbClr val="000000"/>
              </a:buClr>
              <a:defRPr/>
            </a:pPr>
            <a:endParaRPr lang="de-DE" sz="2400" kern="0">
              <a:solidFill>
                <a:srgbClr val="000000"/>
              </a:solidFill>
              <a:latin typeface="Arial"/>
              <a:cs typeface="Arial"/>
            </a:endParaRPr>
          </a:p>
        </p:txBody>
      </p:sp>
      <p:sp>
        <p:nvSpPr>
          <p:cNvPr id="12" name="Alternativer Prozess 11">
            <a:extLst>
              <a:ext uri="{FF2B5EF4-FFF2-40B4-BE49-F238E27FC236}">
                <a16:creationId xmlns:a16="http://schemas.microsoft.com/office/drawing/2014/main" id="{309D111C-F8C7-3C6A-F05F-C988AD06FAA6}"/>
              </a:ext>
            </a:extLst>
          </p:cNvPr>
          <p:cNvSpPr/>
          <p:nvPr/>
        </p:nvSpPr>
        <p:spPr>
          <a:xfrm>
            <a:off x="4057547" y="2695229"/>
            <a:ext cx="3866072"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000000">
                    <a:lumMod val="50000"/>
                    <a:lumOff val="50000"/>
                  </a:srgbClr>
                </a:solidFill>
                <a:latin typeface="Arial"/>
                <a:cs typeface="Arial"/>
              </a:rPr>
              <a:t>CLARIFY</a:t>
            </a:r>
            <a:r>
              <a:rPr lang="de-DE" sz="2800" kern="0">
                <a:solidFill>
                  <a:srgbClr val="000000"/>
                </a:solidFill>
                <a:latin typeface="Arial"/>
                <a:cs typeface="Arial"/>
              </a:rPr>
              <a:t> </a:t>
            </a:r>
            <a:r>
              <a:rPr lang="en-US" sz="3000" kern="0">
                <a:solidFill>
                  <a:srgbClr val="000000"/>
                </a:solidFill>
                <a:latin typeface="Arial"/>
                <a:cs typeface="Arial"/>
              </a:rPr>
              <a:t>exactly what each commitment  is, the desired</a:t>
            </a:r>
          </a:p>
          <a:p>
            <a:pPr marL="0" lvl="1" defTabSz="1828800">
              <a:buClr>
                <a:srgbClr val="000000"/>
              </a:buClr>
              <a:defRPr/>
            </a:pPr>
            <a:r>
              <a:rPr lang="en-US" sz="3000" kern="0">
                <a:solidFill>
                  <a:srgbClr val="000000"/>
                </a:solidFill>
                <a:latin typeface="Arial"/>
                <a:cs typeface="Arial"/>
              </a:rPr>
              <a:t>outcome of fulfilling it, and only</a:t>
            </a:r>
          </a:p>
          <a:p>
            <a:pPr marL="0" lvl="1" defTabSz="1828800">
              <a:buClr>
                <a:srgbClr val="000000"/>
              </a:buClr>
              <a:defRPr/>
            </a:pPr>
            <a:r>
              <a:rPr lang="en-US" sz="3000" kern="0">
                <a:solidFill>
                  <a:srgbClr val="000000"/>
                </a:solidFill>
                <a:latin typeface="Arial"/>
                <a:cs typeface="Arial"/>
              </a:rPr>
              <a:t>the very next </a:t>
            </a:r>
          </a:p>
          <a:p>
            <a:pPr marL="0" lvl="1" defTabSz="1828800">
              <a:buClr>
                <a:srgbClr val="000000"/>
              </a:buClr>
              <a:defRPr/>
            </a:pPr>
            <a:r>
              <a:rPr lang="en-US" sz="3000" kern="0">
                <a:solidFill>
                  <a:srgbClr val="000000"/>
                </a:solidFill>
                <a:latin typeface="Arial"/>
                <a:cs typeface="Arial"/>
              </a:rPr>
              <a:t>action required</a:t>
            </a:r>
          </a:p>
          <a:p>
            <a:pPr marL="0" lvl="1" defTabSz="1828800">
              <a:buClr>
                <a:srgbClr val="000000"/>
              </a:buClr>
              <a:defRPr/>
            </a:pPr>
            <a:endParaRPr lang="de-DE" sz="2800" kern="0">
              <a:solidFill>
                <a:srgbClr val="000000"/>
              </a:solidFill>
              <a:latin typeface="Arial"/>
              <a:cs typeface="Arial"/>
            </a:endParaRPr>
          </a:p>
        </p:txBody>
      </p:sp>
      <p:sp>
        <p:nvSpPr>
          <p:cNvPr id="13" name="Alternativer Prozess 12">
            <a:extLst>
              <a:ext uri="{FF2B5EF4-FFF2-40B4-BE49-F238E27FC236}">
                <a16:creationId xmlns:a16="http://schemas.microsoft.com/office/drawing/2014/main" id="{AE27E494-2A4B-F207-E84B-E0028911C0B5}"/>
              </a:ext>
            </a:extLst>
          </p:cNvPr>
          <p:cNvSpPr/>
          <p:nvPr/>
        </p:nvSpPr>
        <p:spPr>
          <a:xfrm>
            <a:off x="8075444" y="2676179"/>
            <a:ext cx="3123476"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spc="-300">
                <a:solidFill>
                  <a:srgbClr val="92D050"/>
                </a:solidFill>
                <a:latin typeface="Arial"/>
                <a:cs typeface="Arial"/>
              </a:rPr>
              <a:t>ORGANIZE</a:t>
            </a:r>
            <a:r>
              <a:rPr lang="de-DE" sz="2800" kern="0">
                <a:solidFill>
                  <a:srgbClr val="000000"/>
                </a:solidFill>
                <a:latin typeface="Arial"/>
                <a:cs typeface="Arial"/>
              </a:rPr>
              <a:t> </a:t>
            </a:r>
            <a:r>
              <a:rPr lang="en-US" sz="3200">
                <a:solidFill>
                  <a:srgbClr val="000000"/>
                </a:solidFill>
                <a:effectLst/>
                <a:latin typeface="Arial" panose="020B0604020202020204" pitchFamily="34" charset="0"/>
              </a:rPr>
              <a:t> reminders of </a:t>
            </a:r>
          </a:p>
          <a:p>
            <a:pPr marL="0" lvl="1" defTabSz="1828800">
              <a:buClr>
                <a:srgbClr val="000000"/>
              </a:buClr>
              <a:defRPr/>
            </a:pPr>
            <a:r>
              <a:rPr lang="en-US" sz="3200">
                <a:solidFill>
                  <a:srgbClr val="000000"/>
                </a:solidFill>
                <a:effectLst/>
                <a:latin typeface="Arial" panose="020B0604020202020204" pitchFamily="34" charset="0"/>
              </a:rPr>
              <a:t>these actions in form of  a Project List</a:t>
            </a:r>
            <a:endParaRPr lang="en-US" sz="4400">
              <a:effectLst/>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p:txBody>
      </p:sp>
      <p:sp>
        <p:nvSpPr>
          <p:cNvPr id="14" name="Alternativer Prozess 13">
            <a:extLst>
              <a:ext uri="{FF2B5EF4-FFF2-40B4-BE49-F238E27FC236}">
                <a16:creationId xmlns:a16="http://schemas.microsoft.com/office/drawing/2014/main" id="{FAB5A4C0-08F2-6FBF-530B-902972E5A42E}"/>
              </a:ext>
            </a:extLst>
          </p:cNvPr>
          <p:cNvSpPr/>
          <p:nvPr/>
        </p:nvSpPr>
        <p:spPr>
          <a:xfrm>
            <a:off x="11315952" y="2695229"/>
            <a:ext cx="3274544"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pPr marL="0" lvl="1" defTabSz="1828800">
              <a:buClr>
                <a:srgbClr val="000000"/>
              </a:buClr>
              <a:defRPr/>
            </a:pPr>
            <a:r>
              <a:rPr lang="de-DE" sz="4000" b="1" kern="0">
                <a:solidFill>
                  <a:srgbClr val="00B0F0"/>
                </a:solidFill>
                <a:latin typeface="Arial"/>
                <a:cs typeface="Arial"/>
              </a:rPr>
              <a:t>REFLECT</a:t>
            </a:r>
            <a:r>
              <a:rPr lang="de-DE" sz="2800" kern="0">
                <a:solidFill>
                  <a:srgbClr val="000000"/>
                </a:solidFill>
                <a:latin typeface="Arial"/>
                <a:cs typeface="Arial"/>
              </a:rPr>
              <a:t> </a:t>
            </a:r>
          </a:p>
          <a:p>
            <a:r>
              <a:rPr lang="en-US" sz="3000">
                <a:solidFill>
                  <a:srgbClr val="000000"/>
                </a:solidFill>
                <a:effectLst/>
                <a:latin typeface="Arial" panose="020B0604020202020204" pitchFamily="34" charset="0"/>
              </a:rPr>
              <a:t>on your list on a weekly basis to make sure it’s </a:t>
            </a:r>
          </a:p>
          <a:p>
            <a:r>
              <a:rPr lang="en-US" sz="3000">
                <a:solidFill>
                  <a:srgbClr val="000000"/>
                </a:solidFill>
                <a:effectLst/>
                <a:latin typeface="Arial" panose="020B0604020202020204" pitchFamily="34" charset="0"/>
              </a:rPr>
              <a:t>clear, current, and complete</a:t>
            </a:r>
            <a:endParaRPr lang="en-US" sz="3000">
              <a:effectLst/>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a:p>
            <a:pPr marL="0" lvl="1" defTabSz="1828800">
              <a:buClr>
                <a:srgbClr val="000000"/>
              </a:buClr>
              <a:defRPr/>
            </a:pPr>
            <a:endParaRPr lang="de-DE" sz="2800" kern="0">
              <a:solidFill>
                <a:srgbClr val="000000"/>
              </a:solidFill>
              <a:latin typeface="Arial"/>
              <a:cs typeface="Arial"/>
            </a:endParaRPr>
          </a:p>
        </p:txBody>
      </p:sp>
      <p:sp>
        <p:nvSpPr>
          <p:cNvPr id="15" name="Alternativer Prozess 14">
            <a:extLst>
              <a:ext uri="{FF2B5EF4-FFF2-40B4-BE49-F238E27FC236}">
                <a16:creationId xmlns:a16="http://schemas.microsoft.com/office/drawing/2014/main" id="{9B7306B6-9108-F0E4-9F6A-A4BE9E57614B}"/>
              </a:ext>
            </a:extLst>
          </p:cNvPr>
          <p:cNvSpPr/>
          <p:nvPr/>
        </p:nvSpPr>
        <p:spPr>
          <a:xfrm>
            <a:off x="14707528" y="2695229"/>
            <a:ext cx="3312948" cy="5643666"/>
          </a:xfrm>
          <a:prstGeom prst="flowChartAlternateProcess">
            <a:avLst/>
          </a:prstGeom>
          <a:ln>
            <a:solidFill>
              <a:srgbClr val="7E0D31"/>
            </a:solidFill>
          </a:ln>
        </p:spPr>
        <p:style>
          <a:lnRef idx="2">
            <a:schemeClr val="accent3"/>
          </a:lnRef>
          <a:fillRef idx="1">
            <a:schemeClr val="lt1"/>
          </a:fillRef>
          <a:effectRef idx="0">
            <a:schemeClr val="accent3"/>
          </a:effectRef>
          <a:fontRef idx="minor">
            <a:schemeClr val="dk1"/>
          </a:fontRef>
        </p:style>
        <p:txBody>
          <a:bodyPr rtlCol="0" anchor="t"/>
          <a:lstStyle/>
          <a:p>
            <a:r>
              <a:rPr lang="de-DE" sz="4000" b="1" kern="0">
                <a:solidFill>
                  <a:srgbClr val="C00000"/>
                </a:solidFill>
                <a:latin typeface="Arial"/>
                <a:cs typeface="Arial"/>
              </a:rPr>
              <a:t>EXECUTE</a:t>
            </a:r>
            <a:r>
              <a:rPr lang="de-DE" sz="2800" kern="0">
                <a:solidFill>
                  <a:srgbClr val="000000"/>
                </a:solidFill>
                <a:latin typeface="Arial"/>
                <a:cs typeface="Arial"/>
              </a:rPr>
              <a:t> </a:t>
            </a:r>
            <a:r>
              <a:rPr lang="en-US" sz="3000">
                <a:solidFill>
                  <a:srgbClr val="000000"/>
                </a:solidFill>
                <a:effectLst/>
                <a:latin typeface="Arial" panose="020B0604020202020204" pitchFamily="34" charset="0"/>
              </a:rPr>
              <a:t>on your actions by making intuitive decisions about what to do next, trusting your </a:t>
            </a:r>
          </a:p>
          <a:p>
            <a:r>
              <a:rPr lang="en-US" sz="3000">
                <a:solidFill>
                  <a:srgbClr val="000000"/>
                </a:solidFill>
                <a:effectLst/>
                <a:latin typeface="Arial" panose="020B0604020202020204" pitchFamily="34" charset="0"/>
              </a:rPr>
              <a:t>system to not let anything fall through the </a:t>
            </a:r>
          </a:p>
          <a:p>
            <a:r>
              <a:rPr lang="en-US" sz="3000">
                <a:solidFill>
                  <a:srgbClr val="000000"/>
                </a:solidFill>
                <a:effectLst/>
                <a:latin typeface="Arial" panose="020B0604020202020204" pitchFamily="34" charset="0"/>
              </a:rPr>
              <a:t>cracks</a:t>
            </a:r>
            <a:endParaRPr lang="en-US" sz="3000">
              <a:effectLst/>
            </a:endParaRPr>
          </a:p>
          <a:p>
            <a:pPr marL="0" lvl="1" defTabSz="1828800">
              <a:buClr>
                <a:srgbClr val="000000"/>
              </a:buClr>
              <a:defRPr/>
            </a:pPr>
            <a:endParaRPr lang="de-DE" sz="2600" kern="0">
              <a:solidFill>
                <a:srgbClr val="000000"/>
              </a:solidFill>
              <a:latin typeface="Arial"/>
              <a:cs typeface="Arial"/>
            </a:endParaRPr>
          </a:p>
        </p:txBody>
      </p:sp>
    </p:spTree>
    <p:extLst>
      <p:ext uri="{BB962C8B-B14F-4D97-AF65-F5344CB8AC3E}">
        <p14:creationId xmlns:p14="http://schemas.microsoft.com/office/powerpoint/2010/main" val="3989471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a:xfrm>
            <a:off x="1944000" y="1301860"/>
            <a:ext cx="6272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The power </a:t>
            </a:r>
            <a:r>
              <a:rPr lang="de-DE" sz="4400" err="1"/>
              <a:t>of</a:t>
            </a:r>
            <a:r>
              <a:rPr lang="de-DE" sz="4400"/>
              <a:t> a </a:t>
            </a:r>
            <a:r>
              <a:rPr lang="de-DE" sz="4400" err="1"/>
              <a:t>system</a:t>
            </a:r>
            <a:endParaRPr sz="4400"/>
          </a:p>
        </p:txBody>
      </p:sp>
      <p:sp>
        <p:nvSpPr>
          <p:cNvPr id="6" name="Textplatzhalter 5"/>
          <p:cNvSpPr>
            <a:spLocks noGrp="1"/>
          </p:cNvSpPr>
          <p:nvPr>
            <p:ph idx="1"/>
          </p:nvPr>
        </p:nvSpPr>
        <p:spPr bwMode="auto">
          <a:xfrm>
            <a:off x="1944000" y="2561860"/>
            <a:ext cx="14400000" cy="6656968"/>
          </a:xfrm>
        </p:spPr>
        <p:txBody>
          <a:bodyPr vert="horz" lIns="91440" tIns="45720" rIns="91440" bIns="45720" rtlCol="0" anchor="ct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buFont typeface="Arial"/>
              <a:buChar char="•"/>
              <a:defRPr/>
            </a:pPr>
            <a:r>
              <a:rPr lang="en-US" sz="3600"/>
              <a:t>You can be disciplined but still unproductive if you lack a system</a:t>
            </a:r>
          </a:p>
          <a:p>
            <a:pPr marL="0" indent="0">
              <a:buNone/>
              <a:defRPr/>
            </a:pPr>
            <a:endParaRPr lang="en-US" sz="3600"/>
          </a:p>
          <a:p>
            <a:pPr marL="571500" indent="-571500">
              <a:defRPr/>
            </a:pPr>
            <a:r>
              <a:rPr lang="en-US" sz="3600"/>
              <a:t>A system is a principle according to which something is structured/organized</a:t>
            </a:r>
          </a:p>
          <a:p>
            <a:pPr marL="0" indent="0">
              <a:buNone/>
              <a:defRPr/>
            </a:pPr>
            <a:endParaRPr lang="en-US" sz="3600"/>
          </a:p>
          <a:p>
            <a:pPr marL="571500" indent="-571500">
              <a:buFont typeface="Arial"/>
              <a:buChar char="•"/>
              <a:defRPr/>
            </a:pPr>
            <a:r>
              <a:rPr lang="en-US" sz="3600"/>
              <a:t>You have to like the system you follow in order to be efficient!</a:t>
            </a:r>
            <a:endParaRPr lang="de-DE" sz="3600"/>
          </a:p>
        </p:txBody>
      </p:sp>
    </p:spTree>
    <p:extLst>
      <p:ext uri="{BB962C8B-B14F-4D97-AF65-F5344CB8AC3E}">
        <p14:creationId xmlns:p14="http://schemas.microsoft.com/office/powerpoint/2010/main" val="1113687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67471463" name="Google Shape;104;p17"/>
          <p:cNvSpPr txBox="1">
            <a:spLocks noGrp="1" noRot="1" noMove="1" noResize="1" noEditPoints="1" noAdjustHandles="1" noChangeArrowheads="1" noChangeShapeType="1"/>
          </p:cNvSpPr>
          <p:nvPr>
            <p:ph type="title"/>
          </p:nvPr>
        </p:nvSpPr>
        <p:spPr bwMode="auto">
          <a:prstGeom prst="rect">
            <a:avLst/>
          </a:prstGeom>
          <a:solidFill>
            <a:schemeClr val="bg1"/>
          </a:solidFill>
        </p:spPr>
        <p:txBody>
          <a:bodyPr spcFirstLastPara="1" wrap="square" lIns="182846" tIns="182846" rIns="182846" bIns="182846" anchor="ctr"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sz="4400"/>
              <a:t>Ti</a:t>
            </a:r>
            <a:r>
              <a:rPr lang="de-DE" sz="4400"/>
              <a:t>ps &amp; Personal </a:t>
            </a:r>
            <a:r>
              <a:rPr lang="de-DE" sz="4400" err="1"/>
              <a:t>experiences</a:t>
            </a:r>
            <a:endParaRPr sz="4400"/>
          </a:p>
        </p:txBody>
      </p:sp>
      <p:sp>
        <p:nvSpPr>
          <p:cNvPr id="813494639" name="Google Shape;105;p17"/>
          <p:cNvSpPr txBox="1">
            <a:spLocks noGrp="1" noRot="1" noMove="1" noResize="1" noEditPoints="1" noAdjustHandles="1" noChangeArrowheads="1" noChangeShapeType="1"/>
          </p:cNvSpPr>
          <p:nvPr>
            <p:ph idx="1"/>
          </p:nvPr>
        </p:nvSpPr>
        <p:spPr bwMode="auto">
          <a:prstGeom prst="rect">
            <a:avLst/>
          </a:prstGeom>
        </p:spPr>
        <p:txBody>
          <a:bodyPr spcFirstLastPara="1" wrap="square" lIns="182846" tIns="182846" rIns="182846" bIns="182846" anchor="t"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spcBef>
                <a:spcPts val="1200"/>
              </a:spcBef>
              <a:buClrTx/>
              <a:buFont typeface="Arial" panose="020B0604020202020204" pitchFamily="34" charset="0"/>
              <a:buChar char="•"/>
              <a:defRPr/>
            </a:pPr>
            <a:r>
              <a:rPr lang="en-US" sz="3600"/>
              <a:t>To-do list</a:t>
            </a:r>
          </a:p>
          <a:p>
            <a:pPr marL="571500" indent="-571500">
              <a:spcBef>
                <a:spcPts val="1200"/>
              </a:spcBef>
              <a:buClrTx/>
              <a:buFont typeface="Arial" panose="020B0604020202020204" pitchFamily="34" charset="0"/>
              <a:buChar char="•"/>
              <a:defRPr/>
            </a:pPr>
            <a:r>
              <a:rPr lang="en-US" sz="3600"/>
              <a:t>Visualize your time</a:t>
            </a:r>
          </a:p>
          <a:p>
            <a:pPr marL="571500" indent="-571500">
              <a:spcBef>
                <a:spcPts val="1200"/>
              </a:spcBef>
              <a:buClrTx/>
              <a:buFont typeface="Arial" panose="020B0604020202020204" pitchFamily="34" charset="0"/>
              <a:buChar char="•"/>
              <a:defRPr/>
            </a:pPr>
            <a:r>
              <a:rPr lang="en-US" sz="3600"/>
              <a:t>Time blocking in the calendar</a:t>
            </a:r>
          </a:p>
          <a:p>
            <a:pPr marL="571500" indent="-571500">
              <a:spcBef>
                <a:spcPts val="1200"/>
              </a:spcBef>
              <a:buClrTx/>
              <a:buFont typeface="Arial" panose="020B0604020202020204" pitchFamily="34" charset="0"/>
              <a:buChar char="•"/>
              <a:defRPr/>
            </a:pPr>
            <a:r>
              <a:rPr lang="en-US" sz="3600"/>
              <a:t>Pomodoro: 25 min work, 5 min break</a:t>
            </a:r>
          </a:p>
          <a:p>
            <a:pPr marL="571500" indent="-571500">
              <a:spcBef>
                <a:spcPts val="1200"/>
              </a:spcBef>
              <a:buClrTx/>
              <a:buFont typeface="Arial" panose="020B0604020202020204" pitchFamily="34" charset="0"/>
              <a:buChar char="•"/>
              <a:defRPr/>
            </a:pPr>
            <a:r>
              <a:rPr lang="en-US" sz="3600"/>
              <a:t>Networking</a:t>
            </a:r>
          </a:p>
          <a:p>
            <a:pPr marL="571500" indent="-571500">
              <a:spcBef>
                <a:spcPts val="1200"/>
              </a:spcBef>
              <a:buClrTx/>
              <a:buFont typeface="Arial" panose="020B0604020202020204" pitchFamily="34" charset="0"/>
              <a:buChar char="•"/>
              <a:defRPr/>
            </a:pPr>
            <a:r>
              <a:rPr lang="en-US" sz="3600"/>
              <a:t>Have fun</a:t>
            </a:r>
            <a:r>
              <a:rPr lang="de-DE" sz="3600"/>
              <a:t>…</a:t>
            </a:r>
          </a:p>
        </p:txBody>
      </p:sp>
    </p:spTree>
    <p:extLst>
      <p:ext uri="{BB962C8B-B14F-4D97-AF65-F5344CB8AC3E}">
        <p14:creationId xmlns:p14="http://schemas.microsoft.com/office/powerpoint/2010/main" val="1223185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49ADA9E-7684-1D9A-AF9B-E0D1D1884793}"/>
            </a:ext>
          </a:extLst>
        </p:cNvPr>
        <p:cNvGrpSpPr/>
        <p:nvPr/>
      </p:nvGrpSpPr>
      <p:grpSpPr bwMode="auto">
        <a:xfrm>
          <a:off x="0" y="0"/>
          <a:ext cx="0" cy="0"/>
          <a:chOff x="0" y="0"/>
          <a:chExt cx="0" cy="0"/>
        </a:xfrm>
      </p:grpSpPr>
      <p:graphicFrame>
        <p:nvGraphicFramePr>
          <p:cNvPr id="5" name="Objekt 4" hidden="1">
            <a:extLst>
              <a:ext uri="{FF2B5EF4-FFF2-40B4-BE49-F238E27FC236}">
                <a16:creationId xmlns:a16="http://schemas.microsoft.com/office/drawing/2014/main" id="{5EC60841-CFEE-871D-51AB-01D5471EA939}"/>
              </a:ext>
            </a:extLst>
          </p:cNvPr>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a:extLst>
                          <a:ext uri="{FF2B5EF4-FFF2-40B4-BE49-F238E27FC236}">
                            <a16:creationId xmlns:a16="http://schemas.microsoft.com/office/drawing/2014/main" id="{5EC60841-CFEE-871D-51AB-01D5471EA939}"/>
                          </a:ext>
                        </a:extLst>
                      </p:cNvPr>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426B3A84-4138-9760-1111-52F3B408EFD9}"/>
              </a:ext>
            </a:extLst>
          </p:cNvPr>
          <p:cNvSpPr>
            <a:spLocks noGrp="1"/>
          </p:cNvSpPr>
          <p:nvPr>
            <p:ph type="title"/>
          </p:nvPr>
        </p:nvSpPr>
        <p:spPr bwMode="auto">
          <a:xfrm>
            <a:off x="1944000" y="1063024"/>
            <a:ext cx="14400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endParaRPr lang="de-DE"/>
          </a:p>
        </p:txBody>
      </p:sp>
      <p:pic>
        <p:nvPicPr>
          <p:cNvPr id="3" name="Grafik 2" descr="Ein Bild, das Text, Screenshot, Schrift, Zahl enthält.&#10;&#10;KI-generierte Inhalte können fehlerhaft sein.">
            <a:extLst>
              <a:ext uri="{FF2B5EF4-FFF2-40B4-BE49-F238E27FC236}">
                <a16:creationId xmlns:a16="http://schemas.microsoft.com/office/drawing/2014/main" id="{52F8E40E-01BF-287B-CAE5-27D38D2F70E7}"/>
              </a:ext>
            </a:extLst>
          </p:cNvPr>
          <p:cNvPicPr>
            <a:picLocks noChangeAspect="1"/>
          </p:cNvPicPr>
          <p:nvPr/>
        </p:nvPicPr>
        <p:blipFill>
          <a:blip r:embed="rId4"/>
          <a:stretch>
            <a:fillRect/>
          </a:stretch>
        </p:blipFill>
        <p:spPr>
          <a:xfrm>
            <a:off x="4085506" y="1368725"/>
            <a:ext cx="9124950" cy="8153400"/>
          </a:xfrm>
          <a:prstGeom prst="rect">
            <a:avLst/>
          </a:prstGeom>
        </p:spPr>
      </p:pic>
    </p:spTree>
    <p:extLst>
      <p:ext uri="{BB962C8B-B14F-4D97-AF65-F5344CB8AC3E}">
        <p14:creationId xmlns:p14="http://schemas.microsoft.com/office/powerpoint/2010/main" val="1429124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66AB1C7-CAEE-BF12-BCC2-1C553E653296}"/>
            </a:ext>
          </a:extLst>
        </p:cNvPr>
        <p:cNvGrpSpPr/>
        <p:nvPr/>
      </p:nvGrpSpPr>
      <p:grpSpPr bwMode="auto">
        <a:xfrm>
          <a:off x="0" y="0"/>
          <a:ext cx="0" cy="0"/>
          <a:chOff x="0" y="0"/>
          <a:chExt cx="0" cy="0"/>
        </a:xfrm>
      </p:grpSpPr>
      <p:graphicFrame>
        <p:nvGraphicFramePr>
          <p:cNvPr id="5" name="Objekt 4" hidden="1">
            <a:extLst>
              <a:ext uri="{FF2B5EF4-FFF2-40B4-BE49-F238E27FC236}">
                <a16:creationId xmlns:a16="http://schemas.microsoft.com/office/drawing/2014/main" id="{57290598-DBDB-A93F-9FF1-E4B38A808A94}"/>
              </a:ext>
            </a:extLst>
          </p:cNvPr>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a:extLst>
                          <a:ext uri="{FF2B5EF4-FFF2-40B4-BE49-F238E27FC236}">
                            <a16:creationId xmlns:a16="http://schemas.microsoft.com/office/drawing/2014/main" id="{57290598-DBDB-A93F-9FF1-E4B38A808A94}"/>
                          </a:ext>
                        </a:extLst>
                      </p:cNvPr>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20F234B-668A-3282-07C8-3C496476C7AB}"/>
              </a:ext>
            </a:extLst>
          </p:cNvPr>
          <p:cNvSpPr>
            <a:spLocks noGrp="1"/>
          </p:cNvSpPr>
          <p:nvPr>
            <p:ph type="title"/>
          </p:nvPr>
        </p:nvSpPr>
        <p:spPr bwMode="auto">
          <a:xfrm>
            <a:off x="1944000" y="1063024"/>
            <a:ext cx="14400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endParaRPr lang="de-DE" sz="4400"/>
          </a:p>
        </p:txBody>
      </p:sp>
      <p:pic>
        <p:nvPicPr>
          <p:cNvPr id="7" name="Grafik 6" descr="Ein Bild, das Text, Screenshot, Software enthält.&#10;&#10;KI-generierte Inhalte können fehlerhaft sein.">
            <a:extLst>
              <a:ext uri="{FF2B5EF4-FFF2-40B4-BE49-F238E27FC236}">
                <a16:creationId xmlns:a16="http://schemas.microsoft.com/office/drawing/2014/main" id="{C3D3C51D-8B78-C3C2-C3C5-EF607DA4DAD5}"/>
              </a:ext>
            </a:extLst>
          </p:cNvPr>
          <p:cNvPicPr>
            <a:picLocks noChangeAspect="1"/>
          </p:cNvPicPr>
          <p:nvPr/>
        </p:nvPicPr>
        <p:blipFill>
          <a:blip r:embed="rId4"/>
          <a:stretch>
            <a:fillRect/>
          </a:stretch>
        </p:blipFill>
        <p:spPr>
          <a:xfrm>
            <a:off x="2237014" y="1461407"/>
            <a:ext cx="13560879" cy="8556172"/>
          </a:xfrm>
          <a:prstGeom prst="rect">
            <a:avLst/>
          </a:prstGeom>
        </p:spPr>
      </p:pic>
    </p:spTree>
    <p:extLst>
      <p:ext uri="{BB962C8B-B14F-4D97-AF65-F5344CB8AC3E}">
        <p14:creationId xmlns:p14="http://schemas.microsoft.com/office/powerpoint/2010/main" val="2444816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D8B6C9D-4BAE-1EE4-6153-F2F81BF190A9}"/>
            </a:ext>
          </a:extLst>
        </p:cNvPr>
        <p:cNvGrpSpPr/>
        <p:nvPr/>
      </p:nvGrpSpPr>
      <p:grpSpPr bwMode="auto">
        <a:xfrm>
          <a:off x="0" y="0"/>
          <a:ext cx="0" cy="0"/>
          <a:chOff x="0" y="0"/>
          <a:chExt cx="0" cy="0"/>
        </a:xfrm>
      </p:grpSpPr>
      <p:graphicFrame>
        <p:nvGraphicFramePr>
          <p:cNvPr id="5" name="Objekt 4" hidden="1">
            <a:extLst>
              <a:ext uri="{FF2B5EF4-FFF2-40B4-BE49-F238E27FC236}">
                <a16:creationId xmlns:a16="http://schemas.microsoft.com/office/drawing/2014/main" id="{250671B1-5391-BB4A-7102-76AF8A4E0D34}"/>
              </a:ext>
            </a:extLst>
          </p:cNvPr>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5" name="Objekt 4" hidden="1">
                        <a:extLst>
                          <a:ext uri="{FF2B5EF4-FFF2-40B4-BE49-F238E27FC236}">
                            <a16:creationId xmlns:a16="http://schemas.microsoft.com/office/drawing/2014/main" id="{250671B1-5391-BB4A-7102-76AF8A4E0D34}"/>
                          </a:ext>
                        </a:extLst>
                      </p:cNvPr>
                      <p:cNvPicPr/>
                      <p:nvPr/>
                    </p:nvPicPr>
                    <p:blipFill>
                      <a:blip/>
                      <a:stretch/>
                    </p:blipFill>
                    <p:spPr bwMode="auto">
                      <a:xfrm>
                        <a:off x="3175" y="3175"/>
                        <a:ext cx="2454" cy="3174"/>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89E8160C-F455-6AD4-D459-B71D8A298B97}"/>
              </a:ext>
            </a:extLst>
          </p:cNvPr>
          <p:cNvSpPr>
            <a:spLocks noGrp="1"/>
          </p:cNvSpPr>
          <p:nvPr>
            <p:ph type="title"/>
          </p:nvPr>
        </p:nvSpPr>
        <p:spPr bwMode="auto">
          <a:xfrm>
            <a:off x="1944000" y="1063024"/>
            <a:ext cx="14400000" cy="1260000"/>
          </a:xfrm>
        </p:spPr>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Long-term </a:t>
            </a:r>
            <a:r>
              <a:rPr lang="de-DE" sz="4400" err="1"/>
              <a:t>study</a:t>
            </a:r>
            <a:r>
              <a:rPr lang="de-DE" sz="4400"/>
              <a:t> plan </a:t>
            </a:r>
          </a:p>
        </p:txBody>
      </p:sp>
      <p:pic>
        <p:nvPicPr>
          <p:cNvPr id="4" name="Inhaltsplatzhalter 3" descr="Ein Bild, das Text, Screenshot, Zahl, Schrift enthält.&#10;&#10;KI-generierte Inhalte können fehlerhaft sein.">
            <a:extLst>
              <a:ext uri="{FF2B5EF4-FFF2-40B4-BE49-F238E27FC236}">
                <a16:creationId xmlns:a16="http://schemas.microsoft.com/office/drawing/2014/main" id="{05412E85-0D45-902C-7CB3-564FF0CBC829}"/>
              </a:ext>
            </a:extLst>
          </p:cNvPr>
          <p:cNvPicPr>
            <a:picLocks noGrp="1" noChangeAspect="1"/>
          </p:cNvPicPr>
          <p:nvPr>
            <p:ph idx="1"/>
          </p:nvPr>
        </p:nvPicPr>
        <p:blipFill>
          <a:blip r:embed="rId4"/>
          <a:srcRect l="41" r="630" b="-258"/>
          <a:stretch>
            <a:fillRect/>
          </a:stretch>
        </p:blipFill>
        <p:spPr bwMode="auto">
          <a:xfrm>
            <a:off x="1941215" y="2320689"/>
            <a:ext cx="13814048" cy="6800415"/>
          </a:xfrm>
          <a:prstGeom prst="rect">
            <a:avLst/>
          </a:prstGeom>
        </p:spPr>
      </p:pic>
      <p:sp>
        <p:nvSpPr>
          <p:cNvPr id="6" name="Textfeld 5">
            <a:extLst>
              <a:ext uri="{FF2B5EF4-FFF2-40B4-BE49-F238E27FC236}">
                <a16:creationId xmlns:a16="http://schemas.microsoft.com/office/drawing/2014/main" id="{A70101EF-C424-4DFE-F444-B49F3CA9137A}"/>
              </a:ext>
            </a:extLst>
          </p:cNvPr>
          <p:cNvSpPr txBox="1"/>
          <p:nvPr/>
        </p:nvSpPr>
        <p:spPr>
          <a:xfrm>
            <a:off x="1945378" y="9387038"/>
            <a:ext cx="131425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3200">
                <a:cs typeface="Arial"/>
              </a:rPr>
              <a:t>Long-term </a:t>
            </a:r>
            <a:r>
              <a:rPr lang="de-DE" sz="3200" err="1">
                <a:cs typeface="Arial"/>
              </a:rPr>
              <a:t>planning</a:t>
            </a:r>
            <a:r>
              <a:rPr lang="de-DE" sz="3200">
                <a:cs typeface="Arial"/>
              </a:rPr>
              <a:t> </a:t>
            </a:r>
            <a:r>
              <a:rPr lang="de-DE" sz="3200" err="1">
                <a:cs typeface="Arial"/>
              </a:rPr>
              <a:t>can</a:t>
            </a:r>
            <a:r>
              <a:rPr lang="de-DE" sz="3200">
                <a:cs typeface="Arial"/>
              </a:rPr>
              <a:t> </a:t>
            </a:r>
            <a:r>
              <a:rPr lang="de-DE" sz="3200" err="1">
                <a:cs typeface="Arial"/>
              </a:rPr>
              <a:t>make</a:t>
            </a:r>
            <a:r>
              <a:rPr lang="de-DE" sz="3200">
                <a:cs typeface="Arial"/>
              </a:rPr>
              <a:t> </a:t>
            </a:r>
            <a:r>
              <a:rPr lang="de-DE" sz="3200" err="1">
                <a:cs typeface="Arial"/>
              </a:rPr>
              <a:t>sence</a:t>
            </a:r>
            <a:r>
              <a:rPr lang="de-DE" sz="3200">
                <a:cs typeface="Arial"/>
              </a:rPr>
              <a:t> but plan on </a:t>
            </a:r>
            <a:r>
              <a:rPr lang="de-DE" sz="3200" err="1">
                <a:cs typeface="Arial"/>
              </a:rPr>
              <a:t>taking</a:t>
            </a:r>
            <a:r>
              <a:rPr lang="de-DE" sz="3200">
                <a:cs typeface="Arial"/>
              </a:rPr>
              <a:t> </a:t>
            </a:r>
            <a:r>
              <a:rPr lang="de-DE" sz="3200" err="1">
                <a:cs typeface="Arial"/>
              </a:rPr>
              <a:t>days</a:t>
            </a:r>
            <a:r>
              <a:rPr lang="de-DE" sz="3200">
                <a:cs typeface="Arial"/>
              </a:rPr>
              <a:t> </a:t>
            </a:r>
            <a:r>
              <a:rPr lang="de-DE" sz="3200" err="1">
                <a:cs typeface="Arial"/>
              </a:rPr>
              <a:t>for</a:t>
            </a:r>
            <a:r>
              <a:rPr lang="de-DE" sz="3200">
                <a:cs typeface="Arial"/>
              </a:rPr>
              <a:t> </a:t>
            </a:r>
            <a:r>
              <a:rPr lang="de-DE" sz="3200" err="1">
                <a:cs typeface="Arial"/>
              </a:rPr>
              <a:t>rest</a:t>
            </a:r>
            <a:r>
              <a:rPr lang="de-DE" sz="3200">
                <a:cs typeface="Arial"/>
              </a:rPr>
              <a:t>!!</a:t>
            </a:r>
          </a:p>
        </p:txBody>
      </p:sp>
    </p:spTree>
    <p:extLst>
      <p:ext uri="{BB962C8B-B14F-4D97-AF65-F5344CB8AC3E}">
        <p14:creationId xmlns:p14="http://schemas.microsoft.com/office/powerpoint/2010/main" val="2569236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D173A3A-56FF-F3AF-987A-6CFD5187989F}"/>
            </a:ext>
          </a:extLst>
        </p:cNvPr>
        <p:cNvGrpSpPr/>
        <p:nvPr/>
      </p:nvGrpSpPr>
      <p:grpSpPr bwMode="auto">
        <a:xfrm>
          <a:off x="0" y="0"/>
          <a:ext cx="0" cy="0"/>
          <a:chOff x="0" y="0"/>
          <a:chExt cx="0" cy="0"/>
        </a:xfrm>
      </p:grpSpPr>
      <p:sp>
        <p:nvSpPr>
          <p:cNvPr id="1967471463" name="Google Shape;104;p17">
            <a:extLst>
              <a:ext uri="{FF2B5EF4-FFF2-40B4-BE49-F238E27FC236}">
                <a16:creationId xmlns:a16="http://schemas.microsoft.com/office/drawing/2014/main" id="{12AC4E4D-17B9-6FE8-0886-5C769CF7665F}"/>
              </a:ext>
            </a:extLst>
          </p:cNvPr>
          <p:cNvSpPr txBox="1">
            <a:spLocks noGrp="1" noRot="1" noMove="1" noResize="1" noEditPoints="1" noAdjustHandles="1" noChangeArrowheads="1" noChangeShapeType="1"/>
          </p:cNvSpPr>
          <p:nvPr>
            <p:ph type="title"/>
          </p:nvPr>
        </p:nvSpPr>
        <p:spPr bwMode="auto">
          <a:prstGeom prst="rect">
            <a:avLst/>
          </a:prstGeom>
          <a:solidFill>
            <a:schemeClr val="bg1"/>
          </a:solidFill>
        </p:spPr>
        <p:txBody>
          <a:bodyPr spcFirstLastPara="1" wrap="square" lIns="182846" tIns="182846" rIns="182846" bIns="182846" anchor="ctr"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de-DE" sz="4400"/>
              <a:t>Separation </a:t>
            </a:r>
            <a:r>
              <a:rPr lang="de-DE" sz="4400" err="1"/>
              <a:t>of</a:t>
            </a:r>
            <a:r>
              <a:rPr lang="de-DE" sz="4400"/>
              <a:t> </a:t>
            </a:r>
            <a:r>
              <a:rPr lang="de-DE" sz="4400" err="1"/>
              <a:t>working</a:t>
            </a:r>
            <a:r>
              <a:rPr lang="de-DE" sz="4400"/>
              <a:t> and </a:t>
            </a:r>
            <a:r>
              <a:rPr lang="de-DE" sz="4400" err="1"/>
              <a:t>living</a:t>
            </a:r>
            <a:r>
              <a:rPr lang="de-DE" sz="4400"/>
              <a:t> </a:t>
            </a:r>
            <a:r>
              <a:rPr lang="de-DE" sz="4400" err="1"/>
              <a:t>space</a:t>
            </a:r>
            <a:endParaRPr lang="de-DE" sz="4400"/>
          </a:p>
        </p:txBody>
      </p:sp>
      <p:sp>
        <p:nvSpPr>
          <p:cNvPr id="813494639" name="Google Shape;105;p17">
            <a:extLst>
              <a:ext uri="{FF2B5EF4-FFF2-40B4-BE49-F238E27FC236}">
                <a16:creationId xmlns:a16="http://schemas.microsoft.com/office/drawing/2014/main" id="{8BA91C1D-5F51-680B-543A-15E420892D5D}"/>
              </a:ext>
            </a:extLst>
          </p:cNvPr>
          <p:cNvSpPr txBox="1">
            <a:spLocks noGrp="1" noRot="1" noMove="1" noResize="1" noEditPoints="1" noAdjustHandles="1" noChangeArrowheads="1" noChangeShapeType="1"/>
          </p:cNvSpPr>
          <p:nvPr>
            <p:ph idx="1"/>
          </p:nvPr>
        </p:nvSpPr>
        <p:spPr bwMode="auto">
          <a:prstGeom prst="rect">
            <a:avLst/>
          </a:prstGeom>
        </p:spPr>
        <p:txBody>
          <a:bodyPr spcFirstLastPara="1" wrap="square" lIns="182846" tIns="182846" rIns="182846" bIns="182846" anchor="t"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0" indent="0">
              <a:buClrTx/>
              <a:buNone/>
              <a:defRPr/>
            </a:pPr>
            <a:r>
              <a:rPr lang="en-US" b="1" u="sng"/>
              <a:t>Why it matters</a:t>
            </a:r>
            <a:endParaRPr lang="en-US" u="sng"/>
          </a:p>
          <a:p>
            <a:pPr>
              <a:buFont typeface="Arial" panose="020B0604020202020204" pitchFamily="34" charset="0"/>
              <a:buChar char="•"/>
              <a:defRPr/>
            </a:pPr>
            <a:r>
              <a:rPr lang="en-US"/>
              <a:t>helps your brain switch between </a:t>
            </a:r>
            <a:r>
              <a:rPr lang="en-US" i="1"/>
              <a:t>focus mode </a:t>
            </a:r>
            <a:r>
              <a:rPr lang="en-US"/>
              <a:t>and</a:t>
            </a:r>
            <a:r>
              <a:rPr lang="en-US" i="1"/>
              <a:t> relax mode</a:t>
            </a:r>
          </a:p>
          <a:p>
            <a:pPr>
              <a:buFont typeface="Arial" panose="020B0604020202020204" pitchFamily="34" charset="0"/>
              <a:buChar char="•"/>
              <a:defRPr/>
            </a:pPr>
            <a:r>
              <a:rPr lang="en-US"/>
              <a:t>reduces distractions and increases productivity</a:t>
            </a:r>
          </a:p>
          <a:p>
            <a:pPr>
              <a:buFont typeface="Arial" panose="020B0604020202020204" pitchFamily="34" charset="0"/>
              <a:buChar char="•"/>
              <a:defRPr/>
            </a:pPr>
            <a:r>
              <a:rPr lang="en-US"/>
              <a:t>supports a healthier work–life balance</a:t>
            </a:r>
          </a:p>
          <a:p>
            <a:pPr marL="0" indent="0">
              <a:buNone/>
              <a:defRPr/>
            </a:pPr>
            <a:endParaRPr lang="en-US"/>
          </a:p>
          <a:p>
            <a:pPr>
              <a:buFont typeface="Arial" panose="020B0604020202020204" pitchFamily="34" charset="0"/>
              <a:buChar char="•"/>
              <a:defRPr/>
            </a:pPr>
            <a:r>
              <a:rPr lang="en-US" b="1"/>
              <a:t>How to separate, even in small spaces</a:t>
            </a:r>
            <a:endParaRPr lang="en-US"/>
          </a:p>
          <a:p>
            <a:pPr>
              <a:buFont typeface="Arial" panose="020B0604020202020204" pitchFamily="34" charset="0"/>
              <a:buChar char="•"/>
              <a:defRPr/>
            </a:pPr>
            <a:r>
              <a:rPr lang="en-US"/>
              <a:t>choose a consistent workspace (desk, corner, specific chair)</a:t>
            </a:r>
          </a:p>
          <a:p>
            <a:pPr>
              <a:buFont typeface="Arial" panose="020B0604020202020204" pitchFamily="34" charset="0"/>
              <a:buChar char="•"/>
              <a:defRPr/>
            </a:pPr>
            <a:r>
              <a:rPr lang="en-US"/>
              <a:t>avoid studying in bed to protect your sleep and relaxation</a:t>
            </a:r>
          </a:p>
          <a:p>
            <a:pPr marL="0" indent="0">
              <a:buNone/>
              <a:defRPr/>
            </a:pPr>
            <a:endParaRPr lang="en-US"/>
          </a:p>
          <a:p>
            <a:pPr>
              <a:buFont typeface="Arial" panose="020B0604020202020204" pitchFamily="34" charset="0"/>
              <a:buChar char="•"/>
              <a:defRPr/>
            </a:pPr>
            <a:r>
              <a:rPr lang="en-US" b="1"/>
              <a:t>Practical tips</a:t>
            </a:r>
            <a:endParaRPr lang="en-US"/>
          </a:p>
          <a:p>
            <a:pPr>
              <a:buFont typeface="Arial" panose="020B0604020202020204" pitchFamily="34" charset="0"/>
              <a:buChar char="•"/>
              <a:defRPr/>
            </a:pPr>
            <a:r>
              <a:rPr lang="en-US"/>
              <a:t>go to library, co-working spaces, </a:t>
            </a:r>
            <a:r>
              <a:rPr lang="en-US" err="1"/>
              <a:t>Klippo</a:t>
            </a:r>
            <a:r>
              <a:rPr lang="en-US"/>
              <a:t>, coffee shops </a:t>
            </a:r>
          </a:p>
          <a:p>
            <a:pPr>
              <a:buFont typeface="Arial" panose="020B0604020202020204" pitchFamily="34" charset="0"/>
              <a:buChar char="•"/>
              <a:defRPr/>
            </a:pPr>
            <a:r>
              <a:rPr lang="en-US"/>
              <a:t>coordinate with roommates (e.g., headphones = “I’m working”)</a:t>
            </a:r>
          </a:p>
          <a:p>
            <a:pPr>
              <a:buFont typeface="Arial" panose="020B0604020202020204" pitchFamily="34" charset="0"/>
              <a:buChar char="•"/>
              <a:defRPr/>
            </a:pPr>
            <a:r>
              <a:rPr lang="en-US"/>
              <a:t>keep your workspace organized to stay focused</a:t>
            </a:r>
          </a:p>
          <a:p>
            <a:pPr marL="571500" indent="-571500">
              <a:spcBef>
                <a:spcPts val="1200"/>
              </a:spcBef>
              <a:buClrTx/>
              <a:buFont typeface="Arial" panose="020B0604020202020204" pitchFamily="34" charset="0"/>
              <a:buChar char="•"/>
              <a:defRPr/>
            </a:pPr>
            <a:endParaRPr lang="en-US"/>
          </a:p>
        </p:txBody>
      </p:sp>
      <p:pic>
        <p:nvPicPr>
          <p:cNvPr id="13" name="Grafik 12" descr="Ein Bild, das Schwarz, Dunkelheit enthält.&#10;&#10;KI-generierte Inhalte können fehlerhaft sein.">
            <a:extLst>
              <a:ext uri="{FF2B5EF4-FFF2-40B4-BE49-F238E27FC236}">
                <a16:creationId xmlns:a16="http://schemas.microsoft.com/office/drawing/2014/main" id="{3E36A946-1749-D199-EE9C-1585425657EB}"/>
              </a:ext>
            </a:extLst>
          </p:cNvPr>
          <p:cNvPicPr>
            <a:picLocks noChangeAspect="1"/>
          </p:cNvPicPr>
          <p:nvPr/>
        </p:nvPicPr>
        <p:blipFill>
          <a:blip r:embed="rId3"/>
          <a:stretch>
            <a:fillRect/>
          </a:stretch>
        </p:blipFill>
        <p:spPr>
          <a:xfrm>
            <a:off x="14372064" y="985954"/>
            <a:ext cx="1782338" cy="1754460"/>
          </a:xfrm>
          <a:prstGeom prst="rect">
            <a:avLst/>
          </a:prstGeom>
        </p:spPr>
      </p:pic>
      <p:pic>
        <p:nvPicPr>
          <p:cNvPr id="14" name="Grafik 13" descr="Ein Bild, das Schwarz, Dunkelheit enthält.&#10;&#10;KI-generierte Inhalte können fehlerhaft sein.">
            <a:extLst>
              <a:ext uri="{FF2B5EF4-FFF2-40B4-BE49-F238E27FC236}">
                <a16:creationId xmlns:a16="http://schemas.microsoft.com/office/drawing/2014/main" id="{248ACD71-4958-ED0F-ECBC-9D93DEAA7E9E}"/>
              </a:ext>
            </a:extLst>
          </p:cNvPr>
          <p:cNvPicPr>
            <a:picLocks noChangeAspect="1"/>
          </p:cNvPicPr>
          <p:nvPr/>
        </p:nvPicPr>
        <p:blipFill>
          <a:blip r:embed="rId4"/>
          <a:stretch>
            <a:fillRect/>
          </a:stretch>
        </p:blipFill>
        <p:spPr>
          <a:xfrm>
            <a:off x="2542478" y="735051"/>
            <a:ext cx="1624361" cy="1661533"/>
          </a:xfrm>
          <a:prstGeom prst="rect">
            <a:avLst/>
          </a:prstGeom>
        </p:spPr>
      </p:pic>
    </p:spTree>
    <p:extLst>
      <p:ext uri="{BB962C8B-B14F-4D97-AF65-F5344CB8AC3E}">
        <p14:creationId xmlns:p14="http://schemas.microsoft.com/office/powerpoint/2010/main" val="3814606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78069BD-76A4-30D5-7079-63D97E79B14D}"/>
            </a:ext>
          </a:extLst>
        </p:cNvPr>
        <p:cNvGrpSpPr/>
        <p:nvPr/>
      </p:nvGrpSpPr>
      <p:grpSpPr bwMode="auto">
        <a:xfrm>
          <a:off x="0" y="0"/>
          <a:ext cx="0" cy="0"/>
          <a:chOff x="0" y="0"/>
          <a:chExt cx="0" cy="0"/>
        </a:xfrm>
      </p:grpSpPr>
      <p:sp>
        <p:nvSpPr>
          <p:cNvPr id="1967471463" name="Google Shape;104;p17">
            <a:extLst>
              <a:ext uri="{FF2B5EF4-FFF2-40B4-BE49-F238E27FC236}">
                <a16:creationId xmlns:a16="http://schemas.microsoft.com/office/drawing/2014/main" id="{D2B7ECD2-3AA2-EB79-1956-882415569223}"/>
              </a:ext>
            </a:extLst>
          </p:cNvPr>
          <p:cNvSpPr txBox="1">
            <a:spLocks noGrp="1" noRot="1" noMove="1" noResize="1" noEditPoints="1" noAdjustHandles="1" noChangeArrowheads="1" noChangeShapeType="1"/>
          </p:cNvSpPr>
          <p:nvPr>
            <p:ph type="title"/>
          </p:nvPr>
        </p:nvSpPr>
        <p:spPr bwMode="auto">
          <a:prstGeom prst="rect">
            <a:avLst/>
          </a:prstGeom>
          <a:solidFill>
            <a:schemeClr val="bg1"/>
          </a:solidFill>
        </p:spPr>
        <p:txBody>
          <a:bodyPr spcFirstLastPara="1" wrap="square" lIns="182846" tIns="182846" rIns="182846" bIns="182846" anchor="ctr" anchorCtr="0">
            <a:no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de-DE" sz="4400"/>
              <a:t>Most </a:t>
            </a:r>
            <a:r>
              <a:rPr lang="de-DE" sz="4400" err="1"/>
              <a:t>important</a:t>
            </a:r>
            <a:r>
              <a:rPr lang="de-DE" sz="4400"/>
              <a:t> </a:t>
            </a:r>
            <a:r>
              <a:rPr lang="de-DE" sz="4400" err="1"/>
              <a:t>takeaways</a:t>
            </a:r>
            <a:r>
              <a:rPr lang="de-DE" sz="4400"/>
              <a:t>!</a:t>
            </a:r>
          </a:p>
        </p:txBody>
      </p:sp>
      <p:sp>
        <p:nvSpPr>
          <p:cNvPr id="3" name="Inhaltsplatzhalter 2">
            <a:extLst>
              <a:ext uri="{FF2B5EF4-FFF2-40B4-BE49-F238E27FC236}">
                <a16:creationId xmlns:a16="http://schemas.microsoft.com/office/drawing/2014/main" id="{2965A46F-7D6B-D129-5C7B-25855742B10B}"/>
              </a:ext>
            </a:extLst>
          </p:cNvPr>
          <p:cNvSpPr>
            <a:spLocks noGrp="1"/>
          </p:cNvSpPr>
          <p:nvPr>
            <p:ph idx="1"/>
          </p:nvPr>
        </p:nvSpPr>
        <p:spPr/>
        <p:txBody>
          <a:bodyPr vert="horz" lIns="91440" tIns="45720" rIns="91440" bIns="45720" rtlCol="0" anchor="t">
            <a:normAutofit/>
          </a:bodyPr>
          <a:lstStyle/>
          <a:p>
            <a:endParaRPr lang="de-DE" sz="3600">
              <a:cs typeface="Arial"/>
            </a:endParaRPr>
          </a:p>
          <a:p>
            <a:r>
              <a:rPr lang="de-DE" sz="3600">
                <a:cs typeface="Arial"/>
              </a:rPr>
              <a:t>Time-management </a:t>
            </a:r>
            <a:r>
              <a:rPr lang="de-DE" sz="3600" err="1">
                <a:cs typeface="Arial"/>
              </a:rPr>
              <a:t>is</a:t>
            </a:r>
            <a:r>
              <a:rPr lang="de-DE" sz="3600">
                <a:cs typeface="Arial"/>
              </a:rPr>
              <a:t> individual</a:t>
            </a:r>
          </a:p>
          <a:p>
            <a:r>
              <a:rPr lang="de-DE" sz="3600">
                <a:cs typeface="Arial"/>
              </a:rPr>
              <a:t>Take </a:t>
            </a:r>
            <a:r>
              <a:rPr lang="de-DE" sz="3600" err="1">
                <a:cs typeface="Arial"/>
              </a:rPr>
              <a:t>your</a:t>
            </a:r>
            <a:r>
              <a:rPr lang="de-DE" sz="3600">
                <a:cs typeface="Arial"/>
              </a:rPr>
              <a:t> time </a:t>
            </a:r>
            <a:r>
              <a:rPr lang="de-DE" sz="3600" err="1">
                <a:cs typeface="Arial"/>
              </a:rPr>
              <a:t>to</a:t>
            </a:r>
            <a:r>
              <a:rPr lang="de-DE" sz="3600">
                <a:cs typeface="Arial"/>
              </a:rPr>
              <a:t> find </a:t>
            </a:r>
            <a:r>
              <a:rPr lang="de-DE" sz="3600" err="1">
                <a:cs typeface="Arial"/>
              </a:rPr>
              <a:t>your</a:t>
            </a:r>
            <a:r>
              <a:rPr lang="de-DE" sz="3600">
                <a:cs typeface="Arial"/>
              </a:rPr>
              <a:t> </a:t>
            </a:r>
            <a:r>
              <a:rPr lang="de-DE" sz="3600" err="1">
                <a:cs typeface="Arial"/>
              </a:rPr>
              <a:t>way</a:t>
            </a:r>
            <a:r>
              <a:rPr lang="de-DE" sz="3600">
                <a:cs typeface="Arial"/>
              </a:rPr>
              <a:t> </a:t>
            </a:r>
            <a:r>
              <a:rPr lang="de-DE" sz="3600" err="1">
                <a:cs typeface="Arial"/>
              </a:rPr>
              <a:t>into</a:t>
            </a:r>
            <a:r>
              <a:rPr lang="de-DE" sz="3600">
                <a:cs typeface="Arial"/>
              </a:rPr>
              <a:t> </a:t>
            </a:r>
            <a:r>
              <a:rPr lang="de-DE" sz="3600" err="1">
                <a:cs typeface="Arial"/>
              </a:rPr>
              <a:t>studying</a:t>
            </a:r>
            <a:r>
              <a:rPr lang="de-DE" sz="3600">
                <a:cs typeface="Arial"/>
              </a:rPr>
              <a:t>, </a:t>
            </a:r>
            <a:r>
              <a:rPr lang="de-DE" sz="3600" err="1">
                <a:cs typeface="Arial"/>
              </a:rPr>
              <a:t>it´s</a:t>
            </a:r>
            <a:r>
              <a:rPr lang="de-DE" sz="3600">
                <a:cs typeface="Arial"/>
              </a:rPr>
              <a:t> okay </a:t>
            </a:r>
            <a:r>
              <a:rPr lang="de-DE" sz="3600" err="1">
                <a:cs typeface="Arial"/>
              </a:rPr>
              <a:t>to</a:t>
            </a:r>
            <a:r>
              <a:rPr lang="de-DE" sz="3600">
                <a:cs typeface="Arial"/>
              </a:rPr>
              <a:t> </a:t>
            </a:r>
            <a:r>
              <a:rPr lang="de-DE" sz="3600" err="1">
                <a:cs typeface="Arial"/>
              </a:rPr>
              <a:t>change</a:t>
            </a:r>
            <a:r>
              <a:rPr lang="de-DE" sz="3600">
                <a:cs typeface="Arial"/>
              </a:rPr>
              <a:t> </a:t>
            </a:r>
            <a:r>
              <a:rPr lang="de-DE" sz="3600" err="1">
                <a:cs typeface="Arial"/>
              </a:rPr>
              <a:t>strategies</a:t>
            </a:r>
            <a:endParaRPr lang="de-DE" sz="3600">
              <a:cs typeface="Arial"/>
            </a:endParaRPr>
          </a:p>
          <a:p>
            <a:r>
              <a:rPr lang="de-DE" sz="3600">
                <a:cs typeface="Arial"/>
              </a:rPr>
              <a:t>Plans </a:t>
            </a:r>
            <a:r>
              <a:rPr lang="de-DE" sz="3600" err="1">
                <a:cs typeface="Arial"/>
              </a:rPr>
              <a:t>have</a:t>
            </a:r>
            <a:r>
              <a:rPr lang="de-DE" sz="3600">
                <a:cs typeface="Arial"/>
              </a:rPr>
              <a:t> </a:t>
            </a:r>
            <a:r>
              <a:rPr lang="de-DE" sz="3600" err="1">
                <a:cs typeface="Arial"/>
              </a:rPr>
              <a:t>to</a:t>
            </a:r>
            <a:r>
              <a:rPr lang="de-DE" sz="3600">
                <a:cs typeface="Arial"/>
              </a:rPr>
              <a:t> fit </a:t>
            </a:r>
            <a:r>
              <a:rPr lang="de-DE" sz="3600" err="1">
                <a:cs typeface="Arial"/>
              </a:rPr>
              <a:t>into</a:t>
            </a:r>
            <a:r>
              <a:rPr lang="de-DE" sz="3600">
                <a:cs typeface="Arial"/>
              </a:rPr>
              <a:t> </a:t>
            </a:r>
            <a:r>
              <a:rPr lang="de-DE" sz="3600" err="1">
                <a:cs typeface="Arial"/>
              </a:rPr>
              <a:t>your</a:t>
            </a:r>
            <a:r>
              <a:rPr lang="de-DE" sz="3600">
                <a:cs typeface="Arial"/>
              </a:rPr>
              <a:t> </a:t>
            </a:r>
            <a:r>
              <a:rPr lang="de-DE" sz="3600" err="1">
                <a:cs typeface="Arial"/>
              </a:rPr>
              <a:t>life</a:t>
            </a:r>
            <a:r>
              <a:rPr lang="de-DE" sz="3600">
                <a:cs typeface="Arial"/>
              </a:rPr>
              <a:t>, not </a:t>
            </a:r>
            <a:r>
              <a:rPr lang="de-DE" sz="3600" err="1">
                <a:cs typeface="Arial"/>
              </a:rPr>
              <a:t>your</a:t>
            </a:r>
            <a:r>
              <a:rPr lang="de-DE" sz="3600">
                <a:cs typeface="Arial"/>
              </a:rPr>
              <a:t> </a:t>
            </a:r>
            <a:r>
              <a:rPr lang="de-DE" sz="3600" err="1">
                <a:cs typeface="Arial"/>
              </a:rPr>
              <a:t>life</a:t>
            </a:r>
            <a:r>
              <a:rPr lang="de-DE" sz="3600">
                <a:cs typeface="Arial"/>
              </a:rPr>
              <a:t> </a:t>
            </a:r>
            <a:r>
              <a:rPr lang="de-DE" sz="3600" err="1">
                <a:cs typeface="Arial"/>
              </a:rPr>
              <a:t>into</a:t>
            </a:r>
            <a:r>
              <a:rPr lang="de-DE" sz="3600">
                <a:cs typeface="Arial"/>
              </a:rPr>
              <a:t> </a:t>
            </a:r>
            <a:r>
              <a:rPr lang="de-DE" sz="3600" err="1">
                <a:cs typeface="Arial"/>
              </a:rPr>
              <a:t>the</a:t>
            </a:r>
            <a:r>
              <a:rPr lang="de-DE" sz="3600">
                <a:cs typeface="Arial"/>
              </a:rPr>
              <a:t> plan</a:t>
            </a:r>
          </a:p>
          <a:p>
            <a:pPr marL="0" indent="0">
              <a:buNone/>
            </a:pPr>
            <a:endParaRPr lang="de-DE" sz="3600">
              <a:cs typeface="Arial"/>
            </a:endParaRPr>
          </a:p>
        </p:txBody>
      </p:sp>
    </p:spTree>
    <p:extLst>
      <p:ext uri="{BB962C8B-B14F-4D97-AF65-F5344CB8AC3E}">
        <p14:creationId xmlns:p14="http://schemas.microsoft.com/office/powerpoint/2010/main" val="2177240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89E8F-EF2B-297B-4198-97179CF66BF4}"/>
              </a:ext>
            </a:extLst>
          </p:cNvPr>
          <p:cNvSpPr>
            <a:spLocks noGrp="1"/>
          </p:cNvSpPr>
          <p:nvPr>
            <p:ph type="title"/>
          </p:nvPr>
        </p:nvSpPr>
        <p:spPr>
          <a:xfrm>
            <a:off x="1944000" y="1933069"/>
            <a:ext cx="14400000" cy="1260000"/>
          </a:xfrm>
        </p:spPr>
        <p:txBody>
          <a:bodyPr/>
          <a:lstStyle/>
          <a:p>
            <a:r>
              <a:rPr lang="en-GB" err="1"/>
              <a:t>Verwandte</a:t>
            </a:r>
            <a:r>
              <a:rPr lang="en-GB"/>
              <a:t> Wiki Artikel</a:t>
            </a:r>
          </a:p>
        </p:txBody>
      </p:sp>
      <p:sp>
        <p:nvSpPr>
          <p:cNvPr id="3" name="Content Placeholder 2">
            <a:extLst>
              <a:ext uri="{FF2B5EF4-FFF2-40B4-BE49-F238E27FC236}">
                <a16:creationId xmlns:a16="http://schemas.microsoft.com/office/drawing/2014/main" id="{09DF5BBF-BD24-C0DF-0F2B-6DC3F741DD0D}"/>
              </a:ext>
            </a:extLst>
          </p:cNvPr>
          <p:cNvSpPr>
            <a:spLocks noGrp="1"/>
          </p:cNvSpPr>
          <p:nvPr>
            <p:ph idx="1"/>
          </p:nvPr>
        </p:nvSpPr>
        <p:spPr>
          <a:xfrm>
            <a:off x="1944000" y="3404156"/>
            <a:ext cx="14400000" cy="6480000"/>
          </a:xfrm>
        </p:spPr>
        <p:txBody>
          <a:bodyPr>
            <a:normAutofit/>
          </a:bodyPr>
          <a:lstStyle/>
          <a:p>
            <a:r>
              <a:rPr lang="en-GB"/>
              <a:t>Studying: </a:t>
            </a:r>
            <a:r>
              <a:rPr lang="en-GB">
                <a:hlinkClick r:id="rId3"/>
              </a:rPr>
              <a:t>https://sustainabilitymethods.org/index.php/Studying</a:t>
            </a:r>
            <a:endParaRPr lang="en-GB"/>
          </a:p>
          <a:p>
            <a:r>
              <a:rPr lang="en-GB"/>
              <a:t>Pomodoro: </a:t>
            </a:r>
            <a:r>
              <a:rPr lang="en-GB">
                <a:hlinkClick r:id="rId4"/>
              </a:rPr>
              <a:t>https://sustainabilitymethods.org/index.php/Pomodoro</a:t>
            </a:r>
            <a:endParaRPr lang="en-GB"/>
          </a:p>
          <a:p>
            <a:r>
              <a:rPr lang="en-GB"/>
              <a:t>Notion: </a:t>
            </a:r>
            <a:r>
              <a:rPr lang="en-GB">
                <a:hlinkClick r:id="rId5"/>
              </a:rPr>
              <a:t>https://sustainabilitymethods.org/index.php/Notion</a:t>
            </a:r>
            <a:endParaRPr lang="en-GB"/>
          </a:p>
          <a:p>
            <a:r>
              <a:rPr lang="en-GB"/>
              <a:t>Coping with psychological problems: </a:t>
            </a:r>
            <a:r>
              <a:rPr lang="en-GB">
                <a:hlinkClick r:id="rId6"/>
              </a:rPr>
              <a:t>https://sustainabilitymethods.org/index.php/Coping_with_psychological_problems</a:t>
            </a:r>
            <a:endParaRPr lang="en-GB"/>
          </a:p>
          <a:p>
            <a:endParaRPr lang="en-GB"/>
          </a:p>
          <a:p>
            <a:pPr marL="0" indent="0">
              <a:buNone/>
            </a:pPr>
            <a:endParaRPr lang="en-GB"/>
          </a:p>
          <a:p>
            <a:endParaRPr lang="en-GB"/>
          </a:p>
        </p:txBody>
      </p:sp>
    </p:spTree>
    <p:extLst>
      <p:ext uri="{BB962C8B-B14F-4D97-AF65-F5344CB8AC3E}">
        <p14:creationId xmlns:p14="http://schemas.microsoft.com/office/powerpoint/2010/main" val="14213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3DC4839-DD73-BA18-0AA9-5A297036B9A9}"/>
            </a:ext>
          </a:extLst>
        </p:cNvPr>
        <p:cNvGrpSpPr/>
        <p:nvPr/>
      </p:nvGrpSpPr>
      <p:grpSpPr bwMode="auto">
        <a:xfrm>
          <a:off x="0" y="0"/>
          <a:ext cx="0" cy="0"/>
          <a:chOff x="0" y="0"/>
          <a:chExt cx="0" cy="0"/>
        </a:xfrm>
      </p:grpSpPr>
      <p:sp>
        <p:nvSpPr>
          <p:cNvPr id="3" name="Titel 2">
            <a:extLst>
              <a:ext uri="{FF2B5EF4-FFF2-40B4-BE49-F238E27FC236}">
                <a16:creationId xmlns:a16="http://schemas.microsoft.com/office/drawing/2014/main" id="{5DE23D01-D43F-B1B4-47C1-AD4F96C6F293}"/>
              </a:ext>
            </a:extLst>
          </p:cNvPr>
          <p:cNvSpPr>
            <a:spLocks noGrp="1"/>
          </p:cNvSpPr>
          <p:nvPr>
            <p:ph type="title"/>
          </p:nvPr>
        </p:nvSpPr>
        <p:spPr bwMode="auto">
          <a:xfrm>
            <a:off x="4441875" y="1467640"/>
            <a:ext cx="9757346" cy="1260000"/>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de-DE" sz="4400"/>
              <a:t>Any </a:t>
            </a:r>
            <a:r>
              <a:rPr lang="de-DE" sz="4400" err="1"/>
              <a:t>other</a:t>
            </a:r>
            <a:r>
              <a:rPr lang="de-DE" sz="4400"/>
              <a:t> </a:t>
            </a:r>
            <a:r>
              <a:rPr lang="de-DE" sz="4400" err="1"/>
              <a:t>questions</a:t>
            </a:r>
            <a:r>
              <a:rPr lang="de-DE" sz="4400"/>
              <a:t>?</a:t>
            </a:r>
          </a:p>
        </p:txBody>
      </p:sp>
      <p:sp>
        <p:nvSpPr>
          <p:cNvPr id="4" name="Textplatzhalter 3">
            <a:extLst>
              <a:ext uri="{FF2B5EF4-FFF2-40B4-BE49-F238E27FC236}">
                <a16:creationId xmlns:a16="http://schemas.microsoft.com/office/drawing/2014/main" id="{FB0ACEB1-5282-F5F0-DB8A-4E5E791DBA50}"/>
              </a:ext>
            </a:extLst>
          </p:cNvPr>
          <p:cNvSpPr>
            <a:spLocks noGrp="1"/>
          </p:cNvSpPr>
          <p:nvPr>
            <p:ph idx="1"/>
          </p:nvPr>
        </p:nvSpPr>
        <p:spPr bwMode="auto">
          <a:xfrm>
            <a:off x="3388335" y="3015858"/>
            <a:ext cx="11273354" cy="1548708"/>
          </a:xfrm>
        </p:spPr>
        <p:txBody>
          <a:bodyPr vert="horz" lIns="182880" tIns="91440" rIns="182880" bIns="91440" rtlCol="0" anchor="t">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err="1"/>
              <a:t>We</a:t>
            </a:r>
            <a:r>
              <a:rPr lang="de-DE"/>
              <a:t> </a:t>
            </a:r>
            <a:r>
              <a:rPr lang="de-DE" err="1"/>
              <a:t>are</a:t>
            </a:r>
            <a:r>
              <a:rPr lang="de-DE"/>
              <a:t> 16 </a:t>
            </a:r>
            <a:r>
              <a:rPr lang="de-DE" err="1"/>
              <a:t>experienced</a:t>
            </a:r>
            <a:r>
              <a:rPr lang="de-DE"/>
              <a:t> </a:t>
            </a:r>
            <a:r>
              <a:rPr lang="de-DE" err="1"/>
              <a:t>students</a:t>
            </a:r>
            <a:r>
              <a:rPr lang="de-DE"/>
              <a:t> </a:t>
            </a:r>
            <a:r>
              <a:rPr lang="de-DE" err="1"/>
              <a:t>that</a:t>
            </a:r>
            <a:r>
              <a:rPr lang="de-DE"/>
              <a:t> will </a:t>
            </a:r>
            <a:r>
              <a:rPr lang="de-DE" err="1"/>
              <a:t>help</a:t>
            </a:r>
            <a:r>
              <a:rPr lang="de-DE"/>
              <a:t> </a:t>
            </a:r>
            <a:r>
              <a:rPr lang="de-DE" err="1"/>
              <a:t>you</a:t>
            </a:r>
            <a:r>
              <a:rPr lang="de-DE"/>
              <a:t> </a:t>
            </a:r>
            <a:r>
              <a:rPr lang="de-DE" err="1"/>
              <a:t>throughout</a:t>
            </a:r>
            <a:r>
              <a:rPr lang="de-DE"/>
              <a:t> </a:t>
            </a:r>
            <a:r>
              <a:rPr lang="de-DE" err="1"/>
              <a:t>the</a:t>
            </a:r>
            <a:r>
              <a:rPr lang="de-DE"/>
              <a:t> Leuphana Semester</a:t>
            </a:r>
          </a:p>
        </p:txBody>
      </p:sp>
      <p:sp>
        <p:nvSpPr>
          <p:cNvPr id="6" name="Textfeld 5">
            <a:extLst>
              <a:ext uri="{FF2B5EF4-FFF2-40B4-BE49-F238E27FC236}">
                <a16:creationId xmlns:a16="http://schemas.microsoft.com/office/drawing/2014/main" id="{07A0F4F0-25BC-9835-2394-27B50A2EC74B}"/>
              </a:ext>
            </a:extLst>
          </p:cNvPr>
          <p:cNvSpPr txBox="1"/>
          <p:nvPr/>
        </p:nvSpPr>
        <p:spPr>
          <a:xfrm>
            <a:off x="2736904" y="5537246"/>
            <a:ext cx="4243858" cy="769441"/>
          </a:xfrm>
          <a:prstGeom prst="rect">
            <a:avLst/>
          </a:prstGeom>
          <a:noFill/>
        </p:spPr>
        <p:txBody>
          <a:bodyPr wrap="square" lIns="91440" tIns="45720" rIns="91440" bIns="45720" rtlCol="0" anchor="t">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r>
              <a:rPr lang="de-DE" sz="4400"/>
              <a:t>Lightning Talks</a:t>
            </a:r>
          </a:p>
        </p:txBody>
      </p:sp>
      <p:sp>
        <p:nvSpPr>
          <p:cNvPr id="15" name="Textfeld 14">
            <a:extLst>
              <a:ext uri="{FF2B5EF4-FFF2-40B4-BE49-F238E27FC236}">
                <a16:creationId xmlns:a16="http://schemas.microsoft.com/office/drawing/2014/main" id="{CAC8918C-4338-AA9E-2149-C2492D53F452}"/>
              </a:ext>
            </a:extLst>
          </p:cNvPr>
          <p:cNvSpPr txBox="1"/>
          <p:nvPr/>
        </p:nvSpPr>
        <p:spPr bwMode="auto">
          <a:xfrm>
            <a:off x="9886456" y="5531268"/>
            <a:ext cx="5490704" cy="769441"/>
          </a:xfrm>
          <a:prstGeom prst="rect">
            <a:avLst/>
          </a:prstGeom>
          <a:noFill/>
        </p:spPr>
        <p:txBody>
          <a:bodyPr wrap="square" lIns="91440" tIns="45720" rIns="91440" bIns="45720" rtlCol="0" anchor="t">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r>
              <a:rPr lang="de-DE" sz="4400"/>
              <a:t>Help Desk (C25.007)</a:t>
            </a:r>
          </a:p>
        </p:txBody>
      </p:sp>
      <p:sp>
        <p:nvSpPr>
          <p:cNvPr id="17" name="Textplatzhalter 3">
            <a:extLst>
              <a:ext uri="{FF2B5EF4-FFF2-40B4-BE49-F238E27FC236}">
                <a16:creationId xmlns:a16="http://schemas.microsoft.com/office/drawing/2014/main" id="{C28CD2FB-0AC9-E267-F3B6-1C730D8DEF5A}"/>
              </a:ext>
            </a:extLst>
          </p:cNvPr>
          <p:cNvSpPr txBox="1">
            <a:spLocks/>
          </p:cNvSpPr>
          <p:nvPr/>
        </p:nvSpPr>
        <p:spPr bwMode="auto">
          <a:xfrm>
            <a:off x="2739929" y="6788710"/>
            <a:ext cx="7013670" cy="2617200"/>
          </a:xfrm>
          <a:prstGeom prst="rect">
            <a:avLst/>
          </a:prstGeom>
          <a:solidFill>
            <a:schemeClr val="bg1"/>
          </a:solidFill>
        </p:spPr>
        <p:txBody>
          <a:bodyPr vert="horz" lIns="182880" tIns="91440" rIns="182880" bIns="91440" rtlCol="0" anchor="t">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err="1"/>
              <a:t>Wed</a:t>
            </a:r>
            <a:r>
              <a:rPr lang="de-DE"/>
              <a:t>., HS 1 </a:t>
            </a:r>
          </a:p>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14:15 – 14:45  </a:t>
            </a:r>
          </a:p>
          <a:p>
            <a:pPr marL="0" indent="0">
              <a:lnSpc>
                <a:spcPct val="100000"/>
              </a:lnSpc>
              <a:spcAft>
                <a:spcPts val="1200"/>
              </a:spcAft>
              <a:buClr>
                <a:schemeClr val="accent5">
                  <a:lumMod val="75000"/>
                </a:schemeClr>
              </a:buClr>
              <a:buNone/>
              <a:defRPr/>
            </a:pPr>
            <a:endParaRPr lang="de-DE" sz="4000">
              <a:latin typeface="Abadi" panose="020B0604020104020204" pitchFamily="34" charset="0"/>
            </a:endParaRPr>
          </a:p>
        </p:txBody>
      </p:sp>
      <p:sp>
        <p:nvSpPr>
          <p:cNvPr id="18" name="Textplatzhalter 3">
            <a:extLst>
              <a:ext uri="{FF2B5EF4-FFF2-40B4-BE49-F238E27FC236}">
                <a16:creationId xmlns:a16="http://schemas.microsoft.com/office/drawing/2014/main" id="{5F43AFE7-82CE-343A-9A2A-0444E9E6FFAE}"/>
              </a:ext>
            </a:extLst>
          </p:cNvPr>
          <p:cNvSpPr txBox="1">
            <a:spLocks/>
          </p:cNvSpPr>
          <p:nvPr/>
        </p:nvSpPr>
        <p:spPr bwMode="auto">
          <a:xfrm>
            <a:off x="9753598" y="6749900"/>
            <a:ext cx="6861268" cy="3391164"/>
          </a:xfrm>
          <a:prstGeom prst="rect">
            <a:avLst/>
          </a:prstGeom>
          <a:noFill/>
        </p:spPr>
        <p:txBody>
          <a:bodyPr vert="horz" lIns="182880" tIns="91440" rIns="182880" bIns="91440" rtlCol="0" anchor="t">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Mon. &amp; </a:t>
            </a:r>
            <a:r>
              <a:rPr lang="de-DE" err="1"/>
              <a:t>Fri</a:t>
            </a:r>
            <a:r>
              <a:rPr lang="de-DE"/>
              <a:t>. 10 – 16; </a:t>
            </a:r>
          </a:p>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Wed. 12 - 18</a:t>
            </a:r>
          </a:p>
          <a:p>
            <a:pPr marL="914400" indent="-914400">
              <a:lnSpc>
                <a:spcPct val="100000"/>
              </a:lnSpc>
              <a:spcAft>
                <a:spcPts val="1200"/>
              </a:spcAft>
              <a:buClr>
                <a:schemeClr val="accent5">
                  <a:lumMod val="75000"/>
                </a:schemeClr>
              </a:buClr>
              <a:buFont typeface="Wingdings" panose="05000000000000000000" pitchFamily="2" charset="2"/>
              <a:buChar char="v"/>
              <a:defRPr/>
            </a:pPr>
            <a:r>
              <a:rPr lang="de-DE"/>
              <a:t>Individual support</a:t>
            </a:r>
          </a:p>
        </p:txBody>
      </p:sp>
    </p:spTree>
    <p:extLst>
      <p:ext uri="{BB962C8B-B14F-4D97-AF65-F5344CB8AC3E}">
        <p14:creationId xmlns:p14="http://schemas.microsoft.com/office/powerpoint/2010/main" val="1037531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4" imgW="7772400" imgH="10058400" progId="TCLayout.ActiveDocument.1">
                  <p:embed/>
                </p:oleObj>
              </mc:Choice>
              <mc:Fallback>
                <p:oleObj name="think-cell Folie" r:id="rId4"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p:txBody>
          <a:bodyPr vert="horz">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a:t>Notion, </a:t>
            </a:r>
            <a:r>
              <a:rPr lang="de-DE" sz="4400" err="1"/>
              <a:t>the</a:t>
            </a:r>
            <a:r>
              <a:rPr lang="de-DE" sz="4400"/>
              <a:t> all-in-</a:t>
            </a:r>
            <a:r>
              <a:rPr lang="de-DE" sz="4400" err="1"/>
              <a:t>one</a:t>
            </a:r>
            <a:r>
              <a:rPr lang="de-DE" sz="4400"/>
              <a:t> </a:t>
            </a:r>
            <a:r>
              <a:rPr lang="de-DE" sz="4400" err="1"/>
              <a:t>workspace</a:t>
            </a:r>
            <a:endParaRPr lang="de-DE" sz="4400"/>
          </a:p>
        </p:txBody>
      </p:sp>
      <p:pic>
        <p:nvPicPr>
          <p:cNvPr id="10" name="Onlinemedien 9" descr="Notion Training: The Basics">
            <a:hlinkClick r:id="" action="ppaction://media"/>
            <a:extLst>
              <a:ext uri="{FF2B5EF4-FFF2-40B4-BE49-F238E27FC236}">
                <a16:creationId xmlns:a16="http://schemas.microsoft.com/office/drawing/2014/main" id="{A3D9B69A-756B-11F2-4BB5-F59783B12116}"/>
              </a:ext>
            </a:extLst>
          </p:cNvPr>
          <p:cNvPicPr>
            <a:picLocks noRot="1" noChangeAspect="1"/>
          </p:cNvPicPr>
          <p:nvPr>
            <a:videoFile r:link="rId1"/>
          </p:nvPr>
        </p:nvPicPr>
        <p:blipFill>
          <a:blip r:embed="rId5"/>
          <a:stretch>
            <a:fillRect/>
          </a:stretch>
        </p:blipFill>
        <p:spPr>
          <a:xfrm>
            <a:off x="3419872" y="2563964"/>
            <a:ext cx="11448256" cy="6468264"/>
          </a:xfrm>
          <a:prstGeom prst="rect">
            <a:avLst/>
          </a:prstGeom>
        </p:spPr>
      </p:pic>
      <p:sp>
        <p:nvSpPr>
          <p:cNvPr id="3" name="Parallelogramm 2">
            <a:extLst>
              <a:ext uri="{FF2B5EF4-FFF2-40B4-BE49-F238E27FC236}">
                <a16:creationId xmlns:a16="http://schemas.microsoft.com/office/drawing/2014/main" id="{D88FFED0-08D1-5005-5CF7-B6BB7DBF5E8B}"/>
              </a:ext>
            </a:extLst>
          </p:cNvPr>
          <p:cNvSpPr/>
          <p:nvPr/>
        </p:nvSpPr>
        <p:spPr bwMode="auto">
          <a:xfrm>
            <a:off x="15869592" y="-41309"/>
            <a:ext cx="2418408" cy="4120286"/>
          </a:xfrm>
          <a:prstGeom prst="parallelogram">
            <a:avLst>
              <a:gd name="adj" fmla="val 0"/>
            </a:avLst>
          </a:prstGeom>
          <a:solidFill>
            <a:srgbClr val="7E0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endParaRPr lang="de-DE">
              <a:solidFill>
                <a:schemeClr val="bg1"/>
              </a:solidFill>
              <a:hlinkClick r:id="rId6">
                <a:extLst>
                  <a:ext uri="{A12FA001-AC4F-418D-AE19-62706E023703}">
                    <ahyp:hlinkClr xmlns:ahyp="http://schemas.microsoft.com/office/drawing/2018/hyperlinkcolor" val="tx"/>
                  </a:ext>
                </a:extLst>
              </a:hlinkClick>
            </a:endParaRPr>
          </a:p>
          <a:p>
            <a:pPr algn="ctr"/>
            <a:r>
              <a:rPr lang="de-DE">
                <a:solidFill>
                  <a:schemeClr val="bg1"/>
                </a:solidFill>
                <a:hlinkClick r:id="rId6">
                  <a:extLst>
                    <a:ext uri="{A12FA001-AC4F-418D-AE19-62706E023703}">
                      <ahyp:hlinkClr xmlns:ahyp="http://schemas.microsoft.com/office/drawing/2018/hyperlinkcolor" val="tx"/>
                    </a:ext>
                  </a:extLst>
                </a:hlinkClick>
              </a:rPr>
              <a:t>Click here to get the Leuphana Semester Template</a:t>
            </a:r>
            <a:endParaRPr lang="de-DE">
              <a:solidFill>
                <a:schemeClr val="bg1"/>
              </a:solidFill>
            </a:endParaRPr>
          </a:p>
        </p:txBody>
      </p:sp>
      <p:pic>
        <p:nvPicPr>
          <p:cNvPr id="6" name="Grafik 5">
            <a:extLst>
              <a:ext uri="{FF2B5EF4-FFF2-40B4-BE49-F238E27FC236}">
                <a16:creationId xmlns:a16="http://schemas.microsoft.com/office/drawing/2014/main" id="{300885C9-0282-D717-1A21-F49BAD4BC37B}"/>
              </a:ext>
            </a:extLst>
          </p:cNvPr>
          <p:cNvPicPr>
            <a:picLocks noChangeAspect="1"/>
          </p:cNvPicPr>
          <p:nvPr/>
        </p:nvPicPr>
        <p:blipFill>
          <a:blip r:embed="rId7" cstate="print">
            <a:extLst>
              <a:ext uri="{28A0092B-C50C-407E-A947-70E740481C1C}">
                <a14:useLocalDpi xmlns:a14="http://schemas.microsoft.com/office/drawing/2010/main"/>
              </a:ext>
            </a:extLst>
          </a:blip>
          <a:stretch/>
        </p:blipFill>
        <p:spPr bwMode="auto">
          <a:xfrm>
            <a:off x="16325598" y="40760"/>
            <a:ext cx="1397000" cy="1397000"/>
          </a:xfrm>
          <a:prstGeom prst="rect">
            <a:avLst/>
          </a:prstGeom>
        </p:spPr>
      </p:pic>
    </p:spTree>
    <p:extLst>
      <p:ext uri="{BB962C8B-B14F-4D97-AF65-F5344CB8AC3E}">
        <p14:creationId xmlns:p14="http://schemas.microsoft.com/office/powerpoint/2010/main" val="931197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bwMode="auto">
        <a:xfrm>
          <a:off x="0" y="0"/>
          <a:ext cx="0" cy="0"/>
          <a:chOff x="0" y="0"/>
          <a:chExt cx="0" cy="0"/>
        </a:xfrm>
      </p:grpSpPr>
      <p:graphicFrame>
        <p:nvGraphicFramePr>
          <p:cNvPr id="2" name="Objekt 1" hidden="1"/>
          <p:cNvGraphicFramePr>
            <a:graphicFrameLocks noChangeAspect="1"/>
          </p:cNvGraphicFramePr>
          <p:nvPr/>
        </p:nvGraphicFramePr>
        <p:xfrm>
          <a:off x="3175" y="3175"/>
          <a:ext cx="2454" cy="3174"/>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2" name="Objekt 1" hidden="1"/>
                      <p:cNvPicPr/>
                      <p:nvPr/>
                    </p:nvPicPr>
                    <p:blipFill>
                      <a:blip/>
                      <a:stretch/>
                    </p:blipFill>
                    <p:spPr bwMode="auto">
                      <a:xfrm>
                        <a:off x="3175" y="3175"/>
                        <a:ext cx="2454" cy="3174"/>
                      </a:xfrm>
                      <a:prstGeom prst="rect">
                        <a:avLst/>
                      </a:prstGeom>
                    </p:spPr>
                  </p:pic>
                </p:oleObj>
              </mc:Fallback>
            </mc:AlternateContent>
          </a:graphicData>
        </a:graphic>
      </p:graphicFrame>
      <p:sp>
        <p:nvSpPr>
          <p:cNvPr id="5" name="Titel 4"/>
          <p:cNvSpPr>
            <a:spLocks noGrp="1"/>
          </p:cNvSpPr>
          <p:nvPr>
            <p:ph type="title"/>
          </p:nvPr>
        </p:nvSpPr>
        <p:spPr bwMode="auto">
          <a:xfrm>
            <a:off x="3448500" y="1478828"/>
            <a:ext cx="11391000" cy="1260000"/>
          </a:xfrm>
        </p:spPr>
        <p:txBody>
          <a:bodyPr vert="horz">
            <a:normAutofit fontScale="90000"/>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r>
              <a:rPr lang="en-US" sz="4400"/>
              <a:t>Experiences of previous </a:t>
            </a:r>
            <a:r>
              <a:rPr lang="en-US" sz="4400" b="0" i="0" u="none">
                <a:solidFill>
                  <a:srgbClr val="000000"/>
                </a:solidFill>
                <a:latin typeface="Liberation Sans"/>
                <a:ea typeface="Liberation Sans"/>
                <a:cs typeface="Liberation Sans"/>
              </a:rPr>
              <a:t>first-year students </a:t>
            </a:r>
            <a:r>
              <a:rPr lang="en-US" sz="4400"/>
              <a:t> </a:t>
            </a:r>
            <a:br>
              <a:rPr lang="en-US" sz="4400"/>
            </a:br>
            <a:r>
              <a:rPr lang="en-US" sz="4400"/>
              <a:t>What you can expect</a:t>
            </a:r>
            <a:endParaRPr lang="de-DE" sz="4400"/>
          </a:p>
        </p:txBody>
      </p:sp>
      <p:sp>
        <p:nvSpPr>
          <p:cNvPr id="6" name="Textplatzhalter 5"/>
          <p:cNvSpPr>
            <a:spLocks noGrp="1"/>
          </p:cNvSpPr>
          <p:nvPr>
            <p:ph idx="1"/>
          </p:nvPr>
        </p:nvSpPr>
        <p:spPr bwMode="auto">
          <a:xfrm>
            <a:off x="1944000" y="3314700"/>
            <a:ext cx="14400000" cy="4497473"/>
          </a:xfrm>
        </p:spPr>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marL="571500" indent="-571500">
              <a:spcBef>
                <a:spcPts val="1200"/>
              </a:spcBef>
              <a:buFont typeface="Arial"/>
              <a:buChar char="•"/>
              <a:defRPr/>
            </a:pPr>
            <a:r>
              <a:rPr lang="en-US">
                <a:latin typeface="Arial" panose="020B0604020202020204" pitchFamily="34" charset="0"/>
                <a:cs typeface="Arial" panose="020B0604020202020204" pitchFamily="34" charset="0"/>
              </a:rPr>
              <a:t>More independence &amp; responsibility</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Homesickness - but also the chance to meet great new people and try things out for yourself</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Exciting experiences in your studies, work and free time - finding a balance</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Initial lack of clarity (Moodle, </a:t>
            </a:r>
            <a:r>
              <a:rPr lang="en-US" err="1">
                <a:latin typeface="Arial" panose="020B0604020202020204" pitchFamily="34" charset="0"/>
                <a:cs typeface="Arial" panose="020B0604020202020204" pitchFamily="34" charset="0"/>
              </a:rPr>
              <a:t>myStudy</a:t>
            </a:r>
            <a:r>
              <a:rPr lang="en-US">
                <a:latin typeface="Arial" panose="020B0604020202020204" pitchFamily="34" charset="0"/>
                <a:cs typeface="Arial" panose="020B0604020202020204" pitchFamily="34" charset="0"/>
              </a:rPr>
              <a:t> etc.) will give with time</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It can get stressful at times... but you will master that too</a:t>
            </a:r>
          </a:p>
          <a:p>
            <a:pPr marL="571500" indent="-571500">
              <a:spcBef>
                <a:spcPts val="1200"/>
              </a:spcBef>
              <a:buFont typeface="Arial"/>
              <a:buChar char="•"/>
              <a:defRPr/>
            </a:pPr>
            <a:r>
              <a:rPr lang="en-US">
                <a:latin typeface="Arial" panose="020B0604020202020204" pitchFamily="34" charset="0"/>
                <a:cs typeface="Arial" panose="020B0604020202020204" pitchFamily="34" charset="0"/>
              </a:rPr>
              <a:t>Regular attendance at the tutorial saves a lot of time and effort and makes it easier to get started!</a:t>
            </a:r>
            <a:endParaRPr lang="de-DE" sz="2400"/>
          </a:p>
        </p:txBody>
      </p:sp>
    </p:spTree>
    <p:extLst>
      <p:ext uri="{BB962C8B-B14F-4D97-AF65-F5344CB8AC3E}">
        <p14:creationId xmlns:p14="http://schemas.microsoft.com/office/powerpoint/2010/main" val="1573025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35867-A04D-0588-319B-357E07D86F8B}"/>
              </a:ext>
            </a:extLst>
          </p:cNvPr>
          <p:cNvSpPr>
            <a:spLocks noGrp="1"/>
          </p:cNvSpPr>
          <p:nvPr>
            <p:ph type="title"/>
          </p:nvPr>
        </p:nvSpPr>
        <p:spPr/>
        <p:txBody>
          <a:bodyPr>
            <a:normAutofit/>
          </a:bodyPr>
          <a:lstStyle/>
          <a:p>
            <a:pPr algn="ctr"/>
            <a:r>
              <a:rPr lang="en-GB" err="1"/>
              <a:t>Mitschreiben</a:t>
            </a:r>
            <a:r>
              <a:rPr lang="en-GB"/>
              <a:t>, </a:t>
            </a:r>
            <a:r>
              <a:rPr lang="en-GB" err="1"/>
              <a:t>Vor</a:t>
            </a:r>
            <a:r>
              <a:rPr lang="en-GB"/>
              <a:t>- und </a:t>
            </a:r>
            <a:r>
              <a:rPr lang="en-GB" err="1"/>
              <a:t>Nachbereitung</a:t>
            </a:r>
            <a:r>
              <a:rPr lang="en-GB"/>
              <a:t> von </a:t>
            </a:r>
            <a:r>
              <a:rPr lang="en-GB" err="1"/>
              <a:t>Vorlesungen</a:t>
            </a:r>
            <a:endParaRPr lang="en-GB"/>
          </a:p>
        </p:txBody>
      </p:sp>
      <p:sp>
        <p:nvSpPr>
          <p:cNvPr id="3" name="Content Placeholder 2">
            <a:extLst>
              <a:ext uri="{FF2B5EF4-FFF2-40B4-BE49-F238E27FC236}">
                <a16:creationId xmlns:a16="http://schemas.microsoft.com/office/drawing/2014/main" id="{5A4A4C81-F280-5525-00CE-92DA8E49C6B3}"/>
              </a:ext>
            </a:extLst>
          </p:cNvPr>
          <p:cNvSpPr>
            <a:spLocks noGrp="1"/>
          </p:cNvSpPr>
          <p:nvPr>
            <p:ph idx="1"/>
          </p:nvPr>
        </p:nvSpPr>
        <p:spPr>
          <a:xfrm>
            <a:off x="2890727" y="2565646"/>
            <a:ext cx="14400000" cy="6480000"/>
          </a:xfrm>
        </p:spPr>
        <p:txBody>
          <a:bodyPr vert="horz" lIns="91440" tIns="45720" rIns="91440" bIns="45720" rtlCol="0" anchor="t">
            <a:normAutofit fontScale="92500" lnSpcReduction="20000"/>
          </a:bodyPr>
          <a:lstStyle/>
          <a:p>
            <a:pPr marL="0" indent="0">
              <a:buNone/>
            </a:pPr>
            <a:r>
              <a:rPr lang="en-US" b="1"/>
              <a:t>Before the lecture:</a:t>
            </a:r>
          </a:p>
          <a:p>
            <a:r>
              <a:rPr lang="en-US"/>
              <a:t>Read texts</a:t>
            </a:r>
          </a:p>
          <a:p>
            <a:r>
              <a:rPr lang="en-US"/>
              <a:t>Download slides (if available)</a:t>
            </a:r>
          </a:p>
          <a:p>
            <a:r>
              <a:rPr lang="en-US"/>
              <a:t>Write down questions</a:t>
            </a:r>
          </a:p>
          <a:p>
            <a:pPr marL="0" indent="0">
              <a:buNone/>
            </a:pPr>
            <a:endParaRPr lang="en-US" b="1"/>
          </a:p>
          <a:p>
            <a:pPr marL="0" indent="0">
              <a:buNone/>
            </a:pPr>
            <a:r>
              <a:rPr lang="en-US" b="1"/>
              <a:t>Take notes during the lecture:</a:t>
            </a:r>
          </a:p>
          <a:p>
            <a:r>
              <a:rPr lang="en-US"/>
              <a:t>On paper / laptop (e.g. Notion, MS Word) / tablet (e.g. </a:t>
            </a:r>
            <a:r>
              <a:rPr lang="en-US" err="1"/>
              <a:t>GoodNotes</a:t>
            </a:r>
            <a:r>
              <a:rPr lang="en-US"/>
              <a:t>)</a:t>
            </a:r>
          </a:p>
          <a:p>
            <a:r>
              <a:rPr lang="en-US"/>
              <a:t>Add slides (if slides are available)</a:t>
            </a:r>
          </a:p>
          <a:p>
            <a:r>
              <a:rPr lang="en-US"/>
              <a:t>Not everything, just the important stuff!</a:t>
            </a:r>
          </a:p>
          <a:p>
            <a:r>
              <a:rPr lang="en-US"/>
              <a:t>Think for yourself</a:t>
            </a:r>
          </a:p>
          <a:p>
            <a:pPr marL="0" indent="0">
              <a:buNone/>
            </a:pPr>
            <a:endParaRPr lang="en-US" b="1"/>
          </a:p>
          <a:p>
            <a:pPr marL="0" indent="0">
              <a:buNone/>
            </a:pPr>
            <a:r>
              <a:rPr lang="en-US" b="1"/>
              <a:t>Follow-up:</a:t>
            </a:r>
          </a:p>
          <a:p>
            <a:r>
              <a:rPr lang="en-US"/>
              <a:t>If necessary, convert notes into legible form</a:t>
            </a:r>
          </a:p>
          <a:p>
            <a:r>
              <a:rPr lang="en-US"/>
              <a:t>Clarify gaps in understanding (internet research, ask fellow students)</a:t>
            </a:r>
          </a:p>
          <a:p>
            <a:r>
              <a:rPr lang="en-US"/>
              <a:t>Create notepads, index cards etc. to prepare for the exam</a:t>
            </a:r>
          </a:p>
          <a:p>
            <a:r>
              <a:rPr lang="en-US"/>
              <a:t>Make sample exercises (if available)</a:t>
            </a:r>
            <a:endParaRPr lang="en-GB"/>
          </a:p>
        </p:txBody>
      </p:sp>
      <p:sp>
        <p:nvSpPr>
          <p:cNvPr id="5" name="TextBox 4">
            <a:extLst>
              <a:ext uri="{FF2B5EF4-FFF2-40B4-BE49-F238E27FC236}">
                <a16:creationId xmlns:a16="http://schemas.microsoft.com/office/drawing/2014/main" id="{C72DFB73-9B3F-CD5B-CA7C-5658A0D8D9F9}"/>
              </a:ext>
            </a:extLst>
          </p:cNvPr>
          <p:cNvSpPr txBox="1"/>
          <p:nvPr/>
        </p:nvSpPr>
        <p:spPr>
          <a:xfrm>
            <a:off x="12561214" y="3461657"/>
            <a:ext cx="3962400" cy="1200329"/>
          </a:xfrm>
          <a:prstGeom prst="rect">
            <a:avLst/>
          </a:prstGeom>
          <a:solidFill>
            <a:schemeClr val="accent5"/>
          </a:solidFill>
        </p:spPr>
        <p:txBody>
          <a:bodyPr wrap="square" rtlCol="0">
            <a:spAutoFit/>
          </a:bodyPr>
          <a:lstStyle/>
          <a:p>
            <a:r>
              <a:rPr lang="en-US" sz="2400" b="1"/>
              <a:t>Tip: </a:t>
            </a:r>
            <a:r>
              <a:rPr lang="en-US" sz="2400"/>
              <a:t>Ask yourself questions</a:t>
            </a:r>
          </a:p>
          <a:p>
            <a:r>
              <a:rPr lang="en-US" sz="2400"/>
              <a:t>Why is this important? What is the main message? </a:t>
            </a:r>
            <a:endParaRPr lang="en-GB" sz="2400"/>
          </a:p>
        </p:txBody>
      </p:sp>
    </p:spTree>
    <p:extLst>
      <p:ext uri="{BB962C8B-B14F-4D97-AF65-F5344CB8AC3E}">
        <p14:creationId xmlns:p14="http://schemas.microsoft.com/office/powerpoint/2010/main" val="3052793709"/>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487EDEA2-EF51-E504-F9D1-4D90D31E3774}"/>
              </a:ext>
            </a:extLst>
          </p:cNvPr>
          <p:cNvGraphicFramePr/>
          <p:nvPr>
            <p:extLst>
              <p:ext uri="{D42A27DB-BD31-4B8C-83A1-F6EECF244321}">
                <p14:modId xmlns:p14="http://schemas.microsoft.com/office/powerpoint/2010/main" val="2063512047"/>
              </p:ext>
            </p:extLst>
          </p:nvPr>
        </p:nvGraphicFramePr>
        <p:xfrm>
          <a:off x="3515544" y="1355192"/>
          <a:ext cx="11256912" cy="75766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6775790"/>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10" ma:contentTypeDescription="Ein neues Dokument erstellen." ma:contentTypeScope="" ma:versionID="4601b18eedacff0bd71a5674374c5bf8">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5a4c1d1d0483674b7cb723cbb66edba9"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FBDA42-516C-49FB-B3B2-37CB51BE853B}">
  <ds:schemaRefs>
    <ds:schemaRef ds:uri="884d299c-5010-4321-b642-613c40d795bb"/>
    <ds:schemaRef ds:uri="e0647eb4-fdd8-4a76-905c-ef029484ffcd"/>
    <ds:schemaRef ds:uri="http://schemas.microsoft.com/office/2006/metadata/properties"/>
    <ds:schemaRef ds:uri="http://schemas.microsoft.com/office/infopath/2007/PartnerControls"/>
    <ds:schemaRef ds:uri="http://www.w3.org/2000/xmlns/"/>
    <ds:schemaRef ds:uri="http://www.w3.org/2001/XMLSchema-instance"/>
  </ds:schemaRefs>
</ds:datastoreItem>
</file>

<file path=customXml/itemProps2.xml><?xml version="1.0" encoding="utf-8"?>
<ds:datastoreItem xmlns:ds="http://schemas.openxmlformats.org/officeDocument/2006/customXml" ds:itemID="{6322B688-CE9F-4525-9207-023C6C3793E0}">
  <ds:schemaRefs>
    <ds:schemaRef ds:uri="http://schemas.microsoft.com/sharepoint/v3/contenttype/forms"/>
  </ds:schemaRefs>
</ds:datastoreItem>
</file>

<file path=customXml/itemProps3.xml><?xml version="1.0" encoding="utf-8"?>
<ds:datastoreItem xmlns:ds="http://schemas.openxmlformats.org/officeDocument/2006/customXml" ds:itemID="{5BCA057B-7122-46A4-B4E1-91E6C6A80A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884d299c-5010-4321-b642-613c40d795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2042</Words>
  <Application>Microsoft Office PowerPoint</Application>
  <PresentationFormat>Benutzerdefiniert</PresentationFormat>
  <Paragraphs>190</Paragraphs>
  <Slides>18</Slides>
  <Notes>18</Notes>
  <HiddenSlides>4</HiddenSlides>
  <MMClips>1</MMClips>
  <ScaleCrop>false</ScaleCrop>
  <HeadingPairs>
    <vt:vector size="8" baseType="variant">
      <vt:variant>
        <vt:lpstr>Verwendete Schriftarten</vt:lpstr>
      </vt:variant>
      <vt:variant>
        <vt:i4>6</vt:i4>
      </vt:variant>
      <vt:variant>
        <vt:lpstr>Design</vt:lpstr>
      </vt:variant>
      <vt:variant>
        <vt:i4>2</vt:i4>
      </vt:variant>
      <vt:variant>
        <vt:lpstr>Eingebettete OLE-Server</vt:lpstr>
      </vt:variant>
      <vt:variant>
        <vt:i4>1</vt:i4>
      </vt:variant>
      <vt:variant>
        <vt:lpstr>Folientitel</vt:lpstr>
      </vt:variant>
      <vt:variant>
        <vt:i4>18</vt:i4>
      </vt:variant>
    </vt:vector>
  </HeadingPairs>
  <TitlesOfParts>
    <vt:vector size="27" baseType="lpstr">
      <vt:lpstr>Calibri</vt:lpstr>
      <vt:lpstr>Aptos</vt:lpstr>
      <vt:lpstr>Wingdings</vt:lpstr>
      <vt:lpstr>Liberation Sans</vt:lpstr>
      <vt:lpstr>Arial</vt:lpstr>
      <vt:lpstr>Abadi</vt:lpstr>
      <vt:lpstr>Benutzerdefiniertes Design</vt:lpstr>
      <vt:lpstr>Benutzerdefiniertes Design</vt:lpstr>
      <vt:lpstr>think-cell Folie</vt:lpstr>
      <vt:lpstr>Time-management in your studies</vt:lpstr>
      <vt:lpstr>Agenda</vt:lpstr>
      <vt:lpstr>Have you already found good strategies for a good time management in your studies?</vt:lpstr>
      <vt:lpstr>Why time management matters!</vt:lpstr>
      <vt:lpstr>Getting things done (David Allen)</vt:lpstr>
      <vt:lpstr>The power of a system</vt:lpstr>
      <vt:lpstr>Tips &amp; Personal experiences</vt:lpstr>
      <vt:lpstr>PowerPoint-Präsentation</vt:lpstr>
      <vt:lpstr>PowerPoint-Präsentation</vt:lpstr>
      <vt:lpstr>Long-term study plan </vt:lpstr>
      <vt:lpstr>Separation of working and living space</vt:lpstr>
      <vt:lpstr>Most important takeaways!</vt:lpstr>
      <vt:lpstr>Verwandte Wiki Artikel</vt:lpstr>
      <vt:lpstr>Any other questions?</vt:lpstr>
      <vt:lpstr>Notion, the all-in-one workspace</vt:lpstr>
      <vt:lpstr>Experiences of previous first-year students   What you can expect</vt:lpstr>
      <vt:lpstr>Mitschreiben, Vor- und Nachbereitung von Vorlesungen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Time-management in your studies</dc:title>
  <cp:lastModifiedBy>Felix Soltau</cp:lastModifiedBy>
  <cp:revision>3</cp:revision>
  <dcterms:created xsi:type="dcterms:W3CDTF">2006-08-16T00:00:00Z</dcterms:created>
  <dcterms:modified xsi:type="dcterms:W3CDTF">2026-06-22T20:42:05Z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y fmtid="{D5CDD505-2E9C-101B-9397-08002B2CF9AE}" pid="3" name="MediaServiceImageTags">
    <vt:lpwstr/>
  </property>
</Properties>
</file>