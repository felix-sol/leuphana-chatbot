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4"/>
  </p:sldMasterIdLst>
  <p:notesMasterIdLst>
    <p:notesMasterId r:id="rId24"/>
  </p:notesMasterIdLst>
  <p:sldIdLst>
    <p:sldId id="256" r:id="rId5"/>
    <p:sldId id="311" r:id="rId6"/>
    <p:sldId id="280" r:id="rId7"/>
    <p:sldId id="318" r:id="rId8"/>
    <p:sldId id="321" r:id="rId9"/>
    <p:sldId id="319" r:id="rId10"/>
    <p:sldId id="320" r:id="rId11"/>
    <p:sldId id="325" r:id="rId12"/>
    <p:sldId id="322" r:id="rId13"/>
    <p:sldId id="323" r:id="rId14"/>
    <p:sldId id="324" r:id="rId15"/>
    <p:sldId id="312" r:id="rId16"/>
    <p:sldId id="316" r:id="rId17"/>
    <p:sldId id="313" r:id="rId18"/>
    <p:sldId id="314" r:id="rId19"/>
    <p:sldId id="315" r:id="rId20"/>
    <p:sldId id="286" r:id="rId21"/>
    <p:sldId id="326" r:id="rId22"/>
    <p:sldId id="310" r:id="rId23"/>
  </p:sldIdLst>
  <p:sldSz cx="9144000" cy="5143500" type="screen16x9"/>
  <p:notesSz cx="9144000" cy="5143500"/>
  <p:embeddedFontLst>
    <p:embeddedFont>
      <p:font typeface="Abadi" panose="020B0604020202020204" charset="0"/>
      <p:regular r:id="rId25"/>
      <p:bold r:id="rId26"/>
      <p:italic r:id="rId27"/>
      <p:boldItalic r:id="rId28"/>
    </p:embeddedFont>
    <p:embeddedFont>
      <p:font typeface="Arial Narrow" panose="020B0604020202020204" charset="0"/>
      <p:regular r:id="rId29"/>
      <p:bold r:id="rId30"/>
      <p:italic r:id="rId31"/>
      <p:boldItalic r:id="rId32"/>
    </p:embeddedFont>
  </p:embeddedFontLst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550FCBF-3364-5E3E-6D31-8553D00143EF}" name="Merle Warnecke" initials="MW" userId="S::merle.warnecke@stud.leuphana.de::deb58264-6464-4d0a-9ae8-d15f9a49624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EC41A9-D3BD-C044-542C-4C215430072B}" v="1" dt="2025-11-10T09:52:31.9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da Heydebreck" userId="S::linda.heydebreck@stud.leuphana.de::a3be419d-8519-4ec7-8324-ad68b2493972" providerId="AD" clId="Web-{741D3528-B9A3-1811-D925-7649CA817C67}"/>
    <pc:docChg chg="modSld">
      <pc:chgData name="Linda Heydebreck" userId="S::linda.heydebreck@stud.leuphana.de::a3be419d-8519-4ec7-8324-ad68b2493972" providerId="AD" clId="Web-{741D3528-B9A3-1811-D925-7649CA817C67}" dt="2025-10-23T08:45:44.403" v="1" actId="1076"/>
      <pc:docMkLst>
        <pc:docMk/>
      </pc:docMkLst>
      <pc:sldChg chg="modSp">
        <pc:chgData name="Linda Heydebreck" userId="S::linda.heydebreck@stud.leuphana.de::a3be419d-8519-4ec7-8324-ad68b2493972" providerId="AD" clId="Web-{741D3528-B9A3-1811-D925-7649CA817C67}" dt="2025-10-23T08:45:44.403" v="1" actId="1076"/>
        <pc:sldMkLst>
          <pc:docMk/>
          <pc:sldMk cId="277111324" sldId="325"/>
        </pc:sldMkLst>
        <pc:picChg chg="mod">
          <ac:chgData name="Linda Heydebreck" userId="S::linda.heydebreck@stud.leuphana.de::a3be419d-8519-4ec7-8324-ad68b2493972" providerId="AD" clId="Web-{741D3528-B9A3-1811-D925-7649CA817C67}" dt="2025-10-23T08:45:44.403" v="1" actId="1076"/>
          <ac:picMkLst>
            <pc:docMk/>
            <pc:sldMk cId="277111324" sldId="325"/>
            <ac:picMk id="3" creationId="{637694AF-CDF6-3D4A-17DA-8549747C58DC}"/>
          </ac:picMkLst>
        </pc:picChg>
      </pc:sldChg>
    </pc:docChg>
  </pc:docChgLst>
  <pc:docChgLst>
    <pc:chgData name="Merle Warnecke" userId="S::merle.warnecke@stud.leuphana.de::deb58264-6464-4d0a-9ae8-d15f9a49624a" providerId="AD" clId="Web-{F9EC41A9-D3BD-C044-542C-4C215430072B}"/>
    <pc:docChg chg="addSld">
      <pc:chgData name="Merle Warnecke" userId="S::merle.warnecke@stud.leuphana.de::deb58264-6464-4d0a-9ae8-d15f9a49624a" providerId="AD" clId="Web-{F9EC41A9-D3BD-C044-542C-4C215430072B}" dt="2025-11-10T09:52:31.914" v="0"/>
      <pc:docMkLst>
        <pc:docMk/>
      </pc:docMkLst>
      <pc:sldChg chg="add replId">
        <pc:chgData name="Merle Warnecke" userId="S::merle.warnecke@stud.leuphana.de::deb58264-6464-4d0a-9ae8-d15f9a49624a" providerId="AD" clId="Web-{F9EC41A9-D3BD-C044-542C-4C215430072B}" dt="2025-11-10T09:52:31.914" v="0"/>
        <pc:sldMkLst>
          <pc:docMk/>
          <pc:sldMk cId="3363189116" sldId="326"/>
        </pc:sldMkLst>
      </pc:sldChg>
    </pc:docChg>
  </pc:docChgLst>
  <pc:docChgLst>
    <pc:chgData name="Franziska Lindert" userId="S::franziska.lindert@stud.leuphana.de::4941eeab-489c-4294-bd36-b9ee1a38f994" providerId="AD" clId="Web-{1AF2B935-961F-E80B-89CB-CADD49F0A161}"/>
    <pc:docChg chg="modSld">
      <pc:chgData name="Franziska Lindert" userId="S::franziska.lindert@stud.leuphana.de::4941eeab-489c-4294-bd36-b9ee1a38f994" providerId="AD" clId="Web-{1AF2B935-961F-E80B-89CB-CADD49F0A161}" dt="2025-10-22T08:30:07.589" v="5"/>
      <pc:docMkLst>
        <pc:docMk/>
      </pc:docMkLst>
      <pc:sldChg chg="addSp modSp addAnim">
        <pc:chgData name="Franziska Lindert" userId="S::franziska.lindert@stud.leuphana.de::4941eeab-489c-4294-bd36-b9ee1a38f994" providerId="AD" clId="Web-{1AF2B935-961F-E80B-89CB-CADD49F0A161}" dt="2025-10-22T08:30:07.589" v="5"/>
        <pc:sldMkLst>
          <pc:docMk/>
          <pc:sldMk cId="277111324" sldId="325"/>
        </pc:sldMkLst>
        <pc:picChg chg="add mod">
          <ac:chgData name="Franziska Lindert" userId="S::franziska.lindert@stud.leuphana.de::4941eeab-489c-4294-bd36-b9ee1a38f994" providerId="AD" clId="Web-{1AF2B935-961F-E80B-89CB-CADD49F0A161}" dt="2025-10-22T08:30:03.933" v="4" actId="1076"/>
          <ac:picMkLst>
            <pc:docMk/>
            <pc:sldMk cId="277111324" sldId="325"/>
            <ac:picMk id="3" creationId="{637694AF-CDF6-3D4A-17DA-8549747C58D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174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" name="Google Shape;118;g35f391192_00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f391192_0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0050" lvl="1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/>
          </a:p>
          <a:p>
            <a:pPr marL="400050" lvl="1" indent="0">
              <a:buNone/>
              <a:defRPr/>
            </a:pPr>
            <a:r>
              <a:rPr lang="de-DE"/>
              <a:t>Hannah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One of </a:t>
            </a:r>
            <a:r>
              <a:rPr lang="de-DE" err="1"/>
              <a:t>your</a:t>
            </a:r>
            <a:r>
              <a:rPr lang="de-DE"/>
              <a:t> </a:t>
            </a:r>
            <a:r>
              <a:rPr lang="de-DE" err="1"/>
              <a:t>most</a:t>
            </a:r>
            <a:r>
              <a:rPr lang="de-DE"/>
              <a:t> </a:t>
            </a:r>
            <a:r>
              <a:rPr lang="de-DE" err="1"/>
              <a:t>frequently</a:t>
            </a:r>
            <a:r>
              <a:rPr lang="de-DE"/>
              <a:t> </a:t>
            </a:r>
            <a:r>
              <a:rPr lang="de-DE" err="1"/>
              <a:t>asked</a:t>
            </a:r>
            <a:r>
              <a:rPr lang="de-DE"/>
              <a:t> </a:t>
            </a:r>
            <a:r>
              <a:rPr lang="de-DE" err="1"/>
              <a:t>questions</a:t>
            </a:r>
            <a:r>
              <a:rPr lang="de-DE"/>
              <a:t> after last </a:t>
            </a:r>
            <a:r>
              <a:rPr lang="de-DE" err="1"/>
              <a:t>week‘s</a:t>
            </a:r>
            <a:r>
              <a:rPr lang="de-DE"/>
              <a:t> Lightning Talk</a:t>
            </a:r>
          </a:p>
          <a:p>
            <a:r>
              <a:rPr lang="de-DE" err="1"/>
              <a:t>There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a PDF </a:t>
            </a:r>
            <a:r>
              <a:rPr lang="de-DE" err="1"/>
              <a:t>explaining</a:t>
            </a:r>
            <a:r>
              <a:rPr lang="de-DE"/>
              <a:t> </a:t>
            </a:r>
            <a:r>
              <a:rPr lang="de-DE" err="1"/>
              <a:t>this</a:t>
            </a:r>
            <a:r>
              <a:rPr lang="de-DE"/>
              <a:t> in </a:t>
            </a:r>
            <a:r>
              <a:rPr lang="de-DE" err="1"/>
              <a:t>detail</a:t>
            </a:r>
            <a:r>
              <a:rPr lang="de-DE"/>
              <a:t> </a:t>
            </a:r>
            <a:r>
              <a:rPr lang="de-DE" err="1"/>
              <a:t>uploaded</a:t>
            </a:r>
            <a:r>
              <a:rPr lang="de-DE"/>
              <a:t> on MyStudy in the material </a:t>
            </a:r>
            <a:r>
              <a:rPr lang="de-DE" err="1"/>
              <a:t>folder</a:t>
            </a:r>
            <a:r>
              <a:rPr lang="de-DE"/>
              <a:t> of </a:t>
            </a:r>
            <a:r>
              <a:rPr lang="de-DE" err="1"/>
              <a:t>this</a:t>
            </a:r>
            <a:r>
              <a:rPr lang="de-DE"/>
              <a:t> </a:t>
            </a:r>
            <a:r>
              <a:rPr lang="de-DE" err="1"/>
              <a:t>lecture</a:t>
            </a:r>
            <a:endParaRPr lang="de-DE"/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5312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b="0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</a:rPr>
              <a:t>One of your questions from last week</a:t>
            </a:r>
          </a:p>
          <a:p>
            <a:r>
              <a:rPr lang="en-US" sz="1100" b="0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</a:rPr>
              <a:t>Fa­cul­ty stu­dent coun­cils re­pre­sent the in­te­rests of the stu­dents of the re­le­vant fa­cul­ty or the re­spec­tive </a:t>
            </a:r>
            <a:r>
              <a:rPr lang="en-US" sz="1100" b="0" i="0" u="none" strike="noStrike" cap="none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</a:rPr>
              <a:t>pro­gram­mes</a:t>
            </a:r>
            <a:r>
              <a:rPr lang="en-US" sz="1100" b="0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</a:rPr>
              <a:t> of stu­dy, and as con­tact per­sons, are at the dis­po­sal of the stu­dents if they have que­ries, re­marks or is­su­es. Fur­ther­mo­re, they act as a point of con­tact for the De­ans' Of­fices and </a:t>
            </a:r>
            <a:r>
              <a:rPr lang="en-US" sz="1100" b="0" i="0" u="none" strike="noStrike" cap="none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</a:rPr>
              <a:t>or­ga­ni­se</a:t>
            </a:r>
            <a:r>
              <a:rPr lang="en-US" sz="1100" b="0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</a:rPr>
              <a:t> stu­dent events. You can find out which support the respective faculty student councils and </a:t>
            </a:r>
            <a:r>
              <a:rPr lang="en-US" sz="1100" b="0" i="0" u="none" strike="noStrike" cap="none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</a:rPr>
              <a:t>programme</a:t>
            </a:r>
            <a:r>
              <a:rPr lang="en-US" sz="1100" b="0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</a:rPr>
              <a:t> student councils offer by visiting their websites. Please use the links provided.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9125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5B95C-CF26-8ECE-95BB-47E8BB079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7147BB4-E38A-47EE-AAA3-811C6B01B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0E540A5-044F-E36F-4BC0-2F8D42643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8543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5B95C-CF26-8ECE-95BB-47E8BB079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7147BB4-E38A-47EE-AAA3-811C6B01B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0E540A5-044F-E36F-4BC0-2F8D42643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8543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5B95C-CF26-8ECE-95BB-47E8BB079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7147BB4-E38A-47EE-AAA3-811C6B01B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0E540A5-044F-E36F-4BC0-2F8D42643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85438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5B95C-CF26-8ECE-95BB-47E8BB079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7147BB4-E38A-47EE-AAA3-811C6B01B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0E540A5-044F-E36F-4BC0-2F8D42643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One of your </a:t>
            </a:r>
            <a:r>
              <a:rPr lang="de-DE" err="1"/>
              <a:t>most</a:t>
            </a:r>
            <a:r>
              <a:rPr lang="de-DE"/>
              <a:t> </a:t>
            </a:r>
            <a:r>
              <a:rPr lang="de-DE" err="1"/>
              <a:t>frequenly</a:t>
            </a:r>
            <a:r>
              <a:rPr lang="de-DE"/>
              <a:t> asked </a:t>
            </a:r>
            <a:r>
              <a:rPr lang="de-DE" err="1"/>
              <a:t>questions</a:t>
            </a:r>
            <a:endParaRPr lang="de-DE"/>
          </a:p>
          <a:p>
            <a:r>
              <a:rPr lang="de-DE" err="1"/>
              <a:t>Mystudy</a:t>
            </a:r>
            <a:r>
              <a:rPr lang="de-DE"/>
              <a:t>: Click on the Person or search </a:t>
            </a:r>
            <a:r>
              <a:rPr lang="de-DE" err="1"/>
              <a:t>them</a:t>
            </a:r>
            <a:r>
              <a:rPr lang="de-DE"/>
              <a:t> -&gt; there you find information about the </a:t>
            </a:r>
            <a:r>
              <a:rPr lang="de-DE" err="1"/>
              <a:t>lectures</a:t>
            </a:r>
            <a:r>
              <a:rPr lang="de-DE"/>
              <a:t> from the </a:t>
            </a:r>
            <a:r>
              <a:rPr lang="de-DE" err="1"/>
              <a:t>persons</a:t>
            </a:r>
            <a:r>
              <a:rPr lang="de-DE"/>
              <a:t>, </a:t>
            </a:r>
            <a:r>
              <a:rPr lang="de-DE" err="1"/>
              <a:t>sometimes</a:t>
            </a:r>
            <a:r>
              <a:rPr lang="de-DE"/>
              <a:t> Office hours and the </a:t>
            </a:r>
            <a:r>
              <a:rPr lang="de-DE" err="1"/>
              <a:t>contact</a:t>
            </a:r>
            <a:r>
              <a:rPr lang="de-DE"/>
              <a:t> (Telefon number or/and Mail)</a:t>
            </a:r>
          </a:p>
        </p:txBody>
      </p:sp>
    </p:spTree>
    <p:extLst>
      <p:ext uri="{BB962C8B-B14F-4D97-AF65-F5344CB8AC3E}">
        <p14:creationId xmlns:p14="http://schemas.microsoft.com/office/powerpoint/2010/main" val="7685438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CBEF4-5B12-7F7E-6160-34D864829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1475276-A77E-4D76-E9D9-479F36517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06D539E-1F4A-687B-033C-D962A6F48B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For </a:t>
            </a:r>
            <a:r>
              <a:rPr lang="de-DE" err="1"/>
              <a:t>some</a:t>
            </a:r>
            <a:r>
              <a:rPr lang="de-DE"/>
              <a:t> of </a:t>
            </a:r>
            <a:r>
              <a:rPr lang="de-DE" err="1"/>
              <a:t>you</a:t>
            </a:r>
            <a:r>
              <a:rPr lang="de-DE"/>
              <a:t> </a:t>
            </a:r>
            <a:r>
              <a:rPr lang="de-DE" err="1"/>
              <a:t>this</a:t>
            </a:r>
            <a:r>
              <a:rPr lang="de-DE"/>
              <a:t> </a:t>
            </a:r>
            <a:r>
              <a:rPr lang="de-DE" err="1"/>
              <a:t>adress</a:t>
            </a:r>
            <a:r>
              <a:rPr lang="de-DE"/>
              <a:t> </a:t>
            </a:r>
            <a:r>
              <a:rPr lang="de-DE" err="1"/>
              <a:t>might</a:t>
            </a:r>
            <a:r>
              <a:rPr lang="de-DE"/>
              <a:t> </a:t>
            </a:r>
            <a:r>
              <a:rPr lang="de-DE" err="1"/>
              <a:t>vary</a:t>
            </a:r>
            <a:r>
              <a:rPr lang="de-DE"/>
              <a:t> a </a:t>
            </a:r>
            <a:r>
              <a:rPr lang="de-DE" err="1"/>
              <a:t>little</a:t>
            </a:r>
            <a:r>
              <a:rPr lang="de-DE"/>
              <a:t> </a:t>
            </a:r>
            <a:r>
              <a:rPr lang="de-DE" err="1"/>
              <a:t>if</a:t>
            </a:r>
            <a:r>
              <a:rPr lang="de-DE"/>
              <a:t> </a:t>
            </a:r>
            <a:r>
              <a:rPr lang="de-DE" err="1"/>
              <a:t>you</a:t>
            </a:r>
            <a:r>
              <a:rPr lang="de-DE"/>
              <a:t> </a:t>
            </a:r>
            <a:r>
              <a:rPr lang="de-DE" err="1"/>
              <a:t>have</a:t>
            </a:r>
            <a:r>
              <a:rPr lang="de-DE"/>
              <a:t> a </a:t>
            </a:r>
            <a:r>
              <a:rPr lang="de-DE" err="1"/>
              <a:t>middle</a:t>
            </a:r>
            <a:r>
              <a:rPr lang="de-DE"/>
              <a:t> </a:t>
            </a:r>
            <a:r>
              <a:rPr lang="de-DE" err="1"/>
              <a:t>name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1599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D9D49-5688-CAAA-1046-A1A6941F2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55C040F-EF1E-736C-012A-6CDCB9CE41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55DC503-9E70-092B-5310-1DD8B6439B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98599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97026-A863-C04E-F0DD-FEEF618C0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D08823B-8DFF-10D3-A055-43642E3AD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DEEC7BC-FF82-D375-C7E3-E75975BBE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56730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E91F7-EFFC-BADC-0AC4-86CBFCEF5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9AB66E7-0C9A-AE41-96B9-AD7AB8EAA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2DFC2D0-8CB3-5AAD-1078-63711FB434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40594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86B13-1C36-6E86-61DD-DDA1F6E8AE3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88BEC5-956E-0BEE-34FE-23BA5D89F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A0F8A-0150-6E94-EE4A-D14C28D4778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ari</a:t>
            </a:r>
          </a:p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0F9A7-8EF1-AAB6-E3B0-9F23A0BFAA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BF71C9-B1D1-2F3E-4637-A33F591CE0D5}" type="slidenum">
              <a:rPr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1275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8D05B-FF1B-A99C-F700-58B3A9EB478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29ED0C-3363-5672-E49F-C5583D2A5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0A7153-9C0B-7865-BC23-DA1B812C4D4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ari</a:t>
            </a:r>
          </a:p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F9A7EB-E88E-4BA6-F392-3B974CE9CE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BF71C9-B1D1-2F3E-4637-A33F591CE0D5}" type="slidenum">
              <a:rPr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28616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L</a:t>
            </a:r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4559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31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9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1102822" y="1205384"/>
            <a:ext cx="6858000" cy="1790700"/>
          </a:xfrm>
        </p:spPr>
        <p:txBody>
          <a:bodyPr anchor="b"/>
          <a:lstStyle>
            <a:lvl1pPr algn="ctr">
              <a:defRPr sz="3000"/>
            </a:lvl1pPr>
          </a:lstStyle>
          <a:p>
            <a:pPr>
              <a:defRPr/>
            </a:pPr>
            <a:r>
              <a:rPr lang="de-DE"/>
              <a:t>Titel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102822" y="3194219"/>
            <a:ext cx="6858000" cy="391596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pPr>
              <a:defRPr/>
            </a:pPr>
            <a:r>
              <a:rPr lang="de-DE"/>
              <a:t>Tutor:</a:t>
            </a:r>
            <a:endParaRPr/>
          </a:p>
          <a:p>
            <a:pPr>
              <a:defRPr/>
            </a:pPr>
            <a:r>
              <a:rPr lang="de-DE"/>
              <a:t>Date: 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631546" y="2102047"/>
            <a:ext cx="1249582" cy="2757382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120597" y="73093"/>
            <a:ext cx="1406614" cy="1390931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1650" y="157853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34661" y="-239338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8160002" y="756299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897473" y="-138746"/>
            <a:ext cx="1080876" cy="901059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-184880" y="3939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650425" y="279861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A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anchor="b"/>
          <a:lstStyle>
            <a:lvl1pPr>
              <a:defRPr sz="3000"/>
            </a:lvl1pPr>
          </a:lstStyle>
          <a:p>
            <a:pPr>
              <a:defRPr/>
            </a:pPr>
            <a:r>
              <a:rPr lang="de-DE"/>
              <a:t>Agenda</a:t>
            </a:r>
            <a:endParaRPr/>
          </a:p>
        </p:txBody>
      </p:sp>
      <p:sp>
        <p:nvSpPr>
          <p:cNvPr id="17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0" name="Freeform 10"/>
          <p:cNvSpPr/>
          <p:nvPr userDrawn="1"/>
        </p:nvSpPr>
        <p:spPr bwMode="auto">
          <a:xfrm rot="-2487859">
            <a:off x="722558" y="-562651"/>
            <a:ext cx="1404703" cy="1321668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1" name="Freeform 2"/>
          <p:cNvSpPr/>
          <p:nvPr userDrawn="1"/>
        </p:nvSpPr>
        <p:spPr bwMode="auto">
          <a:xfrm>
            <a:off x="-281392" y="2212337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2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3" name="Freeform 4"/>
          <p:cNvSpPr/>
          <p:nvPr userDrawn="1"/>
        </p:nvSpPr>
        <p:spPr bwMode="auto">
          <a:xfrm>
            <a:off x="-444801" y="-356051"/>
            <a:ext cx="1947126" cy="2034242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4" name="Freeform 5"/>
          <p:cNvSpPr/>
          <p:nvPr userDrawn="1"/>
        </p:nvSpPr>
        <p:spPr bwMode="auto">
          <a:xfrm rot="16008410">
            <a:off x="7940692" y="132781"/>
            <a:ext cx="1736763" cy="1457318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5" name="Freeform 6"/>
          <p:cNvSpPr/>
          <p:nvPr userDrawn="1"/>
        </p:nvSpPr>
        <p:spPr bwMode="auto">
          <a:xfrm rot="7860678">
            <a:off x="63273" y="3613160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8" name="Freeform 9"/>
          <p:cNvSpPr/>
          <p:nvPr userDrawn="1"/>
        </p:nvSpPr>
        <p:spPr bwMode="auto">
          <a:xfrm rot="1296289">
            <a:off x="7567218" y="-1044734"/>
            <a:ext cx="1600562" cy="1594025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9" name="Freeform 10"/>
          <p:cNvSpPr/>
          <p:nvPr userDrawn="1"/>
        </p:nvSpPr>
        <p:spPr bwMode="auto">
          <a:xfrm rot="-2487859">
            <a:off x="8476227" y="2383742"/>
            <a:ext cx="1016862" cy="809877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40" name="Freeform 11"/>
          <p:cNvSpPr/>
          <p:nvPr userDrawn="1"/>
        </p:nvSpPr>
        <p:spPr bwMode="auto">
          <a:xfrm rot="1296289">
            <a:off x="-835409" y="3972913"/>
            <a:ext cx="1647048" cy="1377039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41" name="Freeform 12"/>
          <p:cNvSpPr/>
          <p:nvPr userDrawn="1"/>
        </p:nvSpPr>
        <p:spPr bwMode="auto">
          <a:xfrm rot="2046247">
            <a:off x="8525253" y="-281905"/>
            <a:ext cx="1079111" cy="1432462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2333380" y="1359246"/>
            <a:ext cx="4871083" cy="3240000"/>
          </a:xfrm>
        </p:spPr>
        <p:txBody>
          <a:bodyPr/>
          <a:lstStyle>
            <a:lvl1pPr marL="257175" indent="-257175">
              <a:buFont typeface="+mj-lt"/>
              <a:buAutoNum type="arabicPeriod"/>
              <a:defRPr sz="1800"/>
            </a:lvl1pPr>
            <a:lvl2pPr marL="485775" indent="-257175">
              <a:buFont typeface="+mj-lt"/>
              <a:buAutoNum type="romanLcPeriod"/>
              <a:defRPr sz="1800"/>
            </a:lvl2pPr>
          </a:lstStyle>
          <a:p>
            <a:pPr lvl="0">
              <a:defRPr/>
            </a:pPr>
            <a:r>
              <a:rPr lang="de-DE"/>
              <a:t> </a:t>
            </a:r>
            <a:endParaRPr/>
          </a:p>
          <a:p>
            <a:pPr lvl="1">
              <a:defRPr/>
            </a:pPr>
            <a:r>
              <a:rPr lang="de-DE"/>
              <a:t>  </a:t>
            </a:r>
            <a:endParaRPr/>
          </a:p>
          <a:p>
            <a:pPr lvl="0">
              <a:defRPr/>
            </a:pPr>
            <a:r>
              <a:rPr lang="de-DE"/>
              <a:t>  </a:t>
            </a:r>
            <a:endParaRPr/>
          </a:p>
          <a:p>
            <a:pPr lvl="1">
              <a:defRPr/>
            </a:pPr>
            <a:r>
              <a:rPr lang="de-DE"/>
              <a:t> 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0">
              <a:defRPr/>
            </a:pPr>
            <a:r>
              <a:rPr lang="de-DE"/>
              <a:t> 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0">
              <a:defRPr/>
            </a:pPr>
            <a:r>
              <a:rPr lang="de-DE"/>
              <a:t> </a:t>
            </a:r>
            <a:endParaRPr/>
          </a:p>
          <a:p>
            <a:pPr lvl="0"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heck-I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947588" y="1091697"/>
            <a:ext cx="7200000" cy="31997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70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53400" y="1085850"/>
            <a:ext cx="7200000" cy="3241837"/>
          </a:xfrm>
        </p:spPr>
        <p:txBody>
          <a:bodyPr lIns="90000" anchor="ctr"/>
          <a:lstStyle>
            <a:lvl1pPr>
              <a:defRPr sz="3000"/>
            </a:lvl1pPr>
          </a:lstStyle>
          <a:p>
            <a:pPr>
              <a:defRPr/>
            </a:pPr>
            <a:r>
              <a:rPr lang="de-DE"/>
              <a:t>Check-In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422215" y="-96554"/>
            <a:ext cx="1155614" cy="1481110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04959" y="92321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7624200" y="126860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520063" y="-41671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277241" y="4338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548383" y="-24378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34366" y="465464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ext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72000" y="650930"/>
            <a:ext cx="7200000" cy="630000"/>
          </a:xfrm>
        </p:spPr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972000" y="1369414"/>
            <a:ext cx="7200000" cy="32400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403070" y="-401868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120597" y="73093"/>
            <a:ext cx="1042686" cy="1016145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34366" y="465464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385884" y="108129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7823310" y="-188352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2310651">
            <a:off x="-405768" y="1869879"/>
            <a:ext cx="1254981" cy="1047796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8659208" y="1141819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53400" y="1085850"/>
            <a:ext cx="7200000" cy="1977806"/>
          </a:xfrm>
        </p:spPr>
        <p:txBody>
          <a:bodyPr lIns="90000" anchor="b"/>
          <a:lstStyle>
            <a:lvl1pPr>
              <a:defRPr sz="3000"/>
            </a:lvl1pPr>
          </a:lstStyle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953400" y="3245645"/>
            <a:ext cx="7200000" cy="1039907"/>
          </a:xfrm>
        </p:spPr>
        <p:txBody>
          <a:bodyPr lIns="90000"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422215" y="-96554"/>
            <a:ext cx="1155614" cy="1481110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04959" y="92321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7624200" y="126860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520063" y="-41671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277241" y="4338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548383" y="-24378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34366" y="465464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Paus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 bwMode="auto">
          <a:xfrm>
            <a:off x="953400" y="1085850"/>
            <a:ext cx="7200000" cy="31997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70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53400" y="1085850"/>
            <a:ext cx="7200000" cy="3199702"/>
          </a:xfrm>
        </p:spPr>
        <p:txBody>
          <a:bodyPr lIns="90000" anchor="ctr"/>
          <a:lstStyle>
            <a:lvl1pPr>
              <a:defRPr sz="3000"/>
            </a:lvl1pPr>
          </a:lstStyle>
          <a:p>
            <a:pPr>
              <a:defRPr/>
            </a:pPr>
            <a:r>
              <a:rPr lang="de-DE"/>
              <a:t>PAUSE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422215" y="-96554"/>
            <a:ext cx="1155614" cy="1481110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04959" y="92321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7624200" y="126860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520063" y="-41671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277241" y="4338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548383" y="-24378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34366" y="465464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Energiz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953400" y="1085850"/>
            <a:ext cx="7200000" cy="31997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70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53400" y="1085850"/>
            <a:ext cx="7200000" cy="3199702"/>
          </a:xfrm>
        </p:spPr>
        <p:txBody>
          <a:bodyPr lIns="90000" anchor="ctr"/>
          <a:lstStyle>
            <a:lvl1pPr>
              <a:defRPr sz="3000"/>
            </a:lvl1pPr>
          </a:lstStyle>
          <a:p>
            <a:pPr>
              <a:defRPr/>
            </a:pPr>
            <a:r>
              <a:rPr lang="de-DE"/>
              <a:t>ENERGIZER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422215" y="-96554"/>
            <a:ext cx="1155614" cy="1481110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04959" y="92321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7624200" y="126860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520063" y="-41671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277241" y="4338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548383" y="-24378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34366" y="465464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72000" y="683382"/>
            <a:ext cx="7200000" cy="630000"/>
          </a:xfrm>
        </p:spPr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972000" y="1369218"/>
            <a:ext cx="3561900" cy="32639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4610100" y="1369218"/>
            <a:ext cx="3561900" cy="32639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8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5"/>
          <p:cNvSpPr/>
          <p:nvPr userDrawn="1"/>
        </p:nvSpPr>
        <p:spPr bwMode="auto">
          <a:xfrm>
            <a:off x="-120597" y="73093"/>
            <a:ext cx="1042686" cy="1016145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6"/>
          <p:cNvSpPr/>
          <p:nvPr userDrawn="1"/>
        </p:nvSpPr>
        <p:spPr bwMode="auto">
          <a:xfrm rot="7860678">
            <a:off x="334366" y="465464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0"/>
          <p:cNvSpPr/>
          <p:nvPr userDrawn="1"/>
        </p:nvSpPr>
        <p:spPr bwMode="auto">
          <a:xfrm rot="-2487859">
            <a:off x="826629" y="-269853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1"/>
          <p:cNvSpPr/>
          <p:nvPr userDrawn="1"/>
        </p:nvSpPr>
        <p:spPr bwMode="auto">
          <a:xfrm rot="1296289">
            <a:off x="-203778" y="425211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9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0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1" name="Freeform 5"/>
          <p:cNvSpPr/>
          <p:nvPr userDrawn="1"/>
        </p:nvSpPr>
        <p:spPr bwMode="auto">
          <a:xfrm rot="16008410">
            <a:off x="8200771" y="357236"/>
            <a:ext cx="1173794" cy="1152696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2" name="Freeform 7"/>
          <p:cNvSpPr/>
          <p:nvPr userDrawn="1"/>
        </p:nvSpPr>
        <p:spPr bwMode="auto">
          <a:xfrm rot="7860678">
            <a:off x="8458522" y="3343840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3" name="Freeform 9"/>
          <p:cNvSpPr/>
          <p:nvPr userDrawn="1"/>
        </p:nvSpPr>
        <p:spPr bwMode="auto">
          <a:xfrm rot="1296289">
            <a:off x="7692175" y="-272960"/>
            <a:ext cx="1265998" cy="1077324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4" name="Freeform 10"/>
          <p:cNvSpPr/>
          <p:nvPr userDrawn="1"/>
        </p:nvSpPr>
        <p:spPr bwMode="auto">
          <a:xfrm rot="-2487859">
            <a:off x="8476227" y="2383742"/>
            <a:ext cx="1016862" cy="809877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5" name="Freeform 12"/>
          <p:cNvSpPr/>
          <p:nvPr userDrawn="1"/>
        </p:nvSpPr>
        <p:spPr bwMode="auto">
          <a:xfrm rot="2046247">
            <a:off x="8861597" y="-178740"/>
            <a:ext cx="853546" cy="968131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72000" y="587312"/>
            <a:ext cx="7200000" cy="630000"/>
          </a:xfrm>
        </p:spPr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972000" y="1261269"/>
            <a:ext cx="3526181" cy="617538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972000" y="1878807"/>
            <a:ext cx="3526181" cy="27638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4629151" y="1261269"/>
            <a:ext cx="3542850" cy="617538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4629151" y="1878807"/>
            <a:ext cx="3542850" cy="27638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1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4"/>
          <p:cNvSpPr/>
          <p:nvPr userDrawn="1"/>
        </p:nvSpPr>
        <p:spPr bwMode="auto">
          <a:xfrm>
            <a:off x="8302970" y="3145869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7"/>
          <p:cNvSpPr/>
          <p:nvPr userDrawn="1"/>
        </p:nvSpPr>
        <p:spPr bwMode="auto">
          <a:xfrm rot="7860678">
            <a:off x="8336347" y="2932849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8"/>
          <p:cNvSpPr/>
          <p:nvPr userDrawn="1"/>
        </p:nvSpPr>
        <p:spPr bwMode="auto">
          <a:xfrm rot="-458312">
            <a:off x="8355052" y="526573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9"/>
          <p:cNvSpPr/>
          <p:nvPr userDrawn="1"/>
        </p:nvSpPr>
        <p:spPr bwMode="auto">
          <a:xfrm rot="1296289">
            <a:off x="7695168" y="-263701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0" name="Freeform 12"/>
          <p:cNvSpPr/>
          <p:nvPr userDrawn="1"/>
        </p:nvSpPr>
        <p:spPr bwMode="auto">
          <a:xfrm rot="7628196">
            <a:off x="8578643" y="659662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1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2" name="Freeform 2"/>
          <p:cNvSpPr/>
          <p:nvPr userDrawn="1"/>
        </p:nvSpPr>
        <p:spPr bwMode="auto">
          <a:xfrm>
            <a:off x="-624791" y="2068765"/>
            <a:ext cx="1249582" cy="2757382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3" name="Freeform 11"/>
          <p:cNvSpPr/>
          <p:nvPr userDrawn="1"/>
        </p:nvSpPr>
        <p:spPr bwMode="auto">
          <a:xfrm rot="1296289">
            <a:off x="-184880" y="3939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6"/>
          <p:cNvSpPr/>
          <p:nvPr userDrawn="1"/>
        </p:nvSpPr>
        <p:spPr bwMode="auto">
          <a:xfrm rot="7860678">
            <a:off x="-377688" y="2336570"/>
            <a:ext cx="800477" cy="822848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4" name="Freeform 10"/>
          <p:cNvSpPr/>
          <p:nvPr userDrawn="1"/>
        </p:nvSpPr>
        <p:spPr bwMode="auto">
          <a:xfrm rot="-2487859">
            <a:off x="377291" y="-103887"/>
            <a:ext cx="941388" cy="842478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5" name="Freeform 4"/>
          <p:cNvSpPr/>
          <p:nvPr userDrawn="1"/>
        </p:nvSpPr>
        <p:spPr bwMode="auto">
          <a:xfrm>
            <a:off x="-306763" y="-466327"/>
            <a:ext cx="1304903" cy="1296699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17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0" name="Freeform 10"/>
          <p:cNvSpPr/>
          <p:nvPr userDrawn="1"/>
        </p:nvSpPr>
        <p:spPr bwMode="auto">
          <a:xfrm rot="-2487859">
            <a:off x="317117" y="-65398"/>
            <a:ext cx="1050461" cy="1010206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1" name="Freeform 2"/>
          <p:cNvSpPr/>
          <p:nvPr userDrawn="1"/>
        </p:nvSpPr>
        <p:spPr bwMode="auto">
          <a:xfrm>
            <a:off x="46472" y="301604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2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3" name="Freeform 4"/>
          <p:cNvSpPr/>
          <p:nvPr userDrawn="1"/>
        </p:nvSpPr>
        <p:spPr bwMode="auto">
          <a:xfrm>
            <a:off x="-408800" y="-370708"/>
            <a:ext cx="1456094" cy="155485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4" name="Freeform 5"/>
          <p:cNvSpPr/>
          <p:nvPr userDrawn="1"/>
        </p:nvSpPr>
        <p:spPr bwMode="auto">
          <a:xfrm rot="16008410">
            <a:off x="7916997" y="356402"/>
            <a:ext cx="1173794" cy="1152696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5" name="Freeform 6"/>
          <p:cNvSpPr/>
          <p:nvPr userDrawn="1"/>
        </p:nvSpPr>
        <p:spPr bwMode="auto">
          <a:xfrm rot="7860678">
            <a:off x="63273" y="3613160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6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8" name="Freeform 9"/>
          <p:cNvSpPr/>
          <p:nvPr userDrawn="1"/>
        </p:nvSpPr>
        <p:spPr bwMode="auto">
          <a:xfrm rot="1296289">
            <a:off x="7692175" y="-272960"/>
            <a:ext cx="1265998" cy="1077324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9" name="Freeform 10"/>
          <p:cNvSpPr/>
          <p:nvPr userDrawn="1"/>
        </p:nvSpPr>
        <p:spPr bwMode="auto">
          <a:xfrm rot="-2487859">
            <a:off x="8476227" y="2383742"/>
            <a:ext cx="1016862" cy="809877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40" name="Freeform 11"/>
          <p:cNvSpPr/>
          <p:nvPr userDrawn="1"/>
        </p:nvSpPr>
        <p:spPr bwMode="auto">
          <a:xfrm rot="1296289">
            <a:off x="148477" y="3943212"/>
            <a:ext cx="1647048" cy="1377039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41" name="Freeform 12"/>
          <p:cNvSpPr/>
          <p:nvPr userDrawn="1"/>
        </p:nvSpPr>
        <p:spPr bwMode="auto">
          <a:xfrm rot="2046247">
            <a:off x="8861597" y="-178740"/>
            <a:ext cx="853546" cy="968131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Freeform 10"/>
          <p:cNvSpPr/>
          <p:nvPr userDrawn="1"/>
        </p:nvSpPr>
        <p:spPr bwMode="auto">
          <a:xfrm rot="-2487859">
            <a:off x="924497" y="-196079"/>
            <a:ext cx="1050461" cy="1010206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5" name="Freeform 2"/>
          <p:cNvSpPr/>
          <p:nvPr userDrawn="1"/>
        </p:nvSpPr>
        <p:spPr bwMode="auto">
          <a:xfrm>
            <a:off x="175579" y="2794604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6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7" name="Freeform 4"/>
          <p:cNvSpPr/>
          <p:nvPr userDrawn="1"/>
        </p:nvSpPr>
        <p:spPr bwMode="auto">
          <a:xfrm>
            <a:off x="-408800" y="-370708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5"/>
          <p:cNvSpPr/>
          <p:nvPr userDrawn="1"/>
        </p:nvSpPr>
        <p:spPr bwMode="auto">
          <a:xfrm rot="16008410">
            <a:off x="7679348" y="1225890"/>
            <a:ext cx="1173794" cy="1152696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6"/>
          <p:cNvSpPr/>
          <p:nvPr userDrawn="1"/>
        </p:nvSpPr>
        <p:spPr bwMode="auto">
          <a:xfrm rot="7860678">
            <a:off x="351399" y="2868168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8"/>
          <p:cNvSpPr/>
          <p:nvPr userDrawn="1"/>
        </p:nvSpPr>
        <p:spPr bwMode="auto">
          <a:xfrm rot="-458312">
            <a:off x="7870781" y="494660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9"/>
          <p:cNvSpPr/>
          <p:nvPr userDrawn="1"/>
        </p:nvSpPr>
        <p:spPr bwMode="auto">
          <a:xfrm rot="1296289">
            <a:off x="7415292" y="-128621"/>
            <a:ext cx="1265998" cy="1077324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10"/>
          <p:cNvSpPr/>
          <p:nvPr userDrawn="1"/>
        </p:nvSpPr>
        <p:spPr bwMode="auto">
          <a:xfrm rot="-2487859">
            <a:off x="8513894" y="2483256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11"/>
          <p:cNvSpPr/>
          <p:nvPr userDrawn="1"/>
        </p:nvSpPr>
        <p:spPr bwMode="auto">
          <a:xfrm rot="1296289">
            <a:off x="309959" y="3495606"/>
            <a:ext cx="1647048" cy="1377039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2"/>
          <p:cNvSpPr/>
          <p:nvPr userDrawn="1"/>
        </p:nvSpPr>
        <p:spPr bwMode="auto">
          <a:xfrm rot="2046247">
            <a:off x="8106435" y="541755"/>
            <a:ext cx="1106586" cy="113686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72000" y="740569"/>
            <a:ext cx="2617783" cy="630000"/>
          </a:xfrm>
        </p:spPr>
        <p:txBody>
          <a:bodyPr anchor="b"/>
          <a:lstStyle>
            <a:lvl1pPr>
              <a:defRPr sz="1600"/>
            </a:lvl1pPr>
          </a:lstStyle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3887787" y="740569"/>
            <a:ext cx="4284213" cy="36552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972000" y="1543050"/>
            <a:ext cx="2607019" cy="2859088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9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2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3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4" name="Freeform 5"/>
          <p:cNvSpPr/>
          <p:nvPr userDrawn="1"/>
        </p:nvSpPr>
        <p:spPr bwMode="auto">
          <a:xfrm>
            <a:off x="-172348" y="-51867"/>
            <a:ext cx="1398987" cy="1267883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5" name="Freeform 6"/>
          <p:cNvSpPr/>
          <p:nvPr userDrawn="1"/>
        </p:nvSpPr>
        <p:spPr bwMode="auto">
          <a:xfrm rot="7860678">
            <a:off x="92445" y="85383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6" name="Freeform 8"/>
          <p:cNvSpPr/>
          <p:nvPr userDrawn="1"/>
        </p:nvSpPr>
        <p:spPr bwMode="auto">
          <a:xfrm rot="-458312">
            <a:off x="8464614" y="-142622"/>
            <a:ext cx="1577896" cy="1921634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7" name="Freeform 9"/>
          <p:cNvSpPr/>
          <p:nvPr userDrawn="1"/>
        </p:nvSpPr>
        <p:spPr bwMode="auto">
          <a:xfrm rot="1296289">
            <a:off x="7714580" y="-127772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8" name="Freeform 10"/>
          <p:cNvSpPr/>
          <p:nvPr userDrawn="1"/>
        </p:nvSpPr>
        <p:spPr bwMode="auto">
          <a:xfrm rot="-2487859">
            <a:off x="871470" y="-53583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9" name="Freeform 11"/>
          <p:cNvSpPr/>
          <p:nvPr userDrawn="1"/>
        </p:nvSpPr>
        <p:spPr bwMode="auto">
          <a:xfrm rot="1296289">
            <a:off x="-539000" y="2932679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0" name="Freeform 12"/>
          <p:cNvSpPr/>
          <p:nvPr userDrawn="1"/>
        </p:nvSpPr>
        <p:spPr bwMode="auto">
          <a:xfrm rot="1597264">
            <a:off x="8671394" y="604272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1" name="Freeform 5"/>
          <p:cNvSpPr/>
          <p:nvPr userDrawn="1"/>
        </p:nvSpPr>
        <p:spPr bwMode="auto">
          <a:xfrm rot="7999432">
            <a:off x="8522608" y="3367698"/>
            <a:ext cx="1398987" cy="1267883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2" name="Freeform 7"/>
          <p:cNvSpPr/>
          <p:nvPr userDrawn="1"/>
        </p:nvSpPr>
        <p:spPr bwMode="auto">
          <a:xfrm rot="7860678">
            <a:off x="8125978" y="4092803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 bwMode="auto">
          <a:xfrm>
            <a:off x="3887788" y="740569"/>
            <a:ext cx="4284212" cy="3655219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8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5"/>
          <p:cNvSpPr/>
          <p:nvPr userDrawn="1"/>
        </p:nvSpPr>
        <p:spPr bwMode="auto">
          <a:xfrm>
            <a:off x="-172348" y="-51867"/>
            <a:ext cx="1398987" cy="1267883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6"/>
          <p:cNvSpPr/>
          <p:nvPr userDrawn="1"/>
        </p:nvSpPr>
        <p:spPr bwMode="auto">
          <a:xfrm rot="7860678">
            <a:off x="92445" y="85383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8"/>
          <p:cNvSpPr/>
          <p:nvPr userDrawn="1"/>
        </p:nvSpPr>
        <p:spPr bwMode="auto">
          <a:xfrm rot="-458312">
            <a:off x="8464614" y="-142622"/>
            <a:ext cx="1577896" cy="1921634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9"/>
          <p:cNvSpPr/>
          <p:nvPr userDrawn="1"/>
        </p:nvSpPr>
        <p:spPr bwMode="auto">
          <a:xfrm rot="1296289">
            <a:off x="7714580" y="-127772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0"/>
          <p:cNvSpPr/>
          <p:nvPr userDrawn="1"/>
        </p:nvSpPr>
        <p:spPr bwMode="auto">
          <a:xfrm rot="-2487859">
            <a:off x="871470" y="-53583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1"/>
          <p:cNvSpPr/>
          <p:nvPr userDrawn="1"/>
        </p:nvSpPr>
        <p:spPr bwMode="auto">
          <a:xfrm rot="1296289">
            <a:off x="-539000" y="2932679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8" name="Freeform 12"/>
          <p:cNvSpPr/>
          <p:nvPr userDrawn="1"/>
        </p:nvSpPr>
        <p:spPr bwMode="auto">
          <a:xfrm rot="1597264">
            <a:off x="8671394" y="604272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9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0" name="Titel 1"/>
          <p:cNvSpPr txBox="1"/>
          <p:nvPr userDrawn="1"/>
        </p:nvSpPr>
        <p:spPr bwMode="auto">
          <a:xfrm>
            <a:off x="972000" y="740569"/>
            <a:ext cx="2617783" cy="630000"/>
          </a:xfrm>
          <a:prstGeom prst="rect">
            <a:avLst/>
          </a:prstGeom>
        </p:spPr>
        <p:txBody>
          <a:bodyPr vert="horz" lIns="45720" tIns="22860" rIns="45720" bIns="22860" rtlCol="0" anchor="b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 sz="1600"/>
              <a:t>Überschrift</a:t>
            </a:r>
            <a:endParaRPr/>
          </a:p>
        </p:txBody>
      </p:sp>
      <p:sp>
        <p:nvSpPr>
          <p:cNvPr id="22" name="Textplatzhalter 3"/>
          <p:cNvSpPr>
            <a:spLocks noGrp="1"/>
          </p:cNvSpPr>
          <p:nvPr>
            <p:ph type="body" sz="half" idx="11"/>
          </p:nvPr>
        </p:nvSpPr>
        <p:spPr bwMode="auto">
          <a:xfrm>
            <a:off x="972000" y="1543050"/>
            <a:ext cx="2607019" cy="2859088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24" name="Freeform 5"/>
          <p:cNvSpPr/>
          <p:nvPr userDrawn="1"/>
        </p:nvSpPr>
        <p:spPr bwMode="auto">
          <a:xfrm rot="7999432">
            <a:off x="8522608" y="3367698"/>
            <a:ext cx="1398987" cy="1267883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7"/>
          <p:cNvSpPr/>
          <p:nvPr userDrawn="1"/>
        </p:nvSpPr>
        <p:spPr bwMode="auto">
          <a:xfrm rot="7860678">
            <a:off x="8125978" y="4092803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Frage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1093141" y="1201564"/>
            <a:ext cx="6858000" cy="311896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70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1102822" y="1205384"/>
            <a:ext cx="6858000" cy="3115147"/>
          </a:xfrm>
        </p:spPr>
        <p:txBody>
          <a:bodyPr anchor="ctr"/>
          <a:lstStyle>
            <a:lvl1pPr algn="ctr">
              <a:defRPr sz="3000"/>
            </a:lvl1pPr>
          </a:lstStyle>
          <a:p>
            <a:pPr>
              <a:defRPr/>
            </a:pPr>
            <a:r>
              <a:rPr lang="de-DE"/>
              <a:t>Gibt es offene Fragen?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631546" y="2102047"/>
            <a:ext cx="1249582" cy="2757382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120597" y="73093"/>
            <a:ext cx="1406614" cy="1390931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1650" y="157853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34661" y="-239338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8160002" y="756299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897473" y="-138746"/>
            <a:ext cx="1080876" cy="901059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-184880" y="3939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650425" y="279861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Abschie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1102822" y="1197109"/>
            <a:ext cx="6858000" cy="311896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70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1102822" y="1205384"/>
            <a:ext cx="6858000" cy="3110692"/>
          </a:xfrm>
        </p:spPr>
        <p:txBody>
          <a:bodyPr anchor="ctr"/>
          <a:lstStyle>
            <a:lvl1pPr algn="ctr">
              <a:defRPr sz="3000"/>
            </a:lvl1pPr>
          </a:lstStyle>
          <a:p>
            <a:pPr>
              <a:defRPr/>
            </a:pPr>
            <a:r>
              <a:rPr lang="de-DE"/>
              <a:t>Schön das Ihr da wart!</a:t>
            </a:r>
            <a:br>
              <a:rPr lang="de-DE"/>
            </a:br>
            <a:r>
              <a:rPr lang="de-DE"/>
              <a:t>Bis nächste Woche 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631546" y="2102047"/>
            <a:ext cx="1249582" cy="2757382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120597" y="73093"/>
            <a:ext cx="1406614" cy="1390931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1650" y="157853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34661" y="-239338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8160002" y="756299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897473" y="-138746"/>
            <a:ext cx="1080876" cy="901059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-184880" y="3939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650425" y="279861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Ico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7938453" y="2403662"/>
            <a:ext cx="1186907" cy="796382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6010783" y="3445901"/>
            <a:ext cx="751320" cy="796382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6819900" y="3319345"/>
            <a:ext cx="974652" cy="796382"/>
          </a:xfrm>
          <a:prstGeom prst="rect">
            <a:avLst/>
          </a:prstGeom>
        </p:spPr>
      </p:pic>
      <p:pic>
        <p:nvPicPr>
          <p:cNvPr id="20" name="Grafik 19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4838862" y="3461046"/>
            <a:ext cx="1129342" cy="796382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 userDrawn="1"/>
        </p:nvPicPr>
        <p:blipFill>
          <a:blip r:embed="rId6"/>
          <a:stretch/>
        </p:blipFill>
        <p:spPr bwMode="auto">
          <a:xfrm>
            <a:off x="5663452" y="2532242"/>
            <a:ext cx="1016933" cy="796382"/>
          </a:xfrm>
          <a:prstGeom prst="rect">
            <a:avLst/>
          </a:prstGeom>
        </p:spPr>
      </p:pic>
      <p:pic>
        <p:nvPicPr>
          <p:cNvPr id="22" name="Grafik 21"/>
          <p:cNvPicPr>
            <a:picLocks noChangeAspect="1"/>
          </p:cNvPicPr>
          <p:nvPr userDrawn="1"/>
        </p:nvPicPr>
        <p:blipFill>
          <a:blip r:embed="rId7"/>
          <a:stretch/>
        </p:blipFill>
        <p:spPr bwMode="auto">
          <a:xfrm>
            <a:off x="7242634" y="1610492"/>
            <a:ext cx="887671" cy="796382"/>
          </a:xfrm>
          <a:prstGeom prst="rect">
            <a:avLst/>
          </a:prstGeom>
        </p:spPr>
      </p:pic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8"/>
          <a:stretch/>
        </p:blipFill>
        <p:spPr bwMode="auto">
          <a:xfrm>
            <a:off x="8110215" y="4263375"/>
            <a:ext cx="1040121" cy="796382"/>
          </a:xfrm>
          <a:prstGeom prst="rect">
            <a:avLst/>
          </a:prstGeom>
        </p:spPr>
      </p:pic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9"/>
          <a:stretch/>
        </p:blipFill>
        <p:spPr bwMode="auto">
          <a:xfrm>
            <a:off x="1174630" y="2400004"/>
            <a:ext cx="1096610" cy="796382"/>
          </a:xfrm>
          <a:prstGeom prst="rect">
            <a:avLst/>
          </a:prstGeom>
        </p:spPr>
      </p:pic>
      <p:pic>
        <p:nvPicPr>
          <p:cNvPr id="25" name="Grafik 24" descr="Ein Bild, das Mann, stehend, Schnee, haltend enthält.&#10;&#10;Automatisch generierte Beschreibung"/>
          <p:cNvPicPr>
            <a:picLocks noChangeAspect="1"/>
          </p:cNvPicPr>
          <p:nvPr userDrawn="1"/>
        </p:nvPicPr>
        <p:blipFill>
          <a:blip r:embed="rId10"/>
          <a:stretch/>
        </p:blipFill>
        <p:spPr bwMode="auto">
          <a:xfrm>
            <a:off x="8046601" y="1573302"/>
            <a:ext cx="1078758" cy="796382"/>
          </a:xfrm>
          <a:prstGeom prst="rect">
            <a:avLst/>
          </a:prstGeom>
        </p:spPr>
      </p:pic>
      <p:grpSp>
        <p:nvGrpSpPr>
          <p:cNvPr id="27" name="Google Shape;418;p40"/>
          <p:cNvGrpSpPr>
            <a:grpSpLocks noChangeAspect="1"/>
          </p:cNvGrpSpPr>
          <p:nvPr userDrawn="1"/>
        </p:nvGrpSpPr>
        <p:grpSpPr bwMode="auto">
          <a:xfrm>
            <a:off x="1485260" y="1915657"/>
            <a:ext cx="598450" cy="419877"/>
            <a:chOff x="559275" y="1683950"/>
            <a:chExt cx="466500" cy="327300"/>
          </a:xfrm>
        </p:grpSpPr>
        <p:sp>
          <p:nvSpPr>
            <p:cNvPr id="28" name="Google Shape;419;p40"/>
            <p:cNvSpPr/>
            <p:nvPr/>
          </p:nvSpPr>
          <p:spPr bwMode="auto">
            <a:xfrm>
              <a:off x="559275" y="1683950"/>
              <a:ext cx="466500" cy="197850"/>
            </a:xfrm>
            <a:custGeom>
              <a:avLst/>
              <a:gdLst/>
              <a:ahLst/>
              <a:cxnLst/>
              <a:rect l="l" t="t" r="r" b="b"/>
              <a:pathLst>
                <a:path w="18660" h="7914" extrusionOk="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29" name="Google Shape;420;p40"/>
            <p:cNvSpPr/>
            <p:nvPr/>
          </p:nvSpPr>
          <p:spPr bwMode="auto">
            <a:xfrm>
              <a:off x="559275" y="1727925"/>
              <a:ext cx="466500" cy="283325"/>
            </a:xfrm>
            <a:custGeom>
              <a:avLst/>
              <a:gdLst/>
              <a:ahLst/>
              <a:cxnLst/>
              <a:rect l="l" t="t" r="r" b="b"/>
              <a:pathLst>
                <a:path w="18660" h="11333" extrusionOk="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</p:grpSp>
      <p:grpSp>
        <p:nvGrpSpPr>
          <p:cNvPr id="30" name="Google Shape;421;p40"/>
          <p:cNvGrpSpPr>
            <a:grpSpLocks noChangeAspect="1"/>
          </p:cNvGrpSpPr>
          <p:nvPr userDrawn="1"/>
        </p:nvGrpSpPr>
        <p:grpSpPr bwMode="auto">
          <a:xfrm>
            <a:off x="455258" y="371497"/>
            <a:ext cx="602899" cy="590266"/>
            <a:chOff x="1233350" y="1619250"/>
            <a:chExt cx="466500" cy="456725"/>
          </a:xfrm>
        </p:grpSpPr>
        <p:sp>
          <p:nvSpPr>
            <p:cNvPr id="31" name="Google Shape;422;p40"/>
            <p:cNvSpPr/>
            <p:nvPr/>
          </p:nvSpPr>
          <p:spPr bwMode="auto">
            <a:xfrm>
              <a:off x="1233350" y="1619250"/>
              <a:ext cx="466500" cy="456725"/>
            </a:xfrm>
            <a:custGeom>
              <a:avLst/>
              <a:gdLst/>
              <a:ahLst/>
              <a:cxnLst/>
              <a:rect l="l" t="t" r="r" b="b"/>
              <a:pathLst>
                <a:path w="18660" h="18269" extrusionOk="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32" name="Google Shape;423;p40"/>
            <p:cNvSpPr/>
            <p:nvPr/>
          </p:nvSpPr>
          <p:spPr bwMode="auto">
            <a:xfrm>
              <a:off x="1382325" y="1792025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33" name="Google Shape;424;p40"/>
            <p:cNvSpPr/>
            <p:nvPr/>
          </p:nvSpPr>
          <p:spPr bwMode="auto">
            <a:xfrm>
              <a:off x="1382325" y="1825000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34" name="Google Shape;425;p40"/>
            <p:cNvSpPr/>
            <p:nvPr/>
          </p:nvSpPr>
          <p:spPr bwMode="auto">
            <a:xfrm>
              <a:off x="1382325" y="1858575"/>
              <a:ext cx="70850" cy="12250"/>
            </a:xfrm>
            <a:custGeom>
              <a:avLst/>
              <a:gdLst/>
              <a:ahLst/>
              <a:cxnLst/>
              <a:rect l="l" t="t" r="r" b="b"/>
              <a:pathLst>
                <a:path w="2834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</p:grpSp>
      <p:grpSp>
        <p:nvGrpSpPr>
          <p:cNvPr id="35" name="Google Shape;426;p40"/>
          <p:cNvGrpSpPr>
            <a:grpSpLocks noChangeAspect="1"/>
          </p:cNvGrpSpPr>
          <p:nvPr userDrawn="1"/>
        </p:nvGrpSpPr>
        <p:grpSpPr bwMode="auto">
          <a:xfrm>
            <a:off x="3044197" y="1787344"/>
            <a:ext cx="487469" cy="487469"/>
            <a:chOff x="1922075" y="1629000"/>
            <a:chExt cx="437200" cy="437200"/>
          </a:xfrm>
        </p:grpSpPr>
        <p:sp>
          <p:nvSpPr>
            <p:cNvPr id="36" name="Google Shape;427;p40"/>
            <p:cNvSpPr/>
            <p:nvPr/>
          </p:nvSpPr>
          <p:spPr bwMode="auto"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l" t="t" r="r" b="b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37" name="Google Shape;428;p40"/>
            <p:cNvSpPr/>
            <p:nvPr/>
          </p:nvSpPr>
          <p:spPr bwMode="auto"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l" t="t" r="r" b="b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</p:grpSp>
      <p:grpSp>
        <p:nvGrpSpPr>
          <p:cNvPr id="38" name="Google Shape;429;p40"/>
          <p:cNvGrpSpPr>
            <a:grpSpLocks noChangeAspect="1"/>
          </p:cNvGrpSpPr>
          <p:nvPr userDrawn="1"/>
        </p:nvGrpSpPr>
        <p:grpSpPr bwMode="auto">
          <a:xfrm>
            <a:off x="2257175" y="1768498"/>
            <a:ext cx="502567" cy="502567"/>
            <a:chOff x="2594325" y="1627175"/>
            <a:chExt cx="440850" cy="440850"/>
          </a:xfrm>
        </p:grpSpPr>
        <p:sp>
          <p:nvSpPr>
            <p:cNvPr id="39" name="Google Shape;430;p40"/>
            <p:cNvSpPr/>
            <p:nvPr/>
          </p:nvSpPr>
          <p:spPr bwMode="auto"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40" name="Google Shape;431;p40"/>
            <p:cNvSpPr/>
            <p:nvPr/>
          </p:nvSpPr>
          <p:spPr bwMode="auto"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41" name="Google Shape;432;p40"/>
            <p:cNvSpPr/>
            <p:nvPr/>
          </p:nvSpPr>
          <p:spPr bwMode="auto"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</p:grpSp>
      <p:sp>
        <p:nvSpPr>
          <p:cNvPr id="42" name="Google Shape;488;p40"/>
          <p:cNvSpPr>
            <a:spLocks noChangeAspect="1"/>
          </p:cNvSpPr>
          <p:nvPr userDrawn="1"/>
        </p:nvSpPr>
        <p:spPr bwMode="auto">
          <a:xfrm>
            <a:off x="3112532" y="862396"/>
            <a:ext cx="622970" cy="799612"/>
          </a:xfrm>
          <a:custGeom>
            <a:avLst/>
            <a:gdLst/>
            <a:ahLst/>
            <a:cxnLst/>
            <a:rect l="l" t="t" r="r" b="b"/>
            <a:pathLst>
              <a:path w="16022" h="20565" extrusionOk="0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/>
          </a:p>
        </p:txBody>
      </p:sp>
      <p:sp>
        <p:nvSpPr>
          <p:cNvPr id="43" name="Google Shape;489;p40"/>
          <p:cNvSpPr>
            <a:spLocks noChangeAspect="1"/>
          </p:cNvSpPr>
          <p:nvPr userDrawn="1"/>
        </p:nvSpPr>
        <p:spPr bwMode="auto">
          <a:xfrm>
            <a:off x="2490469" y="856525"/>
            <a:ext cx="451964" cy="783036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/>
          </a:p>
        </p:txBody>
      </p:sp>
      <p:grpSp>
        <p:nvGrpSpPr>
          <p:cNvPr id="44" name="Google Shape;490;p40"/>
          <p:cNvGrpSpPr>
            <a:grpSpLocks noChangeAspect="1"/>
          </p:cNvGrpSpPr>
          <p:nvPr userDrawn="1"/>
        </p:nvGrpSpPr>
        <p:grpSpPr bwMode="auto">
          <a:xfrm>
            <a:off x="3953034" y="875127"/>
            <a:ext cx="811428" cy="781450"/>
            <a:chOff x="2583325" y="2972875"/>
            <a:chExt cx="462850" cy="445750"/>
          </a:xfrm>
        </p:grpSpPr>
        <p:sp>
          <p:nvSpPr>
            <p:cNvPr id="45" name="Google Shape;491;p40"/>
            <p:cNvSpPr/>
            <p:nvPr/>
          </p:nvSpPr>
          <p:spPr bwMode="auto">
            <a:xfrm>
              <a:off x="2701774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46" name="Google Shape;492;p40"/>
            <p:cNvSpPr/>
            <p:nvPr/>
          </p:nvSpPr>
          <p:spPr bwMode="auto"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</p:grpSp>
      <p:pic>
        <p:nvPicPr>
          <p:cNvPr id="58" name="Grafik 57"/>
          <p:cNvPicPr>
            <a:picLocks noChangeAspect="1"/>
          </p:cNvPicPr>
          <p:nvPr userDrawn="1"/>
        </p:nvPicPr>
        <p:blipFill>
          <a:blip r:embed="rId11"/>
          <a:stretch/>
        </p:blipFill>
        <p:spPr bwMode="auto">
          <a:xfrm>
            <a:off x="5071112" y="1825887"/>
            <a:ext cx="863029" cy="579214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2"/>
          <a:stretch/>
        </p:blipFill>
        <p:spPr bwMode="auto">
          <a:xfrm>
            <a:off x="5850062" y="445288"/>
            <a:ext cx="1460500" cy="1054100"/>
          </a:xfrm>
          <a:prstGeom prst="rect">
            <a:avLst/>
          </a:prstGeom>
          <a:noFill/>
        </p:spPr>
      </p:pic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13"/>
          <a:stretch/>
        </p:blipFill>
        <p:spPr bwMode="auto">
          <a:xfrm>
            <a:off x="7264809" y="608962"/>
            <a:ext cx="1860550" cy="1041400"/>
          </a:xfrm>
          <a:prstGeom prst="rect">
            <a:avLst/>
          </a:prstGeom>
          <a:noFill/>
        </p:spPr>
      </p:pic>
      <p:pic>
        <p:nvPicPr>
          <p:cNvPr id="1030" name="Picture 6"/>
          <p:cNvPicPr>
            <a:picLocks noChangeAspect="1" noChangeArrowheads="1"/>
          </p:cNvPicPr>
          <p:nvPr userDrawn="1"/>
        </p:nvPicPr>
        <p:blipFill>
          <a:blip r:embed="rId14"/>
          <a:stretch/>
        </p:blipFill>
        <p:spPr bwMode="auto">
          <a:xfrm>
            <a:off x="6877905" y="2425108"/>
            <a:ext cx="863029" cy="726761"/>
          </a:xfrm>
          <a:prstGeom prst="rect">
            <a:avLst/>
          </a:prstGeom>
          <a:noFill/>
        </p:spPr>
      </p:pic>
      <p:pic>
        <p:nvPicPr>
          <p:cNvPr id="1032" name="Picture 8"/>
          <p:cNvPicPr>
            <a:picLocks noChangeAspect="1" noChangeArrowheads="1"/>
          </p:cNvPicPr>
          <p:nvPr userDrawn="1"/>
        </p:nvPicPr>
        <p:blipFill>
          <a:blip r:embed="rId15"/>
          <a:stretch/>
        </p:blipFill>
        <p:spPr bwMode="auto">
          <a:xfrm>
            <a:off x="6116484" y="1547700"/>
            <a:ext cx="943808" cy="877409"/>
          </a:xfrm>
          <a:prstGeom prst="rect">
            <a:avLst/>
          </a:prstGeom>
          <a:noFill/>
        </p:spPr>
      </p:pic>
      <p:pic>
        <p:nvPicPr>
          <p:cNvPr id="1034" name="Picture 10"/>
          <p:cNvPicPr>
            <a:picLocks noChangeAspect="1" noChangeArrowheads="1"/>
          </p:cNvPicPr>
          <p:nvPr userDrawn="1"/>
        </p:nvPicPr>
        <p:blipFill>
          <a:blip r:embed="rId16"/>
          <a:stretch/>
        </p:blipFill>
        <p:spPr bwMode="auto">
          <a:xfrm>
            <a:off x="4337980" y="2706391"/>
            <a:ext cx="1310095" cy="537406"/>
          </a:xfrm>
          <a:prstGeom prst="rect">
            <a:avLst/>
          </a:prstGeom>
          <a:noFill/>
        </p:spPr>
      </p:pic>
      <p:pic>
        <p:nvPicPr>
          <p:cNvPr id="1036" name="Picture 12"/>
          <p:cNvPicPr>
            <a:picLocks noChangeAspect="1" noChangeArrowheads="1"/>
          </p:cNvPicPr>
          <p:nvPr userDrawn="1"/>
        </p:nvPicPr>
        <p:blipFill>
          <a:blip r:embed="rId17"/>
          <a:stretch/>
        </p:blipFill>
        <p:spPr bwMode="auto">
          <a:xfrm>
            <a:off x="5708567" y="4450677"/>
            <a:ext cx="1195255" cy="578612"/>
          </a:xfrm>
          <a:prstGeom prst="rect">
            <a:avLst/>
          </a:prstGeom>
          <a:noFill/>
        </p:spPr>
      </p:pic>
      <p:pic>
        <p:nvPicPr>
          <p:cNvPr id="1038" name="Picture 14"/>
          <p:cNvPicPr>
            <a:picLocks noChangeAspect="1" noChangeArrowheads="1"/>
          </p:cNvPicPr>
          <p:nvPr userDrawn="1"/>
        </p:nvPicPr>
        <p:blipFill>
          <a:blip r:embed="rId18"/>
          <a:stretch/>
        </p:blipFill>
        <p:spPr bwMode="auto">
          <a:xfrm>
            <a:off x="3651866" y="3468365"/>
            <a:ext cx="1144417" cy="793875"/>
          </a:xfrm>
          <a:prstGeom prst="rect">
            <a:avLst/>
          </a:prstGeom>
          <a:noFill/>
        </p:spPr>
      </p:pic>
      <p:pic>
        <p:nvPicPr>
          <p:cNvPr id="1039" name="Picture 15"/>
          <p:cNvPicPr>
            <a:picLocks noChangeAspect="1" noChangeArrowheads="1"/>
          </p:cNvPicPr>
          <p:nvPr userDrawn="1"/>
        </p:nvPicPr>
        <p:blipFill>
          <a:blip r:embed="rId19"/>
          <a:stretch/>
        </p:blipFill>
        <p:spPr bwMode="auto">
          <a:xfrm>
            <a:off x="8092365" y="3339198"/>
            <a:ext cx="974652" cy="759729"/>
          </a:xfrm>
          <a:prstGeom prst="rect">
            <a:avLst/>
          </a:prstGeom>
          <a:noFill/>
        </p:spPr>
      </p:pic>
      <p:pic>
        <p:nvPicPr>
          <p:cNvPr id="1040" name="Picture 16"/>
          <p:cNvPicPr>
            <a:picLocks noChangeAspect="1" noChangeArrowheads="1"/>
          </p:cNvPicPr>
          <p:nvPr userDrawn="1"/>
        </p:nvPicPr>
        <p:blipFill>
          <a:blip r:embed="rId20"/>
          <a:stretch/>
        </p:blipFill>
        <p:spPr bwMode="auto">
          <a:xfrm>
            <a:off x="2762724" y="3423649"/>
            <a:ext cx="781191" cy="788702"/>
          </a:xfrm>
          <a:prstGeom prst="rect">
            <a:avLst/>
          </a:prstGeom>
          <a:noFill/>
        </p:spPr>
      </p:pic>
      <p:pic>
        <p:nvPicPr>
          <p:cNvPr id="1045" name="Picture 21"/>
          <p:cNvPicPr>
            <a:picLocks noChangeAspect="1" noChangeArrowheads="1"/>
          </p:cNvPicPr>
          <p:nvPr userDrawn="1"/>
        </p:nvPicPr>
        <p:blipFill>
          <a:blip r:embed="rId21"/>
          <a:stretch/>
        </p:blipFill>
        <p:spPr bwMode="auto">
          <a:xfrm>
            <a:off x="4721573" y="4543052"/>
            <a:ext cx="823451" cy="489558"/>
          </a:xfrm>
          <a:prstGeom prst="rect">
            <a:avLst/>
          </a:prstGeom>
          <a:noFill/>
        </p:spPr>
      </p:pic>
      <p:pic>
        <p:nvPicPr>
          <p:cNvPr id="1047" name="Picture 23"/>
          <p:cNvPicPr>
            <a:picLocks noChangeAspect="1" noChangeArrowheads="1"/>
          </p:cNvPicPr>
          <p:nvPr userDrawn="1"/>
        </p:nvPicPr>
        <p:blipFill>
          <a:blip r:embed="rId22"/>
          <a:stretch/>
        </p:blipFill>
        <p:spPr bwMode="auto">
          <a:xfrm>
            <a:off x="2479165" y="4320618"/>
            <a:ext cx="969969" cy="681896"/>
          </a:xfrm>
          <a:prstGeom prst="rect">
            <a:avLst/>
          </a:prstGeom>
          <a:noFill/>
        </p:spPr>
      </p:pic>
      <p:pic>
        <p:nvPicPr>
          <p:cNvPr id="1048" name="Picture 24"/>
          <p:cNvPicPr>
            <a:picLocks noChangeAspect="1" noChangeArrowheads="1"/>
          </p:cNvPicPr>
          <p:nvPr userDrawn="1"/>
        </p:nvPicPr>
        <p:blipFill>
          <a:blip r:embed="rId23"/>
          <a:stretch/>
        </p:blipFill>
        <p:spPr bwMode="auto">
          <a:xfrm>
            <a:off x="3627971" y="4462442"/>
            <a:ext cx="853281" cy="568855"/>
          </a:xfrm>
          <a:prstGeom prst="rect">
            <a:avLst/>
          </a:prstGeom>
          <a:noFill/>
        </p:spPr>
      </p:pic>
      <p:pic>
        <p:nvPicPr>
          <p:cNvPr id="1050" name="Picture 26"/>
          <p:cNvPicPr>
            <a:picLocks noChangeAspect="1" noChangeArrowheads="1"/>
          </p:cNvPicPr>
          <p:nvPr userDrawn="1"/>
        </p:nvPicPr>
        <p:blipFill>
          <a:blip r:embed="rId24"/>
          <a:stretch/>
        </p:blipFill>
        <p:spPr bwMode="auto">
          <a:xfrm>
            <a:off x="7029668" y="4212351"/>
            <a:ext cx="1016933" cy="769332"/>
          </a:xfrm>
          <a:prstGeom prst="rect">
            <a:avLst/>
          </a:prstGeom>
          <a:noFill/>
        </p:spPr>
      </p:pic>
      <p:pic>
        <p:nvPicPr>
          <p:cNvPr id="1052" name="Picture 28"/>
          <p:cNvPicPr>
            <a:picLocks noChangeAspect="1" noChangeArrowheads="1"/>
          </p:cNvPicPr>
          <p:nvPr userDrawn="1"/>
        </p:nvPicPr>
        <p:blipFill>
          <a:blip r:embed="rId25"/>
          <a:stretch/>
        </p:blipFill>
        <p:spPr bwMode="auto">
          <a:xfrm>
            <a:off x="2346799" y="2400151"/>
            <a:ext cx="831850" cy="762000"/>
          </a:xfrm>
          <a:prstGeom prst="rect">
            <a:avLst/>
          </a:prstGeom>
          <a:noFill/>
        </p:spPr>
      </p:pic>
      <p:pic>
        <p:nvPicPr>
          <p:cNvPr id="1053" name="Picture 29"/>
          <p:cNvPicPr>
            <a:picLocks noChangeAspect="1" noChangeArrowheads="1"/>
          </p:cNvPicPr>
          <p:nvPr userDrawn="1"/>
        </p:nvPicPr>
        <p:blipFill>
          <a:blip r:embed="rId26"/>
          <a:stretch/>
        </p:blipFill>
        <p:spPr bwMode="auto">
          <a:xfrm>
            <a:off x="3247154" y="2524678"/>
            <a:ext cx="901700" cy="781050"/>
          </a:xfrm>
          <a:prstGeom prst="rect">
            <a:avLst/>
          </a:prstGeom>
          <a:noFill/>
        </p:spPr>
      </p:pic>
      <p:pic>
        <p:nvPicPr>
          <p:cNvPr id="1055" name="Picture 31"/>
          <p:cNvPicPr>
            <a:picLocks noChangeAspect="1" noChangeArrowheads="1"/>
          </p:cNvPicPr>
          <p:nvPr userDrawn="1"/>
        </p:nvPicPr>
        <p:blipFill>
          <a:blip r:embed="rId27"/>
          <a:stretch/>
        </p:blipFill>
        <p:spPr bwMode="auto">
          <a:xfrm>
            <a:off x="1191182" y="4234357"/>
            <a:ext cx="829270" cy="747326"/>
          </a:xfrm>
          <a:prstGeom prst="rect">
            <a:avLst/>
          </a:prstGeom>
          <a:noFill/>
        </p:spPr>
      </p:pic>
      <p:pic>
        <p:nvPicPr>
          <p:cNvPr id="1057" name="Picture 33"/>
          <p:cNvPicPr>
            <a:picLocks noChangeAspect="1" noChangeArrowheads="1"/>
          </p:cNvPicPr>
          <p:nvPr userDrawn="1"/>
        </p:nvPicPr>
        <p:blipFill>
          <a:blip r:embed="rId28"/>
          <a:stretch/>
        </p:blipFill>
        <p:spPr bwMode="auto">
          <a:xfrm>
            <a:off x="1387706" y="3291089"/>
            <a:ext cx="1282700" cy="806450"/>
          </a:xfrm>
          <a:prstGeom prst="rect">
            <a:avLst/>
          </a:prstGeom>
          <a:noFill/>
        </p:spPr>
      </p:pic>
      <p:pic>
        <p:nvPicPr>
          <p:cNvPr id="1059" name="Picture 35"/>
          <p:cNvPicPr>
            <a:picLocks noChangeAspect="1" noChangeArrowheads="1"/>
          </p:cNvPicPr>
          <p:nvPr userDrawn="1"/>
        </p:nvPicPr>
        <p:blipFill>
          <a:blip r:embed="rId29"/>
          <a:stretch/>
        </p:blipFill>
        <p:spPr bwMode="auto">
          <a:xfrm>
            <a:off x="4915631" y="1000385"/>
            <a:ext cx="934431" cy="605512"/>
          </a:xfrm>
          <a:prstGeom prst="rect">
            <a:avLst/>
          </a:prstGeom>
          <a:noFill/>
        </p:spPr>
      </p:pic>
      <p:pic>
        <p:nvPicPr>
          <p:cNvPr id="1061" name="Picture 37"/>
          <p:cNvPicPr>
            <a:picLocks noChangeAspect="1" noChangeArrowheads="1"/>
          </p:cNvPicPr>
          <p:nvPr userDrawn="1"/>
        </p:nvPicPr>
        <p:blipFill>
          <a:blip r:embed="rId30"/>
          <a:stretch/>
        </p:blipFill>
        <p:spPr bwMode="auto">
          <a:xfrm>
            <a:off x="3679869" y="1770274"/>
            <a:ext cx="1188887" cy="659911"/>
          </a:xfrm>
          <a:prstGeom prst="rect">
            <a:avLst/>
          </a:prstGeom>
          <a:noFill/>
        </p:spPr>
      </p:pic>
      <p:pic>
        <p:nvPicPr>
          <p:cNvPr id="1063" name="Picture 39"/>
          <p:cNvPicPr>
            <a:picLocks noChangeAspect="1" noChangeArrowheads="1"/>
          </p:cNvPicPr>
          <p:nvPr userDrawn="1"/>
        </p:nvPicPr>
        <p:blipFill>
          <a:blip r:embed="rId31"/>
          <a:stretch/>
        </p:blipFill>
        <p:spPr bwMode="auto">
          <a:xfrm>
            <a:off x="98519" y="3483555"/>
            <a:ext cx="1049499" cy="773873"/>
          </a:xfrm>
          <a:prstGeom prst="rect">
            <a:avLst/>
          </a:prstGeom>
          <a:noFill/>
        </p:spPr>
      </p:pic>
      <p:pic>
        <p:nvPicPr>
          <p:cNvPr id="1065" name="Picture 41"/>
          <p:cNvPicPr>
            <a:picLocks noChangeAspect="1" noChangeArrowheads="1"/>
          </p:cNvPicPr>
          <p:nvPr userDrawn="1"/>
        </p:nvPicPr>
        <p:blipFill>
          <a:blip r:embed="rId32"/>
          <a:stretch/>
        </p:blipFill>
        <p:spPr bwMode="auto">
          <a:xfrm>
            <a:off x="13765" y="4356037"/>
            <a:ext cx="1083635" cy="714738"/>
          </a:xfrm>
          <a:prstGeom prst="rect">
            <a:avLst/>
          </a:prstGeom>
          <a:noFill/>
        </p:spPr>
      </p:pic>
      <p:sp>
        <p:nvSpPr>
          <p:cNvPr id="60" name="Textfeld 59"/>
          <p:cNvSpPr txBox="1"/>
          <p:nvPr userDrawn="1"/>
        </p:nvSpPr>
        <p:spPr bwMode="auto">
          <a:xfrm>
            <a:off x="152696" y="1112985"/>
            <a:ext cx="10567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de-DE" sz="700"/>
              <a:t>Icon für extra Material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3662423" y="126722"/>
            <a:ext cx="1819154" cy="660379"/>
          </a:xfrm>
          <a:prstGeom prst="rect">
            <a:avLst/>
          </a:prstGeom>
        </p:spPr>
      </p:pic>
      <p:pic>
        <p:nvPicPr>
          <p:cNvPr id="6" name="Grafik 5"/>
          <p:cNvPicPr/>
          <p:nvPr userDrawn="1"/>
        </p:nvPicPr>
        <p:blipFill>
          <a:blip r:embed="rId3"/>
          <a:srcRect t="228"/>
          <a:stretch/>
        </p:blipFill>
        <p:spPr bwMode="auto">
          <a:xfrm>
            <a:off x="7104296" y="977112"/>
            <a:ext cx="2053664" cy="4180348"/>
          </a:xfrm>
          <a:prstGeom prst="rect">
            <a:avLst/>
          </a:prstGeom>
          <a:ln w="6350" cmpd="sng">
            <a:noFill/>
          </a:ln>
        </p:spPr>
      </p:pic>
      <p:pic>
        <p:nvPicPr>
          <p:cNvPr id="7" name="Grafik 6"/>
          <p:cNvPicPr/>
          <p:nvPr userDrawn="1"/>
        </p:nvPicPr>
        <p:blipFill>
          <a:blip r:embed="rId4"/>
          <a:stretch/>
        </p:blipFill>
        <p:spPr bwMode="auto">
          <a:xfrm>
            <a:off x="0" y="977112"/>
            <a:ext cx="629199" cy="4189907"/>
          </a:xfrm>
          <a:prstGeom prst="rect">
            <a:avLst/>
          </a:prstGeom>
          <a:ln w="6350" cmpd="sng">
            <a:noFill/>
          </a:ln>
        </p:spPr>
      </p:pic>
      <p:sp>
        <p:nvSpPr>
          <p:cNvPr id="12" name="Google Shape;121;p19"/>
          <p:cNvSpPr txBox="1">
            <a:spLocks noGrp="1"/>
          </p:cNvSpPr>
          <p:nvPr>
            <p:ph type="ctrTitle"/>
          </p:nvPr>
        </p:nvSpPr>
        <p:spPr bwMode="auto">
          <a:xfrm>
            <a:off x="1214545" y="1248156"/>
            <a:ext cx="5666877" cy="64925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/>
            </a:lvl1pPr>
          </a:lstStyle>
          <a:p>
            <a:pPr algn="ctr">
              <a:defRPr/>
            </a:pPr>
            <a:endParaRPr lang="de-DE" sz="200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3" name="Google Shape;84;p13"/>
          <p:cNvCxnSpPr>
            <a:cxnSpLocks/>
          </p:cNvCxnSpPr>
          <p:nvPr userDrawn="1"/>
        </p:nvCxnSpPr>
        <p:spPr bwMode="auto">
          <a:xfrm>
            <a:off x="-9000" y="1775736"/>
            <a:ext cx="91620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03;p17"/>
          <p:cNvSpPr/>
          <p:nvPr userDrawn="1"/>
        </p:nvSpPr>
        <p:spPr bwMode="auto">
          <a:xfrm>
            <a:off x="808645" y="1572786"/>
            <a:ext cx="405900" cy="405900"/>
          </a:xfrm>
          <a:prstGeom prst="ellipse">
            <a:avLst/>
          </a:prstGeom>
          <a:solidFill>
            <a:srgbClr val="7E0D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+ 1 column" userDrawn="1">
  <p:cSld name="Title + 1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Google Shape;24;p4"/>
          <p:cNvSpPr/>
          <p:nvPr userDrawn="1"/>
        </p:nvSpPr>
        <p:spPr bwMode="auto">
          <a:xfrm>
            <a:off x="-2319" y="4728668"/>
            <a:ext cx="9144000" cy="4184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" name="Textfeld 15"/>
          <p:cNvSpPr txBox="1"/>
          <p:nvPr userDrawn="1"/>
        </p:nvSpPr>
        <p:spPr bwMode="auto">
          <a:xfrm>
            <a:off x="52073" y="4770424"/>
            <a:ext cx="36472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 b="0">
                <a:latin typeface="Arial Narrow"/>
              </a:rPr>
              <a:t>Ankommen im Studium und im Tutorium</a:t>
            </a:r>
            <a:endParaRPr lang="de-DE" sz="1000">
              <a:latin typeface="Arial Narrow"/>
            </a:endParaRPr>
          </a:p>
          <a:p>
            <a:pPr algn="l">
              <a:defRPr/>
            </a:pPr>
            <a:r>
              <a:rPr lang="de-DE" sz="1000">
                <a:latin typeface="Arial Narrow"/>
              </a:rPr>
              <a:t>Tutorname</a:t>
            </a:r>
            <a:endParaRPr/>
          </a:p>
        </p:txBody>
      </p:sp>
      <p:sp>
        <p:nvSpPr>
          <p:cNvPr id="17" name="Textfeld 16"/>
          <p:cNvSpPr txBox="1"/>
          <p:nvPr userDrawn="1"/>
        </p:nvSpPr>
        <p:spPr bwMode="auto">
          <a:xfrm>
            <a:off x="3441608" y="4797466"/>
            <a:ext cx="1295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>
                <a:latin typeface="Arial Narrow"/>
              </a:rPr>
              <a:t>Datum: </a:t>
            </a:r>
            <a:fld id="{5BF2FA79-8D02-314B-B27B-263F8194F41D}" type="datetime1">
              <a:rPr lang="de-DE" sz="1000">
                <a:solidFill>
                  <a:sysClr val="windowText" lastClr="000000"/>
                </a:solidFill>
                <a:latin typeface="Arial Narrow"/>
              </a:rPr>
              <a:t>10.11.2025</a:t>
            </a:fld>
            <a:endParaRPr lang="de-DE" sz="1000">
              <a:latin typeface="Arial Narrow"/>
            </a:endParaRPr>
          </a:p>
        </p:txBody>
      </p:sp>
      <p:cxnSp>
        <p:nvCxnSpPr>
          <p:cNvPr id="102" name="Google Shape;102;p17"/>
          <p:cNvCxnSpPr>
            <a:cxnSpLocks/>
            <a:endCxn id="104" idx="1"/>
          </p:cNvCxnSpPr>
          <p:nvPr/>
        </p:nvCxnSpPr>
        <p:spPr bwMode="auto">
          <a:xfrm>
            <a:off x="0" y="836443"/>
            <a:ext cx="981201" cy="8743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" name="Google Shape;103;p17"/>
          <p:cNvSpPr/>
          <p:nvPr/>
        </p:nvSpPr>
        <p:spPr bwMode="auto">
          <a:xfrm>
            <a:off x="417426" y="633485"/>
            <a:ext cx="405900" cy="405900"/>
          </a:xfrm>
          <a:prstGeom prst="ellipse">
            <a:avLst/>
          </a:prstGeom>
          <a:solidFill>
            <a:srgbClr val="7E0D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title" hasCustomPrompt="1"/>
          </p:nvPr>
        </p:nvSpPr>
        <p:spPr bwMode="auto">
          <a:xfrm>
            <a:off x="981201" y="627386"/>
            <a:ext cx="3878400" cy="435600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9pPr>
          </a:lstStyle>
          <a:p>
            <a:pPr>
              <a:defRPr/>
            </a:pPr>
            <a:r>
              <a:rPr lang="de-DE"/>
              <a:t>Agenda</a:t>
            </a:r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 bwMode="auto">
          <a:xfrm>
            <a:off x="966912" y="1062986"/>
            <a:ext cx="7205538" cy="3340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66700" lvl="0" indent="-266700">
              <a:spcBef>
                <a:spcPts val="600"/>
              </a:spcBef>
              <a:spcAft>
                <a:spcPts val="0"/>
              </a:spcAft>
              <a:buClr>
                <a:schemeClr val="accent5">
                  <a:lumMod val="60000"/>
                  <a:lumOff val="40000"/>
                </a:schemeClr>
              </a:buClr>
              <a:buSzPct val="80000"/>
              <a:buFont typeface="Quattrocento Sans"/>
              <a:buChar char="◉"/>
              <a:defRPr sz="180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  <a:lvl2pPr marL="914400" lvl="1" indent="-355600"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1600">
                <a:solidFill>
                  <a:schemeClr val="tx1"/>
                </a:solidFill>
                <a:latin typeface="Arial Narrow"/>
                <a:ea typeface="Arial Narrow"/>
                <a:cs typeface="Quattrocento Sans"/>
              </a:defRPr>
            </a:lvl2pPr>
            <a:lvl3pPr marL="1371600" lvl="2" indent="-3556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9pPr>
          </a:lstStyle>
          <a:p>
            <a:pPr lvl="0">
              <a:defRPr/>
            </a:pPr>
            <a:endParaRPr/>
          </a:p>
        </p:txBody>
      </p:sp>
      <p:cxnSp>
        <p:nvCxnSpPr>
          <p:cNvPr id="106" name="Google Shape;106;p17"/>
          <p:cNvCxnSpPr>
            <a:cxnSpLocks/>
          </p:cNvCxnSpPr>
          <p:nvPr/>
        </p:nvCxnSpPr>
        <p:spPr bwMode="auto">
          <a:xfrm flipV="1">
            <a:off x="2419970" y="836444"/>
            <a:ext cx="6724080" cy="8742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328240" y="205603"/>
            <a:ext cx="487519" cy="418454"/>
          </a:xfrm>
          <a:prstGeom prst="rect">
            <a:avLst/>
          </a:prstGeom>
        </p:spPr>
      </p:pic>
      <p:sp>
        <p:nvSpPr>
          <p:cNvPr id="2" name="Rechtwinkliges Dreieck 1"/>
          <p:cNvSpPr/>
          <p:nvPr userDrawn="1"/>
        </p:nvSpPr>
        <p:spPr bwMode="auto">
          <a:xfrm rot="16199998">
            <a:off x="8660422" y="4671118"/>
            <a:ext cx="418456" cy="548700"/>
          </a:xfrm>
          <a:prstGeom prst="rtTriangle">
            <a:avLst/>
          </a:prstGeom>
          <a:solidFill>
            <a:srgbClr val="7E0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" name="Rechteck 3"/>
          <p:cNvSpPr/>
          <p:nvPr userDrawn="1"/>
        </p:nvSpPr>
        <p:spPr bwMode="auto">
          <a:xfrm>
            <a:off x="368300" y="571500"/>
            <a:ext cx="487519" cy="4914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14" name="Google Shape;107;p17"/>
          <p:cNvSpPr txBox="1">
            <a:spLocks noGrp="1"/>
          </p:cNvSpPr>
          <p:nvPr>
            <p:ph type="sldNum" idx="12"/>
          </p:nvPr>
        </p:nvSpPr>
        <p:spPr bwMode="auto">
          <a:xfrm>
            <a:off x="8634674" y="482354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bg1"/>
                </a:solidFill>
                <a:latin typeface="Arial Narrow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de-DE"/>
              <a:t>‹#›</a:t>
            </a:fld>
            <a:endParaRPr lang="de-DE"/>
          </a:p>
        </p:txBody>
      </p:sp>
      <p:grpSp>
        <p:nvGrpSpPr>
          <p:cNvPr id="18" name="Google Shape;138;p20"/>
          <p:cNvGrpSpPr>
            <a:grpSpLocks noChangeAspect="1"/>
          </p:cNvGrpSpPr>
          <p:nvPr userDrawn="1"/>
        </p:nvGrpSpPr>
        <p:grpSpPr bwMode="auto">
          <a:xfrm flipH="1">
            <a:off x="478078" y="678543"/>
            <a:ext cx="271692" cy="271692"/>
            <a:chOff x="2594050" y="1631825"/>
            <a:chExt cx="439625" cy="439625"/>
          </a:xfrm>
          <a:solidFill>
            <a:schemeClr val="bg1"/>
          </a:solidFill>
        </p:grpSpPr>
        <p:sp>
          <p:nvSpPr>
            <p:cNvPr id="19" name="Google Shape;139;p20"/>
            <p:cNvSpPr/>
            <p:nvPr/>
          </p:nvSpPr>
          <p:spPr bwMode="auto"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0" name="Google Shape;140;p20"/>
            <p:cNvSpPr/>
            <p:nvPr/>
          </p:nvSpPr>
          <p:spPr bwMode="auto"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1" name="Google Shape;141;p20"/>
            <p:cNvSpPr/>
            <p:nvPr/>
          </p:nvSpPr>
          <p:spPr bwMode="auto"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2" name="Google Shape;142;p20"/>
            <p:cNvSpPr/>
            <p:nvPr/>
          </p:nvSpPr>
          <p:spPr bwMode="auto">
            <a:xfrm>
              <a:off x="2814911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+ 1 column" userDrawn="1">
  <p:cSld name="1_Title + 1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Google Shape;24;p4"/>
          <p:cNvSpPr/>
          <p:nvPr userDrawn="1"/>
        </p:nvSpPr>
        <p:spPr bwMode="auto">
          <a:xfrm>
            <a:off x="-2319" y="4728668"/>
            <a:ext cx="9144000" cy="4184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" name="Textfeld 15"/>
          <p:cNvSpPr txBox="1"/>
          <p:nvPr userDrawn="1"/>
        </p:nvSpPr>
        <p:spPr bwMode="auto">
          <a:xfrm>
            <a:off x="52073" y="4770424"/>
            <a:ext cx="36472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 b="0">
                <a:latin typeface="Arial Narrow"/>
              </a:rPr>
              <a:t>Ankommen im Studium und im Tutorium</a:t>
            </a:r>
            <a:endParaRPr lang="de-DE" sz="1000">
              <a:latin typeface="Arial Narrow"/>
            </a:endParaRPr>
          </a:p>
          <a:p>
            <a:pPr algn="l">
              <a:defRPr/>
            </a:pPr>
            <a:r>
              <a:rPr lang="de-DE" sz="1000">
                <a:latin typeface="Arial Narrow"/>
              </a:rPr>
              <a:t>Tutorname</a:t>
            </a:r>
            <a:endParaRPr/>
          </a:p>
        </p:txBody>
      </p:sp>
      <p:sp>
        <p:nvSpPr>
          <p:cNvPr id="17" name="Textfeld 16"/>
          <p:cNvSpPr txBox="1"/>
          <p:nvPr userDrawn="1"/>
        </p:nvSpPr>
        <p:spPr bwMode="auto">
          <a:xfrm>
            <a:off x="3441608" y="4797466"/>
            <a:ext cx="1295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>
                <a:latin typeface="Arial Narrow"/>
              </a:rPr>
              <a:t>Datum: </a:t>
            </a:r>
            <a:fld id="{5BF2FA79-8D02-314B-B27B-263F8194F41D}" type="datetime1">
              <a:rPr lang="de-DE" sz="1000">
                <a:solidFill>
                  <a:sysClr val="windowText" lastClr="000000"/>
                </a:solidFill>
                <a:latin typeface="Arial Narrow"/>
              </a:rPr>
              <a:t>10.11.2025</a:t>
            </a:fld>
            <a:endParaRPr lang="de-DE" sz="1000">
              <a:latin typeface="Arial Narrow"/>
            </a:endParaRPr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 bwMode="auto">
          <a:xfrm>
            <a:off x="966912" y="1062986"/>
            <a:ext cx="7205538" cy="3340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66700" lvl="0" indent="-266700">
              <a:spcBef>
                <a:spcPts val="600"/>
              </a:spcBef>
              <a:spcAft>
                <a:spcPts val="0"/>
              </a:spcAft>
              <a:buClr>
                <a:schemeClr val="accent5">
                  <a:lumMod val="60000"/>
                  <a:lumOff val="40000"/>
                </a:schemeClr>
              </a:buClr>
              <a:buSzPct val="80000"/>
              <a:buFont typeface="Quattrocento Sans"/>
              <a:buChar char="◉"/>
              <a:defRPr sz="180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  <a:lvl2pPr marL="914400" lvl="1" indent="-3556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○"/>
              <a:defRPr sz="2000">
                <a:latin typeface="Quattrocento Sans"/>
                <a:ea typeface="Quattrocento Sans"/>
                <a:cs typeface="Quattrocento Sans"/>
              </a:defRPr>
            </a:lvl2pPr>
            <a:lvl3pPr marL="1371600" lvl="2" indent="-3556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9pPr>
          </a:lstStyle>
          <a:p>
            <a:pPr>
              <a:defRPr/>
            </a:pPr>
            <a:endParaRPr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328240" y="205603"/>
            <a:ext cx="487519" cy="418454"/>
          </a:xfrm>
          <a:prstGeom prst="rect">
            <a:avLst/>
          </a:prstGeom>
        </p:spPr>
      </p:pic>
      <p:sp>
        <p:nvSpPr>
          <p:cNvPr id="2" name="Rechtwinkliges Dreieck 1"/>
          <p:cNvSpPr/>
          <p:nvPr userDrawn="1"/>
        </p:nvSpPr>
        <p:spPr bwMode="auto">
          <a:xfrm rot="16199998">
            <a:off x="8660422" y="4671118"/>
            <a:ext cx="418456" cy="548700"/>
          </a:xfrm>
          <a:prstGeom prst="rtTriangle">
            <a:avLst/>
          </a:prstGeom>
          <a:solidFill>
            <a:srgbClr val="7E0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" name="Rechteck 3"/>
          <p:cNvSpPr/>
          <p:nvPr userDrawn="1"/>
        </p:nvSpPr>
        <p:spPr bwMode="auto">
          <a:xfrm>
            <a:off x="368300" y="571500"/>
            <a:ext cx="487519" cy="4914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5" name="Textplatzhalter 5"/>
          <p:cNvSpPr txBox="1"/>
          <p:nvPr userDrawn="1"/>
        </p:nvSpPr>
        <p:spPr bwMode="auto">
          <a:xfrm>
            <a:off x="974056" y="1062987"/>
            <a:ext cx="7191249" cy="33406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8C8E88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/>
            </a:pPr>
            <a:endParaRPr lang="de-DE" sz="2800"/>
          </a:p>
          <a:p>
            <a:pPr algn="ctr">
              <a:defRPr/>
            </a:pPr>
            <a:endParaRPr lang="de-DE" sz="2800"/>
          </a:p>
        </p:txBody>
      </p:sp>
      <p:sp>
        <p:nvSpPr>
          <p:cNvPr id="6" name="Google Shape;103;p17"/>
          <p:cNvSpPr/>
          <p:nvPr userDrawn="1"/>
        </p:nvSpPr>
        <p:spPr bwMode="auto">
          <a:xfrm>
            <a:off x="763961" y="901791"/>
            <a:ext cx="405900" cy="405900"/>
          </a:xfrm>
          <a:prstGeom prst="ellipse">
            <a:avLst/>
          </a:prstGeom>
          <a:solidFill>
            <a:srgbClr val="7E0D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11" name="Grafik 10" descr="Würfel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791685" y="927021"/>
            <a:ext cx="373690" cy="373690"/>
          </a:xfrm>
          <a:prstGeom prst="rect">
            <a:avLst/>
          </a:prstGeom>
        </p:spPr>
      </p:pic>
      <p:sp>
        <p:nvSpPr>
          <p:cNvPr id="18" name="Google Shape;107;p17"/>
          <p:cNvSpPr txBox="1">
            <a:spLocks noGrp="1"/>
          </p:cNvSpPr>
          <p:nvPr>
            <p:ph type="sldNum" idx="12"/>
          </p:nvPr>
        </p:nvSpPr>
        <p:spPr bwMode="auto">
          <a:xfrm>
            <a:off x="8634674" y="482354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bg1"/>
                </a:solidFill>
                <a:latin typeface="Arial Narrow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972000" y="661070"/>
            <a:ext cx="7200000" cy="630000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/>
          <a:p>
            <a:pPr>
              <a:defRPr/>
            </a:pPr>
            <a:r>
              <a:rPr lang="de-DE"/>
              <a:t>Edit master title format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972000" y="1384556"/>
            <a:ext cx="7200000" cy="324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Edit master text format</a:t>
            </a:r>
            <a:endParaRPr/>
          </a:p>
          <a:p>
            <a:pPr lvl="1">
              <a:defRPr/>
            </a:pPr>
            <a:r>
              <a:rPr lang="de-DE"/>
              <a:t>Second level</a:t>
            </a:r>
            <a:endParaRPr/>
          </a:p>
          <a:p>
            <a:pPr lvl="2">
              <a:defRPr/>
            </a:pPr>
            <a:r>
              <a:rPr lang="de-DE"/>
              <a:t>Third level</a:t>
            </a:r>
            <a:endParaRPr/>
          </a:p>
          <a:p>
            <a:pPr lvl="3">
              <a:defRPr/>
            </a:pPr>
            <a:r>
              <a:rPr lang="de-DE"/>
              <a:t>Fourth level</a:t>
            </a:r>
            <a:endParaRPr/>
          </a:p>
          <a:p>
            <a:pPr lvl="4">
              <a:defRPr/>
            </a:pPr>
            <a:r>
              <a:rPr lang="de-DE"/>
              <a:t>Fifth level</a:t>
            </a:r>
            <a:endParaRPr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457200">
        <a:lnSpc>
          <a:spcPct val="90000"/>
        </a:lnSpc>
        <a:spcBef>
          <a:spcPts val="0"/>
        </a:spcBef>
        <a:buNone/>
        <a:defRPr sz="2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>
        <a:lnSpc>
          <a:spcPct val="90000"/>
        </a:lnSpc>
        <a:spcBef>
          <a:spcPts val="500"/>
        </a:spcBef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10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9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9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9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9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9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9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uphana.de/en/university/organisation/students/faculty-student-councils-and-programme-student-councils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ctrTitle"/>
          </p:nvPr>
        </p:nvSpPr>
        <p:spPr bwMode="auto">
          <a:xfrm>
            <a:off x="1303350" y="1219356"/>
            <a:ext cx="6361577" cy="18287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defRPr/>
            </a:pPr>
            <a:r>
              <a:rPr lang="en-GB" sz="3600">
                <a:latin typeface="Abadi"/>
              </a:rPr>
              <a:t>Welcome to the L</a:t>
            </a:r>
            <a:r>
              <a:rPr lang="de-DE" sz="3600" err="1">
                <a:latin typeface="Abadi"/>
              </a:rPr>
              <a:t>ightning</a:t>
            </a:r>
            <a:r>
              <a:rPr lang="de-DE" sz="3600">
                <a:latin typeface="Abadi"/>
              </a:rPr>
              <a:t> </a:t>
            </a:r>
            <a:r>
              <a:rPr lang="de-DE" sz="3600" err="1">
                <a:latin typeface="Abadi"/>
              </a:rPr>
              <a:t>talk</a:t>
            </a:r>
            <a:r>
              <a:rPr lang="de-DE" sz="3600">
                <a:latin typeface="Abadi"/>
              </a:rPr>
              <a:t> </a:t>
            </a:r>
            <a:r>
              <a:rPr lang="de-DE" sz="3600" i="1">
                <a:latin typeface="Abadi"/>
              </a:rPr>
              <a:t>„</a:t>
            </a:r>
            <a:r>
              <a:rPr lang="de-DE" sz="3600" i="1" err="1">
                <a:latin typeface="Abadi"/>
              </a:rPr>
              <a:t>Lecture</a:t>
            </a:r>
            <a:r>
              <a:rPr lang="de-DE" sz="3600" i="1">
                <a:latin typeface="Abadi"/>
              </a:rPr>
              <a:t> Formats &amp; </a:t>
            </a:r>
            <a:r>
              <a:rPr lang="de-DE" sz="3600" i="1" err="1">
                <a:latin typeface="Abadi"/>
              </a:rPr>
              <a:t>How</a:t>
            </a:r>
            <a:r>
              <a:rPr lang="de-DE" sz="3600" i="1">
                <a:latin typeface="Abadi"/>
              </a:rPr>
              <a:t> </a:t>
            </a:r>
            <a:r>
              <a:rPr lang="de-DE" sz="3600" i="1" err="1">
                <a:latin typeface="Abadi"/>
              </a:rPr>
              <a:t>to</a:t>
            </a:r>
            <a:r>
              <a:rPr lang="de-DE" sz="3600" i="1">
                <a:latin typeface="Abadi"/>
              </a:rPr>
              <a:t> </a:t>
            </a:r>
            <a:r>
              <a:rPr lang="de-DE" sz="3600" i="1" err="1">
                <a:latin typeface="Abadi"/>
              </a:rPr>
              <a:t>contact</a:t>
            </a:r>
            <a:r>
              <a:rPr lang="de-DE" sz="3600" i="1">
                <a:latin typeface="Abadi"/>
              </a:rPr>
              <a:t> </a:t>
            </a:r>
            <a:r>
              <a:rPr lang="de-DE" sz="3600" i="1" err="1">
                <a:latin typeface="Abadi"/>
              </a:rPr>
              <a:t>professors</a:t>
            </a:r>
            <a:r>
              <a:rPr lang="de-DE" sz="3600" i="1">
                <a:latin typeface="Abadi"/>
              </a:rPr>
              <a:t>“</a:t>
            </a:r>
            <a:endParaRPr lang="en-GB" sz="3600" i="1">
              <a:latin typeface="Abadi"/>
            </a:endParaRPr>
          </a:p>
        </p:txBody>
      </p:sp>
      <p:sp>
        <p:nvSpPr>
          <p:cNvPr id="4" name="Untertitel 3"/>
          <p:cNvSpPr>
            <a:spLocks noGrp="1"/>
          </p:cNvSpPr>
          <p:nvPr>
            <p:ph type="subTitle" idx="1"/>
          </p:nvPr>
        </p:nvSpPr>
        <p:spPr bwMode="auto">
          <a:xfrm>
            <a:off x="1479072" y="3528989"/>
            <a:ext cx="6185856" cy="39159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defRPr/>
            </a:pPr>
            <a:r>
              <a:rPr lang="de-DE" sz="2000">
                <a:latin typeface="Abadi"/>
              </a:rPr>
              <a:t>22.10.2025</a:t>
            </a:r>
            <a:endParaRPr lang="de-DE"/>
          </a:p>
          <a:p>
            <a:pPr>
              <a:lnSpc>
                <a:spcPct val="100000"/>
              </a:lnSpc>
              <a:spcBef>
                <a:spcPts val="300"/>
              </a:spcBef>
              <a:defRPr/>
            </a:pPr>
            <a:r>
              <a:rPr lang="de-DE" sz="2000">
                <a:latin typeface="Abadi"/>
              </a:rPr>
              <a:t>Franziska Lindert, Merle Warnecke, </a:t>
            </a:r>
          </a:p>
          <a:p>
            <a:pPr>
              <a:lnSpc>
                <a:spcPct val="100000"/>
              </a:lnSpc>
              <a:spcBef>
                <a:spcPts val="300"/>
              </a:spcBef>
              <a:defRPr/>
            </a:pPr>
            <a:r>
              <a:rPr lang="de-DE" sz="2000">
                <a:latin typeface="Abadi"/>
              </a:rPr>
              <a:t>Katharina Soll &amp; Marie Janzen</a:t>
            </a:r>
            <a:endParaRPr lang="de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200BCC-A54B-38A9-FD85-98C65E9FE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>
                <a:latin typeface="Abadi" panose="020B0604020104020204" pitchFamily="34" charset="0"/>
              </a:rPr>
              <a:t>Agenda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01BF03-E72C-B106-7957-36F4C74B6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7764" y="1493358"/>
            <a:ext cx="4871083" cy="3240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DE" sz="2000">
                <a:latin typeface="Abadi" panose="020B0604020104020204" pitchFamily="34" charset="0"/>
              </a:rPr>
              <a:t>Registration for Exams</a:t>
            </a:r>
          </a:p>
          <a:p>
            <a:pPr>
              <a:lnSpc>
                <a:spcPct val="150000"/>
              </a:lnSpc>
            </a:pPr>
            <a:r>
              <a:rPr lang="de-DE" sz="2000">
                <a:latin typeface="Abadi" panose="020B0604020104020204" pitchFamily="34" charset="0"/>
              </a:rPr>
              <a:t>How to </a:t>
            </a:r>
            <a:r>
              <a:rPr lang="de-DE" sz="2000" err="1">
                <a:latin typeface="Abadi" panose="020B0604020104020204" pitchFamily="34" charset="0"/>
              </a:rPr>
              <a:t>contact</a:t>
            </a:r>
            <a:r>
              <a:rPr lang="de-DE" sz="2000">
                <a:latin typeface="Abadi" panose="020B0604020104020204" pitchFamily="34" charset="0"/>
              </a:rPr>
              <a:t> your FGV</a:t>
            </a:r>
          </a:p>
          <a:p>
            <a:pPr>
              <a:lnSpc>
                <a:spcPct val="150000"/>
              </a:lnSpc>
            </a:pPr>
            <a:r>
              <a:rPr lang="de-DE" sz="2000" err="1">
                <a:latin typeface="Abadi" panose="020B0604020104020204" pitchFamily="34" charset="0"/>
              </a:rPr>
              <a:t>Lecture</a:t>
            </a:r>
            <a:r>
              <a:rPr lang="de-DE" sz="2000">
                <a:latin typeface="Abadi" panose="020B0604020104020204" pitchFamily="34" charset="0"/>
              </a:rPr>
              <a:t> Formats</a:t>
            </a:r>
          </a:p>
          <a:p>
            <a:pPr>
              <a:lnSpc>
                <a:spcPct val="150000"/>
              </a:lnSpc>
            </a:pPr>
            <a:r>
              <a:rPr lang="de-DE" sz="2000">
                <a:latin typeface="Abadi" panose="020B0604020104020204" pitchFamily="34" charset="0"/>
              </a:rPr>
              <a:t>How to </a:t>
            </a:r>
            <a:r>
              <a:rPr lang="de-DE" sz="2000" err="1">
                <a:latin typeface="Abadi" panose="020B0604020104020204" pitchFamily="34" charset="0"/>
              </a:rPr>
              <a:t>contact</a:t>
            </a:r>
            <a:r>
              <a:rPr lang="de-DE" sz="2000">
                <a:latin typeface="Abadi" panose="020B0604020104020204" pitchFamily="34" charset="0"/>
              </a:rPr>
              <a:t> your </a:t>
            </a:r>
            <a:r>
              <a:rPr lang="de-DE" sz="2000" err="1">
                <a:latin typeface="Abadi" panose="020B0604020104020204" pitchFamily="34" charset="0"/>
              </a:rPr>
              <a:t>professors</a:t>
            </a:r>
            <a:endParaRPr lang="de-DE" sz="200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</a:pPr>
            <a:r>
              <a:rPr lang="de-DE" sz="2000">
                <a:latin typeface="Abadi" panose="020B0604020104020204" pitchFamily="34" charset="0"/>
              </a:rPr>
              <a:t>Your </a:t>
            </a:r>
            <a:r>
              <a:rPr lang="de-DE" sz="2000" err="1">
                <a:latin typeface="Abadi" panose="020B0604020104020204" pitchFamily="34" charset="0"/>
              </a:rPr>
              <a:t>questions</a:t>
            </a:r>
            <a:r>
              <a:rPr lang="de-DE" sz="2000">
                <a:latin typeface="Abadi" panose="020B0604020104020204" pitchFamily="34" charset="0"/>
              </a:rPr>
              <a:t> </a:t>
            </a:r>
            <a:r>
              <a:rPr lang="de-DE" sz="2000">
                <a:latin typeface="Abadi" panose="020B0604020104020204" pitchFamily="34" charset="0"/>
                <a:sym typeface="Wingdings" panose="05000000000000000000" pitchFamily="2" charset="2"/>
              </a:rPr>
              <a:t></a:t>
            </a:r>
            <a:endParaRPr lang="de-DE" sz="200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</a:pPr>
            <a:endParaRPr lang="de-DE" sz="200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978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E40439-8AD8-A7CC-EEE2-733B28845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039" y="655624"/>
            <a:ext cx="7200000" cy="630000"/>
          </a:xfrm>
        </p:spPr>
        <p:txBody>
          <a:bodyPr/>
          <a:lstStyle/>
          <a:p>
            <a:pPr algn="ctr"/>
            <a:r>
              <a:rPr lang="de-DE">
                <a:latin typeface="Abadi" panose="020B0604020104020204" pitchFamily="34" charset="0"/>
              </a:rPr>
              <a:t>1. </a:t>
            </a:r>
            <a:r>
              <a:rPr lang="de-DE" err="1">
                <a:latin typeface="Abadi" panose="020B0604020104020204" pitchFamily="34" charset="0"/>
              </a:rPr>
              <a:t>Exam</a:t>
            </a:r>
            <a:r>
              <a:rPr lang="de-DE">
                <a:latin typeface="Abadi" panose="020B0604020104020204" pitchFamily="34" charset="0"/>
              </a:rPr>
              <a:t> Registration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347076D-E019-B8B4-A434-8E3DB883606B}"/>
              </a:ext>
            </a:extLst>
          </p:cNvPr>
          <p:cNvSpPr txBox="1">
            <a:spLocks/>
          </p:cNvSpPr>
          <p:nvPr/>
        </p:nvSpPr>
        <p:spPr bwMode="auto">
          <a:xfrm>
            <a:off x="2028702" y="1903500"/>
            <a:ext cx="5636677" cy="17912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457200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5775" indent="-257175" algn="l" defTabSz="457200">
              <a:lnSpc>
                <a:spcPct val="90000"/>
              </a:lnSpc>
              <a:spcBef>
                <a:spcPts val="250"/>
              </a:spcBef>
              <a:buFont typeface="+mj-lt"/>
              <a:buAutoNum type="romanL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defRPr/>
            </a:pPr>
            <a:endParaRPr lang="en-GB" sz="2000">
              <a:latin typeface="Abadi" panose="020B0604020104020204" pitchFamily="34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B3FE81-BCE7-5D9E-7887-20417234D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816" y="1313555"/>
            <a:ext cx="7060368" cy="3240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DE" sz="2000">
                <a:latin typeface="Abadi" panose="020B0604020104020204" pitchFamily="34" charset="0"/>
              </a:rPr>
              <a:t>Log </a:t>
            </a:r>
            <a:r>
              <a:rPr lang="de-DE" sz="2000" err="1">
                <a:latin typeface="Abadi" panose="020B0604020104020204" pitchFamily="34" charset="0"/>
              </a:rPr>
              <a:t>into</a:t>
            </a:r>
            <a:r>
              <a:rPr lang="de-DE" sz="2000">
                <a:latin typeface="Abadi" panose="020B0604020104020204" pitchFamily="34" charset="0"/>
              </a:rPr>
              <a:t> </a:t>
            </a:r>
            <a:r>
              <a:rPr lang="de-DE" sz="2000" err="1">
                <a:latin typeface="Abadi" panose="020B0604020104020204" pitchFamily="34" charset="0"/>
              </a:rPr>
              <a:t>your</a:t>
            </a:r>
            <a:r>
              <a:rPr lang="de-DE" sz="2000">
                <a:latin typeface="Abadi" panose="020B0604020104020204" pitchFamily="34" charset="0"/>
              </a:rPr>
              <a:t> MyCampus Account</a:t>
            </a:r>
          </a:p>
          <a:p>
            <a:pPr>
              <a:lnSpc>
                <a:spcPct val="150000"/>
              </a:lnSpc>
            </a:pPr>
            <a:r>
              <a:rPr lang="de-DE" sz="2000">
                <a:latin typeface="Abadi" panose="020B0604020104020204" pitchFamily="34" charset="0"/>
              </a:rPr>
              <a:t>Go to „</a:t>
            </a:r>
            <a:r>
              <a:rPr lang="de-DE" sz="2000" err="1">
                <a:latin typeface="Abadi" panose="020B0604020104020204" pitchFamily="34" charset="0"/>
              </a:rPr>
              <a:t>Exam</a:t>
            </a:r>
            <a:r>
              <a:rPr lang="de-DE" sz="2000">
                <a:latin typeface="Abadi" panose="020B0604020104020204" pitchFamily="34" charset="0"/>
              </a:rPr>
              <a:t> Dates“ (German: „Meine Prüfungstermine“)</a:t>
            </a:r>
          </a:p>
          <a:p>
            <a:pPr>
              <a:lnSpc>
                <a:spcPct val="150000"/>
              </a:lnSpc>
            </a:pPr>
            <a:r>
              <a:rPr lang="de-DE" sz="2000">
                <a:latin typeface="Abadi" panose="020B0604020104020204" pitchFamily="34" charset="0"/>
              </a:rPr>
              <a:t>Go to „All </a:t>
            </a:r>
            <a:r>
              <a:rPr lang="de-DE" sz="2000" err="1">
                <a:latin typeface="Abadi" panose="020B0604020104020204" pitchFamily="34" charset="0"/>
              </a:rPr>
              <a:t>Exams</a:t>
            </a:r>
            <a:r>
              <a:rPr lang="de-DE" sz="2000">
                <a:latin typeface="Abadi" panose="020B0604020104020204" pitchFamily="34" charset="0"/>
              </a:rPr>
              <a:t>“ → </a:t>
            </a:r>
            <a:r>
              <a:rPr lang="de-DE" sz="2000" err="1">
                <a:latin typeface="Abadi" panose="020B0604020104020204" pitchFamily="34" charset="0"/>
              </a:rPr>
              <a:t>search</a:t>
            </a:r>
            <a:r>
              <a:rPr lang="de-DE" sz="2000">
                <a:latin typeface="Abadi" panose="020B0604020104020204" pitchFamily="34" charset="0"/>
              </a:rPr>
              <a:t> for </a:t>
            </a:r>
            <a:r>
              <a:rPr lang="de-DE" sz="2000" err="1">
                <a:latin typeface="Abadi" panose="020B0604020104020204" pitchFamily="34" charset="0"/>
              </a:rPr>
              <a:t>your</a:t>
            </a:r>
            <a:r>
              <a:rPr lang="de-DE" sz="2000">
                <a:latin typeface="Abadi" panose="020B0604020104020204" pitchFamily="34" charset="0"/>
              </a:rPr>
              <a:t> </a:t>
            </a:r>
            <a:r>
              <a:rPr lang="de-DE" sz="2000" err="1">
                <a:latin typeface="Abadi" panose="020B0604020104020204" pitchFamily="34" charset="0"/>
              </a:rPr>
              <a:t>seminar</a:t>
            </a:r>
            <a:r>
              <a:rPr lang="de-DE" sz="2000">
                <a:latin typeface="Abadi" panose="020B0604020104020204" pitchFamily="34" charset="0"/>
              </a:rPr>
              <a:t> title </a:t>
            </a:r>
            <a:r>
              <a:rPr lang="de-DE" sz="2000" err="1">
                <a:latin typeface="Abadi" panose="020B0604020104020204" pitchFamily="34" charset="0"/>
              </a:rPr>
              <a:t>or</a:t>
            </a:r>
            <a:r>
              <a:rPr lang="de-DE" sz="2000">
                <a:latin typeface="Abadi" panose="020B0604020104020204" pitchFamily="34" charset="0"/>
              </a:rPr>
              <a:t> </a:t>
            </a:r>
            <a:r>
              <a:rPr lang="de-DE" sz="2000" err="1">
                <a:latin typeface="Abadi" panose="020B0604020104020204" pitchFamily="34" charset="0"/>
              </a:rPr>
              <a:t>teacher</a:t>
            </a:r>
            <a:endParaRPr lang="de-DE" sz="2000">
              <a:latin typeface="Abadi" panose="020B0604020104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de-DE" sz="2000">
                <a:solidFill>
                  <a:schemeClr val="tx2"/>
                </a:solidFill>
                <a:latin typeface="Abadi" panose="020B0604020104020204" pitchFamily="34" charset="0"/>
              </a:rPr>
              <a:t>Alternative: </a:t>
            </a:r>
            <a:r>
              <a:rPr lang="de-DE" sz="2000">
                <a:latin typeface="Abadi" panose="020B0604020104020204" pitchFamily="34" charset="0"/>
              </a:rPr>
              <a:t>In MyStudy, </a:t>
            </a:r>
            <a:r>
              <a:rPr lang="de-DE" sz="2000" err="1">
                <a:latin typeface="Abadi" panose="020B0604020104020204" pitchFamily="34" charset="0"/>
              </a:rPr>
              <a:t>each</a:t>
            </a:r>
            <a:r>
              <a:rPr lang="de-DE" sz="2000">
                <a:latin typeface="Abadi" panose="020B0604020104020204" pitchFamily="34" charset="0"/>
              </a:rPr>
              <a:t> </a:t>
            </a:r>
            <a:r>
              <a:rPr lang="de-DE" sz="2000" err="1">
                <a:latin typeface="Abadi" panose="020B0604020104020204" pitchFamily="34" charset="0"/>
              </a:rPr>
              <a:t>lecture</a:t>
            </a:r>
            <a:r>
              <a:rPr lang="de-DE" sz="2000">
                <a:latin typeface="Abadi" panose="020B0604020104020204" pitchFamily="34" charset="0"/>
              </a:rPr>
              <a:t> </a:t>
            </a:r>
            <a:r>
              <a:rPr lang="de-DE" sz="2000" err="1">
                <a:latin typeface="Abadi" panose="020B0604020104020204" pitchFamily="34" charset="0"/>
              </a:rPr>
              <a:t>has</a:t>
            </a:r>
            <a:r>
              <a:rPr lang="de-DE" sz="2000">
                <a:latin typeface="Abadi" panose="020B0604020104020204" pitchFamily="34" charset="0"/>
              </a:rPr>
              <a:t> a </a:t>
            </a:r>
            <a:r>
              <a:rPr lang="de-DE" sz="2000" err="1">
                <a:latin typeface="Abadi" panose="020B0604020104020204" pitchFamily="34" charset="0"/>
              </a:rPr>
              <a:t>direct</a:t>
            </a:r>
            <a:r>
              <a:rPr lang="de-DE" sz="2000">
                <a:latin typeface="Abadi" panose="020B0604020104020204" pitchFamily="34" charset="0"/>
              </a:rPr>
              <a:t> link to </a:t>
            </a:r>
            <a:r>
              <a:rPr lang="de-DE" sz="2000" err="1">
                <a:latin typeface="Abadi" panose="020B0604020104020204" pitchFamily="34" charset="0"/>
              </a:rPr>
              <a:t>its</a:t>
            </a:r>
            <a:r>
              <a:rPr lang="de-DE" sz="2000">
                <a:latin typeface="Abadi" panose="020B0604020104020204" pitchFamily="34" charset="0"/>
              </a:rPr>
              <a:t> </a:t>
            </a:r>
            <a:r>
              <a:rPr lang="de-DE" sz="2000" err="1">
                <a:latin typeface="Abadi" panose="020B0604020104020204" pitchFamily="34" charset="0"/>
              </a:rPr>
              <a:t>exam</a:t>
            </a:r>
            <a:r>
              <a:rPr lang="de-DE" sz="2000">
                <a:latin typeface="Abadi" panose="020B0604020104020204" pitchFamily="34" charset="0"/>
              </a:rPr>
              <a:t> </a:t>
            </a:r>
            <a:r>
              <a:rPr lang="de-DE" sz="2000" err="1">
                <a:latin typeface="Abadi" panose="020B0604020104020204" pitchFamily="34" charset="0"/>
              </a:rPr>
              <a:t>registration</a:t>
            </a:r>
            <a:r>
              <a:rPr lang="de-DE" sz="2000">
                <a:latin typeface="Abadi" panose="020B0604020104020204" pitchFamily="34" charset="0"/>
              </a:rPr>
              <a:t> in MyCampus</a:t>
            </a:r>
            <a:endParaRPr lang="de-DE" sz="2000">
              <a:solidFill>
                <a:schemeClr val="tx2"/>
              </a:solidFill>
              <a:latin typeface="Abadi" panose="020B0604020104020204" pitchFamily="34" charset="0"/>
            </a:endParaRPr>
          </a:p>
        </p:txBody>
      </p:sp>
      <p:pic>
        <p:nvPicPr>
          <p:cNvPr id="8" name="Grafik 7" descr="Ein Bild, das Screenshot, Reihe, Schrift, Text enthält.&#10;&#10;KI-generierte Inhalte können fehlerhaft sein.">
            <a:extLst>
              <a:ext uri="{FF2B5EF4-FFF2-40B4-BE49-F238E27FC236}">
                <a16:creationId xmlns:a16="http://schemas.microsoft.com/office/drawing/2014/main" id="{4F2AA9A5-CE55-FCDB-5CDC-D40739572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52" y="2316761"/>
            <a:ext cx="7917496" cy="153567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A535C2B8-EFF3-B59D-57FD-3F24C84383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960" y="1206275"/>
            <a:ext cx="6798079" cy="3756642"/>
          </a:xfrm>
          <a:prstGeom prst="rect">
            <a:avLst/>
          </a:prstGeom>
        </p:spPr>
      </p:pic>
      <p:sp>
        <p:nvSpPr>
          <p:cNvPr id="11" name="Sprechblase: oval 10">
            <a:extLst>
              <a:ext uri="{FF2B5EF4-FFF2-40B4-BE49-F238E27FC236}">
                <a16:creationId xmlns:a16="http://schemas.microsoft.com/office/drawing/2014/main" id="{32CC88D3-E22D-0E97-A911-53944F4724CB}"/>
              </a:ext>
            </a:extLst>
          </p:cNvPr>
          <p:cNvSpPr/>
          <p:nvPr/>
        </p:nvSpPr>
        <p:spPr>
          <a:xfrm>
            <a:off x="6188918" y="272276"/>
            <a:ext cx="2625297" cy="1358622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>
                <a:latin typeface="Abadi" panose="020B0604020104020204" pitchFamily="34" charset="0"/>
              </a:rPr>
              <a:t>Register </a:t>
            </a:r>
            <a:r>
              <a:rPr lang="de-DE" sz="2000" err="1">
                <a:latin typeface="Abadi" panose="020B0604020104020204" pitchFamily="34" charset="0"/>
              </a:rPr>
              <a:t>until</a:t>
            </a:r>
            <a:r>
              <a:rPr lang="de-DE" sz="2000">
                <a:latin typeface="Abadi" panose="020B0604020104020204" pitchFamily="34" charset="0"/>
              </a:rPr>
              <a:t> </a:t>
            </a:r>
            <a:r>
              <a:rPr lang="de-DE" sz="2000" err="1">
                <a:latin typeface="Abadi" panose="020B0604020104020204" pitchFamily="34" charset="0"/>
              </a:rPr>
              <a:t>October</a:t>
            </a:r>
            <a:r>
              <a:rPr lang="de-DE" sz="2000">
                <a:latin typeface="Abadi" panose="020B0604020104020204" pitchFamily="34" charset="0"/>
              </a:rPr>
              <a:t> 27th!</a:t>
            </a:r>
          </a:p>
        </p:txBody>
      </p:sp>
    </p:spTree>
    <p:extLst>
      <p:ext uri="{BB962C8B-B14F-4D97-AF65-F5344CB8AC3E}">
        <p14:creationId xmlns:p14="http://schemas.microsoft.com/office/powerpoint/2010/main" val="2532977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1BC978F8-42C0-31D2-7984-ED2138F8F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660400"/>
            <a:ext cx="7200900" cy="630238"/>
          </a:xfrm>
        </p:spPr>
        <p:txBody>
          <a:bodyPr>
            <a:normAutofit/>
          </a:bodyPr>
          <a:lstStyle/>
          <a:p>
            <a:pPr algn="ctr"/>
            <a:r>
              <a:rPr lang="de-DE" sz="3000">
                <a:latin typeface="Abadi" panose="020B0604020104020204" pitchFamily="34" charset="0"/>
              </a:rPr>
              <a:t>1. Exam Registration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013DEA1-5E88-76D1-5E2F-9A64BE3151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143"/>
          <a:stretch>
            <a:fillRect/>
          </a:stretch>
        </p:blipFill>
        <p:spPr>
          <a:xfrm>
            <a:off x="1716374" y="1290638"/>
            <a:ext cx="5711252" cy="2179585"/>
          </a:xfrm>
          <a:prstGeom prst="rect">
            <a:avLst/>
          </a:prstGeo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8049E192-4F62-1A9F-8208-C9A668E6BD02}"/>
              </a:ext>
            </a:extLst>
          </p:cNvPr>
          <p:cNvSpPr txBox="1">
            <a:spLocks/>
          </p:cNvSpPr>
          <p:nvPr/>
        </p:nvSpPr>
        <p:spPr>
          <a:xfrm>
            <a:off x="2136458" y="3614467"/>
            <a:ext cx="4871083" cy="129481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114300" indent="-114300" algn="l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ClrTx/>
              <a:buNone/>
            </a:pPr>
            <a:r>
              <a:rPr lang="de-DE" sz="2000" err="1">
                <a:latin typeface="Abadi" panose="020B0604020104020204" pitchFamily="34" charset="0"/>
              </a:rPr>
              <a:t>It</a:t>
            </a:r>
            <a:r>
              <a:rPr lang="de-DE" sz="2000">
                <a:latin typeface="Abadi" panose="020B0604020104020204" pitchFamily="34" charset="0"/>
              </a:rPr>
              <a:t> </a:t>
            </a:r>
            <a:r>
              <a:rPr lang="de-DE" sz="2000" err="1">
                <a:latin typeface="Abadi" panose="020B0604020104020204" pitchFamily="34" charset="0"/>
              </a:rPr>
              <a:t>is</a:t>
            </a:r>
            <a:r>
              <a:rPr lang="de-DE" sz="2000">
                <a:latin typeface="Abadi" panose="020B0604020104020204" pitchFamily="34" charset="0"/>
              </a:rPr>
              <a:t> </a:t>
            </a:r>
            <a:r>
              <a:rPr lang="de-DE" sz="2000" err="1">
                <a:latin typeface="Abadi" panose="020B0604020104020204" pitchFamily="34" charset="0"/>
              </a:rPr>
              <a:t>important</a:t>
            </a:r>
            <a:r>
              <a:rPr lang="de-DE" sz="2000">
                <a:latin typeface="Abadi" panose="020B0604020104020204" pitchFamily="34" charset="0"/>
              </a:rPr>
              <a:t> </a:t>
            </a:r>
            <a:r>
              <a:rPr lang="de-DE" sz="2000" err="1">
                <a:latin typeface="Abadi" panose="020B0604020104020204" pitchFamily="34" charset="0"/>
              </a:rPr>
              <a:t>that</a:t>
            </a:r>
            <a:r>
              <a:rPr lang="de-DE" sz="2000">
                <a:latin typeface="Abadi" panose="020B0604020104020204" pitchFamily="34" charset="0"/>
              </a:rPr>
              <a:t> </a:t>
            </a:r>
            <a:r>
              <a:rPr lang="de-DE" sz="2000" err="1">
                <a:latin typeface="Abadi" panose="020B0604020104020204" pitchFamily="34" charset="0"/>
              </a:rPr>
              <a:t>you</a:t>
            </a:r>
            <a:r>
              <a:rPr lang="de-DE" sz="2000">
                <a:latin typeface="Abadi" panose="020B0604020104020204" pitchFamily="34" charset="0"/>
              </a:rPr>
              <a:t> </a:t>
            </a:r>
            <a:r>
              <a:rPr lang="de-DE" sz="2000" err="1">
                <a:latin typeface="Abadi" panose="020B0604020104020204" pitchFamily="34" charset="0"/>
              </a:rPr>
              <a:t>register</a:t>
            </a:r>
            <a:r>
              <a:rPr lang="de-DE" sz="2000">
                <a:latin typeface="Abadi" panose="020B0604020104020204" pitchFamily="34" charset="0"/>
              </a:rPr>
              <a:t> in the </a:t>
            </a:r>
            <a:r>
              <a:rPr lang="de-DE" sz="2000" err="1">
                <a:latin typeface="Abadi" panose="020B0604020104020204" pitchFamily="34" charset="0"/>
              </a:rPr>
              <a:t>right</a:t>
            </a:r>
            <a:r>
              <a:rPr lang="de-DE" sz="2000">
                <a:latin typeface="Abadi" panose="020B0604020104020204" pitchFamily="34" charset="0"/>
              </a:rPr>
              <a:t> </a:t>
            </a:r>
            <a:r>
              <a:rPr lang="de-DE" sz="2000" err="1">
                <a:latin typeface="Abadi" panose="020B0604020104020204" pitchFamily="34" charset="0"/>
              </a:rPr>
              <a:t>context</a:t>
            </a:r>
            <a:r>
              <a:rPr lang="de-DE" sz="2000">
                <a:latin typeface="Abadi" panose="020B0604020104020204" pitchFamily="34" charset="0"/>
              </a:rPr>
              <a:t> → all </a:t>
            </a:r>
            <a:r>
              <a:rPr lang="de-DE" sz="2000" err="1">
                <a:latin typeface="Abadi" panose="020B0604020104020204" pitchFamily="34" charset="0"/>
              </a:rPr>
              <a:t>your</a:t>
            </a:r>
            <a:r>
              <a:rPr lang="de-DE" sz="2000">
                <a:latin typeface="Abadi" panose="020B0604020104020204" pitchFamily="34" charset="0"/>
              </a:rPr>
              <a:t> Leuphana Semester </a:t>
            </a:r>
            <a:r>
              <a:rPr lang="de-DE" sz="2000" err="1">
                <a:latin typeface="Abadi" panose="020B0604020104020204" pitchFamily="34" charset="0"/>
              </a:rPr>
              <a:t>modules</a:t>
            </a:r>
            <a:r>
              <a:rPr lang="de-DE" sz="2000">
                <a:latin typeface="Abadi" panose="020B0604020104020204" pitchFamily="34" charset="0"/>
              </a:rPr>
              <a:t> </a:t>
            </a:r>
            <a:r>
              <a:rPr lang="de-DE" sz="2000" err="1">
                <a:latin typeface="Abadi" panose="020B0604020104020204" pitchFamily="34" charset="0"/>
              </a:rPr>
              <a:t>need</a:t>
            </a:r>
            <a:r>
              <a:rPr lang="de-DE" sz="2000">
                <a:latin typeface="Abadi" panose="020B0604020104020204" pitchFamily="34" charset="0"/>
              </a:rPr>
              <a:t> to </a:t>
            </a:r>
            <a:r>
              <a:rPr lang="de-DE" sz="2000" err="1">
                <a:latin typeface="Abadi" panose="020B0604020104020204" pitchFamily="34" charset="0"/>
              </a:rPr>
              <a:t>be</a:t>
            </a:r>
            <a:r>
              <a:rPr lang="de-DE" sz="2000">
                <a:latin typeface="Abadi" panose="020B0604020104020204" pitchFamily="34" charset="0"/>
              </a:rPr>
              <a:t> registered </a:t>
            </a:r>
            <a:r>
              <a:rPr lang="de-DE" sz="2000" err="1">
                <a:latin typeface="Abadi" panose="020B0604020104020204" pitchFamily="34" charset="0"/>
              </a:rPr>
              <a:t>with</a:t>
            </a:r>
            <a:r>
              <a:rPr lang="de-DE" sz="2000">
                <a:latin typeface="Abadi" panose="020B0604020104020204" pitchFamily="34" charset="0"/>
              </a:rPr>
              <a:t> </a:t>
            </a:r>
            <a:r>
              <a:rPr lang="de-DE" sz="2000" err="1">
                <a:latin typeface="Abadi" panose="020B0604020104020204" pitchFamily="34" charset="0"/>
              </a:rPr>
              <a:t>both</a:t>
            </a:r>
            <a:r>
              <a:rPr lang="de-DE" sz="2000">
                <a:latin typeface="Abadi" panose="020B0604020104020204" pitchFamily="34" charset="0"/>
              </a:rPr>
              <a:t> Major &amp; Minor!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757D646-A981-96AE-15CF-C1CFD04BE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2528" y="2461384"/>
            <a:ext cx="3475512" cy="174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233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A46F88-4C3B-A329-C9CA-9CA16512C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de-DE" sz="3000">
                <a:latin typeface="Abadi"/>
              </a:rPr>
              <a:t>1. </a:t>
            </a:r>
            <a:r>
              <a:rPr lang="de-DE" sz="3000" err="1">
                <a:latin typeface="Abadi"/>
              </a:rPr>
              <a:t>Exam</a:t>
            </a:r>
            <a:r>
              <a:rPr lang="de-DE" sz="3000">
                <a:latin typeface="Abadi"/>
              </a:rPr>
              <a:t> Registration</a:t>
            </a:r>
            <a:endParaRPr lang="de-DE">
              <a:latin typeface="Abadi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E6A110-32CA-6E41-A1E7-21EC78325603}"/>
              </a:ext>
            </a:extLst>
          </p:cNvPr>
          <p:cNvSpPr txBox="1">
            <a:spLocks/>
          </p:cNvSpPr>
          <p:nvPr/>
        </p:nvSpPr>
        <p:spPr>
          <a:xfrm>
            <a:off x="1849692" y="1291070"/>
            <a:ext cx="5444616" cy="3240000"/>
          </a:xfrm>
          <a:prstGeom prst="rect">
            <a:avLst/>
          </a:prstGeom>
        </p:spPr>
        <p:txBody>
          <a:bodyPr>
            <a:normAutofit/>
          </a:bodyPr>
          <a:lstStyle>
            <a:lvl1pPr marL="114300" indent="-114300" algn="l" defTabSz="4572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Tx/>
              <a:buNone/>
            </a:pPr>
            <a:r>
              <a:rPr lang="de-DE" sz="2000" err="1">
                <a:latin typeface="Abadi" panose="020B0604020104020204" pitchFamily="34" charset="0"/>
              </a:rPr>
              <a:t>You</a:t>
            </a:r>
            <a:r>
              <a:rPr lang="de-DE" sz="2000">
                <a:latin typeface="Abadi" panose="020B0604020104020204" pitchFamily="34" charset="0"/>
              </a:rPr>
              <a:t> </a:t>
            </a:r>
            <a:r>
              <a:rPr lang="de-DE" sz="2000" err="1">
                <a:latin typeface="Abadi" panose="020B0604020104020204" pitchFamily="34" charset="0"/>
              </a:rPr>
              <a:t>need</a:t>
            </a:r>
            <a:r>
              <a:rPr lang="de-DE" sz="2000">
                <a:latin typeface="Abadi" panose="020B0604020104020204" pitchFamily="34" charset="0"/>
              </a:rPr>
              <a:t> to </a:t>
            </a:r>
            <a:r>
              <a:rPr lang="de-DE" sz="2000" err="1">
                <a:latin typeface="Abadi" panose="020B0604020104020204" pitchFamily="34" charset="0"/>
              </a:rPr>
              <a:t>be</a:t>
            </a:r>
            <a:r>
              <a:rPr lang="de-DE" sz="2000">
                <a:latin typeface="Abadi" panose="020B0604020104020204" pitchFamily="34" charset="0"/>
              </a:rPr>
              <a:t> registered for 5 </a:t>
            </a:r>
            <a:r>
              <a:rPr lang="de-DE" sz="2000" err="1">
                <a:latin typeface="Abadi" panose="020B0604020104020204" pitchFamily="34" charset="0"/>
              </a:rPr>
              <a:t>examinations</a:t>
            </a:r>
            <a:r>
              <a:rPr lang="de-DE" sz="2000">
                <a:latin typeface="Abadi" panose="020B0604020104020204" pitchFamily="34" charset="0"/>
              </a:rPr>
              <a:t>:</a:t>
            </a:r>
          </a:p>
          <a:p>
            <a:pPr>
              <a:lnSpc>
                <a:spcPct val="150000"/>
              </a:lnSpc>
              <a:buClrTx/>
            </a:pPr>
            <a:r>
              <a:rPr lang="de-DE" sz="2000">
                <a:latin typeface="Abadi" panose="020B0604020104020204" pitchFamily="34" charset="0"/>
              </a:rPr>
              <a:t> DataX</a:t>
            </a:r>
          </a:p>
          <a:p>
            <a:pPr>
              <a:lnSpc>
                <a:spcPct val="150000"/>
              </a:lnSpc>
              <a:buClrTx/>
            </a:pPr>
            <a:r>
              <a:rPr lang="de-DE" sz="2000">
                <a:latin typeface="Abadi" panose="020B0604020104020204" pitchFamily="34" charset="0"/>
              </a:rPr>
              <a:t> Transformation</a:t>
            </a:r>
          </a:p>
          <a:p>
            <a:pPr>
              <a:lnSpc>
                <a:spcPct val="150000"/>
              </a:lnSpc>
              <a:buClrTx/>
            </a:pPr>
            <a:r>
              <a:rPr lang="de-DE" sz="2000">
                <a:latin typeface="Abadi" panose="020B0604020104020204" pitchFamily="34" charset="0"/>
              </a:rPr>
              <a:t> Methods</a:t>
            </a:r>
          </a:p>
          <a:p>
            <a:pPr>
              <a:lnSpc>
                <a:spcPct val="150000"/>
              </a:lnSpc>
              <a:buClrTx/>
            </a:pPr>
            <a:r>
              <a:rPr lang="de-DE" sz="2000">
                <a:latin typeface="Abadi" panose="020B0604020104020204" pitchFamily="34" charset="0"/>
              </a:rPr>
              <a:t> Methods (</a:t>
            </a:r>
            <a:r>
              <a:rPr lang="de-DE" sz="2000" err="1">
                <a:latin typeface="Abadi" panose="020B0604020104020204" pitchFamily="34" charset="0"/>
              </a:rPr>
              <a:t>subject-specific</a:t>
            </a:r>
            <a:r>
              <a:rPr lang="de-DE" sz="2000">
                <a:latin typeface="Abadi" panose="020B0604020104020204" pitchFamily="34" charset="0"/>
              </a:rPr>
              <a:t>)</a:t>
            </a:r>
          </a:p>
          <a:p>
            <a:pPr>
              <a:lnSpc>
                <a:spcPct val="150000"/>
              </a:lnSpc>
              <a:buClrTx/>
            </a:pPr>
            <a:r>
              <a:rPr lang="de-DE" sz="2000">
                <a:latin typeface="Abadi" panose="020B0604020104020204" pitchFamily="34" charset="0"/>
              </a:rPr>
              <a:t> </a:t>
            </a:r>
            <a:r>
              <a:rPr lang="de-DE" sz="2000" err="1">
                <a:latin typeface="Abadi" panose="020B0604020104020204" pitchFamily="34" charset="0"/>
              </a:rPr>
              <a:t>Introduction</a:t>
            </a:r>
            <a:r>
              <a:rPr lang="de-DE" sz="2000">
                <a:latin typeface="Abadi" panose="020B0604020104020204" pitchFamily="34" charset="0"/>
              </a:rPr>
              <a:t> to </a:t>
            </a:r>
            <a:r>
              <a:rPr lang="de-DE" sz="2000" err="1">
                <a:latin typeface="Abadi" panose="020B0604020104020204" pitchFamily="34" charset="0"/>
              </a:rPr>
              <a:t>your</a:t>
            </a:r>
            <a:r>
              <a:rPr lang="de-DE" sz="2000">
                <a:latin typeface="Abadi" panose="020B0604020104020204" pitchFamily="34" charset="0"/>
              </a:rPr>
              <a:t> </a:t>
            </a:r>
            <a:r>
              <a:rPr lang="de-DE" sz="2000" err="1">
                <a:latin typeface="Abadi" panose="020B0604020104020204" pitchFamily="34" charset="0"/>
              </a:rPr>
              <a:t>subject</a:t>
            </a:r>
            <a:endParaRPr lang="de-DE" sz="200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730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67F5A7-F064-AC24-669C-07D4B5137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de-DE" sz="2400" err="1">
                <a:latin typeface="Abadi" panose="020B0604020104020204" pitchFamily="34" charset="0"/>
              </a:rPr>
              <a:t>You</a:t>
            </a:r>
            <a:r>
              <a:rPr lang="de-DE" sz="2400">
                <a:latin typeface="Abadi" panose="020B0604020104020204" pitchFamily="34" charset="0"/>
              </a:rPr>
              <a:t> still </a:t>
            </a:r>
            <a:r>
              <a:rPr lang="de-DE" sz="2400" err="1">
                <a:latin typeface="Abadi" panose="020B0604020104020204" pitchFamily="34" charset="0"/>
              </a:rPr>
              <a:t>have</a:t>
            </a:r>
            <a:r>
              <a:rPr lang="de-DE" sz="2400">
                <a:latin typeface="Abadi" panose="020B0604020104020204" pitchFamily="34" charset="0"/>
              </a:rPr>
              <a:t> </a:t>
            </a:r>
            <a:r>
              <a:rPr lang="de-DE" sz="2400" err="1">
                <a:latin typeface="Abadi" panose="020B0604020104020204" pitchFamily="34" charset="0"/>
              </a:rPr>
              <a:t>questions</a:t>
            </a:r>
            <a:r>
              <a:rPr lang="de-DE" sz="2400">
                <a:latin typeface="Abadi" panose="020B0604020104020204" pitchFamily="34" charset="0"/>
              </a:rPr>
              <a:t>?</a:t>
            </a:r>
            <a:br>
              <a:rPr lang="de-DE" sz="2400">
                <a:latin typeface="Abadi" panose="020B0604020104020204" pitchFamily="34" charset="0"/>
              </a:rPr>
            </a:br>
            <a:r>
              <a:rPr lang="de-DE" sz="2400">
                <a:latin typeface="Abadi" panose="020B0604020104020204" pitchFamily="34" charset="0"/>
              </a:rPr>
              <a:t>Look at the </a:t>
            </a:r>
            <a:r>
              <a:rPr lang="de-DE" sz="2400" err="1">
                <a:latin typeface="Abadi" panose="020B0604020104020204" pitchFamily="34" charset="0"/>
              </a:rPr>
              <a:t>document</a:t>
            </a:r>
            <a:r>
              <a:rPr lang="de-DE" sz="2400">
                <a:latin typeface="Abadi" panose="020B0604020104020204" pitchFamily="34" charset="0"/>
              </a:rPr>
              <a:t> on MyStudy! </a:t>
            </a:r>
            <a:br>
              <a:rPr lang="de-DE" sz="2400">
                <a:latin typeface="Abadi" panose="020B0604020104020204" pitchFamily="34" charset="0"/>
              </a:rPr>
            </a:br>
            <a:br>
              <a:rPr lang="de-DE" sz="2400">
                <a:latin typeface="Abadi" panose="020B0604020104020204" pitchFamily="34" charset="0"/>
              </a:rPr>
            </a:br>
            <a:r>
              <a:rPr lang="de-DE" sz="2400">
                <a:latin typeface="Abadi" panose="020B0604020104020204" pitchFamily="34" charset="0"/>
              </a:rPr>
              <a:t>Problems?</a:t>
            </a:r>
            <a:br>
              <a:rPr lang="de-DE" sz="2400">
                <a:latin typeface="Abadi" panose="020B0604020104020204" pitchFamily="34" charset="0"/>
              </a:rPr>
            </a:br>
            <a:r>
              <a:rPr lang="de-DE" sz="2400" err="1">
                <a:latin typeface="Abadi" panose="020B0604020104020204" pitchFamily="34" charset="0"/>
              </a:rPr>
              <a:t>Visit</a:t>
            </a:r>
            <a:r>
              <a:rPr lang="de-DE" sz="2400">
                <a:latin typeface="Abadi" panose="020B0604020104020204" pitchFamily="34" charset="0"/>
              </a:rPr>
              <a:t> </a:t>
            </a:r>
            <a:r>
              <a:rPr lang="de-DE" sz="2400" err="1">
                <a:latin typeface="Abadi" panose="020B0604020104020204" pitchFamily="34" charset="0"/>
              </a:rPr>
              <a:t>us</a:t>
            </a:r>
            <a:r>
              <a:rPr lang="de-DE" sz="2400">
                <a:latin typeface="Abadi" panose="020B0604020104020204" pitchFamily="34" charset="0"/>
              </a:rPr>
              <a:t> at the help </a:t>
            </a:r>
            <a:r>
              <a:rPr lang="de-DE" sz="2400" err="1">
                <a:latin typeface="Abadi" panose="020B0604020104020204" pitchFamily="34" charset="0"/>
              </a:rPr>
              <a:t>desk</a:t>
            </a:r>
            <a:r>
              <a:rPr lang="de-DE" sz="2400">
                <a:latin typeface="Abadi" panose="020B0604020104020204" pitchFamily="34" charset="0"/>
              </a:rPr>
              <a:t> </a:t>
            </a:r>
            <a:r>
              <a:rPr lang="de-DE" sz="2400" err="1">
                <a:latin typeface="Abadi" panose="020B0604020104020204" pitchFamily="34" charset="0"/>
              </a:rPr>
              <a:t>or</a:t>
            </a:r>
            <a:r>
              <a:rPr lang="de-DE" sz="2400">
                <a:latin typeface="Abadi" panose="020B0604020104020204" pitchFamily="34" charset="0"/>
              </a:rPr>
              <a:t> </a:t>
            </a:r>
            <a:r>
              <a:rPr lang="de-DE" sz="2400" err="1">
                <a:latin typeface="Abadi" panose="020B0604020104020204" pitchFamily="34" charset="0"/>
              </a:rPr>
              <a:t>message</a:t>
            </a:r>
            <a:r>
              <a:rPr lang="de-DE" sz="2400">
                <a:latin typeface="Abadi" panose="020B0604020104020204" pitchFamily="34" charset="0"/>
              </a:rPr>
              <a:t> studierendenservice@leuphana.de!</a:t>
            </a:r>
          </a:p>
        </p:txBody>
      </p:sp>
    </p:spTree>
    <p:extLst>
      <p:ext uri="{BB962C8B-B14F-4D97-AF65-F5344CB8AC3E}">
        <p14:creationId xmlns:p14="http://schemas.microsoft.com/office/powerpoint/2010/main" val="2753926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129D9297-63FE-CBDB-E3EB-54CB3525F084}"/>
              </a:ext>
            </a:extLst>
          </p:cNvPr>
          <p:cNvSpPr txBox="1">
            <a:spLocks/>
          </p:cNvSpPr>
          <p:nvPr/>
        </p:nvSpPr>
        <p:spPr bwMode="auto">
          <a:xfrm>
            <a:off x="972000" y="661070"/>
            <a:ext cx="7200000" cy="630000"/>
          </a:xfrm>
          <a:prstGeom prst="rect">
            <a:avLst/>
          </a:prstGeom>
        </p:spPr>
        <p:txBody>
          <a:bodyPr vert="horz" lIns="90000" tIns="45720" rIns="91440" bIns="45720" rtlCol="0" anchor="ctr" anchorCtr="1">
            <a:normAutofit/>
          </a:bodyPr>
          <a:lstStyle>
            <a:lvl1pPr algn="l" defTabSz="457200">
              <a:lnSpc>
                <a:spcPct val="90000"/>
              </a:lnSpc>
              <a:spcBef>
                <a:spcPts val="0"/>
              </a:spcBef>
              <a:buNone/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Tx/>
              <a:buFontTx/>
            </a:pPr>
            <a:r>
              <a:rPr lang="de-DE">
                <a:latin typeface="Abadi"/>
              </a:rPr>
              <a:t>2. </a:t>
            </a:r>
            <a:r>
              <a:rPr lang="de-DE" err="1">
                <a:latin typeface="Abadi"/>
              </a:rPr>
              <a:t>How</a:t>
            </a:r>
            <a:r>
              <a:rPr lang="de-DE">
                <a:latin typeface="Abadi"/>
              </a:rPr>
              <a:t> </a:t>
            </a:r>
            <a:r>
              <a:rPr lang="de-DE" err="1">
                <a:latin typeface="Abadi"/>
              </a:rPr>
              <a:t>to</a:t>
            </a:r>
            <a:r>
              <a:rPr lang="de-DE">
                <a:latin typeface="Abadi"/>
              </a:rPr>
              <a:t> </a:t>
            </a:r>
            <a:r>
              <a:rPr lang="de-DE" err="1">
                <a:latin typeface="Abadi"/>
              </a:rPr>
              <a:t>contact</a:t>
            </a:r>
            <a:r>
              <a:rPr lang="de-DE">
                <a:latin typeface="Abadi"/>
              </a:rPr>
              <a:t> </a:t>
            </a:r>
            <a:r>
              <a:rPr lang="de-DE" err="1">
                <a:latin typeface="Abadi"/>
              </a:rPr>
              <a:t>your</a:t>
            </a:r>
            <a:r>
              <a:rPr lang="de-DE">
                <a:latin typeface="Abadi"/>
              </a:rPr>
              <a:t> FGV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B742676-3536-3EFB-9FCC-4CADE2677E4F}"/>
              </a:ext>
            </a:extLst>
          </p:cNvPr>
          <p:cNvSpPr/>
          <p:nvPr/>
        </p:nvSpPr>
        <p:spPr>
          <a:xfrm>
            <a:off x="895717" y="1781052"/>
            <a:ext cx="7350124" cy="157162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7610C75-F0F1-E6E1-4E6D-F05A8D971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00" y="1994570"/>
            <a:ext cx="7353865" cy="100367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000">
                <a:latin typeface="Abadi"/>
              </a:rPr>
              <a:t>Faculty student councils and </a:t>
            </a:r>
            <a:r>
              <a:rPr lang="en-US" sz="2000" err="1">
                <a:latin typeface="Abadi"/>
              </a:rPr>
              <a:t>programme</a:t>
            </a:r>
            <a:r>
              <a:rPr lang="en-US" sz="2000">
                <a:latin typeface="Abadi"/>
              </a:rPr>
              <a:t> student councils </a:t>
            </a:r>
            <a:br>
              <a:rPr lang="en-US" sz="2000">
                <a:latin typeface="Abadi"/>
              </a:rPr>
            </a:br>
            <a:r>
              <a:rPr lang="en-US" sz="2000">
                <a:latin typeface="Abadi"/>
              </a:rPr>
              <a:t>– </a:t>
            </a:r>
            <a:r>
              <a:rPr lang="en-US" sz="2000" err="1">
                <a:latin typeface="Abadi"/>
              </a:rPr>
              <a:t>Fachschaften</a:t>
            </a:r>
            <a:r>
              <a:rPr lang="en-US" sz="2000">
                <a:latin typeface="Abadi"/>
              </a:rPr>
              <a:t> und </a:t>
            </a:r>
            <a:r>
              <a:rPr lang="en-US" sz="2000" err="1">
                <a:latin typeface="Abadi"/>
              </a:rPr>
              <a:t>Fachgruppenvertretungen</a:t>
            </a:r>
            <a:r>
              <a:rPr lang="en-US" sz="2000">
                <a:latin typeface="Abadi"/>
              </a:rPr>
              <a:t> (FGV)</a:t>
            </a:r>
            <a:br>
              <a:rPr lang="en-US" sz="2000">
                <a:latin typeface="Abadi" panose="020B0604020104020204" pitchFamily="34" charset="0"/>
              </a:rPr>
            </a:br>
            <a:br>
              <a:rPr lang="en-US" sz="2000">
                <a:latin typeface="Abadi" panose="020B0604020104020204" pitchFamily="34" charset="0"/>
              </a:rPr>
            </a:br>
            <a:r>
              <a:rPr lang="en-US" sz="2000">
                <a:latin typeface="Abad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https://www.leuphana.de/en/university/organisation/students/faculty-student-councils-and-programme-student-councils.html</a:t>
            </a:r>
            <a:r>
              <a:rPr lang="en-US" sz="2000">
                <a:latin typeface="Abadi"/>
              </a:rPr>
              <a:t> </a:t>
            </a:r>
            <a:endParaRPr lang="de-DE" sz="2000">
              <a:latin typeface="Abadi"/>
            </a:endParaRPr>
          </a:p>
        </p:txBody>
      </p:sp>
    </p:spTree>
    <p:extLst>
      <p:ext uri="{BB962C8B-B14F-4D97-AF65-F5344CB8AC3E}">
        <p14:creationId xmlns:p14="http://schemas.microsoft.com/office/powerpoint/2010/main" val="2647598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3025C1-9C03-5E39-FBAE-17614CD97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400" y="1085850"/>
            <a:ext cx="7359683" cy="3241837"/>
          </a:xfrm>
        </p:spPr>
        <p:txBody>
          <a:bodyPr/>
          <a:lstStyle/>
          <a:p>
            <a:pPr algn="ctr"/>
            <a:r>
              <a:rPr lang="de-DE" sz="2600">
                <a:latin typeface="Abadi"/>
              </a:rPr>
              <a:t>Lectures, Seminars, </a:t>
            </a:r>
            <a:r>
              <a:rPr lang="de-DE" sz="2600" err="1">
                <a:latin typeface="Abadi"/>
              </a:rPr>
              <a:t>Exercises</a:t>
            </a:r>
            <a:r>
              <a:rPr lang="de-DE" sz="2600">
                <a:latin typeface="Abadi"/>
              </a:rPr>
              <a:t>, Tutorials...</a:t>
            </a:r>
            <a:br>
              <a:rPr lang="de-DE" sz="2600">
                <a:latin typeface="Abadi"/>
              </a:rPr>
            </a:br>
            <a:r>
              <a:rPr lang="de-DE" sz="2600">
                <a:latin typeface="Abadi"/>
              </a:rPr>
              <a:t>do </a:t>
            </a:r>
            <a:r>
              <a:rPr lang="de-DE" sz="2600" err="1">
                <a:latin typeface="Abadi"/>
              </a:rPr>
              <a:t>you</a:t>
            </a:r>
            <a:r>
              <a:rPr lang="de-DE" sz="2600">
                <a:latin typeface="Abadi"/>
              </a:rPr>
              <a:t> </a:t>
            </a:r>
            <a:r>
              <a:rPr lang="de-DE" sz="2600" err="1">
                <a:latin typeface="Abadi"/>
              </a:rPr>
              <a:t>know</a:t>
            </a:r>
            <a:r>
              <a:rPr lang="de-DE" sz="2600">
                <a:latin typeface="Abadi"/>
              </a:rPr>
              <a:t> </a:t>
            </a:r>
            <a:r>
              <a:rPr lang="de-DE" sz="2600" err="1">
                <a:latin typeface="Abadi"/>
              </a:rPr>
              <a:t>the</a:t>
            </a:r>
            <a:r>
              <a:rPr lang="de-DE" sz="2600">
                <a:latin typeface="Abadi"/>
              </a:rPr>
              <a:t> </a:t>
            </a:r>
            <a:r>
              <a:rPr lang="de-DE" sz="2600" err="1">
                <a:latin typeface="Abadi"/>
              </a:rPr>
              <a:t>differences</a:t>
            </a:r>
            <a:r>
              <a:rPr lang="de-DE" sz="2600">
                <a:latin typeface="Abadi"/>
              </a:rPr>
              <a:t>? :) </a:t>
            </a:r>
          </a:p>
        </p:txBody>
      </p:sp>
      <p:pic>
        <p:nvPicPr>
          <p:cNvPr id="3" name="Grafik 2" descr="Ein Bild, das Grafiken, Schrift, Muster, Grafikdesign enthält.&#10;&#10;KI-generierte Inhalte können fehlerhaft sein.">
            <a:extLst>
              <a:ext uri="{FF2B5EF4-FFF2-40B4-BE49-F238E27FC236}">
                <a16:creationId xmlns:a16="http://schemas.microsoft.com/office/drawing/2014/main" id="{637694AF-CDF6-3D4A-17DA-8549747C5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399" y="674076"/>
            <a:ext cx="3793202" cy="3795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11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07D66-CA65-B702-B598-CCFD3D33D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E8E74C-81FC-6B3E-D5A8-7993577C2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>
                <a:latin typeface="Abadi" panose="020B0604020104020204" pitchFamily="34" charset="0"/>
              </a:rPr>
              <a:t>3. </a:t>
            </a:r>
            <a:r>
              <a:rPr lang="de-DE" err="1">
                <a:latin typeface="Abadi" panose="020B0604020104020204" pitchFamily="34" charset="0"/>
              </a:rPr>
              <a:t>Lecture</a:t>
            </a:r>
            <a:r>
              <a:rPr lang="de-DE">
                <a:latin typeface="Abadi" panose="020B0604020104020204" pitchFamily="34" charset="0"/>
              </a:rPr>
              <a:t> Formats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0B7DE16-1FCC-F4E9-D5B2-58AAD839CF6C}"/>
              </a:ext>
            </a:extLst>
          </p:cNvPr>
          <p:cNvSpPr txBox="1"/>
          <p:nvPr/>
        </p:nvSpPr>
        <p:spPr>
          <a:xfrm>
            <a:off x="2150389" y="1452966"/>
            <a:ext cx="509506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de-DE">
              <a:latin typeface="Abadi" panose="020B0604020104020204" pitchFamily="34" charset="0"/>
            </a:endParaRP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CABE69C7-1414-5169-17D0-3CA573B24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86215"/>
              </p:ext>
            </p:extLst>
          </p:nvPr>
        </p:nvGraphicFramePr>
        <p:xfrm>
          <a:off x="1289538" y="1194288"/>
          <a:ext cx="6562458" cy="3852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7486">
                  <a:extLst>
                    <a:ext uri="{9D8B030D-6E8A-4147-A177-3AD203B41FA5}">
                      <a16:colId xmlns:a16="http://schemas.microsoft.com/office/drawing/2014/main" val="3032286081"/>
                    </a:ext>
                  </a:extLst>
                </a:gridCol>
                <a:gridCol w="2187486">
                  <a:extLst>
                    <a:ext uri="{9D8B030D-6E8A-4147-A177-3AD203B41FA5}">
                      <a16:colId xmlns:a16="http://schemas.microsoft.com/office/drawing/2014/main" val="4134757738"/>
                    </a:ext>
                  </a:extLst>
                </a:gridCol>
                <a:gridCol w="2187486">
                  <a:extLst>
                    <a:ext uri="{9D8B030D-6E8A-4147-A177-3AD203B41FA5}">
                      <a16:colId xmlns:a16="http://schemas.microsoft.com/office/drawing/2014/main" val="2060162406"/>
                    </a:ext>
                  </a:extLst>
                </a:gridCol>
              </a:tblGrid>
              <a:tr h="291141">
                <a:tc>
                  <a:txBody>
                    <a:bodyPr/>
                    <a:lstStyle/>
                    <a:p>
                      <a:r>
                        <a:rPr lang="de-DE" sz="1300" err="1">
                          <a:latin typeface="Abadi"/>
                        </a:rPr>
                        <a:t>Characteristics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300" err="1">
                          <a:latin typeface="Abadi"/>
                        </a:rPr>
                        <a:t>Lecture</a:t>
                      </a:r>
                      <a:endParaRPr lang="de-DE" sz="1300">
                        <a:latin typeface="Abad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300">
                          <a:latin typeface="Abadi"/>
                        </a:rPr>
                        <a:t>Seminar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714801"/>
                  </a:ext>
                </a:extLst>
              </a:tr>
              <a:tr h="513329">
                <a:tc>
                  <a:txBody>
                    <a:bodyPr/>
                    <a:lstStyle/>
                    <a:p>
                      <a:r>
                        <a:rPr lang="de-DE" sz="1300" err="1">
                          <a:latin typeface="Abadi"/>
                        </a:rPr>
                        <a:t>Number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of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participants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300">
                          <a:latin typeface="Abadi"/>
                        </a:rPr>
                        <a:t>Many (</a:t>
                      </a:r>
                      <a:r>
                        <a:rPr lang="de-DE" sz="1300" err="1">
                          <a:latin typeface="Abadi"/>
                        </a:rPr>
                        <a:t>mostly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from</a:t>
                      </a:r>
                      <a:r>
                        <a:rPr lang="de-DE" sz="1300">
                          <a:latin typeface="Abadi"/>
                        </a:rPr>
                        <a:t> a </a:t>
                      </a:r>
                      <a:r>
                        <a:rPr lang="de-DE" sz="1300" err="1">
                          <a:latin typeface="Abadi"/>
                        </a:rPr>
                        <a:t>whole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module</a:t>
                      </a:r>
                      <a:r>
                        <a:rPr lang="de-DE" sz="1300">
                          <a:latin typeface="Abadi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300" err="1">
                          <a:latin typeface="Abadi"/>
                        </a:rPr>
                        <a:t>Smaller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group</a:t>
                      </a:r>
                      <a:r>
                        <a:rPr lang="de-DE" sz="1300">
                          <a:latin typeface="Abadi"/>
                        </a:rPr>
                        <a:t> (</a:t>
                      </a:r>
                      <a:r>
                        <a:rPr lang="de-DE" sz="1300" err="1">
                          <a:latin typeface="Abadi"/>
                        </a:rPr>
                        <a:t>often</a:t>
                      </a:r>
                      <a:r>
                        <a:rPr lang="de-DE" sz="1300">
                          <a:latin typeface="Abadi"/>
                        </a:rPr>
                        <a:t> limited </a:t>
                      </a:r>
                      <a:r>
                        <a:rPr lang="de-DE" sz="1300" err="1">
                          <a:latin typeface="Abadi"/>
                        </a:rPr>
                        <a:t>to</a:t>
                      </a:r>
                      <a:r>
                        <a:rPr lang="de-DE" sz="1300">
                          <a:latin typeface="Abadi"/>
                        </a:rPr>
                        <a:t> 20-30 </a:t>
                      </a:r>
                      <a:r>
                        <a:rPr lang="de-DE" sz="1300" err="1">
                          <a:latin typeface="Abadi"/>
                        </a:rPr>
                        <a:t>participants</a:t>
                      </a:r>
                      <a:r>
                        <a:rPr lang="de-DE" sz="1300">
                          <a:latin typeface="Abadi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50662"/>
                  </a:ext>
                </a:extLst>
              </a:tr>
              <a:tr h="1241186">
                <a:tc>
                  <a:txBody>
                    <a:bodyPr/>
                    <a:lstStyle/>
                    <a:p>
                      <a:r>
                        <a:rPr lang="de-DE" sz="1300" err="1">
                          <a:latin typeface="Abadi"/>
                        </a:rPr>
                        <a:t>Participation</a:t>
                      </a:r>
                      <a:endParaRPr lang="de-DE" sz="1300">
                        <a:latin typeface="Abad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300">
                          <a:latin typeface="Abadi"/>
                        </a:rPr>
                        <a:t>Pay </a:t>
                      </a:r>
                      <a:r>
                        <a:rPr lang="de-DE" sz="1300" err="1">
                          <a:latin typeface="Abadi"/>
                        </a:rPr>
                        <a:t>close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attention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to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the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presentation</a:t>
                      </a:r>
                      <a:r>
                        <a:rPr lang="de-DE" sz="1300">
                          <a:latin typeface="Abadi"/>
                        </a:rPr>
                        <a:t>, </a:t>
                      </a:r>
                      <a:endParaRPr lang="de-DE">
                        <a:latin typeface="Abadi"/>
                      </a:endParaRPr>
                    </a:p>
                    <a:p>
                      <a:pPr lvl="0">
                        <a:buNone/>
                      </a:pPr>
                      <a:r>
                        <a:rPr lang="de-DE" sz="1300" err="1">
                          <a:latin typeface="Abadi"/>
                        </a:rPr>
                        <a:t>actively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participate</a:t>
                      </a:r>
                      <a:r>
                        <a:rPr lang="de-DE" sz="1300">
                          <a:latin typeface="Abadi"/>
                        </a:rPr>
                        <a:t>, but do not </a:t>
                      </a:r>
                      <a:r>
                        <a:rPr lang="de-DE" sz="1300" err="1">
                          <a:latin typeface="Abadi"/>
                        </a:rPr>
                        <a:t>disturb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others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by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talking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loudly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with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those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sitting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nearby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300" err="1">
                          <a:latin typeface="Abadi"/>
                        </a:rPr>
                        <a:t>Actively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participate</a:t>
                      </a:r>
                      <a:r>
                        <a:rPr lang="de-DE" sz="1300">
                          <a:latin typeface="Abadi"/>
                        </a:rPr>
                        <a:t> in </a:t>
                      </a:r>
                      <a:r>
                        <a:rPr lang="de-DE" sz="1300" err="1">
                          <a:latin typeface="Abadi"/>
                        </a:rPr>
                        <a:t>discussions</a:t>
                      </a:r>
                      <a:r>
                        <a:rPr lang="de-DE" sz="1300">
                          <a:latin typeface="Abadi"/>
                        </a:rPr>
                        <a:t> and </a:t>
                      </a:r>
                      <a:r>
                        <a:rPr lang="de-DE" sz="1300" err="1">
                          <a:latin typeface="Abadi"/>
                        </a:rPr>
                        <a:t>contribute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your</a:t>
                      </a:r>
                      <a:r>
                        <a:rPr lang="de-DE" sz="1300">
                          <a:latin typeface="Abadi"/>
                        </a:rPr>
                        <a:t> own </a:t>
                      </a:r>
                      <a:r>
                        <a:rPr lang="de-DE" sz="1300" err="1">
                          <a:latin typeface="Abadi"/>
                        </a:rPr>
                        <a:t>ideas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767076"/>
                  </a:ext>
                </a:extLst>
              </a:tr>
              <a:tr h="1241186">
                <a:tc>
                  <a:txBody>
                    <a:bodyPr/>
                    <a:lstStyle/>
                    <a:p>
                      <a:r>
                        <a:rPr lang="de-DE" sz="1300">
                          <a:latin typeface="Abadi"/>
                        </a:rPr>
                        <a:t>Code </a:t>
                      </a:r>
                      <a:r>
                        <a:rPr lang="de-DE" sz="1300" err="1">
                          <a:latin typeface="Abadi"/>
                        </a:rPr>
                        <a:t>of</a:t>
                      </a:r>
                      <a:r>
                        <a:rPr lang="de-DE" sz="1300">
                          <a:latin typeface="Abadi"/>
                        </a:rPr>
                        <a:t> Conduct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300" err="1">
                          <a:latin typeface="Abadi"/>
                        </a:rPr>
                        <a:t>Arrive</a:t>
                      </a:r>
                      <a:r>
                        <a:rPr lang="de-DE" sz="1300">
                          <a:latin typeface="Abadi"/>
                        </a:rPr>
                        <a:t> on time </a:t>
                      </a:r>
                      <a:r>
                        <a:rPr lang="de-DE" sz="1300" err="1">
                          <a:latin typeface="Abadi"/>
                        </a:rPr>
                        <a:t>to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avoid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disruptions</a:t>
                      </a:r>
                      <a:r>
                        <a:rPr lang="de-DE" sz="1300">
                          <a:latin typeface="Abadi"/>
                        </a:rPr>
                        <a:t> and </a:t>
                      </a:r>
                      <a:r>
                        <a:rPr lang="de-DE" sz="1300" err="1">
                          <a:latin typeface="Abadi"/>
                        </a:rPr>
                        <a:t>leave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the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room</a:t>
                      </a:r>
                      <a:r>
                        <a:rPr lang="de-DE" sz="1300">
                          <a:latin typeface="Abadi"/>
                        </a:rPr>
                        <a:t> after </a:t>
                      </a:r>
                      <a:r>
                        <a:rPr lang="de-DE" sz="1300" err="1">
                          <a:latin typeface="Abadi"/>
                        </a:rPr>
                        <a:t>the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lecture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has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ended</a:t>
                      </a:r>
                      <a:r>
                        <a:rPr lang="de-DE" sz="1300">
                          <a:latin typeface="Abadi"/>
                        </a:rPr>
                        <a:t>, </a:t>
                      </a:r>
                      <a:r>
                        <a:rPr lang="de-DE" sz="1300" err="1">
                          <a:latin typeface="Abadi"/>
                        </a:rPr>
                        <a:t>remain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quiet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during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the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lecture</a:t>
                      </a:r>
                      <a:r>
                        <a:rPr lang="de-DE" sz="1300">
                          <a:latin typeface="Abadi"/>
                        </a:rPr>
                        <a:t>, </a:t>
                      </a:r>
                      <a:r>
                        <a:rPr lang="de-DE" sz="1300" err="1">
                          <a:latin typeface="Abadi"/>
                        </a:rPr>
                        <a:t>set</a:t>
                      </a:r>
                      <a:r>
                        <a:rPr lang="de-DE" sz="1300">
                          <a:latin typeface="Abadi"/>
                        </a:rPr>
                        <a:t> mobile </a:t>
                      </a:r>
                      <a:r>
                        <a:rPr lang="de-DE" sz="1300" err="1">
                          <a:latin typeface="Abadi"/>
                        </a:rPr>
                        <a:t>phones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to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silent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300" err="1">
                          <a:latin typeface="Abadi"/>
                        </a:rPr>
                        <a:t>Attend</a:t>
                      </a:r>
                      <a:r>
                        <a:rPr lang="de-DE" sz="1300">
                          <a:latin typeface="Abadi"/>
                        </a:rPr>
                        <a:t> well-</a:t>
                      </a:r>
                      <a:r>
                        <a:rPr lang="de-DE" sz="1300" err="1">
                          <a:latin typeface="Abadi"/>
                        </a:rPr>
                        <a:t>prepared</a:t>
                      </a:r>
                      <a:r>
                        <a:rPr lang="de-DE" sz="1300">
                          <a:latin typeface="Abadi"/>
                        </a:rPr>
                        <a:t>, </a:t>
                      </a:r>
                      <a:r>
                        <a:rPr lang="de-DE" sz="1300" err="1">
                          <a:latin typeface="Abadi"/>
                        </a:rPr>
                        <a:t>treat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fellow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students</a:t>
                      </a:r>
                      <a:r>
                        <a:rPr lang="de-DE" sz="1300">
                          <a:latin typeface="Abadi"/>
                        </a:rPr>
                        <a:t> and </a:t>
                      </a:r>
                      <a:r>
                        <a:rPr lang="de-DE" sz="1300" err="1">
                          <a:latin typeface="Abadi"/>
                        </a:rPr>
                        <a:t>instructors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with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respect</a:t>
                      </a:r>
                      <a:r>
                        <a:rPr lang="de-DE" sz="1300">
                          <a:latin typeface="Abadi"/>
                        </a:rPr>
                        <a:t>, </a:t>
                      </a:r>
                      <a:r>
                        <a:rPr lang="de-DE" sz="1300" err="1">
                          <a:latin typeface="Abadi"/>
                        </a:rPr>
                        <a:t>be</a:t>
                      </a:r>
                      <a:r>
                        <a:rPr lang="de-DE" sz="1300">
                          <a:latin typeface="Abadi"/>
                        </a:rPr>
                        <a:t> open </a:t>
                      </a:r>
                      <a:r>
                        <a:rPr lang="de-DE" sz="1300" err="1">
                          <a:latin typeface="Abadi"/>
                        </a:rPr>
                        <a:t>to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group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work</a:t>
                      </a:r>
                      <a:r>
                        <a:rPr lang="de-DE" sz="1300">
                          <a:latin typeface="Abadi"/>
                        </a:rPr>
                        <a:t> and </a:t>
                      </a:r>
                      <a:r>
                        <a:rPr lang="de-DE" sz="1300" err="1">
                          <a:latin typeface="Abadi"/>
                        </a:rPr>
                        <a:t>other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perspectives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023974"/>
                  </a:ext>
                </a:extLst>
              </a:tr>
              <a:tr h="475020">
                <a:tc>
                  <a:txBody>
                    <a:bodyPr/>
                    <a:lstStyle/>
                    <a:p>
                      <a:r>
                        <a:rPr lang="de-DE" sz="1300">
                          <a:latin typeface="Abadi"/>
                        </a:rPr>
                        <a:t>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300">
                          <a:latin typeface="Abadi"/>
                        </a:rPr>
                        <a:t>Transmission </a:t>
                      </a:r>
                      <a:r>
                        <a:rPr lang="de-DE" sz="1300" err="1">
                          <a:latin typeface="Abadi"/>
                        </a:rPr>
                        <a:t>of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knowledge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300" err="1">
                          <a:latin typeface="Abadi"/>
                        </a:rPr>
                        <a:t>Discussion</a:t>
                      </a:r>
                      <a:r>
                        <a:rPr lang="de-DE" sz="1300">
                          <a:latin typeface="Abadi"/>
                        </a:rPr>
                        <a:t> and </a:t>
                      </a:r>
                      <a:r>
                        <a:rPr lang="de-DE" sz="1300" err="1">
                          <a:latin typeface="Abadi"/>
                        </a:rPr>
                        <a:t>examination</a:t>
                      </a:r>
                      <a:r>
                        <a:rPr lang="de-DE" sz="1300">
                          <a:latin typeface="Abadi"/>
                        </a:rPr>
                        <a:t> of a </a:t>
                      </a:r>
                      <a:r>
                        <a:rPr lang="de-DE" sz="1300" err="1">
                          <a:latin typeface="Abadi"/>
                        </a:rPr>
                        <a:t>specific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  <a:r>
                        <a:rPr lang="de-DE" sz="1300" err="1">
                          <a:latin typeface="Abadi"/>
                        </a:rPr>
                        <a:t>topic</a:t>
                      </a:r>
                      <a:r>
                        <a:rPr lang="de-DE" sz="1300">
                          <a:latin typeface="Abadi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844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1436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07D66-CA65-B702-B598-CCFD3D33D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E8E74C-81FC-6B3E-D5A8-7993577C2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>
                <a:latin typeface="Abadi" panose="020B0604020104020204" pitchFamily="34" charset="0"/>
              </a:rPr>
              <a:t>3. </a:t>
            </a:r>
            <a:r>
              <a:rPr lang="de-DE" err="1">
                <a:latin typeface="Abadi" panose="020B0604020104020204" pitchFamily="34" charset="0"/>
              </a:rPr>
              <a:t>Lecture</a:t>
            </a:r>
            <a:r>
              <a:rPr lang="de-DE">
                <a:latin typeface="Abadi" panose="020B0604020104020204" pitchFamily="34" charset="0"/>
              </a:rPr>
              <a:t> Formats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0B7DE16-1FCC-F4E9-D5B2-58AAD839CF6C}"/>
              </a:ext>
            </a:extLst>
          </p:cNvPr>
          <p:cNvSpPr txBox="1"/>
          <p:nvPr/>
        </p:nvSpPr>
        <p:spPr>
          <a:xfrm>
            <a:off x="2150389" y="1452966"/>
            <a:ext cx="509506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de-DE">
              <a:latin typeface="Abadi" panose="020B060402010402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D1E6455-8FA7-04EA-EF50-76914C7C6009}"/>
              </a:ext>
            </a:extLst>
          </p:cNvPr>
          <p:cNvSpPr txBox="1"/>
          <p:nvPr/>
        </p:nvSpPr>
        <p:spPr>
          <a:xfrm>
            <a:off x="1203106" y="1607155"/>
            <a:ext cx="6737787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600" b="1" err="1">
                <a:latin typeface="Abadi"/>
              </a:rPr>
              <a:t>Exercise</a:t>
            </a:r>
            <a:r>
              <a:rPr lang="de-DE" sz="1600" b="1">
                <a:latin typeface="Abadi"/>
              </a:rPr>
              <a:t>:</a:t>
            </a:r>
            <a:endParaRPr lang="de-DE" sz="1600" b="1">
              <a:latin typeface="Abadi" panose="020B0604020104020204" pitchFamily="34" charset="0"/>
            </a:endParaRPr>
          </a:p>
          <a:p>
            <a:endParaRPr lang="de-DE" sz="1600">
              <a:latin typeface="Abadi" panose="020B0604020104020204" pitchFamily="34" charset="0"/>
            </a:endParaRPr>
          </a:p>
          <a:p>
            <a:pPr marL="800100" lvl="1" indent="-342900">
              <a:buFont typeface="Wingdings"/>
              <a:buChar char="v"/>
            </a:pPr>
            <a:r>
              <a:rPr lang="de-DE" sz="1600" err="1">
                <a:latin typeface="Abadi"/>
              </a:rPr>
              <a:t>Similar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to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the</a:t>
            </a:r>
            <a:r>
              <a:rPr lang="de-DE" sz="1600">
                <a:latin typeface="Abadi"/>
              </a:rPr>
              <a:t> Seminar</a:t>
            </a:r>
          </a:p>
          <a:p>
            <a:pPr marL="800100" lvl="1" indent="-342900">
              <a:buFont typeface="Wingdings"/>
              <a:buChar char="v"/>
            </a:pPr>
            <a:r>
              <a:rPr lang="de-DE" sz="1600">
                <a:latin typeface="Abadi"/>
              </a:rPr>
              <a:t>15-25 </a:t>
            </a:r>
            <a:r>
              <a:rPr lang="de-DE" sz="1600" err="1">
                <a:latin typeface="Abadi"/>
              </a:rPr>
              <a:t>participants</a:t>
            </a:r>
            <a:endParaRPr lang="de-DE" sz="1600">
              <a:latin typeface="Abadi"/>
            </a:endParaRPr>
          </a:p>
          <a:p>
            <a:pPr marL="800100" lvl="1" indent="-342900">
              <a:buFont typeface="Wingdings"/>
              <a:buChar char="v"/>
            </a:pPr>
            <a:r>
              <a:rPr lang="de-DE" sz="1600" err="1">
                <a:latin typeface="Abadi"/>
              </a:rPr>
              <a:t>Apply</a:t>
            </a:r>
            <a:r>
              <a:rPr lang="de-DE" sz="1600">
                <a:latin typeface="Abadi"/>
              </a:rPr>
              <a:t> Knowledge</a:t>
            </a:r>
          </a:p>
          <a:p>
            <a:pPr marL="800100" lvl="1" indent="-342900">
              <a:buFont typeface="Wingdings"/>
              <a:buChar char="v"/>
            </a:pPr>
            <a:r>
              <a:rPr lang="de-DE" sz="1600">
                <a:latin typeface="Abadi"/>
              </a:rPr>
              <a:t>Unterstand </a:t>
            </a:r>
            <a:r>
              <a:rPr lang="de-DE" sz="1600" err="1">
                <a:latin typeface="Abadi"/>
              </a:rPr>
              <a:t>the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content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from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the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Lecture</a:t>
            </a:r>
            <a:endParaRPr lang="de-DE" sz="1600">
              <a:latin typeface="Abadi"/>
            </a:endParaRPr>
          </a:p>
          <a:p>
            <a:pPr marL="800100" lvl="1" indent="-342900">
              <a:buFont typeface="Wingdings"/>
              <a:buChar char="v"/>
            </a:pPr>
            <a:r>
              <a:rPr lang="de-DE" sz="1600" err="1">
                <a:latin typeface="Abadi"/>
              </a:rPr>
              <a:t>You</a:t>
            </a:r>
            <a:r>
              <a:rPr lang="de-DE" sz="1600">
                <a:latin typeface="Abadi"/>
              </a:rPr>
              <a:t> do </a:t>
            </a:r>
            <a:r>
              <a:rPr lang="de-DE" sz="1600" err="1">
                <a:latin typeface="Abadi"/>
              </a:rPr>
              <a:t>exercises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together</a:t>
            </a:r>
            <a:r>
              <a:rPr lang="de-DE" sz="1600">
                <a:latin typeface="Abadi"/>
              </a:rPr>
              <a:t> and </a:t>
            </a:r>
            <a:r>
              <a:rPr lang="de-DE" sz="1600" err="1">
                <a:latin typeface="Abadi"/>
              </a:rPr>
              <a:t>talk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about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them</a:t>
            </a:r>
            <a:endParaRPr lang="de-DE" sz="1600">
              <a:latin typeface="Abadi"/>
            </a:endParaRPr>
          </a:p>
          <a:p>
            <a:pPr marL="800100" lvl="1" indent="-342900">
              <a:buFont typeface="Wingdings"/>
              <a:buChar char="v"/>
            </a:pPr>
            <a:r>
              <a:rPr lang="de-DE" sz="1600" err="1">
                <a:latin typeface="Abadi"/>
              </a:rPr>
              <a:t>You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can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ask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questions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every</a:t>
            </a:r>
            <a:r>
              <a:rPr lang="de-DE" sz="1600">
                <a:latin typeface="Abadi"/>
              </a:rPr>
              <a:t> time</a:t>
            </a:r>
          </a:p>
          <a:p>
            <a:pPr marL="800100" lvl="1" indent="-342900">
              <a:buFont typeface="Wingdings"/>
              <a:buChar char="v"/>
            </a:pPr>
            <a:r>
              <a:rPr lang="de-DE" sz="1600" err="1">
                <a:latin typeface="Abadi"/>
              </a:rPr>
              <a:t>Sometimes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you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have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to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work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with</a:t>
            </a:r>
            <a:r>
              <a:rPr lang="de-DE" sz="1600">
                <a:latin typeface="Abadi"/>
              </a:rPr>
              <a:t> a </a:t>
            </a:r>
            <a:r>
              <a:rPr lang="de-DE" sz="1600" err="1">
                <a:latin typeface="Abadi"/>
              </a:rPr>
              <a:t>partner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or</a:t>
            </a:r>
            <a:r>
              <a:rPr lang="de-DE" sz="1600">
                <a:latin typeface="Abadi"/>
              </a:rPr>
              <a:t> in </a:t>
            </a:r>
            <a:r>
              <a:rPr lang="de-DE" sz="1600" err="1">
                <a:latin typeface="Abadi"/>
              </a:rPr>
              <a:t>groups</a:t>
            </a:r>
            <a:endParaRPr lang="de-DE" sz="1600">
              <a:latin typeface="Abadi"/>
            </a:endParaRPr>
          </a:p>
          <a:p>
            <a:pPr marL="800100" lvl="1" indent="-342900">
              <a:buFont typeface="Wingdings"/>
              <a:buChar char="v"/>
            </a:pPr>
            <a:r>
              <a:rPr lang="de-DE" sz="1600" err="1">
                <a:latin typeface="Abadi"/>
              </a:rPr>
              <a:t>Often</a:t>
            </a:r>
            <a:r>
              <a:rPr lang="de-DE" sz="1600">
                <a:latin typeface="Abadi"/>
              </a:rPr>
              <a:t> in </a:t>
            </a:r>
            <a:r>
              <a:rPr lang="de-DE" sz="1600" err="1">
                <a:latin typeface="Abadi"/>
              </a:rPr>
              <a:t>subjects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with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mathematic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content</a:t>
            </a:r>
            <a:endParaRPr lang="de-DE" sz="1600">
              <a:latin typeface="Abadi"/>
            </a:endParaRPr>
          </a:p>
        </p:txBody>
      </p:sp>
    </p:spTree>
    <p:extLst>
      <p:ext uri="{BB962C8B-B14F-4D97-AF65-F5344CB8AC3E}">
        <p14:creationId xmlns:p14="http://schemas.microsoft.com/office/powerpoint/2010/main" val="679595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07D66-CA65-B702-B598-CCFD3D33D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E8E74C-81FC-6B3E-D5A8-7993577C2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>
                <a:latin typeface="Abadi" panose="020B0604020104020204" pitchFamily="34" charset="0"/>
              </a:rPr>
              <a:t>3. </a:t>
            </a:r>
            <a:r>
              <a:rPr lang="de-DE" err="1">
                <a:latin typeface="Abadi" panose="020B0604020104020204" pitchFamily="34" charset="0"/>
              </a:rPr>
              <a:t>Lecture</a:t>
            </a:r>
            <a:r>
              <a:rPr lang="de-DE">
                <a:latin typeface="Abadi" panose="020B0604020104020204" pitchFamily="34" charset="0"/>
              </a:rPr>
              <a:t> Formats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0B7DE16-1FCC-F4E9-D5B2-58AAD839CF6C}"/>
              </a:ext>
            </a:extLst>
          </p:cNvPr>
          <p:cNvSpPr txBox="1"/>
          <p:nvPr/>
        </p:nvSpPr>
        <p:spPr>
          <a:xfrm>
            <a:off x="2150389" y="1452966"/>
            <a:ext cx="509506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de-DE">
              <a:latin typeface="Abadi" panose="020B060402010402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ADBECE4-5296-E767-2737-F2DD1C1AD849}"/>
              </a:ext>
            </a:extLst>
          </p:cNvPr>
          <p:cNvSpPr txBox="1"/>
          <p:nvPr/>
        </p:nvSpPr>
        <p:spPr>
          <a:xfrm>
            <a:off x="1329028" y="1760743"/>
            <a:ext cx="6737787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600" b="1">
                <a:latin typeface="Abadi"/>
              </a:rPr>
              <a:t>Tutorial</a:t>
            </a:r>
            <a:endParaRPr lang="de-DE" sz="1600" b="1">
              <a:latin typeface="Abadi" panose="020B0604020104020204" pitchFamily="34" charset="0"/>
            </a:endParaRPr>
          </a:p>
          <a:p>
            <a:endParaRPr lang="de-DE" sz="1600">
              <a:latin typeface="Abadi" panose="020B0604020104020204" pitchFamily="34" charset="0"/>
            </a:endParaRPr>
          </a:p>
          <a:p>
            <a:pPr marL="800100" lvl="1" indent="-342900">
              <a:buFont typeface="Wingdings"/>
              <a:buChar char="v"/>
            </a:pPr>
            <a:r>
              <a:rPr lang="de-DE" sz="1600" err="1">
                <a:latin typeface="Abadi"/>
              </a:rPr>
              <a:t>Often</a:t>
            </a:r>
            <a:r>
              <a:rPr lang="de-DE" sz="1600">
                <a:latin typeface="Abadi"/>
              </a:rPr>
              <a:t> not </a:t>
            </a:r>
            <a:r>
              <a:rPr lang="de-DE" sz="1600" err="1">
                <a:latin typeface="Abadi"/>
              </a:rPr>
              <a:t>mandatory</a:t>
            </a:r>
            <a:r>
              <a:rPr lang="de-DE" sz="1600">
                <a:latin typeface="Abadi"/>
              </a:rPr>
              <a:t> (but </a:t>
            </a:r>
            <a:r>
              <a:rPr lang="de-DE" sz="1600" err="1">
                <a:latin typeface="Abadi"/>
              </a:rPr>
              <a:t>sometimes</a:t>
            </a:r>
            <a:r>
              <a:rPr lang="de-DE" sz="1600">
                <a:latin typeface="Abadi"/>
              </a:rPr>
              <a:t> yes!)</a:t>
            </a:r>
          </a:p>
          <a:p>
            <a:pPr marL="800100" lvl="1" indent="-342900">
              <a:buFont typeface="Wingdings"/>
              <a:buChar char="v"/>
            </a:pPr>
            <a:r>
              <a:rPr lang="de-DE" sz="1600">
                <a:latin typeface="Abadi"/>
              </a:rPr>
              <a:t>15-100 </a:t>
            </a:r>
            <a:r>
              <a:rPr lang="de-DE" sz="1600" err="1">
                <a:latin typeface="Abadi"/>
              </a:rPr>
              <a:t>participants</a:t>
            </a:r>
            <a:endParaRPr lang="de-DE" sz="1600">
              <a:latin typeface="Abadi"/>
            </a:endParaRPr>
          </a:p>
          <a:p>
            <a:pPr marL="800100" lvl="1" indent="-342900">
              <a:buFont typeface="Wingdings"/>
              <a:buChar char="v"/>
            </a:pPr>
            <a:r>
              <a:rPr lang="de-DE" sz="1600">
                <a:latin typeface="Abadi"/>
              </a:rPr>
              <a:t>Mostly not </a:t>
            </a:r>
            <a:r>
              <a:rPr lang="de-DE" sz="1600" err="1">
                <a:latin typeface="Abadi"/>
              </a:rPr>
              <a:t>every</a:t>
            </a:r>
            <a:r>
              <a:rPr lang="de-DE" sz="1600">
                <a:latin typeface="Abadi"/>
              </a:rPr>
              <a:t> week</a:t>
            </a:r>
          </a:p>
          <a:p>
            <a:pPr marL="800100" lvl="1" indent="-342900">
              <a:buFont typeface="Wingdings"/>
              <a:buChar char="v"/>
            </a:pPr>
            <a:r>
              <a:rPr lang="de-DE" sz="1600">
                <a:latin typeface="Abadi"/>
              </a:rPr>
              <a:t>From students for students</a:t>
            </a:r>
          </a:p>
          <a:p>
            <a:pPr marL="800100" indent="-342900">
              <a:buFont typeface="Wingdings"/>
              <a:buChar char="v"/>
            </a:pPr>
            <a:r>
              <a:rPr lang="de-DE" sz="1600" err="1">
                <a:latin typeface="Abadi"/>
              </a:rPr>
              <a:t>You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can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ask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questions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that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you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wouldn‘t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ask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your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professor</a:t>
            </a:r>
            <a:r>
              <a:rPr lang="de-DE" sz="1600">
                <a:latin typeface="Abadi"/>
              </a:rPr>
              <a:t>      → </a:t>
            </a:r>
            <a:r>
              <a:rPr lang="de-DE" sz="1600" err="1">
                <a:latin typeface="Abadi"/>
              </a:rPr>
              <a:t>ask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questions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here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first</a:t>
            </a:r>
            <a:endParaRPr lang="de-DE" sz="1600">
              <a:latin typeface="Abadi"/>
            </a:endParaRPr>
          </a:p>
          <a:p>
            <a:pPr marL="800100" indent="-342900">
              <a:buFont typeface="Wingdings"/>
              <a:buChar char="v"/>
            </a:pPr>
            <a:r>
              <a:rPr lang="de-DE" sz="1600">
                <a:latin typeface="Abadi"/>
              </a:rPr>
              <a:t>The </a:t>
            </a:r>
            <a:r>
              <a:rPr lang="de-DE" sz="1600" err="1">
                <a:latin typeface="Abadi"/>
              </a:rPr>
              <a:t>tutors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help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you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to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understand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the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content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from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the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lecture</a:t>
            </a:r>
            <a:r>
              <a:rPr lang="de-DE" sz="1600">
                <a:latin typeface="Abadi"/>
              </a:rPr>
              <a:t> </a:t>
            </a:r>
          </a:p>
          <a:p>
            <a:pPr marL="800100" indent="-342900">
              <a:buFont typeface="Wingdings"/>
              <a:buChar char="v"/>
            </a:pPr>
            <a:r>
              <a:rPr lang="de-DE" sz="1600">
                <a:latin typeface="Abadi"/>
              </a:rPr>
              <a:t>The </a:t>
            </a:r>
            <a:r>
              <a:rPr lang="de-DE" sz="1600" err="1">
                <a:latin typeface="Abadi"/>
              </a:rPr>
              <a:t>tutors</a:t>
            </a:r>
            <a:r>
              <a:rPr lang="de-DE" sz="1600">
                <a:latin typeface="Abadi"/>
              </a:rPr>
              <a:t> will you </a:t>
            </a:r>
            <a:r>
              <a:rPr lang="de-DE" sz="1600" err="1">
                <a:latin typeface="Abadi"/>
              </a:rPr>
              <a:t>prepare</a:t>
            </a:r>
            <a:r>
              <a:rPr lang="de-DE" sz="1600">
                <a:latin typeface="Abadi"/>
              </a:rPr>
              <a:t> well for </a:t>
            </a:r>
            <a:r>
              <a:rPr lang="de-DE" sz="1600" err="1">
                <a:latin typeface="Abadi"/>
              </a:rPr>
              <a:t>exams</a:t>
            </a:r>
            <a:r>
              <a:rPr lang="de-DE" sz="1600">
                <a:latin typeface="Abadi"/>
              </a:rPr>
              <a:t> and can </a:t>
            </a:r>
            <a:r>
              <a:rPr lang="de-DE" sz="1600" err="1">
                <a:latin typeface="Abadi"/>
              </a:rPr>
              <a:t>give</a:t>
            </a:r>
            <a:r>
              <a:rPr lang="de-DE" sz="1600">
                <a:latin typeface="Abadi"/>
              </a:rPr>
              <a:t> you </a:t>
            </a:r>
            <a:r>
              <a:rPr lang="de-DE" sz="1600" err="1">
                <a:latin typeface="Abadi"/>
              </a:rPr>
              <a:t>tips</a:t>
            </a:r>
            <a:r>
              <a:rPr lang="de-DE" sz="1600">
                <a:latin typeface="Abadi"/>
              </a:rPr>
              <a:t>, </a:t>
            </a:r>
            <a:r>
              <a:rPr lang="de-DE" sz="1600" err="1">
                <a:latin typeface="Abadi"/>
              </a:rPr>
              <a:t>because</a:t>
            </a:r>
            <a:r>
              <a:rPr lang="de-DE" sz="1600">
                <a:latin typeface="Abadi"/>
              </a:rPr>
              <a:t> they did the module </a:t>
            </a:r>
            <a:r>
              <a:rPr lang="de-DE" sz="1600" err="1">
                <a:latin typeface="Abadi"/>
              </a:rPr>
              <a:t>before</a:t>
            </a:r>
            <a:r>
              <a:rPr lang="de-DE" sz="1600">
                <a:latin typeface="Abadi"/>
              </a:rPr>
              <a:t> you</a:t>
            </a:r>
          </a:p>
        </p:txBody>
      </p:sp>
    </p:spTree>
    <p:extLst>
      <p:ext uri="{BB962C8B-B14F-4D97-AF65-F5344CB8AC3E}">
        <p14:creationId xmlns:p14="http://schemas.microsoft.com/office/powerpoint/2010/main" val="2157544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07D66-CA65-B702-B598-CCFD3D33D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E8E74C-81FC-6B3E-D5A8-7993577C2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>
                <a:latin typeface="Abadi"/>
              </a:rPr>
              <a:t>4. </a:t>
            </a:r>
            <a:r>
              <a:rPr lang="de-DE" err="1">
                <a:latin typeface="Abadi"/>
              </a:rPr>
              <a:t>How</a:t>
            </a:r>
            <a:r>
              <a:rPr lang="de-DE">
                <a:latin typeface="Abadi"/>
              </a:rPr>
              <a:t> </a:t>
            </a:r>
            <a:r>
              <a:rPr lang="de-DE" err="1">
                <a:latin typeface="Abadi"/>
              </a:rPr>
              <a:t>to</a:t>
            </a:r>
            <a:r>
              <a:rPr lang="de-DE">
                <a:latin typeface="Abadi"/>
              </a:rPr>
              <a:t> </a:t>
            </a:r>
            <a:r>
              <a:rPr lang="de-DE" err="1">
                <a:latin typeface="Abadi"/>
              </a:rPr>
              <a:t>adress</a:t>
            </a:r>
            <a:r>
              <a:rPr lang="de-DE">
                <a:latin typeface="Abadi"/>
              </a:rPr>
              <a:t> </a:t>
            </a:r>
            <a:r>
              <a:rPr lang="de-DE" err="1">
                <a:latin typeface="Abadi"/>
              </a:rPr>
              <a:t>your</a:t>
            </a:r>
            <a:r>
              <a:rPr lang="de-DE">
                <a:latin typeface="Abadi"/>
              </a:rPr>
              <a:t> </a:t>
            </a:r>
            <a:r>
              <a:rPr lang="de-DE" err="1">
                <a:latin typeface="Abadi"/>
              </a:rPr>
              <a:t>professor</a:t>
            </a:r>
            <a:r>
              <a:rPr lang="de-DE">
                <a:latin typeface="Abadi"/>
              </a:rPr>
              <a:t>​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0B7DE16-1FCC-F4E9-D5B2-58AAD839CF6C}"/>
              </a:ext>
            </a:extLst>
          </p:cNvPr>
          <p:cNvSpPr txBox="1"/>
          <p:nvPr/>
        </p:nvSpPr>
        <p:spPr>
          <a:xfrm>
            <a:off x="2150389" y="1452966"/>
            <a:ext cx="509506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de-DE">
              <a:latin typeface="Abadi" panose="020B060402010402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EFD7615-2730-DBAD-FE38-5FB47564FC76}"/>
              </a:ext>
            </a:extLst>
          </p:cNvPr>
          <p:cNvSpPr txBox="1"/>
          <p:nvPr/>
        </p:nvSpPr>
        <p:spPr>
          <a:xfrm>
            <a:off x="1329028" y="1291070"/>
            <a:ext cx="6737787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de-DE" sz="1600" u="sng">
                <a:latin typeface="Abadi"/>
              </a:rPr>
              <a:t>Chose </a:t>
            </a:r>
            <a:r>
              <a:rPr lang="de-DE" sz="1600" u="sng" err="1">
                <a:latin typeface="Abadi"/>
              </a:rPr>
              <a:t>the</a:t>
            </a:r>
            <a:r>
              <a:rPr lang="de-DE" sz="1600" u="sng">
                <a:latin typeface="Abadi"/>
              </a:rPr>
              <a:t> </a:t>
            </a:r>
            <a:r>
              <a:rPr lang="de-DE" sz="1600" u="sng" err="1">
                <a:latin typeface="Abadi"/>
              </a:rPr>
              <a:t>right</a:t>
            </a:r>
            <a:r>
              <a:rPr lang="de-DE" sz="1600" u="sng">
                <a:latin typeface="Abadi"/>
              </a:rPr>
              <a:t> </a:t>
            </a:r>
            <a:r>
              <a:rPr lang="de-DE" sz="1600" u="sng" err="1">
                <a:latin typeface="Abadi"/>
              </a:rPr>
              <a:t>channel</a:t>
            </a:r>
            <a:endParaRPr lang="de-DE" sz="1600" u="sng">
              <a:latin typeface="Abadi"/>
            </a:endParaRPr>
          </a:p>
          <a:p>
            <a:endParaRPr lang="de-DE" sz="1600">
              <a:latin typeface="Abadi" panose="020B0604020104020204" pitchFamily="34" charset="0"/>
            </a:endParaRPr>
          </a:p>
          <a:p>
            <a:pPr marL="800100" lvl="1" indent="-342900">
              <a:buFont typeface="Wingdings"/>
              <a:buChar char="v"/>
            </a:pPr>
            <a:r>
              <a:rPr lang="de-DE" sz="1600" err="1">
                <a:latin typeface="Abadi"/>
              </a:rPr>
              <a:t>For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questions</a:t>
            </a:r>
            <a:r>
              <a:rPr lang="de-DE" sz="1600">
                <a:latin typeface="Abadi"/>
              </a:rPr>
              <a:t> on </a:t>
            </a:r>
            <a:r>
              <a:rPr lang="de-DE" sz="1600" err="1">
                <a:latin typeface="Abadi"/>
              </a:rPr>
              <a:t>the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modul</a:t>
            </a:r>
            <a:r>
              <a:rPr lang="de-DE" sz="1600">
                <a:latin typeface="Abadi"/>
              </a:rPr>
              <a:t>, </a:t>
            </a:r>
            <a:r>
              <a:rPr lang="de-DE" sz="1600" err="1">
                <a:latin typeface="Abadi"/>
              </a:rPr>
              <a:t>running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of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the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lecture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or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other</a:t>
            </a:r>
            <a:r>
              <a:rPr lang="de-DE" sz="1600">
                <a:latin typeface="Abadi"/>
              </a:rPr>
              <a:t> formal </a:t>
            </a:r>
            <a:r>
              <a:rPr lang="de-DE" sz="1600" err="1">
                <a:latin typeface="Abadi"/>
              </a:rPr>
              <a:t>questions</a:t>
            </a:r>
            <a:r>
              <a:rPr lang="de-DE" sz="1600">
                <a:latin typeface="Abadi"/>
              </a:rPr>
              <a:t>, </a:t>
            </a:r>
            <a:r>
              <a:rPr lang="de-DE" sz="1600" err="1">
                <a:latin typeface="Abadi"/>
              </a:rPr>
              <a:t>ask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the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secretary</a:t>
            </a:r>
            <a:r>
              <a:rPr lang="de-DE" sz="1600">
                <a:latin typeface="Abadi"/>
              </a:rPr>
              <a:t> </a:t>
            </a:r>
          </a:p>
          <a:p>
            <a:pPr marL="742950" lvl="1" indent="-285750">
              <a:buFont typeface="Wingdings"/>
              <a:buChar char="v"/>
            </a:pPr>
            <a:endParaRPr lang="de-DE" sz="1600">
              <a:latin typeface="Abadi" panose="020B0604020104020204" pitchFamily="34" charset="0"/>
            </a:endParaRPr>
          </a:p>
          <a:p>
            <a:pPr marL="800100" lvl="1" indent="-342900">
              <a:buFont typeface="Wingdings"/>
              <a:buChar char="v"/>
            </a:pPr>
            <a:r>
              <a:rPr lang="de-DE" sz="1600" err="1">
                <a:latin typeface="Abadi"/>
              </a:rPr>
              <a:t>For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questions</a:t>
            </a:r>
            <a:r>
              <a:rPr lang="de-DE" sz="1600">
                <a:latin typeface="Abadi"/>
              </a:rPr>
              <a:t> on </a:t>
            </a:r>
            <a:r>
              <a:rPr lang="de-DE" sz="1600" err="1">
                <a:latin typeface="Abadi"/>
              </a:rPr>
              <a:t>the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lectures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content</a:t>
            </a:r>
            <a:r>
              <a:rPr lang="de-DE" sz="1600">
                <a:latin typeface="Abadi"/>
              </a:rPr>
              <a:t>: </a:t>
            </a:r>
            <a:r>
              <a:rPr lang="de-DE" sz="1600" err="1">
                <a:latin typeface="Abadi"/>
              </a:rPr>
              <a:t>aks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fellow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students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first</a:t>
            </a:r>
            <a:r>
              <a:rPr lang="de-DE" sz="1600">
                <a:latin typeface="Abadi"/>
              </a:rPr>
              <a:t>, </a:t>
            </a:r>
            <a:r>
              <a:rPr lang="de-DE" sz="1600" err="1">
                <a:latin typeface="Abadi"/>
              </a:rPr>
              <a:t>then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ask</a:t>
            </a:r>
            <a:r>
              <a:rPr lang="de-DE" sz="1600">
                <a:latin typeface="Abadi"/>
              </a:rPr>
              <a:t> </a:t>
            </a:r>
            <a:r>
              <a:rPr lang="de-DE" sz="1600" err="1">
                <a:latin typeface="Abadi"/>
              </a:rPr>
              <a:t>your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professor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or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teaching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associate</a:t>
            </a:r>
            <a:endParaRPr lang="de-DE" sz="1600">
              <a:latin typeface="Abadi"/>
            </a:endParaRPr>
          </a:p>
          <a:p>
            <a:pPr marL="800100" lvl="1" indent="-342900">
              <a:buFont typeface="Wingdings"/>
              <a:buChar char="v"/>
            </a:pPr>
            <a:endParaRPr lang="de-DE" sz="1600">
              <a:latin typeface="Abadi" panose="020B0604020104020204" pitchFamily="34" charset="0"/>
            </a:endParaRPr>
          </a:p>
          <a:p>
            <a:pPr marL="800100" lvl="1" indent="-342900">
              <a:buFont typeface="Wingdings"/>
              <a:buChar char="v"/>
            </a:pPr>
            <a:r>
              <a:rPr lang="de-DE" sz="1600" err="1">
                <a:latin typeface="Abadi"/>
              </a:rPr>
              <a:t>Some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professors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have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office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hours</a:t>
            </a:r>
            <a:r>
              <a:rPr lang="de-DE" sz="1600">
                <a:latin typeface="Abadi"/>
              </a:rPr>
              <a:t> (</a:t>
            </a:r>
            <a:r>
              <a:rPr lang="de-DE" sz="1600" err="1">
                <a:latin typeface="Abadi"/>
              </a:rPr>
              <a:t>MyStudy</a:t>
            </a:r>
            <a:r>
              <a:rPr lang="de-DE" sz="1600">
                <a:latin typeface="Abadi"/>
              </a:rPr>
              <a:t>) </a:t>
            </a:r>
            <a:r>
              <a:rPr lang="de-DE" sz="1600" err="1">
                <a:latin typeface="Abadi"/>
              </a:rPr>
              <a:t>or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you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can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ask</a:t>
            </a:r>
            <a:r>
              <a:rPr lang="de-DE" sz="1600">
                <a:latin typeface="Abadi"/>
              </a:rPr>
              <a:t> after </a:t>
            </a:r>
            <a:r>
              <a:rPr lang="de-DE" sz="1600" err="1">
                <a:latin typeface="Abadi"/>
              </a:rPr>
              <a:t>the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lecture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has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ended</a:t>
            </a:r>
            <a:r>
              <a:rPr lang="de-DE" sz="1600">
                <a:latin typeface="Abadi"/>
              </a:rPr>
              <a:t> </a:t>
            </a:r>
          </a:p>
          <a:p>
            <a:pPr marL="742950" lvl="1" indent="-285750">
              <a:buFont typeface="Wingdings"/>
              <a:buChar char="v"/>
            </a:pPr>
            <a:endParaRPr lang="de-DE" sz="1600">
              <a:latin typeface="Abadi" panose="020B0604020104020204" pitchFamily="34" charset="0"/>
            </a:endParaRPr>
          </a:p>
          <a:p>
            <a:pPr marL="800100" lvl="1" indent="-342900">
              <a:buFont typeface="Wingdings"/>
              <a:buChar char="v"/>
            </a:pPr>
            <a:r>
              <a:rPr lang="de-DE" sz="1600">
                <a:latin typeface="Abadi"/>
              </a:rPr>
              <a:t>Every </a:t>
            </a:r>
            <a:r>
              <a:rPr lang="de-DE" sz="1600" err="1">
                <a:latin typeface="Abadi"/>
              </a:rPr>
              <a:t>professor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has</a:t>
            </a:r>
            <a:r>
              <a:rPr lang="de-DE" sz="1600">
                <a:latin typeface="Abadi"/>
              </a:rPr>
              <a:t> a Leuphana E-Mail </a:t>
            </a:r>
            <a:r>
              <a:rPr lang="de-DE" sz="1600" err="1">
                <a:latin typeface="Abadi"/>
              </a:rPr>
              <a:t>adress</a:t>
            </a:r>
            <a:endParaRPr lang="de-DE" sz="1600">
              <a:latin typeface="Abadi"/>
            </a:endParaRPr>
          </a:p>
          <a:p>
            <a:pPr marL="800100" lvl="1" indent="-342900">
              <a:buFont typeface="Wingdings"/>
              <a:buChar char="v"/>
            </a:pPr>
            <a:endParaRPr lang="de-DE" sz="1600">
              <a:latin typeface="Abadi" panose="020B0604020104020204" pitchFamily="34" charset="0"/>
            </a:endParaRPr>
          </a:p>
          <a:p>
            <a:pPr marL="800100" lvl="1" indent="-342900">
              <a:buFont typeface="Wingdings"/>
              <a:buChar char="v"/>
            </a:pPr>
            <a:r>
              <a:rPr lang="de-DE" sz="1600" err="1">
                <a:latin typeface="Abadi"/>
              </a:rPr>
              <a:t>You</a:t>
            </a:r>
            <a:r>
              <a:rPr lang="de-DE" sz="1600">
                <a:latin typeface="Abadi"/>
              </a:rPr>
              <a:t> find all </a:t>
            </a:r>
            <a:r>
              <a:rPr lang="de-DE" sz="1600" err="1">
                <a:latin typeface="Abadi"/>
              </a:rPr>
              <a:t>of</a:t>
            </a:r>
            <a:r>
              <a:rPr lang="de-DE" sz="1600">
                <a:latin typeface="Abadi"/>
              </a:rPr>
              <a:t> </a:t>
            </a:r>
            <a:r>
              <a:rPr lang="de-DE" sz="1600" err="1">
                <a:latin typeface="Abadi"/>
              </a:rPr>
              <a:t>this</a:t>
            </a:r>
            <a:r>
              <a:rPr lang="de-DE" sz="1600">
                <a:latin typeface="Abadi"/>
              </a:rPr>
              <a:t> on </a:t>
            </a:r>
            <a:r>
              <a:rPr lang="de-DE" sz="1600" err="1">
                <a:latin typeface="Abadi"/>
              </a:rPr>
              <a:t>MyStudy</a:t>
            </a:r>
            <a:r>
              <a:rPr lang="de-DE" sz="1600">
                <a:latin typeface="Abadi"/>
              </a:rPr>
              <a:t> (</a:t>
            </a:r>
            <a:r>
              <a:rPr lang="de-DE" sz="1600" err="1">
                <a:latin typeface="Abadi"/>
              </a:rPr>
              <a:t>Persons</a:t>
            </a:r>
            <a:r>
              <a:rPr lang="de-DE" sz="1600">
                <a:latin typeface="Abadi"/>
              </a:rPr>
              <a:t>)</a:t>
            </a:r>
          </a:p>
          <a:p>
            <a:pPr marL="800100" lvl="1" indent="-342900">
              <a:buFont typeface="Wingdings"/>
              <a:buChar char="v"/>
            </a:pPr>
            <a:endParaRPr lang="de-DE" sz="160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792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C16D3-3F5E-4AAB-5EF1-09CF15E5C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85A5B3-FAB2-2D16-1D1A-51CB9F899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00" y="431493"/>
            <a:ext cx="7200000" cy="2945307"/>
          </a:xfrm>
        </p:spPr>
        <p:txBody>
          <a:bodyPr>
            <a:normAutofit/>
          </a:bodyPr>
          <a:lstStyle/>
          <a:p>
            <a:pPr algn="ctr"/>
            <a:r>
              <a:rPr lang="de-DE" err="1">
                <a:latin typeface="Abadi"/>
              </a:rPr>
              <a:t>If</a:t>
            </a:r>
            <a:r>
              <a:rPr lang="de-DE">
                <a:latin typeface="Abadi"/>
              </a:rPr>
              <a:t> </a:t>
            </a:r>
            <a:r>
              <a:rPr lang="de-DE" err="1">
                <a:latin typeface="Abadi"/>
              </a:rPr>
              <a:t>you</a:t>
            </a:r>
            <a:r>
              <a:rPr lang="de-DE">
                <a:latin typeface="Abadi"/>
              </a:rPr>
              <a:t> </a:t>
            </a:r>
            <a:r>
              <a:rPr lang="de-DE" err="1">
                <a:latin typeface="Abadi"/>
              </a:rPr>
              <a:t>want</a:t>
            </a:r>
            <a:r>
              <a:rPr lang="de-DE">
                <a:latin typeface="Abadi"/>
              </a:rPr>
              <a:t> </a:t>
            </a:r>
            <a:r>
              <a:rPr lang="de-DE" err="1">
                <a:latin typeface="Abadi"/>
              </a:rPr>
              <a:t>to</a:t>
            </a:r>
            <a:r>
              <a:rPr lang="de-DE">
                <a:latin typeface="Abadi"/>
              </a:rPr>
              <a:t> </a:t>
            </a:r>
            <a:r>
              <a:rPr lang="de-DE" err="1">
                <a:latin typeface="Abadi"/>
              </a:rPr>
              <a:t>contact</a:t>
            </a:r>
            <a:r>
              <a:rPr lang="de-DE">
                <a:latin typeface="Abadi"/>
              </a:rPr>
              <a:t> </a:t>
            </a:r>
            <a:r>
              <a:rPr lang="de-DE" err="1">
                <a:latin typeface="Abadi"/>
              </a:rPr>
              <a:t>you</a:t>
            </a:r>
            <a:r>
              <a:rPr lang="de-DE">
                <a:latin typeface="Abadi"/>
              </a:rPr>
              <a:t> Professor via Email​ </a:t>
            </a:r>
            <a:r>
              <a:rPr lang="de-DE" err="1">
                <a:latin typeface="Abadi"/>
              </a:rPr>
              <a:t>please</a:t>
            </a:r>
            <a:r>
              <a:rPr lang="de-DE">
                <a:latin typeface="Abadi"/>
              </a:rPr>
              <a:t> </a:t>
            </a:r>
            <a:r>
              <a:rPr lang="de-DE" err="1">
                <a:latin typeface="Abadi"/>
              </a:rPr>
              <a:t>use</a:t>
            </a:r>
            <a:r>
              <a:rPr lang="de-DE">
                <a:latin typeface="Abadi"/>
              </a:rPr>
              <a:t> </a:t>
            </a:r>
            <a:r>
              <a:rPr lang="de-DE" err="1">
                <a:latin typeface="Abadi"/>
              </a:rPr>
              <a:t>your</a:t>
            </a:r>
            <a:r>
              <a:rPr lang="de-DE">
                <a:latin typeface="Abadi"/>
              </a:rPr>
              <a:t> </a:t>
            </a:r>
            <a:r>
              <a:rPr lang="de-DE" err="1">
                <a:latin typeface="Abadi"/>
              </a:rPr>
              <a:t>stud</a:t>
            </a:r>
            <a:r>
              <a:rPr lang="de-DE">
                <a:latin typeface="Abadi"/>
              </a:rPr>
              <a:t>-Mail:</a:t>
            </a:r>
            <a:br>
              <a:rPr lang="de-DE">
                <a:latin typeface="Abadi"/>
              </a:rPr>
            </a:br>
            <a:br>
              <a:rPr lang="de-DE">
                <a:latin typeface="Abadi" panose="020B0604020104020204" pitchFamily="34" charset="0"/>
              </a:rPr>
            </a:br>
            <a:endParaRPr lang="de-DE">
              <a:latin typeface="Abadi" panose="020B0604020104020204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4DBA684-DC9B-C0CF-B6ED-276A03797E88}"/>
              </a:ext>
            </a:extLst>
          </p:cNvPr>
          <p:cNvSpPr txBox="1"/>
          <p:nvPr/>
        </p:nvSpPr>
        <p:spPr>
          <a:xfrm>
            <a:off x="1340122" y="2991785"/>
            <a:ext cx="6460855" cy="76944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3000">
                <a:latin typeface="Abadi"/>
              </a:rPr>
              <a:t>firstname.lastname@stud.leuphana.de</a:t>
            </a:r>
          </a:p>
          <a:p>
            <a:pPr algn="l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8447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67B60-2B88-9E92-8319-1972BE255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3E6CF5-F727-D37C-4C86-988689669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>
                <a:latin typeface="Abadi" panose="020B0604020104020204" pitchFamily="34" charset="0"/>
              </a:rPr>
              <a:t>​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C3DAB9B-0D2F-7C6A-993B-AF5CCA37C0D0}"/>
              </a:ext>
            </a:extLst>
          </p:cNvPr>
          <p:cNvSpPr txBox="1"/>
          <p:nvPr/>
        </p:nvSpPr>
        <p:spPr>
          <a:xfrm>
            <a:off x="1257300" y="1493044"/>
            <a:ext cx="7086600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800">
                <a:latin typeface="Abadi" panose="020B0604020104020204" pitchFamily="34" charset="0"/>
              </a:rPr>
              <a:t>2.  </a:t>
            </a:r>
            <a:r>
              <a:rPr lang="de-DE" sz="1800" u="sng" err="1">
                <a:latin typeface="Abadi" panose="020B0604020104020204" pitchFamily="34" charset="0"/>
              </a:rPr>
              <a:t>Subject</a:t>
            </a:r>
            <a:r>
              <a:rPr lang="de-DE" sz="1800" u="sng">
                <a:latin typeface="Abadi" panose="020B0604020104020204" pitchFamily="34" charset="0"/>
              </a:rPr>
              <a:t> </a:t>
            </a:r>
            <a:r>
              <a:rPr lang="de-DE" sz="1800" u="sng" err="1">
                <a:latin typeface="Abadi" panose="020B0604020104020204" pitchFamily="34" charset="0"/>
              </a:rPr>
              <a:t>line</a:t>
            </a:r>
            <a:r>
              <a:rPr lang="de-DE" sz="1800" u="sng">
                <a:latin typeface="Abadi" panose="020B0604020104020204" pitchFamily="34" charset="0"/>
              </a:rPr>
              <a:t>, formal </a:t>
            </a:r>
            <a:r>
              <a:rPr lang="de-DE" sz="1800" u="sng" err="1">
                <a:latin typeface="Abadi" panose="020B0604020104020204" pitchFamily="34" charset="0"/>
              </a:rPr>
              <a:t>greeting</a:t>
            </a:r>
            <a:r>
              <a:rPr lang="de-DE" sz="1800" u="sng">
                <a:latin typeface="Abadi" panose="020B0604020104020204" pitchFamily="34" charset="0"/>
              </a:rPr>
              <a:t> and </a:t>
            </a:r>
            <a:r>
              <a:rPr lang="de-DE" sz="1800" u="sng" err="1">
                <a:latin typeface="Abadi" panose="020B0604020104020204" pitchFamily="34" charset="0"/>
              </a:rPr>
              <a:t>language</a:t>
            </a:r>
            <a:endParaRPr lang="de-DE" sz="1800" u="sng">
              <a:latin typeface="Abadi" panose="020B0604020104020204" pitchFamily="34" charset="0"/>
            </a:endParaRPr>
          </a:p>
          <a:p>
            <a:endParaRPr lang="de-DE" sz="1800">
              <a:latin typeface="Abadi" panose="020B0604020104020204" pitchFamily="34" charset="0"/>
            </a:endParaRPr>
          </a:p>
          <a:p>
            <a:pPr marL="742950" lvl="1" indent="-285750">
              <a:buFont typeface="Wingdings"/>
              <a:buChar char="v"/>
            </a:pPr>
            <a:r>
              <a:rPr lang="de-DE" sz="1800" err="1">
                <a:latin typeface="Abadi" panose="020B0604020104020204" pitchFamily="34" charset="0"/>
              </a:rPr>
              <a:t>Have</a:t>
            </a:r>
            <a:r>
              <a:rPr lang="de-DE" sz="1800">
                <a:latin typeface="Abadi" panose="020B0604020104020204" pitchFamily="34" charset="0"/>
              </a:rPr>
              <a:t> a </a:t>
            </a:r>
            <a:r>
              <a:rPr lang="de-DE" sz="1800" err="1">
                <a:latin typeface="Abadi" panose="020B0604020104020204" pitchFamily="34" charset="0"/>
              </a:rPr>
              <a:t>clear</a:t>
            </a:r>
            <a:r>
              <a:rPr lang="de-DE" sz="1800">
                <a:latin typeface="Abadi" panose="020B0604020104020204" pitchFamily="34" charset="0"/>
              </a:rPr>
              <a:t> and </a:t>
            </a:r>
            <a:r>
              <a:rPr lang="de-DE" sz="1800" err="1">
                <a:latin typeface="Abadi" panose="020B0604020104020204" pitchFamily="34" charset="0"/>
              </a:rPr>
              <a:t>precise</a:t>
            </a:r>
            <a:r>
              <a:rPr lang="de-DE" sz="1800">
                <a:latin typeface="Abadi" panose="020B0604020104020204" pitchFamily="34" charset="0"/>
              </a:rPr>
              <a:t> </a:t>
            </a:r>
            <a:r>
              <a:rPr lang="de-DE" sz="1800" err="1">
                <a:latin typeface="Abadi" panose="020B0604020104020204" pitchFamily="34" charset="0"/>
              </a:rPr>
              <a:t>subject</a:t>
            </a:r>
            <a:r>
              <a:rPr lang="de-DE" sz="1800">
                <a:latin typeface="Abadi" panose="020B0604020104020204" pitchFamily="34" charset="0"/>
              </a:rPr>
              <a:t> </a:t>
            </a:r>
            <a:r>
              <a:rPr lang="de-DE" sz="1800" err="1">
                <a:latin typeface="Abadi" panose="020B0604020104020204" pitchFamily="34" charset="0"/>
              </a:rPr>
              <a:t>line</a:t>
            </a:r>
            <a:endParaRPr lang="de-DE" sz="1800">
              <a:latin typeface="Abadi" panose="020B0604020104020204" pitchFamily="34" charset="0"/>
            </a:endParaRPr>
          </a:p>
          <a:p>
            <a:pPr marL="1200150" lvl="2" indent="-285750">
              <a:buFont typeface="Wingdings"/>
              <a:buChar char="v"/>
            </a:pPr>
            <a:r>
              <a:rPr lang="de-DE">
                <a:latin typeface="Abadi" panose="020B0604020104020204" pitchFamily="34" charset="0"/>
              </a:rPr>
              <a:t>Question </a:t>
            </a:r>
            <a:r>
              <a:rPr lang="de-DE" err="1">
                <a:latin typeface="Abadi" panose="020B0604020104020204" pitchFamily="34" charset="0"/>
              </a:rPr>
              <a:t>about</a:t>
            </a:r>
            <a:r>
              <a:rPr lang="de-DE">
                <a:latin typeface="Abadi" panose="020B0604020104020204" pitchFamily="34" charset="0"/>
              </a:rPr>
              <a:t> [Course Title] </a:t>
            </a:r>
            <a:r>
              <a:rPr lang="de-DE" err="1">
                <a:latin typeface="Abadi" panose="020B0604020104020204" pitchFamily="34" charset="0"/>
              </a:rPr>
              <a:t>assignment</a:t>
            </a:r>
            <a:r>
              <a:rPr lang="de-DE">
                <a:latin typeface="Abadi" panose="020B0604020104020204" pitchFamily="34" charset="0"/>
              </a:rPr>
              <a:t>” </a:t>
            </a:r>
            <a:r>
              <a:rPr lang="de-DE" err="1">
                <a:latin typeface="Abadi" panose="020B0604020104020204" pitchFamily="34" charset="0"/>
              </a:rPr>
              <a:t>or</a:t>
            </a:r>
            <a:r>
              <a:rPr lang="de-DE">
                <a:latin typeface="Abadi" panose="020B0604020104020204" pitchFamily="34" charset="0"/>
              </a:rPr>
              <a:t> “Request </a:t>
            </a:r>
            <a:r>
              <a:rPr lang="de-DE" err="1">
                <a:latin typeface="Abadi" panose="020B0604020104020204" pitchFamily="34" charset="0"/>
              </a:rPr>
              <a:t>for</a:t>
            </a:r>
            <a:r>
              <a:rPr lang="de-DE">
                <a:latin typeface="Abadi" panose="020B0604020104020204" pitchFamily="34" charset="0"/>
              </a:rPr>
              <a:t> </a:t>
            </a:r>
            <a:r>
              <a:rPr lang="de-DE" err="1">
                <a:latin typeface="Abadi" panose="020B0604020104020204" pitchFamily="34" charset="0"/>
              </a:rPr>
              <a:t>appointment</a:t>
            </a:r>
            <a:r>
              <a:rPr lang="de-DE">
                <a:latin typeface="Abadi" panose="020B0604020104020204" pitchFamily="34" charset="0"/>
              </a:rPr>
              <a:t> </a:t>
            </a:r>
            <a:r>
              <a:rPr lang="de-DE" err="1">
                <a:latin typeface="Abadi" panose="020B0604020104020204" pitchFamily="34" charset="0"/>
              </a:rPr>
              <a:t>during</a:t>
            </a:r>
            <a:r>
              <a:rPr lang="de-DE">
                <a:latin typeface="Abadi" panose="020B0604020104020204" pitchFamily="34" charset="0"/>
              </a:rPr>
              <a:t> </a:t>
            </a:r>
            <a:r>
              <a:rPr lang="de-DE" err="1">
                <a:latin typeface="Abadi" panose="020B0604020104020204" pitchFamily="34" charset="0"/>
              </a:rPr>
              <a:t>office</a:t>
            </a:r>
            <a:r>
              <a:rPr lang="de-DE">
                <a:latin typeface="Abadi" panose="020B0604020104020204" pitchFamily="34" charset="0"/>
              </a:rPr>
              <a:t> </a:t>
            </a:r>
            <a:r>
              <a:rPr lang="de-DE" err="1">
                <a:latin typeface="Abadi" panose="020B0604020104020204" pitchFamily="34" charset="0"/>
              </a:rPr>
              <a:t>hours</a:t>
            </a:r>
            <a:r>
              <a:rPr lang="de-DE">
                <a:latin typeface="Abadi" panose="020B0604020104020204" pitchFamily="34" charset="0"/>
              </a:rPr>
              <a:t>.”</a:t>
            </a:r>
          </a:p>
          <a:p>
            <a:pPr marL="742950" lvl="1" indent="-285750">
              <a:buFont typeface="Wingdings"/>
              <a:buChar char="v"/>
            </a:pPr>
            <a:endParaRPr lang="de-DE">
              <a:latin typeface="Abadi" panose="020B0604020104020204" pitchFamily="34" charset="0"/>
            </a:endParaRPr>
          </a:p>
          <a:p>
            <a:pPr marL="742950" lvl="1" indent="-285750">
              <a:buFont typeface="Wingdings"/>
              <a:buChar char="v"/>
            </a:pPr>
            <a:r>
              <a:rPr lang="de-DE" sz="1800">
                <a:latin typeface="Abadi" panose="020B0604020104020204" pitchFamily="34" charset="0"/>
              </a:rPr>
              <a:t>“Dear </a:t>
            </a:r>
            <a:r>
              <a:rPr lang="de-DE" sz="1800" baseline="0">
                <a:latin typeface="Abadi" panose="020B0604020104020204" pitchFamily="34" charset="0"/>
              </a:rPr>
              <a:t>Professor</a:t>
            </a:r>
            <a:r>
              <a:rPr lang="de-DE" sz="1800">
                <a:latin typeface="Abadi" panose="020B0604020104020204" pitchFamily="34" charset="0"/>
              </a:rPr>
              <a:t> [Last Name],”</a:t>
            </a:r>
            <a:endParaRPr lang="de-DE" sz="1800" u="sng">
              <a:latin typeface="Abadi" panose="020B0604020104020204" pitchFamily="34" charset="0"/>
            </a:endParaRPr>
          </a:p>
          <a:p>
            <a:pPr marL="1200150" lvl="2" indent="-285750">
              <a:buFont typeface="Wingdings"/>
              <a:buChar char="v"/>
            </a:pPr>
            <a:r>
              <a:rPr lang="de-DE" err="1">
                <a:latin typeface="Abadi" panose="020B0604020104020204" pitchFamily="34" charset="0"/>
              </a:rPr>
              <a:t>If</a:t>
            </a:r>
            <a:r>
              <a:rPr lang="de-DE">
                <a:latin typeface="Abadi" panose="020B0604020104020204" pitchFamily="34" charset="0"/>
              </a:rPr>
              <a:t> </a:t>
            </a:r>
            <a:r>
              <a:rPr lang="de-DE" err="1">
                <a:latin typeface="Abadi" panose="020B0604020104020204" pitchFamily="34" charset="0"/>
              </a:rPr>
              <a:t>they</a:t>
            </a:r>
            <a:r>
              <a:rPr lang="de-DE">
                <a:latin typeface="Abadi" panose="020B0604020104020204" pitchFamily="34" charset="0"/>
              </a:rPr>
              <a:t> </a:t>
            </a:r>
            <a:r>
              <a:rPr lang="de-DE" err="1">
                <a:latin typeface="Abadi" panose="020B0604020104020204" pitchFamily="34" charset="0"/>
              </a:rPr>
              <a:t>don’t</a:t>
            </a:r>
            <a:r>
              <a:rPr lang="de-DE">
                <a:latin typeface="Abadi" panose="020B0604020104020204" pitchFamily="34" charset="0"/>
              </a:rPr>
              <a:t> hold a </a:t>
            </a:r>
            <a:r>
              <a:rPr lang="de-DE" err="1">
                <a:latin typeface="Abadi" panose="020B0604020104020204" pitchFamily="34" charset="0"/>
              </a:rPr>
              <a:t>professorship</a:t>
            </a:r>
            <a:r>
              <a:rPr lang="de-DE">
                <a:latin typeface="Abadi" panose="020B0604020104020204" pitchFamily="34" charset="0"/>
              </a:rPr>
              <a:t>: “Dear Dr. [Last Name],“</a:t>
            </a:r>
          </a:p>
          <a:p>
            <a:pPr marL="1200150" lvl="2" indent="-285750">
              <a:buFont typeface="Wingdings"/>
              <a:buChar char="v"/>
            </a:pPr>
            <a:r>
              <a:rPr lang="de-DE" err="1">
                <a:latin typeface="Abadi" panose="020B0604020104020204" pitchFamily="34" charset="0"/>
              </a:rPr>
              <a:t>You</a:t>
            </a:r>
            <a:r>
              <a:rPr lang="de-DE">
                <a:latin typeface="Abadi" panose="020B0604020104020204" pitchFamily="34" charset="0"/>
              </a:rPr>
              <a:t> can </a:t>
            </a:r>
            <a:r>
              <a:rPr lang="de-DE" err="1">
                <a:latin typeface="Abadi" panose="020B0604020104020204" pitchFamily="34" charset="0"/>
              </a:rPr>
              <a:t>see</a:t>
            </a:r>
            <a:r>
              <a:rPr lang="de-DE">
                <a:latin typeface="Abadi" panose="020B0604020104020204" pitchFamily="34" charset="0"/>
              </a:rPr>
              <a:t> </a:t>
            </a:r>
            <a:r>
              <a:rPr lang="de-DE" err="1">
                <a:latin typeface="Abadi" panose="020B0604020104020204" pitchFamily="34" charset="0"/>
              </a:rPr>
              <a:t>this</a:t>
            </a:r>
            <a:r>
              <a:rPr lang="de-DE">
                <a:latin typeface="Abadi" panose="020B0604020104020204" pitchFamily="34" charset="0"/>
              </a:rPr>
              <a:t> on MyStudy </a:t>
            </a:r>
            <a:r>
              <a:rPr lang="de-DE" err="1">
                <a:latin typeface="Abadi" panose="020B0604020104020204" pitchFamily="34" charset="0"/>
              </a:rPr>
              <a:t>or</a:t>
            </a:r>
            <a:r>
              <a:rPr lang="de-DE">
                <a:latin typeface="Abadi" panose="020B0604020104020204" pitchFamily="34" charset="0"/>
              </a:rPr>
              <a:t> the Leuphana </a:t>
            </a:r>
            <a:r>
              <a:rPr lang="de-DE" err="1">
                <a:latin typeface="Abadi" panose="020B0604020104020204" pitchFamily="34" charset="0"/>
              </a:rPr>
              <a:t>website</a:t>
            </a:r>
            <a:endParaRPr lang="de-DE">
              <a:latin typeface="Abadi" panose="020B0604020104020204" pitchFamily="34" charset="0"/>
            </a:endParaRPr>
          </a:p>
          <a:p>
            <a:pPr marL="742950" lvl="1" indent="-285750">
              <a:buFont typeface="Wingdings"/>
              <a:buChar char="v"/>
            </a:pPr>
            <a:endParaRPr lang="de-DE">
              <a:latin typeface="Abadi" panose="020B0604020104020204" pitchFamily="34" charset="0"/>
            </a:endParaRPr>
          </a:p>
          <a:p>
            <a:pPr marL="742950" lvl="1" indent="-285750">
              <a:buFont typeface="Wingdings"/>
              <a:buChar char="v"/>
            </a:pPr>
            <a:r>
              <a:rPr lang="de-DE" sz="1800">
                <a:latin typeface="Abadi" panose="020B0604020104020204" pitchFamily="34" charset="0"/>
              </a:rPr>
              <a:t>Keep an </a:t>
            </a:r>
            <a:r>
              <a:rPr lang="de-DE" sz="1800" err="1">
                <a:latin typeface="Abadi" panose="020B0604020104020204" pitchFamily="34" charset="0"/>
              </a:rPr>
              <a:t>eye</a:t>
            </a:r>
            <a:r>
              <a:rPr lang="de-DE" sz="1800">
                <a:latin typeface="Abadi" panose="020B0604020104020204" pitchFamily="34" charset="0"/>
              </a:rPr>
              <a:t> one </a:t>
            </a:r>
            <a:r>
              <a:rPr lang="de-DE" sz="1800" err="1">
                <a:latin typeface="Abadi" panose="020B0604020104020204" pitchFamily="34" charset="0"/>
              </a:rPr>
              <a:t>your</a:t>
            </a:r>
            <a:r>
              <a:rPr lang="de-DE" sz="1800">
                <a:latin typeface="Abadi" panose="020B0604020104020204" pitchFamily="34" charset="0"/>
              </a:rPr>
              <a:t> </a:t>
            </a:r>
            <a:r>
              <a:rPr lang="de-DE" sz="1800" err="1">
                <a:latin typeface="Abadi" panose="020B0604020104020204" pitchFamily="34" charset="0"/>
              </a:rPr>
              <a:t>grammar</a:t>
            </a:r>
            <a:r>
              <a:rPr lang="de-DE" sz="1800">
                <a:latin typeface="Abadi" panose="020B0604020104020204" pitchFamily="34" charset="0"/>
              </a:rPr>
              <a:t> and </a:t>
            </a:r>
            <a:r>
              <a:rPr lang="de-DE" sz="1800" err="1">
                <a:latin typeface="Abadi" panose="020B0604020104020204" pitchFamily="34" charset="0"/>
              </a:rPr>
              <a:t>spelling</a:t>
            </a:r>
            <a:endParaRPr lang="de-DE" sz="1800">
              <a:latin typeface="Abadi" panose="020B0604020104020204" pitchFamily="34" charset="0"/>
            </a:endParaRPr>
          </a:p>
          <a:p>
            <a:pPr marL="742950" lvl="1" indent="-285750">
              <a:buFont typeface="Wingdings"/>
              <a:buChar char="v"/>
            </a:pPr>
            <a:endParaRPr lang="de-DE" sz="1800">
              <a:latin typeface="Abadi" panose="020B0604020104020204" pitchFamily="34" charset="0"/>
            </a:endParaRPr>
          </a:p>
          <a:p>
            <a:pPr marL="285750" indent="-285750" algn="ctr">
              <a:buFont typeface="Wingdings"/>
              <a:buChar char="v"/>
            </a:pPr>
            <a:endParaRPr lang="de-DE" sz="180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59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74AFC-6375-5D6E-4EAE-2467D3CAE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85D368-D220-904F-69BA-38461E771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>
                <a:latin typeface="Abadi"/>
              </a:rPr>
              <a:t>​</a:t>
            </a:r>
            <a:endParaRPr lang="de-DE">
              <a:latin typeface="Abadi" panose="020B0604020104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0317897-439F-F2FA-C01E-7A8D05F82E9D}"/>
              </a:ext>
            </a:extLst>
          </p:cNvPr>
          <p:cNvSpPr txBox="1"/>
          <p:nvPr/>
        </p:nvSpPr>
        <p:spPr>
          <a:xfrm>
            <a:off x="1257300" y="1493044"/>
            <a:ext cx="708660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800">
                <a:latin typeface="Abadi" panose="020B0604020104020204" pitchFamily="34" charset="0"/>
              </a:rPr>
              <a:t>3.  </a:t>
            </a:r>
            <a:r>
              <a:rPr lang="de-DE" sz="1800" u="sng" err="1">
                <a:latin typeface="Abadi" panose="020B0604020104020204" pitchFamily="34" charset="0"/>
              </a:rPr>
              <a:t>Introduce</a:t>
            </a:r>
            <a:r>
              <a:rPr lang="de-DE" sz="1800" u="sng">
                <a:latin typeface="Abadi" panose="020B0604020104020204" pitchFamily="34" charset="0"/>
              </a:rPr>
              <a:t> </a:t>
            </a:r>
            <a:r>
              <a:rPr lang="de-DE" sz="1800" u="sng" err="1">
                <a:latin typeface="Abadi" panose="020B0604020104020204" pitchFamily="34" charset="0"/>
              </a:rPr>
              <a:t>yourself</a:t>
            </a:r>
            <a:r>
              <a:rPr lang="de-DE" sz="1800" u="sng">
                <a:latin typeface="Abadi" panose="020B0604020104020204" pitchFamily="34" charset="0"/>
              </a:rPr>
              <a:t> </a:t>
            </a:r>
            <a:r>
              <a:rPr lang="de-DE" sz="1800" u="sng" err="1">
                <a:latin typeface="Abadi" panose="020B0604020104020204" pitchFamily="34" charset="0"/>
              </a:rPr>
              <a:t>briefly</a:t>
            </a:r>
            <a:endParaRPr lang="de-DE" sz="1800" err="1">
              <a:latin typeface="Abadi" panose="020B0604020104020204" pitchFamily="34" charset="0"/>
            </a:endParaRPr>
          </a:p>
          <a:p>
            <a:r>
              <a:rPr lang="de-DE" sz="1800">
                <a:latin typeface="Abadi" panose="020B0604020104020204" pitchFamily="34" charset="0"/>
              </a:rPr>
              <a:t>    </a:t>
            </a:r>
            <a:endParaRPr lang="de-DE" sz="1800" b="1">
              <a:latin typeface="Abadi" panose="020B0604020104020204" pitchFamily="34" charset="0"/>
            </a:endParaRPr>
          </a:p>
          <a:p>
            <a:pPr marL="742950" lvl="1" indent="-285750">
              <a:buFont typeface="Wingdings"/>
              <a:buChar char="v"/>
            </a:pPr>
            <a:r>
              <a:rPr lang="de-DE" sz="1800">
                <a:latin typeface="Abadi" panose="020B0604020104020204" pitchFamily="34" charset="0"/>
              </a:rPr>
              <a:t>State </a:t>
            </a:r>
            <a:r>
              <a:rPr lang="de-DE" sz="1800" err="1">
                <a:latin typeface="Abadi" panose="020B0604020104020204" pitchFamily="34" charset="0"/>
              </a:rPr>
              <a:t>your</a:t>
            </a:r>
            <a:r>
              <a:rPr lang="de-DE" sz="1800">
                <a:latin typeface="Abadi" panose="020B0604020104020204" pitchFamily="34" charset="0"/>
              </a:rPr>
              <a:t> </a:t>
            </a:r>
            <a:r>
              <a:rPr lang="de-DE" sz="1800" err="1">
                <a:latin typeface="Abadi" panose="020B0604020104020204" pitchFamily="34" charset="0"/>
              </a:rPr>
              <a:t>name</a:t>
            </a:r>
            <a:r>
              <a:rPr lang="de-DE" sz="1800">
                <a:latin typeface="Abadi" panose="020B0604020104020204" pitchFamily="34" charset="0"/>
              </a:rPr>
              <a:t>, </a:t>
            </a:r>
            <a:r>
              <a:rPr lang="de-DE" sz="1800" err="1">
                <a:latin typeface="Abadi" panose="020B0604020104020204" pitchFamily="34" charset="0"/>
              </a:rPr>
              <a:t>study</a:t>
            </a:r>
            <a:r>
              <a:rPr lang="de-DE" sz="1800">
                <a:latin typeface="Abadi" panose="020B0604020104020204" pitchFamily="34" charset="0"/>
              </a:rPr>
              <a:t> </a:t>
            </a:r>
            <a:r>
              <a:rPr lang="de-DE" sz="1800" err="1">
                <a:latin typeface="Abadi" panose="020B0604020104020204" pitchFamily="34" charset="0"/>
              </a:rPr>
              <a:t>program</a:t>
            </a:r>
            <a:r>
              <a:rPr lang="de-DE" sz="1800">
                <a:latin typeface="Abadi" panose="020B0604020104020204" pitchFamily="34" charset="0"/>
              </a:rPr>
              <a:t>/</a:t>
            </a:r>
            <a:r>
              <a:rPr lang="de-DE" sz="1800" err="1">
                <a:latin typeface="Abadi" panose="020B0604020104020204" pitchFamily="34" charset="0"/>
              </a:rPr>
              <a:t>major</a:t>
            </a:r>
            <a:r>
              <a:rPr lang="de-DE" sz="1800">
                <a:latin typeface="Abadi" panose="020B0604020104020204" pitchFamily="34" charset="0"/>
              </a:rPr>
              <a:t>, and the </a:t>
            </a:r>
            <a:r>
              <a:rPr lang="de-DE" sz="1800" err="1">
                <a:latin typeface="Abadi" panose="020B0604020104020204" pitchFamily="34" charset="0"/>
              </a:rPr>
              <a:t>course</a:t>
            </a:r>
            <a:r>
              <a:rPr lang="de-DE" sz="1800">
                <a:latin typeface="Abadi" panose="020B0604020104020204" pitchFamily="34" charset="0"/>
              </a:rPr>
              <a:t> </a:t>
            </a:r>
            <a:r>
              <a:rPr lang="de-DE" sz="1800" err="1">
                <a:latin typeface="Abadi" panose="020B0604020104020204" pitchFamily="34" charset="0"/>
              </a:rPr>
              <a:t>you're</a:t>
            </a:r>
            <a:r>
              <a:rPr lang="de-DE" sz="1800">
                <a:latin typeface="Abadi" panose="020B0604020104020204" pitchFamily="34" charset="0"/>
              </a:rPr>
              <a:t> </a:t>
            </a:r>
            <a:r>
              <a:rPr lang="de-DE" sz="1800" err="1">
                <a:latin typeface="Abadi" panose="020B0604020104020204" pitchFamily="34" charset="0"/>
              </a:rPr>
              <a:t>referring</a:t>
            </a:r>
            <a:r>
              <a:rPr lang="de-DE" sz="1800">
                <a:latin typeface="Abadi" panose="020B0604020104020204" pitchFamily="34" charset="0"/>
              </a:rPr>
              <a:t> to</a:t>
            </a:r>
          </a:p>
          <a:p>
            <a:pPr marL="742950" lvl="1" indent="-285750">
              <a:buFont typeface="Wingdings"/>
              <a:buChar char="v"/>
            </a:pPr>
            <a:endParaRPr lang="de-DE" sz="1800">
              <a:latin typeface="Abadi" panose="020B0604020104020204" pitchFamily="34" charset="0"/>
            </a:endParaRPr>
          </a:p>
          <a:p>
            <a:pPr marL="742950" lvl="1" indent="-285750">
              <a:buFont typeface="Wingdings"/>
              <a:buChar char="v"/>
            </a:pPr>
            <a:r>
              <a:rPr lang="de-DE" sz="1800" err="1">
                <a:latin typeface="Abadi" panose="020B0604020104020204" pitchFamily="34" charset="0"/>
              </a:rPr>
              <a:t>Example</a:t>
            </a:r>
            <a:r>
              <a:rPr lang="de-DE" sz="1800">
                <a:latin typeface="Abadi" panose="020B0604020104020204" pitchFamily="34" charset="0"/>
              </a:rPr>
              <a:t>: “My </a:t>
            </a:r>
            <a:r>
              <a:rPr lang="de-DE" sz="1800" err="1">
                <a:latin typeface="Abadi" panose="020B0604020104020204" pitchFamily="34" charset="0"/>
              </a:rPr>
              <a:t>name</a:t>
            </a:r>
            <a:r>
              <a:rPr lang="de-DE" sz="1800">
                <a:latin typeface="Abadi" panose="020B0604020104020204" pitchFamily="34" charset="0"/>
              </a:rPr>
              <a:t> </a:t>
            </a:r>
            <a:r>
              <a:rPr lang="de-DE" sz="1800" err="1">
                <a:latin typeface="Abadi" panose="020B0604020104020204" pitchFamily="34" charset="0"/>
              </a:rPr>
              <a:t>is</a:t>
            </a:r>
            <a:r>
              <a:rPr lang="de-DE" sz="1800">
                <a:latin typeface="Abadi" panose="020B0604020104020204" pitchFamily="34" charset="0"/>
              </a:rPr>
              <a:t> [</a:t>
            </a:r>
            <a:r>
              <a:rPr lang="de-DE" sz="1800" err="1">
                <a:latin typeface="Abadi" panose="020B0604020104020204" pitchFamily="34" charset="0"/>
              </a:rPr>
              <a:t>Your</a:t>
            </a:r>
            <a:r>
              <a:rPr lang="de-DE" sz="1800">
                <a:latin typeface="Abadi" panose="020B0604020104020204" pitchFamily="34" charset="0"/>
              </a:rPr>
              <a:t> Name], and I am a </a:t>
            </a:r>
            <a:r>
              <a:rPr lang="de-DE" sz="1800" err="1">
                <a:latin typeface="Abadi" panose="020B0604020104020204" pitchFamily="34" charset="0"/>
              </a:rPr>
              <a:t>student</a:t>
            </a:r>
            <a:r>
              <a:rPr lang="de-DE" sz="1800">
                <a:latin typeface="Abadi" panose="020B0604020104020204" pitchFamily="34" charset="0"/>
              </a:rPr>
              <a:t> in </a:t>
            </a:r>
            <a:r>
              <a:rPr lang="de-DE" sz="1800" err="1">
                <a:latin typeface="Abadi" panose="020B0604020104020204" pitchFamily="34" charset="0"/>
              </a:rPr>
              <a:t>your</a:t>
            </a:r>
            <a:r>
              <a:rPr lang="de-DE" sz="1800">
                <a:latin typeface="Abadi" panose="020B0604020104020204" pitchFamily="34" charset="0"/>
              </a:rPr>
              <a:t> [Course Title] </a:t>
            </a:r>
            <a:r>
              <a:rPr lang="de-DE" sz="1800" err="1">
                <a:latin typeface="Abadi" panose="020B0604020104020204" pitchFamily="34" charset="0"/>
              </a:rPr>
              <a:t>class</a:t>
            </a:r>
            <a:r>
              <a:rPr lang="de-DE" sz="1800">
                <a:latin typeface="Abadi" panose="020B0604020104020204" pitchFamily="34" charset="0"/>
              </a:rPr>
              <a:t>.”</a:t>
            </a:r>
          </a:p>
          <a:p>
            <a:pPr marL="742950" lvl="1" indent="-285750">
              <a:buFont typeface="Wingdings"/>
              <a:buChar char="v"/>
            </a:pPr>
            <a:endParaRPr lang="de-DE" sz="1800">
              <a:latin typeface="Abadi" panose="020B0604020104020204" pitchFamily="34" charset="0"/>
            </a:endParaRPr>
          </a:p>
          <a:p>
            <a:pPr marL="285750" indent="-285750" algn="ctr">
              <a:buFont typeface="Wingdings"/>
              <a:buChar char="v"/>
            </a:pPr>
            <a:endParaRPr lang="de-DE" sz="180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199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7C5A9-CC79-CC9E-1D64-CBFF0F065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707475-D693-A831-EE0B-1BCE1AF9D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>
                <a:latin typeface="Abadi"/>
              </a:rPr>
              <a:t>​</a:t>
            </a:r>
            <a:endParaRPr lang="de-DE">
              <a:latin typeface="Abadi" panose="020B0604020104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4F56594-A47B-82C0-0607-E3BB9F4F3DD9}"/>
              </a:ext>
            </a:extLst>
          </p:cNvPr>
          <p:cNvSpPr txBox="1"/>
          <p:nvPr/>
        </p:nvSpPr>
        <p:spPr>
          <a:xfrm>
            <a:off x="1272290" y="976070"/>
            <a:ext cx="7086600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800" u="sng">
                <a:latin typeface="Abadi" panose="020B0604020104020204" pitchFamily="34" charset="0"/>
              </a:rPr>
              <a:t>4. Be </a:t>
            </a:r>
            <a:r>
              <a:rPr lang="de-DE" sz="1800" u="sng" err="1">
                <a:latin typeface="Abadi" panose="020B0604020104020204" pitchFamily="34" charset="0"/>
              </a:rPr>
              <a:t>clear</a:t>
            </a:r>
            <a:r>
              <a:rPr lang="de-DE" sz="1800" u="sng">
                <a:latin typeface="Abadi" panose="020B0604020104020204" pitchFamily="34" charset="0"/>
              </a:rPr>
              <a:t> and </a:t>
            </a:r>
            <a:r>
              <a:rPr lang="de-DE" sz="1800" u="sng" err="1">
                <a:latin typeface="Abadi" panose="020B0604020104020204" pitchFamily="34" charset="0"/>
              </a:rPr>
              <a:t>concise</a:t>
            </a:r>
          </a:p>
          <a:p>
            <a:endParaRPr lang="de-DE" sz="1800" u="sng">
              <a:latin typeface="Abadi" panose="020B0604020104020204" pitchFamily="34" charset="0"/>
            </a:endParaRPr>
          </a:p>
          <a:p>
            <a:pPr marL="742950" lvl="1" indent="-285750">
              <a:buFont typeface="Wingdings"/>
              <a:buChar char="v"/>
            </a:pPr>
            <a:r>
              <a:rPr lang="de-DE" sz="1800" err="1">
                <a:solidFill>
                  <a:schemeClr val="tx1"/>
                </a:solidFill>
                <a:latin typeface="Abadi" panose="020B0604020104020204" pitchFamily="34" charset="0"/>
              </a:rPr>
              <a:t>Explain</a:t>
            </a:r>
            <a:r>
              <a:rPr lang="de-DE" sz="1800">
                <a:solidFill>
                  <a:schemeClr val="tx1"/>
                </a:solidFill>
                <a:latin typeface="Abadi" panose="020B0604020104020204" pitchFamily="34" charset="0"/>
              </a:rPr>
              <a:t> </a:t>
            </a:r>
            <a:r>
              <a:rPr lang="de-DE" sz="1800" err="1">
                <a:solidFill>
                  <a:schemeClr val="tx1"/>
                </a:solidFill>
                <a:latin typeface="Abadi" panose="020B0604020104020204" pitchFamily="34" charset="0"/>
              </a:rPr>
              <a:t>your</a:t>
            </a:r>
            <a:r>
              <a:rPr lang="de-DE" sz="1800">
                <a:solidFill>
                  <a:schemeClr val="tx1"/>
                </a:solidFill>
                <a:latin typeface="Abadi" panose="020B0604020104020204" pitchFamily="34" charset="0"/>
              </a:rPr>
              <a:t> </a:t>
            </a:r>
            <a:r>
              <a:rPr lang="de-DE" sz="1800" err="1">
                <a:solidFill>
                  <a:schemeClr val="tx1"/>
                </a:solidFill>
                <a:latin typeface="Abadi" panose="020B0604020104020204" pitchFamily="34" charset="0"/>
              </a:rPr>
              <a:t>question</a:t>
            </a:r>
            <a:r>
              <a:rPr lang="de-DE" sz="1800">
                <a:solidFill>
                  <a:schemeClr val="tx1"/>
                </a:solidFill>
                <a:latin typeface="Abadi" panose="020B0604020104020204" pitchFamily="34" charset="0"/>
              </a:rPr>
              <a:t> </a:t>
            </a:r>
            <a:r>
              <a:rPr lang="de-DE" sz="1800" err="1">
                <a:solidFill>
                  <a:schemeClr val="tx1"/>
                </a:solidFill>
                <a:latin typeface="Abadi" panose="020B0604020104020204" pitchFamily="34" charset="0"/>
              </a:rPr>
              <a:t>or</a:t>
            </a:r>
            <a:r>
              <a:rPr lang="de-DE" sz="1800">
                <a:solidFill>
                  <a:schemeClr val="tx1"/>
                </a:solidFill>
                <a:latin typeface="Abadi" panose="020B0604020104020204" pitchFamily="34" charset="0"/>
              </a:rPr>
              <a:t> </a:t>
            </a:r>
            <a:r>
              <a:rPr lang="de-DE" sz="1800" err="1">
                <a:solidFill>
                  <a:schemeClr val="tx1"/>
                </a:solidFill>
                <a:latin typeface="Abadi" panose="020B0604020104020204" pitchFamily="34" charset="0"/>
              </a:rPr>
              <a:t>request</a:t>
            </a:r>
            <a:r>
              <a:rPr lang="de-DE" sz="1800">
                <a:solidFill>
                  <a:schemeClr val="tx1"/>
                </a:solidFill>
                <a:latin typeface="Abadi" panose="020B0604020104020204" pitchFamily="34" charset="0"/>
              </a:rPr>
              <a:t> </a:t>
            </a:r>
            <a:r>
              <a:rPr lang="de-DE" sz="1800" err="1">
                <a:solidFill>
                  <a:schemeClr val="tx1"/>
                </a:solidFill>
                <a:latin typeface="Abadi" panose="020B0604020104020204" pitchFamily="34" charset="0"/>
              </a:rPr>
              <a:t>directly</a:t>
            </a:r>
            <a:r>
              <a:rPr lang="de-DE" sz="1800">
                <a:solidFill>
                  <a:schemeClr val="tx1"/>
                </a:solidFill>
                <a:latin typeface="Abadi" panose="020B0604020104020204" pitchFamily="34" charset="0"/>
              </a:rPr>
              <a:t>, </a:t>
            </a:r>
            <a:r>
              <a:rPr lang="de-DE" sz="1800" err="1">
                <a:solidFill>
                  <a:schemeClr val="tx1"/>
                </a:solidFill>
                <a:latin typeface="Abadi" panose="020B0604020104020204" pitchFamily="34" charset="0"/>
              </a:rPr>
              <a:t>without</a:t>
            </a:r>
            <a:r>
              <a:rPr lang="de-DE" sz="1800">
                <a:solidFill>
                  <a:schemeClr val="tx1"/>
                </a:solidFill>
                <a:latin typeface="Abadi" panose="020B0604020104020204" pitchFamily="34" charset="0"/>
              </a:rPr>
              <a:t> </a:t>
            </a:r>
            <a:r>
              <a:rPr lang="de-DE" sz="1800" err="1">
                <a:solidFill>
                  <a:schemeClr val="tx1"/>
                </a:solidFill>
                <a:latin typeface="Abadi" panose="020B0604020104020204" pitchFamily="34" charset="0"/>
              </a:rPr>
              <a:t>unnecessary</a:t>
            </a:r>
            <a:r>
              <a:rPr lang="de-DE" sz="1800">
                <a:solidFill>
                  <a:schemeClr val="tx1"/>
                </a:solidFill>
                <a:latin typeface="Abadi" panose="020B0604020104020204" pitchFamily="34" charset="0"/>
              </a:rPr>
              <a:t> </a:t>
            </a:r>
            <a:r>
              <a:rPr lang="de-DE" sz="1800" err="1">
                <a:solidFill>
                  <a:schemeClr val="tx1"/>
                </a:solidFill>
                <a:latin typeface="Abadi" panose="020B0604020104020204" pitchFamily="34" charset="0"/>
              </a:rPr>
              <a:t>details</a:t>
            </a:r>
            <a:endParaRPr lang="de-DE" sz="1800">
              <a:solidFill>
                <a:schemeClr val="tx1"/>
              </a:solidFill>
              <a:latin typeface="Abadi" panose="020B0604020104020204" pitchFamily="34" charset="0"/>
            </a:endParaRPr>
          </a:p>
          <a:p>
            <a:pPr marL="742950" lvl="1" indent="-285750">
              <a:buFont typeface="Wingdings"/>
              <a:buChar char="v"/>
            </a:pPr>
            <a:endParaRPr lang="de-DE" sz="1800">
              <a:solidFill>
                <a:schemeClr val="tx1"/>
              </a:solidFill>
              <a:latin typeface="Abadi" panose="020B0604020104020204" pitchFamily="34" charset="0"/>
            </a:endParaRPr>
          </a:p>
          <a:p>
            <a:r>
              <a:rPr lang="de-DE" sz="1800" u="sng">
                <a:latin typeface="Abadi" panose="020B0604020104020204" pitchFamily="34" charset="0"/>
              </a:rPr>
              <a:t>5. Be </a:t>
            </a:r>
            <a:r>
              <a:rPr lang="de-DE" sz="1800" u="sng" err="1">
                <a:latin typeface="Abadi" panose="020B0604020104020204" pitchFamily="34" charset="0"/>
              </a:rPr>
              <a:t>polite</a:t>
            </a:r>
            <a:r>
              <a:rPr lang="de-DE" sz="1800" u="sng">
                <a:latin typeface="Abadi" panose="020B0604020104020204" pitchFamily="34" charset="0"/>
              </a:rPr>
              <a:t> and </a:t>
            </a:r>
            <a:r>
              <a:rPr lang="de-DE" sz="1800" u="sng" err="1">
                <a:latin typeface="Abadi" panose="020B0604020104020204" pitchFamily="34" charset="0"/>
              </a:rPr>
              <a:t>patient</a:t>
            </a:r>
            <a:r>
              <a:rPr lang="de-DE" sz="1800" u="sng">
                <a:latin typeface="Abadi" panose="020B0604020104020204" pitchFamily="34" charset="0"/>
              </a:rPr>
              <a:t> </a:t>
            </a:r>
          </a:p>
          <a:p>
            <a:endParaRPr lang="de-DE" sz="1800" u="sng">
              <a:latin typeface="Abadi" panose="020B0604020104020204" pitchFamily="34" charset="0"/>
            </a:endParaRPr>
          </a:p>
          <a:p>
            <a:pPr marL="742950" lvl="2" indent="-285750">
              <a:buFont typeface="Wingdings"/>
              <a:buChar char="v"/>
            </a:pPr>
            <a:r>
              <a:rPr lang="de-DE" sz="1800">
                <a:latin typeface="Abadi" panose="020B0604020104020204" pitchFamily="34" charset="0"/>
              </a:rPr>
              <a:t>Use a professional </a:t>
            </a:r>
            <a:r>
              <a:rPr lang="de-DE" sz="1800" err="1">
                <a:latin typeface="Abadi" panose="020B0604020104020204" pitchFamily="34" charset="0"/>
              </a:rPr>
              <a:t>closing</a:t>
            </a:r>
            <a:r>
              <a:rPr lang="de-DE" sz="1800">
                <a:latin typeface="Abadi" panose="020B0604020104020204" pitchFamily="34" charset="0"/>
              </a:rPr>
              <a:t>: “</a:t>
            </a:r>
            <a:r>
              <a:rPr lang="de-DE" sz="1800" err="1">
                <a:latin typeface="Abadi" panose="020B0604020104020204" pitchFamily="34" charset="0"/>
              </a:rPr>
              <a:t>Sincerely</a:t>
            </a:r>
            <a:r>
              <a:rPr lang="de-DE" sz="1800">
                <a:latin typeface="Abadi" panose="020B0604020104020204" pitchFamily="34" charset="0"/>
              </a:rPr>
              <a:t>,” / “Best </a:t>
            </a:r>
            <a:r>
              <a:rPr lang="de-DE" sz="1800" err="1">
                <a:latin typeface="Abadi" panose="020B0604020104020204" pitchFamily="34" charset="0"/>
              </a:rPr>
              <a:t>regards</a:t>
            </a:r>
            <a:r>
              <a:rPr lang="de-DE" sz="1800">
                <a:latin typeface="Abadi" panose="020B0604020104020204" pitchFamily="34" charset="0"/>
              </a:rPr>
              <a:t>,” / “Kind </a:t>
            </a:r>
            <a:r>
              <a:rPr lang="de-DE" sz="1800" err="1">
                <a:latin typeface="Abadi" panose="020B0604020104020204" pitchFamily="34" charset="0"/>
              </a:rPr>
              <a:t>regards</a:t>
            </a:r>
            <a:r>
              <a:rPr lang="de-DE" sz="1800">
                <a:latin typeface="Abadi" panose="020B0604020104020204" pitchFamily="34" charset="0"/>
              </a:rPr>
              <a:t>,”</a:t>
            </a:r>
          </a:p>
          <a:p>
            <a:pPr marL="457200" lvl="2"/>
            <a:endParaRPr lang="de-DE" sz="1800">
              <a:latin typeface="Abadi" panose="020B0604020104020204" pitchFamily="34" charset="0"/>
            </a:endParaRPr>
          </a:p>
          <a:p>
            <a:pPr marL="742950" lvl="1" indent="-285750">
              <a:buFont typeface="Wingdings"/>
              <a:buChar char="v"/>
            </a:pPr>
            <a:r>
              <a:rPr lang="de-DE" sz="1800" err="1">
                <a:latin typeface="Abadi" panose="020B0604020104020204" pitchFamily="34" charset="0"/>
              </a:rPr>
              <a:t>Sign</a:t>
            </a:r>
            <a:r>
              <a:rPr lang="de-DE" sz="1800">
                <a:latin typeface="Abadi" panose="020B0604020104020204" pitchFamily="34" charset="0"/>
              </a:rPr>
              <a:t> </a:t>
            </a:r>
            <a:r>
              <a:rPr lang="de-DE" sz="1800" err="1">
                <a:latin typeface="Abadi" panose="020B0604020104020204" pitchFamily="34" charset="0"/>
              </a:rPr>
              <a:t>with</a:t>
            </a:r>
            <a:r>
              <a:rPr lang="de-DE" sz="1800">
                <a:latin typeface="Abadi" panose="020B0604020104020204" pitchFamily="34" charset="0"/>
              </a:rPr>
              <a:t> </a:t>
            </a:r>
            <a:r>
              <a:rPr lang="de-DE" sz="1800" err="1">
                <a:latin typeface="Abadi" panose="020B0604020104020204" pitchFamily="34" charset="0"/>
              </a:rPr>
              <a:t>your</a:t>
            </a:r>
            <a:r>
              <a:rPr lang="de-DE" sz="1800">
                <a:latin typeface="Abadi" panose="020B0604020104020204" pitchFamily="34" charset="0"/>
              </a:rPr>
              <a:t> </a:t>
            </a:r>
            <a:r>
              <a:rPr lang="de-DE" sz="1800" err="1">
                <a:latin typeface="Abadi" panose="020B0604020104020204" pitchFamily="34" charset="0"/>
              </a:rPr>
              <a:t>full</a:t>
            </a:r>
            <a:r>
              <a:rPr lang="de-DE" sz="1800">
                <a:latin typeface="Abadi" panose="020B0604020104020204" pitchFamily="34" charset="0"/>
              </a:rPr>
              <a:t> </a:t>
            </a:r>
            <a:r>
              <a:rPr lang="de-DE" sz="1800" err="1">
                <a:latin typeface="Abadi" panose="020B0604020104020204" pitchFamily="34" charset="0"/>
              </a:rPr>
              <a:t>name</a:t>
            </a:r>
            <a:endParaRPr lang="de-DE" sz="1800">
              <a:latin typeface="Abadi" panose="020B0604020104020204" pitchFamily="34" charset="0"/>
            </a:endParaRPr>
          </a:p>
          <a:p>
            <a:pPr marL="742950" lvl="1" indent="-285750">
              <a:buFont typeface="Wingdings"/>
              <a:buChar char="v"/>
            </a:pPr>
            <a:endParaRPr lang="de-DE" sz="1800">
              <a:latin typeface="Abadi" panose="020B0604020104020204" pitchFamily="34" charset="0"/>
            </a:endParaRPr>
          </a:p>
          <a:p>
            <a:pPr marL="742950" lvl="1" indent="-285750">
              <a:buFont typeface="Wingdings"/>
              <a:buChar char="v"/>
            </a:pPr>
            <a:r>
              <a:rPr lang="de-DE" sz="1800">
                <a:latin typeface="Abadi" panose="020B0604020104020204" pitchFamily="34" charset="0"/>
              </a:rPr>
              <a:t>Be </a:t>
            </a:r>
            <a:r>
              <a:rPr lang="de-DE" sz="1800" err="1">
                <a:latin typeface="Abadi" panose="020B0604020104020204" pitchFamily="34" charset="0"/>
              </a:rPr>
              <a:t>patient</a:t>
            </a:r>
            <a:r>
              <a:rPr lang="de-DE" sz="1800">
                <a:latin typeface="Abadi" panose="020B0604020104020204" pitchFamily="34" charset="0"/>
              </a:rPr>
              <a:t> </a:t>
            </a:r>
            <a:r>
              <a:rPr lang="de-DE" sz="1800" err="1">
                <a:latin typeface="Abadi" panose="020B0604020104020204" pitchFamily="34" charset="0"/>
              </a:rPr>
              <a:t>if</a:t>
            </a:r>
            <a:r>
              <a:rPr lang="de-DE" sz="1800">
                <a:latin typeface="Abadi" panose="020B0604020104020204" pitchFamily="34" charset="0"/>
              </a:rPr>
              <a:t> </a:t>
            </a:r>
            <a:r>
              <a:rPr lang="de-DE" sz="1800" err="1">
                <a:latin typeface="Abadi" panose="020B0604020104020204" pitchFamily="34" charset="0"/>
              </a:rPr>
              <a:t>they</a:t>
            </a:r>
            <a:r>
              <a:rPr lang="de-DE" sz="1800">
                <a:latin typeface="Abadi" panose="020B0604020104020204" pitchFamily="34" charset="0"/>
              </a:rPr>
              <a:t> </a:t>
            </a:r>
            <a:r>
              <a:rPr lang="de-DE" sz="1800" err="1">
                <a:latin typeface="Abadi" panose="020B0604020104020204" pitchFamily="34" charset="0"/>
              </a:rPr>
              <a:t>don’t</a:t>
            </a:r>
            <a:r>
              <a:rPr lang="de-DE" sz="1800">
                <a:latin typeface="Abadi" panose="020B0604020104020204" pitchFamily="34" charset="0"/>
              </a:rPr>
              <a:t> </a:t>
            </a:r>
            <a:r>
              <a:rPr lang="de-DE" sz="1800" err="1">
                <a:latin typeface="Abadi" panose="020B0604020104020204" pitchFamily="34" charset="0"/>
              </a:rPr>
              <a:t>reply</a:t>
            </a:r>
            <a:r>
              <a:rPr lang="de-DE" sz="1800">
                <a:latin typeface="Abadi" panose="020B0604020104020204" pitchFamily="34" charset="0"/>
              </a:rPr>
              <a:t> </a:t>
            </a:r>
            <a:r>
              <a:rPr lang="de-DE" sz="1800" err="1">
                <a:latin typeface="Abadi" panose="020B0604020104020204" pitchFamily="34" charset="0"/>
              </a:rPr>
              <a:t>immediately</a:t>
            </a:r>
            <a:endParaRPr lang="de-DE" sz="1800">
              <a:latin typeface="Abadi" panose="020B0604020104020204" pitchFamily="34" charset="0"/>
            </a:endParaRPr>
          </a:p>
          <a:p>
            <a:r>
              <a:rPr lang="de-DE" sz="1800">
                <a:latin typeface="Abadi" panose="020B0604020104020204" pitchFamily="34" charset="0"/>
              </a:rPr>
              <a:t>   </a:t>
            </a:r>
            <a:endParaRPr lang="de-DE" sz="1800">
              <a:solidFill>
                <a:schemeClr val="tx1"/>
              </a:solidFill>
              <a:latin typeface="Abadi" panose="020B0604020104020204" pitchFamily="34" charset="0"/>
            </a:endParaRPr>
          </a:p>
          <a:p>
            <a:pPr marL="285750" indent="-285750">
              <a:buFont typeface="Wingdings"/>
              <a:buChar char="v"/>
            </a:pPr>
            <a:endParaRPr lang="de-DE" sz="1800" u="sng">
              <a:solidFill>
                <a:schemeClr val="tx1"/>
              </a:solidFill>
              <a:latin typeface="Abadi" panose="020B0604020104020204" pitchFamily="34" charset="0"/>
            </a:endParaRPr>
          </a:p>
          <a:p>
            <a:endParaRPr lang="de-DE" sz="1800">
              <a:latin typeface="Abadi" panose="020B0604020104020204" pitchFamily="34" charset="0"/>
            </a:endParaRPr>
          </a:p>
          <a:p>
            <a:pPr algn="ctr"/>
            <a:endParaRPr lang="de-DE" sz="1800">
              <a:latin typeface="Abadi" panose="020B0604020104020204" pitchFamily="34" charset="0"/>
            </a:endParaRPr>
          </a:p>
          <a:p>
            <a:pPr algn="ctr"/>
            <a:endParaRPr lang="de-DE" sz="180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477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3DC4839-DD73-BA18-0AA9-5A297036B9A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DE23D01-D43F-B1B4-47C1-AD4F96C6F29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220937" y="733820"/>
            <a:ext cx="4878673" cy="63000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de-DE">
                <a:latin typeface="Abadi" panose="020B0604020104020204" pitchFamily="34" charset="0"/>
              </a:rPr>
              <a:t>Any </a:t>
            </a:r>
            <a:r>
              <a:rPr lang="de-DE" err="1">
                <a:latin typeface="Abadi" panose="020B0604020104020204" pitchFamily="34" charset="0"/>
              </a:rPr>
              <a:t>other</a:t>
            </a:r>
            <a:r>
              <a:rPr lang="de-DE">
                <a:latin typeface="Abadi" panose="020B0604020104020204" pitchFamily="34" charset="0"/>
              </a:rPr>
              <a:t> </a:t>
            </a:r>
            <a:r>
              <a:rPr lang="de-DE" err="1">
                <a:latin typeface="Abadi" panose="020B0604020104020204" pitchFamily="34" charset="0"/>
              </a:rPr>
              <a:t>questions</a:t>
            </a:r>
            <a:r>
              <a:rPr lang="de-DE">
                <a:latin typeface="Abadi" panose="020B0604020104020204" pitchFamily="34" charset="0"/>
              </a:rPr>
              <a:t>?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B0ACEB1-5282-F5F0-DB8A-4E5E791DBA50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694167" y="1507929"/>
            <a:ext cx="5636677" cy="7743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de-DE" sz="2000" err="1">
                <a:latin typeface="Abadi" panose="020B0604020104020204" pitchFamily="34" charset="0"/>
              </a:rPr>
              <a:t>We</a:t>
            </a:r>
            <a:r>
              <a:rPr lang="de-DE" sz="2000">
                <a:latin typeface="Abadi" panose="020B0604020104020204" pitchFamily="34" charset="0"/>
              </a:rPr>
              <a:t> </a:t>
            </a:r>
            <a:r>
              <a:rPr lang="de-DE" sz="2000" err="1">
                <a:latin typeface="Abadi" panose="020B0604020104020204" pitchFamily="34" charset="0"/>
              </a:rPr>
              <a:t>are</a:t>
            </a:r>
            <a:r>
              <a:rPr lang="de-DE" sz="2000">
                <a:latin typeface="Abadi" panose="020B0604020104020204" pitchFamily="34" charset="0"/>
              </a:rPr>
              <a:t> 16 </a:t>
            </a:r>
            <a:r>
              <a:rPr lang="de-DE" sz="2000" err="1">
                <a:latin typeface="Abadi" panose="020B0604020104020204" pitchFamily="34" charset="0"/>
              </a:rPr>
              <a:t>experienced</a:t>
            </a:r>
            <a:r>
              <a:rPr lang="de-DE" sz="2000">
                <a:latin typeface="Abadi" panose="020B0604020104020204" pitchFamily="34" charset="0"/>
              </a:rPr>
              <a:t> </a:t>
            </a:r>
            <a:r>
              <a:rPr lang="de-DE" sz="2000" err="1">
                <a:latin typeface="Abadi" panose="020B0604020104020204" pitchFamily="34" charset="0"/>
              </a:rPr>
              <a:t>students</a:t>
            </a:r>
            <a:r>
              <a:rPr lang="de-DE" sz="2000">
                <a:latin typeface="Abadi" panose="020B0604020104020204" pitchFamily="34" charset="0"/>
              </a:rPr>
              <a:t> </a:t>
            </a:r>
            <a:r>
              <a:rPr lang="de-DE" sz="2000" err="1">
                <a:latin typeface="Abadi" panose="020B0604020104020204" pitchFamily="34" charset="0"/>
              </a:rPr>
              <a:t>that</a:t>
            </a:r>
            <a:r>
              <a:rPr lang="de-DE" sz="2000">
                <a:latin typeface="Abadi" panose="020B0604020104020204" pitchFamily="34" charset="0"/>
              </a:rPr>
              <a:t> will help </a:t>
            </a:r>
            <a:r>
              <a:rPr lang="de-DE" sz="2000" err="1">
                <a:latin typeface="Abadi" panose="020B0604020104020204" pitchFamily="34" charset="0"/>
              </a:rPr>
              <a:t>you</a:t>
            </a:r>
            <a:r>
              <a:rPr lang="de-DE" sz="2000">
                <a:latin typeface="Abadi" panose="020B0604020104020204" pitchFamily="34" charset="0"/>
              </a:rPr>
              <a:t> </a:t>
            </a:r>
            <a:r>
              <a:rPr lang="de-DE" sz="2000" err="1">
                <a:latin typeface="Abadi" panose="020B0604020104020204" pitchFamily="34" charset="0"/>
              </a:rPr>
              <a:t>throughout</a:t>
            </a:r>
            <a:r>
              <a:rPr lang="de-DE" sz="2000">
                <a:latin typeface="Abadi" panose="020B0604020104020204" pitchFamily="34" charset="0"/>
              </a:rPr>
              <a:t> the Leuphana Semester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7A0F4F0-25BC-9835-2394-27B50A2EC74B}"/>
              </a:ext>
            </a:extLst>
          </p:cNvPr>
          <p:cNvSpPr txBox="1"/>
          <p:nvPr/>
        </p:nvSpPr>
        <p:spPr>
          <a:xfrm>
            <a:off x="2062416" y="2768623"/>
            <a:ext cx="2121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>
                <a:latin typeface="Abadi" panose="020B0604020104020204" pitchFamily="34" charset="0"/>
              </a:rPr>
              <a:t>Lightning Talks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CAC8918C-4338-AA9E-2149-C2492D53F452}"/>
              </a:ext>
            </a:extLst>
          </p:cNvPr>
          <p:cNvSpPr txBox="1"/>
          <p:nvPr/>
        </p:nvSpPr>
        <p:spPr bwMode="auto">
          <a:xfrm>
            <a:off x="5057528" y="2757470"/>
            <a:ext cx="27453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000" b="1"/>
            </a:lvl1pPr>
          </a:lstStyle>
          <a:p>
            <a:r>
              <a:rPr lang="de-DE">
                <a:latin typeface="Abadi" panose="020B0604020104020204" pitchFamily="34" charset="0"/>
              </a:rPr>
              <a:t>Help Desk (C25.007)</a:t>
            </a:r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C28CD2FB-0AC9-E267-F3B6-1C730D8DEF5A}"/>
              </a:ext>
            </a:extLst>
          </p:cNvPr>
          <p:cNvSpPr txBox="1">
            <a:spLocks/>
          </p:cNvSpPr>
          <p:nvPr/>
        </p:nvSpPr>
        <p:spPr bwMode="auto">
          <a:xfrm>
            <a:off x="1369964" y="3394355"/>
            <a:ext cx="3506835" cy="13086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457200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5775" indent="-257175" algn="l" defTabSz="457200">
              <a:lnSpc>
                <a:spcPct val="90000"/>
              </a:lnSpc>
              <a:spcBef>
                <a:spcPts val="250"/>
              </a:spcBef>
              <a:buFont typeface="+mj-lt"/>
              <a:buAutoNum type="romanL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de-DE" sz="2000">
                <a:latin typeface="Abadi" panose="020B0604020104020204" pitchFamily="34" charset="0"/>
              </a:rPr>
              <a:t>Wen., HS 1 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de-DE" sz="2000">
                <a:latin typeface="Abadi" panose="020B0604020104020204" pitchFamily="34" charset="0"/>
              </a:rPr>
              <a:t>14:15 – 14:45  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None/>
              <a:defRPr/>
            </a:pPr>
            <a:endParaRPr lang="de-DE" sz="2000">
              <a:latin typeface="Abadi" panose="020B0604020104020204" pitchFamily="34" charset="0"/>
            </a:endParaRPr>
          </a:p>
        </p:txBody>
      </p:sp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5F43AFE7-82CE-343A-9A2A-0444E9E6FFAE}"/>
              </a:ext>
            </a:extLst>
          </p:cNvPr>
          <p:cNvSpPr txBox="1">
            <a:spLocks/>
          </p:cNvSpPr>
          <p:nvPr/>
        </p:nvSpPr>
        <p:spPr bwMode="auto">
          <a:xfrm>
            <a:off x="4876799" y="3374950"/>
            <a:ext cx="3430634" cy="169558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457200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5775" indent="-257175" algn="l" defTabSz="457200">
              <a:lnSpc>
                <a:spcPct val="90000"/>
              </a:lnSpc>
              <a:spcBef>
                <a:spcPts val="250"/>
              </a:spcBef>
              <a:buFont typeface="+mj-lt"/>
              <a:buAutoNum type="romanL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de-DE" sz="2000" err="1">
                <a:latin typeface="Abadi" panose="020B0604020104020204" pitchFamily="34" charset="0"/>
              </a:rPr>
              <a:t>Mon</a:t>
            </a:r>
            <a:r>
              <a:rPr lang="de-DE" sz="2000">
                <a:latin typeface="Abadi" panose="020B0604020104020204" pitchFamily="34" charset="0"/>
              </a:rPr>
              <a:t>. &amp; </a:t>
            </a:r>
            <a:r>
              <a:rPr lang="de-DE" sz="2000" err="1">
                <a:latin typeface="Abadi" panose="020B0604020104020204" pitchFamily="34" charset="0"/>
              </a:rPr>
              <a:t>Fri</a:t>
            </a:r>
            <a:r>
              <a:rPr lang="de-DE" sz="2000">
                <a:latin typeface="Abadi" panose="020B0604020104020204" pitchFamily="34" charset="0"/>
              </a:rPr>
              <a:t>. 10 – 16; 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de-DE" sz="2000">
                <a:latin typeface="Abadi" panose="020B0604020104020204" pitchFamily="34" charset="0"/>
              </a:rPr>
              <a:t>Wen. 12 - 18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de-DE" sz="2000">
                <a:latin typeface="Abadi" panose="020B0604020104020204" pitchFamily="34" charset="0"/>
              </a:rPr>
              <a:t>Individual support</a:t>
            </a:r>
          </a:p>
        </p:txBody>
      </p:sp>
    </p:spTree>
    <p:extLst>
      <p:ext uri="{BB962C8B-B14F-4D97-AF65-F5344CB8AC3E}">
        <p14:creationId xmlns:p14="http://schemas.microsoft.com/office/powerpoint/2010/main" val="1037531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811EDA7-B688-4BCD-D540-EC44BE43872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87EF8201-741B-9843-8D10-47C3AC4A26E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220937" y="733820"/>
            <a:ext cx="4878673" cy="63000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de-DE">
                <a:latin typeface="Abadi" panose="020B0604020104020204" pitchFamily="34" charset="0"/>
              </a:rPr>
              <a:t>Any </a:t>
            </a:r>
            <a:r>
              <a:rPr lang="de-DE" err="1">
                <a:latin typeface="Abadi" panose="020B0604020104020204" pitchFamily="34" charset="0"/>
              </a:rPr>
              <a:t>other</a:t>
            </a:r>
            <a:r>
              <a:rPr lang="de-DE">
                <a:latin typeface="Abadi" panose="020B0604020104020204" pitchFamily="34" charset="0"/>
              </a:rPr>
              <a:t> </a:t>
            </a:r>
            <a:r>
              <a:rPr lang="de-DE" err="1">
                <a:latin typeface="Abadi" panose="020B0604020104020204" pitchFamily="34" charset="0"/>
              </a:rPr>
              <a:t>questions</a:t>
            </a:r>
            <a:r>
              <a:rPr lang="de-DE">
                <a:latin typeface="Abadi" panose="020B0604020104020204" pitchFamily="34" charset="0"/>
              </a:rPr>
              <a:t>?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3AF3BCF-9740-3589-5AA3-B5BA7A341658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694167" y="1507929"/>
            <a:ext cx="5636677" cy="7743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de-DE" sz="2000" err="1">
                <a:latin typeface="Abadi" panose="020B0604020104020204" pitchFamily="34" charset="0"/>
              </a:rPr>
              <a:t>We</a:t>
            </a:r>
            <a:r>
              <a:rPr lang="de-DE" sz="2000">
                <a:latin typeface="Abadi" panose="020B0604020104020204" pitchFamily="34" charset="0"/>
              </a:rPr>
              <a:t> </a:t>
            </a:r>
            <a:r>
              <a:rPr lang="de-DE" sz="2000" err="1">
                <a:latin typeface="Abadi" panose="020B0604020104020204" pitchFamily="34" charset="0"/>
              </a:rPr>
              <a:t>are</a:t>
            </a:r>
            <a:r>
              <a:rPr lang="de-DE" sz="2000">
                <a:latin typeface="Abadi" panose="020B0604020104020204" pitchFamily="34" charset="0"/>
              </a:rPr>
              <a:t> 16 </a:t>
            </a:r>
            <a:r>
              <a:rPr lang="de-DE" sz="2000" err="1">
                <a:latin typeface="Abadi" panose="020B0604020104020204" pitchFamily="34" charset="0"/>
              </a:rPr>
              <a:t>experienced</a:t>
            </a:r>
            <a:r>
              <a:rPr lang="de-DE" sz="2000">
                <a:latin typeface="Abadi" panose="020B0604020104020204" pitchFamily="34" charset="0"/>
              </a:rPr>
              <a:t> </a:t>
            </a:r>
            <a:r>
              <a:rPr lang="de-DE" sz="2000" err="1">
                <a:latin typeface="Abadi" panose="020B0604020104020204" pitchFamily="34" charset="0"/>
              </a:rPr>
              <a:t>students</a:t>
            </a:r>
            <a:r>
              <a:rPr lang="de-DE" sz="2000">
                <a:latin typeface="Abadi" panose="020B0604020104020204" pitchFamily="34" charset="0"/>
              </a:rPr>
              <a:t> </a:t>
            </a:r>
            <a:r>
              <a:rPr lang="de-DE" sz="2000" err="1">
                <a:latin typeface="Abadi" panose="020B0604020104020204" pitchFamily="34" charset="0"/>
              </a:rPr>
              <a:t>that</a:t>
            </a:r>
            <a:r>
              <a:rPr lang="de-DE" sz="2000">
                <a:latin typeface="Abadi" panose="020B0604020104020204" pitchFamily="34" charset="0"/>
              </a:rPr>
              <a:t> will help </a:t>
            </a:r>
            <a:r>
              <a:rPr lang="de-DE" sz="2000" err="1">
                <a:latin typeface="Abadi" panose="020B0604020104020204" pitchFamily="34" charset="0"/>
              </a:rPr>
              <a:t>you</a:t>
            </a:r>
            <a:r>
              <a:rPr lang="de-DE" sz="2000">
                <a:latin typeface="Abadi" panose="020B0604020104020204" pitchFamily="34" charset="0"/>
              </a:rPr>
              <a:t> </a:t>
            </a:r>
            <a:r>
              <a:rPr lang="de-DE" sz="2000" err="1">
                <a:latin typeface="Abadi" panose="020B0604020104020204" pitchFamily="34" charset="0"/>
              </a:rPr>
              <a:t>throughout</a:t>
            </a:r>
            <a:r>
              <a:rPr lang="de-DE" sz="2000">
                <a:latin typeface="Abadi" panose="020B0604020104020204" pitchFamily="34" charset="0"/>
              </a:rPr>
              <a:t> the Leuphana Semester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DDB6CE2-FF6C-7170-9102-E35D9481C5BF}"/>
              </a:ext>
            </a:extLst>
          </p:cNvPr>
          <p:cNvSpPr txBox="1"/>
          <p:nvPr/>
        </p:nvSpPr>
        <p:spPr>
          <a:xfrm>
            <a:off x="2062416" y="2768623"/>
            <a:ext cx="2121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>
                <a:latin typeface="Abadi" panose="020B0604020104020204" pitchFamily="34" charset="0"/>
              </a:rPr>
              <a:t>Lightning Talks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7068834-7CA5-0DF3-C205-9810520150E9}"/>
              </a:ext>
            </a:extLst>
          </p:cNvPr>
          <p:cNvSpPr txBox="1"/>
          <p:nvPr/>
        </p:nvSpPr>
        <p:spPr bwMode="auto">
          <a:xfrm>
            <a:off x="5057528" y="2757470"/>
            <a:ext cx="27453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000" b="1"/>
            </a:lvl1pPr>
          </a:lstStyle>
          <a:p>
            <a:r>
              <a:rPr lang="de-DE">
                <a:latin typeface="Abadi" panose="020B0604020104020204" pitchFamily="34" charset="0"/>
              </a:rPr>
              <a:t>Help Desk (C25.007)</a:t>
            </a:r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B829B6F5-470D-7BD3-EC44-FFD335CEF88E}"/>
              </a:ext>
            </a:extLst>
          </p:cNvPr>
          <p:cNvSpPr txBox="1">
            <a:spLocks/>
          </p:cNvSpPr>
          <p:nvPr/>
        </p:nvSpPr>
        <p:spPr bwMode="auto">
          <a:xfrm>
            <a:off x="1369964" y="3394355"/>
            <a:ext cx="3506835" cy="13086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457200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5775" indent="-257175" algn="l" defTabSz="457200">
              <a:lnSpc>
                <a:spcPct val="90000"/>
              </a:lnSpc>
              <a:spcBef>
                <a:spcPts val="250"/>
              </a:spcBef>
              <a:buFont typeface="+mj-lt"/>
              <a:buAutoNum type="romanL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de-DE" sz="2000">
                <a:latin typeface="Abadi" panose="020B0604020104020204" pitchFamily="34" charset="0"/>
              </a:rPr>
              <a:t>Wen., HS 1 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de-DE" sz="2000">
                <a:latin typeface="Abadi" panose="020B0604020104020204" pitchFamily="34" charset="0"/>
              </a:rPr>
              <a:t>14:15 – 14:45  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None/>
              <a:defRPr/>
            </a:pPr>
            <a:endParaRPr lang="de-DE" sz="2000">
              <a:latin typeface="Abadi" panose="020B0604020104020204" pitchFamily="34" charset="0"/>
            </a:endParaRPr>
          </a:p>
        </p:txBody>
      </p:sp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114D27FD-8038-6D76-0F4D-86611B4B1FFB}"/>
              </a:ext>
            </a:extLst>
          </p:cNvPr>
          <p:cNvSpPr txBox="1">
            <a:spLocks/>
          </p:cNvSpPr>
          <p:nvPr/>
        </p:nvSpPr>
        <p:spPr bwMode="auto">
          <a:xfrm>
            <a:off x="4876799" y="3374950"/>
            <a:ext cx="3430634" cy="169558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457200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5775" indent="-257175" algn="l" defTabSz="457200">
              <a:lnSpc>
                <a:spcPct val="90000"/>
              </a:lnSpc>
              <a:spcBef>
                <a:spcPts val="250"/>
              </a:spcBef>
              <a:buFont typeface="+mj-lt"/>
              <a:buAutoNum type="romanL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de-DE" sz="2000" err="1">
                <a:latin typeface="Abadi" panose="020B0604020104020204" pitchFamily="34" charset="0"/>
              </a:rPr>
              <a:t>Mon</a:t>
            </a:r>
            <a:r>
              <a:rPr lang="de-DE" sz="2000">
                <a:latin typeface="Abadi" panose="020B0604020104020204" pitchFamily="34" charset="0"/>
              </a:rPr>
              <a:t>. &amp; </a:t>
            </a:r>
            <a:r>
              <a:rPr lang="de-DE" sz="2000" err="1">
                <a:latin typeface="Abadi" panose="020B0604020104020204" pitchFamily="34" charset="0"/>
              </a:rPr>
              <a:t>Fri</a:t>
            </a:r>
            <a:r>
              <a:rPr lang="de-DE" sz="2000">
                <a:latin typeface="Abadi" panose="020B0604020104020204" pitchFamily="34" charset="0"/>
              </a:rPr>
              <a:t>. 10 – 16; 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de-DE" sz="2000">
                <a:latin typeface="Abadi" panose="020B0604020104020204" pitchFamily="34" charset="0"/>
              </a:rPr>
              <a:t>Wen. 12 - 18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de-DE" sz="2000">
                <a:latin typeface="Abadi" panose="020B0604020104020204" pitchFamily="34" charset="0"/>
              </a:rPr>
              <a:t>Individual support</a:t>
            </a:r>
          </a:p>
        </p:txBody>
      </p:sp>
    </p:spTree>
    <p:extLst>
      <p:ext uri="{BB962C8B-B14F-4D97-AF65-F5344CB8AC3E}">
        <p14:creationId xmlns:p14="http://schemas.microsoft.com/office/powerpoint/2010/main" val="33631891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538D0-31EB-43F7-C3AD-24BA814F1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838" y="3691851"/>
            <a:ext cx="6082321" cy="630000"/>
          </a:xfrm>
        </p:spPr>
        <p:txBody>
          <a:bodyPr>
            <a:normAutofit fontScale="90000"/>
          </a:bodyPr>
          <a:lstStyle/>
          <a:p>
            <a:pPr algn="ctr"/>
            <a:r>
              <a:rPr lang="en-US">
                <a:latin typeface="Abadi" panose="020B0604020104020204" pitchFamily="34" charset="0"/>
              </a:rPr>
              <a:t>October 29</a:t>
            </a:r>
            <a:r>
              <a:rPr lang="en-US" baseline="30000">
                <a:latin typeface="Abadi" panose="020B0604020104020204" pitchFamily="34" charset="0"/>
              </a:rPr>
              <a:t>th</a:t>
            </a:r>
            <a:r>
              <a:rPr lang="en-US">
                <a:latin typeface="Abadi" panose="020B0604020104020204" pitchFamily="34" charset="0"/>
              </a:rPr>
              <a:t>, 14:15, HS 1</a:t>
            </a:r>
            <a:br>
              <a:rPr lang="en-US">
                <a:latin typeface="Abadi" panose="020B0604020104020204" pitchFamily="34" charset="0"/>
              </a:rPr>
            </a:br>
            <a:br>
              <a:rPr lang="en-US">
                <a:latin typeface="Abadi" panose="020B0604020104020204" pitchFamily="34" charset="0"/>
              </a:rPr>
            </a:br>
            <a:r>
              <a:rPr lang="en-US">
                <a:latin typeface="Abadi" panose="020B0604020104020204" pitchFamily="34" charset="0"/>
              </a:rPr>
              <a:t>See you next week!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8C861-25AB-4787-49A7-CD0858C4F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0839" y="821649"/>
            <a:ext cx="6082321" cy="2073966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000" b="1">
                <a:latin typeface="Abadi" panose="020B0604020104020204" pitchFamily="34" charset="0"/>
                <a:ea typeface="+mj-ea"/>
                <a:cs typeface="+mj-cs"/>
              </a:rPr>
              <a:t>Next Lightning Talk:</a:t>
            </a:r>
          </a:p>
          <a:p>
            <a:pPr marL="0" indent="0" algn="ctr">
              <a:buNone/>
            </a:pPr>
            <a:r>
              <a:rPr lang="en-US" sz="3000" b="1">
                <a:latin typeface="Abadi" panose="020B0604020104020204" pitchFamily="34" charset="0"/>
                <a:ea typeface="+mj-ea"/>
                <a:cs typeface="+mj-cs"/>
              </a:rPr>
              <a:t>Social Clubs &amp; Initiatives at Leuphana</a:t>
            </a:r>
          </a:p>
        </p:txBody>
      </p:sp>
    </p:spTree>
    <p:extLst>
      <p:ext uri="{BB962C8B-B14F-4D97-AF65-F5344CB8AC3E}">
        <p14:creationId xmlns:p14="http://schemas.microsoft.com/office/powerpoint/2010/main" val="1289498570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Benutzerdefiniert 1">
      <a:dk1>
        <a:srgbClr val="000000"/>
      </a:dk1>
      <a:lt1>
        <a:srgbClr val="FFFFFF"/>
      </a:lt1>
      <a:dk2>
        <a:srgbClr val="771334"/>
      </a:dk2>
      <a:lt2>
        <a:srgbClr val="E8BAC7"/>
      </a:lt2>
      <a:accent1>
        <a:srgbClr val="771335"/>
      </a:accent1>
      <a:accent2>
        <a:srgbClr val="C59CAB"/>
      </a:accent2>
      <a:accent3>
        <a:srgbClr val="FECD78"/>
      </a:accent3>
      <a:accent4>
        <a:srgbClr val="8E3255"/>
      </a:accent4>
      <a:accent5>
        <a:srgbClr val="FFDA9C"/>
      </a:accent5>
      <a:accent6>
        <a:srgbClr val="4F4D4D"/>
      </a:accent6>
      <a:hlink>
        <a:srgbClr val="FECC78"/>
      </a:hlink>
      <a:folHlink>
        <a:srgbClr val="C59CAB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71E891A511D040A52CA52D008DEB36" ma:contentTypeVersion="10" ma:contentTypeDescription="Create a new document." ma:contentTypeScope="" ma:versionID="f2c5278890231d37c3fc22e35ed49e66">
  <xsd:schema xmlns:xsd="http://www.w3.org/2001/XMLSchema" xmlns:xs="http://www.w3.org/2001/XMLSchema" xmlns:p="http://schemas.microsoft.com/office/2006/metadata/properties" xmlns:ns2="e0647eb4-fdd8-4a76-905c-ef029484ffcd" xmlns:ns3="884d299c-5010-4321-b642-613c40d795bb" targetNamespace="http://schemas.microsoft.com/office/2006/metadata/properties" ma:root="true" ma:fieldsID="7267d7745953879d823ecea1082e03e2" ns2:_="" ns3:_="">
    <xsd:import namespace="e0647eb4-fdd8-4a76-905c-ef029484ffcd"/>
    <xsd:import namespace="884d299c-5010-4321-b642-613c40d795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647eb4-fdd8-4a76-905c-ef029484ff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ba07055-5ffd-4acb-bc18-97989f07bc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4d299c-5010-4321-b642-613c40d795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b4c1be4-22e4-443a-8f9b-7129b2e79c72}" ma:internalName="TaxCatchAll" ma:showField="CatchAllData" ma:web="884d299c-5010-4321-b642-613c40d795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84d299c-5010-4321-b642-613c40d795bb" xsi:nil="true"/>
    <lcf76f155ced4ddcb4097134ff3c332f xmlns="e0647eb4-fdd8-4a76-905c-ef029484ffc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5A8B6E6-FC09-4823-B387-ED2CE0CB198E}"/>
</file>

<file path=customXml/itemProps2.xml><?xml version="1.0" encoding="utf-8"?>
<ds:datastoreItem xmlns:ds="http://schemas.openxmlformats.org/officeDocument/2006/customXml" ds:itemID="{3E39C8F8-E41B-4391-BECA-F212BD4FD405}">
  <ds:schemaRefs>
    <ds:schemaRef ds:uri="884d299c-5010-4321-b642-613c40d795bb"/>
    <ds:schemaRef ds:uri="e0647eb4-fdd8-4a76-905c-ef029484ffcd"/>
    <ds:schemaRef ds:uri="http://schemas.microsoft.com/office/2006/metadata/properties"/>
    <ds:schemaRef ds:uri="http://schemas.microsoft.com/office/infopath/2007/PartnerControls"/>
    <ds:schemaRef ds:uri="http://www.w3.org/2000/xmlns/"/>
    <ds:schemaRef ds:uri="http://www.w3.org/2001/XMLSchema-instance"/>
  </ds:schemaRefs>
</ds:datastoreItem>
</file>

<file path=customXml/itemProps3.xml><?xml version="1.0" encoding="utf-8"?>
<ds:datastoreItem xmlns:ds="http://schemas.openxmlformats.org/officeDocument/2006/customXml" ds:itemID="{DC7944E6-0128-48CE-9C88-06C685DE1F4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(16:9)</PresentationFormat>
  <Slides>19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Benutzerdefiniertes Design</vt:lpstr>
      <vt:lpstr>Welcome to the Lightning talk „Lecture Formats &amp; How to contact professors“</vt:lpstr>
      <vt:lpstr>Agenda</vt:lpstr>
      <vt:lpstr>1. Exam Registration</vt:lpstr>
      <vt:lpstr>1. Exam Registration</vt:lpstr>
      <vt:lpstr>1. Exam Registration</vt:lpstr>
      <vt:lpstr>You still have questions? Look at the document on MyStudy!   Problems? Visit us at the help desk or message studierendenservice@leuphana.de!</vt:lpstr>
      <vt:lpstr>Faculty student councils and programme student councils  – Fachschaften und Fachgruppenvertretungen (FGV)  https://www.leuphana.de/en/university/organisation/students/faculty-student-councils-and-programme-student-councils.html </vt:lpstr>
      <vt:lpstr>Lectures, Seminars, Exercises, Tutorials... do you know the differences? :) </vt:lpstr>
      <vt:lpstr>3. Lecture Formats</vt:lpstr>
      <vt:lpstr>3. Lecture Formats</vt:lpstr>
      <vt:lpstr>3. Lecture Formats</vt:lpstr>
      <vt:lpstr>4. How to adress your professor​</vt:lpstr>
      <vt:lpstr>If you want to contact you Professor via Email​ please use your stud-Mail:  </vt:lpstr>
      <vt:lpstr>​</vt:lpstr>
      <vt:lpstr>​</vt:lpstr>
      <vt:lpstr>​</vt:lpstr>
      <vt:lpstr>Any other questions?</vt:lpstr>
      <vt:lpstr>Any other questions?</vt:lpstr>
      <vt:lpstr>October 29th, 14:15, HS 1  See you next week!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subject/>
  <dc:creator>Mai Huong Crämer</dc:creator>
  <cp:keywords>, docId:055957278F8692A8D5317F9593042DCD</cp:keywords>
  <dc:description/>
  <cp:revision>1</cp:revision>
  <dcterms:modified xsi:type="dcterms:W3CDTF">2025-11-10T09:52:34Z</dcterms:modified>
  <cp:category/>
  <dc:identifier/>
  <cp:contentStatus/>
  <dc:languag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0x0101004A71E891A511D040A52CA52D008DEB36</vt:lpwstr>
  </property>
  <property fmtid="{D5CDD505-2E9C-101B-9397-08002B2CF9AE}" pid="3" name="MediaServiceImageTags">
    <vt:lpwstr/>
  </property>
</Properties>
</file>