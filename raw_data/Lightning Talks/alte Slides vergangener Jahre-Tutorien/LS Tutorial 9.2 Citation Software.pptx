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2.xml" ContentType="application/vnd.openxmlformats-officedocument.presentationml.slideMaster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6" r:id="rId1"/>
    <p:sldMasterId id="2147483648" r:id="rId2"/>
  </p:sldMasterIdLst>
  <p:notesMasterIdLst>
    <p:notesMasterId r:id="rId16"/>
  </p:notesMasterIdLst>
  <p:sldIdLst>
    <p:sldId id="256" r:id="rId3"/>
    <p:sldId id="257" r:id="rId4"/>
    <p:sldId id="258" r:id="rId5"/>
    <p:sldId id="268" r:id="rId6"/>
    <p:sldId id="267" r:id="rId7"/>
    <p:sldId id="269" r:id="rId8"/>
    <p:sldId id="270" r:id="rId9"/>
    <p:sldId id="262" r:id="rId10"/>
    <p:sldId id="259" r:id="rId11"/>
    <p:sldId id="260" r:id="rId12"/>
    <p:sldId id="263" r:id="rId13"/>
    <p:sldId id="264" r:id="rId14"/>
    <p:sldId id="265" r:id="rId15"/>
  </p:sldIdLst>
  <p:sldSz cx="9144000" cy="5143500" type="screen16x9"/>
  <p:notesSz cx="9144000" cy="5143500"/>
  <p:embeddedFontLst>
    <p:embeddedFont>
      <p:font typeface="Arial Narrow" panose="020B0604020202020204" pitchFamily="34" charset="0"/>
      <p:regular r:id="rId17"/>
      <p:bold r:id="rId18"/>
      <p:italic r:id="rId19"/>
      <p:boldItalic r:id="rId20"/>
    </p:embeddedFont>
    <p:embeddedFont>
      <p:font typeface="Ink Free" panose="03080402000500000000" pitchFamily="66" charset="0"/>
      <p:regular r:id="rId21"/>
    </p:embeddedFon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ora" pitchFamily="2" charset="77"/>
      <p:regular r:id="rId26"/>
    </p:embeddedFont>
    <p:embeddedFont>
      <p:font typeface="Quattrocento Sans" panose="020B0502050000020003" pitchFamily="34" charset="0"/>
      <p:regular r:id="rId27"/>
      <p:bold r:id="rId28"/>
      <p:italic r:id="rId29"/>
      <p:boldItalic r:id="rId30"/>
    </p:embeddedFont>
    <p:embeddedFont>
      <p:font typeface="Raleway" pitchFamily="2" charset="77"/>
      <p:regular r:id="rId31"/>
      <p:bold r:id="rId32"/>
      <p:italic r:id="rId33"/>
      <p:boldItalic r:id="rId34"/>
    </p:embeddedFont>
  </p:embeddedFontLst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38"/>
    <p:restoredTop sz="79454"/>
  </p:normalViewPr>
  <p:slideViewPr>
    <p:cSldViewPr>
      <p:cViewPr>
        <p:scale>
          <a:sx n="79" d="100"/>
          <a:sy n="79" d="100"/>
        </p:scale>
        <p:origin x="336" y="1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customXml" Target="../customXml/item1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174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Here you can introduce the students to the topic of the presentation.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aim is to give an overview of the available citation and reference tools, either online or via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Leuphana's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licenses.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a blank slide that you can use to do an introductory activating activity with your group (if you start the session with this presentation). </a:t>
            </a:r>
          </a:p>
          <a:p>
            <a:pPr marL="139700" indent="0">
              <a:buNone/>
              <a:defRPr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1058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Point out to the students that there are more programs (Mendeley...)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Mac and Linus users can theoretically use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Citavi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online, but you should advise against this, because without the Word add-in it is not so useful</a:t>
            </a:r>
          </a:p>
        </p:txBody>
      </p:sp>
    </p:spTree>
    <p:extLst>
      <p:ext uri="{BB962C8B-B14F-4D97-AF65-F5344CB8AC3E}">
        <p14:creationId xmlns:p14="http://schemas.microsoft.com/office/powerpoint/2010/main" val="38699517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Please demonstrate what the web picker and the Word/Google Docs integration looks like so that students can visualize it better</a:t>
            </a:r>
          </a:p>
        </p:txBody>
      </p:sp>
    </p:spTree>
    <p:extLst>
      <p:ext uri="{BB962C8B-B14F-4D97-AF65-F5344CB8AC3E}">
        <p14:creationId xmlns:p14="http://schemas.microsoft.com/office/powerpoint/2010/main" val="3185282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first online citation solution we would like to introduce is Google Scholar.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Scholar is not only a search tool for scientific articles and other publications, but you can also use Google Scholar to easily retrieve the reference of the article or book in different citation styles.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It is also possible to export such a reference to another citation management software.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Offer to present the online tool in the meeting.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second online tool we introduced here is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Scribbr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 addition to the various texts that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Scribbr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offers for academic writing, the website also has its own citation and reference generator. It is very easy and intuitive to use.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Highly recommended for sources that you don't know how to cite or reference in a paper (e.g. a PowerPoint presentation in a lecture).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Suggestion: Offer to present the online tool in the session.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Tutors are encouraged to show some of the features of the citation programs they use (if they use any) and give valuable tips to students.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Here you can conclude the session or, if you wish, summarize the main points.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this is the last presentation in the session, this slide can be used as a preview of the next session topic.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is the moment when you can ask them if they have any final questions about the topic of the presentation.</a:t>
            </a:r>
          </a:p>
          <a:p>
            <a:pPr>
              <a:defRPr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9.svg"/><Relationship Id="rId9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1.jpe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.jpe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29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32" Type="http://schemas.openxmlformats.org/officeDocument/2006/relationships/image" Target="../media/image40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31" Type="http://schemas.openxmlformats.org/officeDocument/2006/relationships/image" Target="../media/image39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17907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5F8C20-5144-BCD6-046F-3A4637BEE2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2822" y="3991169"/>
            <a:ext cx="3388822" cy="391596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de-DE" dirty="0"/>
              <a:t>Tutor*in: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9A44B3A5-D45E-6AC8-EA59-A853F9E8010A}"/>
              </a:ext>
            </a:extLst>
          </p:cNvPr>
          <p:cNvSpPr txBox="1">
            <a:spLocks/>
          </p:cNvSpPr>
          <p:nvPr userDrawn="1"/>
        </p:nvSpPr>
        <p:spPr>
          <a:xfrm>
            <a:off x="4572000" y="3991169"/>
            <a:ext cx="3388822" cy="391596"/>
          </a:xfrm>
          <a:prstGeom prst="rect">
            <a:avLst/>
          </a:prstGeom>
        </p:spPr>
        <p:txBody>
          <a:bodyPr vert="horz" lIns="45720" tIns="22860" rIns="45720" bIns="2286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Datum: </a:t>
            </a:r>
          </a:p>
        </p:txBody>
      </p:sp>
    </p:spTree>
    <p:extLst>
      <p:ext uri="{BB962C8B-B14F-4D97-AF65-F5344CB8AC3E}">
        <p14:creationId xmlns:p14="http://schemas.microsoft.com/office/powerpoint/2010/main" val="282312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3000"/>
            </a:lvl1pPr>
          </a:lstStyle>
          <a:p>
            <a:r>
              <a:rPr lang="de-DE" dirty="0"/>
              <a:t>Agenda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1009333" y="253259"/>
            <a:ext cx="1404703" cy="132166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-281392" y="2212337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883" y="-130302"/>
            <a:ext cx="1947126" cy="2034243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7499118" y="493623"/>
            <a:ext cx="1736763" cy="1457318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63273" y="3613160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7274238" y="-352704"/>
            <a:ext cx="1600562" cy="1594025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-183369" y="3910726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8525253" y="-281905"/>
            <a:ext cx="1079111" cy="1432462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A5BB02-AE5B-0564-222E-54F98BC7CAF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333380" y="1359246"/>
            <a:ext cx="4871083" cy="3240000"/>
          </a:xfrm>
        </p:spPr>
        <p:txBody>
          <a:bodyPr/>
          <a:lstStyle>
            <a:lvl1pPr marL="257175" indent="-257175">
              <a:buFont typeface="+mj-lt"/>
              <a:buAutoNum type="arabicPeriod"/>
              <a:defRPr sz="1800"/>
            </a:lvl1pPr>
            <a:lvl2pPr marL="485775" indent="-257175">
              <a:buFont typeface="+mj-lt"/>
              <a:buAutoNum type="romanLcPeriod"/>
              <a:defRPr sz="1800"/>
            </a:lvl2pPr>
          </a:lstStyle>
          <a:p>
            <a:pPr lvl="0"/>
            <a:r>
              <a:rPr lang="de-DE" dirty="0"/>
              <a:t> </a:t>
            </a:r>
          </a:p>
          <a:p>
            <a:pPr lvl="1"/>
            <a:r>
              <a:rPr lang="de-DE" dirty="0"/>
              <a:t> 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1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990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-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3F13051-CF4E-443B-29BC-001C474A56A9}"/>
              </a:ext>
            </a:extLst>
          </p:cNvPr>
          <p:cNvSpPr/>
          <p:nvPr userDrawn="1"/>
        </p:nvSpPr>
        <p:spPr>
          <a:xfrm>
            <a:off x="947588" y="1091697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241837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Check-In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47182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BE749-CE66-C75E-E6F2-FFD0724629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650930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1324FA-E215-DE5C-2D6F-0CD868303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2000" y="1369414"/>
            <a:ext cx="7200000" cy="324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BE0289C6-007F-CC39-352D-152520C8FEE2}"/>
              </a:ext>
            </a:extLst>
          </p:cNvPr>
          <p:cNvSpPr/>
          <p:nvPr userDrawn="1"/>
        </p:nvSpPr>
        <p:spPr>
          <a:xfrm>
            <a:off x="-403070" y="-401868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20151D67-84F6-087A-13ED-2BF5A2A4837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5926566D-A50F-E915-FB4C-1392EE78A825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FD49F164-DAE8-6727-6DAB-B303AC9C1A18}"/>
              </a:ext>
            </a:extLst>
          </p:cNvPr>
          <p:cNvSpPr/>
          <p:nvPr userDrawn="1"/>
        </p:nvSpPr>
        <p:spPr>
          <a:xfrm>
            <a:off x="-120596" y="73092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8BC7A24B-F3D9-A693-9531-5D0A3B32C020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C3FB793-4DEF-326C-B9F2-AAFE13EF7B3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E1DBF27E-8ABB-7894-AF4C-68B34C6EF44A}"/>
              </a:ext>
            </a:extLst>
          </p:cNvPr>
          <p:cNvSpPr/>
          <p:nvPr userDrawn="1"/>
        </p:nvSpPr>
        <p:spPr>
          <a:xfrm rot="-458312">
            <a:off x="8385884" y="108129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BF99FDA7-CEAC-A470-15A2-8AF647F45C2E}"/>
              </a:ext>
            </a:extLst>
          </p:cNvPr>
          <p:cNvSpPr/>
          <p:nvPr userDrawn="1"/>
        </p:nvSpPr>
        <p:spPr>
          <a:xfrm rot="1296289">
            <a:off x="7823310" y="-18835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4B80B37-6A71-F39A-8153-BF8EBFA9CA05}"/>
              </a:ext>
            </a:extLst>
          </p:cNvPr>
          <p:cNvSpPr/>
          <p:nvPr userDrawn="1"/>
        </p:nvSpPr>
        <p:spPr>
          <a:xfrm rot="2310652">
            <a:off x="-405769" y="1869879"/>
            <a:ext cx="1254981" cy="10477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C39BFFC2-02E0-2076-5648-D928091BA4F6}"/>
              </a:ext>
            </a:extLst>
          </p:cNvPr>
          <p:cNvSpPr/>
          <p:nvPr userDrawn="1"/>
        </p:nvSpPr>
        <p:spPr>
          <a:xfrm rot="7628197">
            <a:off x="8659208" y="1141819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565003B8-E35C-4A98-29B0-022ACADD0DE8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7872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1977806"/>
          </a:xfrm>
        </p:spPr>
        <p:txBody>
          <a:bodyPr lIns="90000" anchor="b"/>
          <a:lstStyle>
            <a:lvl1pPr>
              <a:defRPr sz="30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384CE9-ADC6-C3BB-E2FC-2F28B70A4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3400" y="3245645"/>
            <a:ext cx="7200000" cy="1039907"/>
          </a:xfrm>
        </p:spPr>
        <p:txBody>
          <a:bodyPr lIns="90000"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8762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FDF0A71-9CBE-84BC-7998-A4155D1C9C56}"/>
              </a:ext>
            </a:extLst>
          </p:cNvPr>
          <p:cNvSpPr/>
          <p:nvPr userDrawn="1"/>
        </p:nvSpPr>
        <p:spPr>
          <a:xfrm>
            <a:off x="953400" y="1085850"/>
            <a:ext cx="7200000" cy="319970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PAUSE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1626337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giz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315B97D-904D-C50B-4A96-2667B117C251}"/>
              </a:ext>
            </a:extLst>
          </p:cNvPr>
          <p:cNvSpPr/>
          <p:nvPr userDrawn="1"/>
        </p:nvSpPr>
        <p:spPr>
          <a:xfrm>
            <a:off x="953400" y="1085850"/>
            <a:ext cx="7200000" cy="319970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D501A61-2B18-0ED3-C535-4612EEBAA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3400" y="1085850"/>
            <a:ext cx="7200000" cy="3199702"/>
          </a:xfrm>
        </p:spPr>
        <p:txBody>
          <a:bodyPr lIns="90000" anchor="ctr"/>
          <a:lstStyle>
            <a:lvl1pPr>
              <a:defRPr sz="3000"/>
            </a:lvl1pPr>
          </a:lstStyle>
          <a:p>
            <a:r>
              <a:rPr lang="de-DE" dirty="0"/>
              <a:t>ENERGIZER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A178F449-8545-DE71-DA4C-6496D6DBA5E5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97EBDA71-CB02-6FC7-5CB6-D9B3B43B19B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ED693C2A-789B-19EF-0DE9-566851C2E660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23B757C-C4A0-8B17-AE9A-D6CB2E3272DA}"/>
              </a:ext>
            </a:extLst>
          </p:cNvPr>
          <p:cNvSpPr/>
          <p:nvPr userDrawn="1"/>
        </p:nvSpPr>
        <p:spPr>
          <a:xfrm>
            <a:off x="-422215" y="-96554"/>
            <a:ext cx="1155614" cy="1481110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C042B4BA-2401-D18B-F18B-4A29B272D2E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5AA45E0A-25F5-F8D5-73B9-2D159420F43E}"/>
              </a:ext>
            </a:extLst>
          </p:cNvPr>
          <p:cNvSpPr/>
          <p:nvPr userDrawn="1"/>
        </p:nvSpPr>
        <p:spPr>
          <a:xfrm rot="-458312">
            <a:off x="8104959" y="92321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2C845A3D-32B2-1447-47E4-C90BECB9B2E8}"/>
              </a:ext>
            </a:extLst>
          </p:cNvPr>
          <p:cNvSpPr/>
          <p:nvPr userDrawn="1"/>
        </p:nvSpPr>
        <p:spPr>
          <a:xfrm rot="1296289">
            <a:off x="7624200" y="126860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0EB4A3C2-DCD8-B82C-E32D-C301A85AE3F7}"/>
              </a:ext>
            </a:extLst>
          </p:cNvPr>
          <p:cNvSpPr/>
          <p:nvPr userDrawn="1"/>
        </p:nvSpPr>
        <p:spPr>
          <a:xfrm rot="-2487859">
            <a:off x="520063" y="-41671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B3626150-4971-21DB-4C58-B54468EE242D}"/>
              </a:ext>
            </a:extLst>
          </p:cNvPr>
          <p:cNvSpPr/>
          <p:nvPr userDrawn="1"/>
        </p:nvSpPr>
        <p:spPr>
          <a:xfrm rot="1296289">
            <a:off x="277241" y="4338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518DFD2A-B550-F74E-3DE0-800F448F4FEC}"/>
              </a:ext>
            </a:extLst>
          </p:cNvPr>
          <p:cNvSpPr/>
          <p:nvPr userDrawn="1"/>
        </p:nvSpPr>
        <p:spPr>
          <a:xfrm rot="7628197">
            <a:off x="7548383" y="-24378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AFEA79C4-9927-6B65-7676-017D774F24B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07D31AB0-123B-15BF-B489-0A8469E9A396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87476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73C3F7-A725-A168-57F5-A5ACAC9117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683383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BFAA9C-C85A-A03F-D628-0BFBEFFCD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72000" y="1369219"/>
            <a:ext cx="3561900" cy="32639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D0397D-4828-69AF-16C0-77D8182A2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369219"/>
            <a:ext cx="3561900" cy="32639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72414888-863A-7F49-938F-5E972A82EA70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92922934-2D9F-FFEA-894A-C9CB5345C80F}"/>
              </a:ext>
            </a:extLst>
          </p:cNvPr>
          <p:cNvSpPr/>
          <p:nvPr userDrawn="1"/>
        </p:nvSpPr>
        <p:spPr>
          <a:xfrm>
            <a:off x="-120596" y="73092"/>
            <a:ext cx="1042686" cy="1016145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8B06EBE0-28F0-2460-421C-812848A0CF4B}"/>
              </a:ext>
            </a:extLst>
          </p:cNvPr>
          <p:cNvSpPr/>
          <p:nvPr userDrawn="1"/>
        </p:nvSpPr>
        <p:spPr>
          <a:xfrm rot="7860679">
            <a:off x="334366" y="46546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A4327127-659A-AEE9-A699-17689FB4515C}"/>
              </a:ext>
            </a:extLst>
          </p:cNvPr>
          <p:cNvSpPr/>
          <p:nvPr userDrawn="1"/>
        </p:nvSpPr>
        <p:spPr>
          <a:xfrm rot="-2487859">
            <a:off x="826629" y="-26985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E1420116-728D-9DD6-C96F-FEB09C92235D}"/>
              </a:ext>
            </a:extLst>
          </p:cNvPr>
          <p:cNvSpPr/>
          <p:nvPr userDrawn="1"/>
        </p:nvSpPr>
        <p:spPr>
          <a:xfrm rot="1296289">
            <a:off x="-203778" y="425211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243BE1EB-BFDE-6083-A284-87D7CF37DB8D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FA284C4F-77FA-8BBB-7032-15B26047A961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EF206E22-45CF-248B-6797-2BB7CFC8EBDF}"/>
              </a:ext>
            </a:extLst>
          </p:cNvPr>
          <p:cNvSpPr/>
          <p:nvPr userDrawn="1"/>
        </p:nvSpPr>
        <p:spPr>
          <a:xfrm rot="16008410">
            <a:off x="8200771" y="357236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17FC525E-1B82-33A4-4138-CFFD1DF018B2}"/>
              </a:ext>
            </a:extLst>
          </p:cNvPr>
          <p:cNvSpPr/>
          <p:nvPr userDrawn="1"/>
        </p:nvSpPr>
        <p:spPr>
          <a:xfrm rot="7860679">
            <a:off x="8458522" y="3343840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1DD168A7-BF44-B367-A030-F04BE42823FB}"/>
              </a:ext>
            </a:extLst>
          </p:cNvPr>
          <p:cNvSpPr/>
          <p:nvPr userDrawn="1"/>
        </p:nvSpPr>
        <p:spPr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B1895A35-2902-C1EF-0731-B1979F77C793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12">
            <a:extLst>
              <a:ext uri="{FF2B5EF4-FFF2-40B4-BE49-F238E27FC236}">
                <a16:creationId xmlns:a16="http://schemas.microsoft.com/office/drawing/2014/main" id="{E78247A3-9477-C8B5-82A9-1C29B4E555F6}"/>
              </a:ext>
            </a:extLst>
          </p:cNvPr>
          <p:cNvSpPr/>
          <p:nvPr userDrawn="1"/>
        </p:nvSpPr>
        <p:spPr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0231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7A6022-A198-7B99-5333-A92C521AFC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587312"/>
            <a:ext cx="7200000" cy="630000"/>
          </a:xfrm>
        </p:spPr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61611-BC98-8FC7-6998-CB2FCAF87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000" y="1261269"/>
            <a:ext cx="3526181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16CEA97-79C7-8C43-A7ED-2FC609436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2000" y="1878807"/>
            <a:ext cx="3526181" cy="276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F4D4B16-AEDF-5032-88F4-0CB7020E15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1269"/>
            <a:ext cx="3542850" cy="617538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08C4B-3B79-0941-39EA-7FCD122BB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7"/>
            <a:ext cx="3542850" cy="27638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155CCDE1-46E7-C56E-E499-CAC8BE54C302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35889E93-2A5D-58AD-C395-D2FD5A443DED}"/>
              </a:ext>
            </a:extLst>
          </p:cNvPr>
          <p:cNvSpPr/>
          <p:nvPr userDrawn="1"/>
        </p:nvSpPr>
        <p:spPr>
          <a:xfrm>
            <a:off x="8302970" y="3145869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96CF57D-CA1A-A609-3F9C-8F5C6C7CF86E}"/>
              </a:ext>
            </a:extLst>
          </p:cNvPr>
          <p:cNvSpPr/>
          <p:nvPr userDrawn="1"/>
        </p:nvSpPr>
        <p:spPr>
          <a:xfrm rot="7860679">
            <a:off x="8336347" y="2932849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EEEBD99B-9609-C10D-B938-37A1D1276820}"/>
              </a:ext>
            </a:extLst>
          </p:cNvPr>
          <p:cNvSpPr/>
          <p:nvPr userDrawn="1"/>
        </p:nvSpPr>
        <p:spPr>
          <a:xfrm rot="-458312">
            <a:off x="8355052" y="526573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E104128-F882-CD53-0D5D-FECF05E8306F}"/>
              </a:ext>
            </a:extLst>
          </p:cNvPr>
          <p:cNvSpPr/>
          <p:nvPr userDrawn="1"/>
        </p:nvSpPr>
        <p:spPr>
          <a:xfrm rot="1296289">
            <a:off x="7695168" y="-263701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2F05AF10-F9C8-3261-CB2F-ECE3F6CFA40E}"/>
              </a:ext>
            </a:extLst>
          </p:cNvPr>
          <p:cNvSpPr/>
          <p:nvPr userDrawn="1"/>
        </p:nvSpPr>
        <p:spPr>
          <a:xfrm rot="7628197">
            <a:off x="8578643" y="65966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ED978E30-DF37-EF1E-4EDA-D257DB52A802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C28FAE3-EF77-16F7-D36F-89291BDBA23F}"/>
              </a:ext>
            </a:extLst>
          </p:cNvPr>
          <p:cNvSpPr/>
          <p:nvPr userDrawn="1"/>
        </p:nvSpPr>
        <p:spPr>
          <a:xfrm>
            <a:off x="-624791" y="2068766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11">
            <a:extLst>
              <a:ext uri="{FF2B5EF4-FFF2-40B4-BE49-F238E27FC236}">
                <a16:creationId xmlns:a16="http://schemas.microsoft.com/office/drawing/2014/main" id="{CEB1C3FA-1EEC-56C1-1AF2-E589AD20F890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B2B7A818-0250-2839-7F03-AE94C1840AFE}"/>
              </a:ext>
            </a:extLst>
          </p:cNvPr>
          <p:cNvSpPr/>
          <p:nvPr userDrawn="1"/>
        </p:nvSpPr>
        <p:spPr>
          <a:xfrm rot="7860679">
            <a:off x="-377688" y="2336570"/>
            <a:ext cx="800478" cy="822848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7C0607F9-ADE3-ED8B-F55F-39BB06FB9595}"/>
              </a:ext>
            </a:extLst>
          </p:cNvPr>
          <p:cNvSpPr/>
          <p:nvPr userDrawn="1"/>
        </p:nvSpPr>
        <p:spPr>
          <a:xfrm rot="-2487859">
            <a:off x="377291" y="-103887"/>
            <a:ext cx="941388" cy="842478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4">
            <a:extLst>
              <a:ext uri="{FF2B5EF4-FFF2-40B4-BE49-F238E27FC236}">
                <a16:creationId xmlns:a16="http://schemas.microsoft.com/office/drawing/2014/main" id="{64108208-23A2-8DFE-FE94-2A9E0DE10064}"/>
              </a:ext>
            </a:extLst>
          </p:cNvPr>
          <p:cNvSpPr/>
          <p:nvPr userDrawn="1"/>
        </p:nvSpPr>
        <p:spPr>
          <a:xfrm>
            <a:off x="-306763" y="-466327"/>
            <a:ext cx="1304903" cy="1296699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57114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BC3409-D4E0-6BA5-6B2A-66758ACC4B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Überschrift</a:t>
            </a:r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FEFB1F30-94B0-DC85-DC82-E761441E3253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0">
            <a:extLst>
              <a:ext uri="{FF2B5EF4-FFF2-40B4-BE49-F238E27FC236}">
                <a16:creationId xmlns:a16="http://schemas.microsoft.com/office/drawing/2014/main" id="{2E75B04F-895F-3DA1-9C2A-C58FD4F32815}"/>
              </a:ext>
            </a:extLst>
          </p:cNvPr>
          <p:cNvSpPr/>
          <p:nvPr userDrawn="1"/>
        </p:nvSpPr>
        <p:spPr>
          <a:xfrm rot="-2487859">
            <a:off x="317116" y="-65398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9161E3FC-3BC4-55BC-EC0E-B8D63DB7B1E7}"/>
              </a:ext>
            </a:extLst>
          </p:cNvPr>
          <p:cNvSpPr/>
          <p:nvPr userDrawn="1"/>
        </p:nvSpPr>
        <p:spPr>
          <a:xfrm>
            <a:off x="46472" y="301604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927988C0-3255-8D48-C60F-7AAB697B9B55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3" name="Freeform 4">
            <a:extLst>
              <a:ext uri="{FF2B5EF4-FFF2-40B4-BE49-F238E27FC236}">
                <a16:creationId xmlns:a16="http://schemas.microsoft.com/office/drawing/2014/main" id="{B73C15CE-7BD2-833F-6D37-C3BE622A4E85}"/>
              </a:ext>
            </a:extLst>
          </p:cNvPr>
          <p:cNvSpPr/>
          <p:nvPr userDrawn="1"/>
        </p:nvSpPr>
        <p:spPr>
          <a:xfrm>
            <a:off x="-408800" y="-370708"/>
            <a:ext cx="1456094" cy="1554857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D8D305A3-D8CD-8EDA-5D40-B2FA889FB87E}"/>
              </a:ext>
            </a:extLst>
          </p:cNvPr>
          <p:cNvSpPr/>
          <p:nvPr userDrawn="1"/>
        </p:nvSpPr>
        <p:spPr>
          <a:xfrm rot="16008410">
            <a:off x="7916997" y="356402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5" name="Freeform 6">
            <a:extLst>
              <a:ext uri="{FF2B5EF4-FFF2-40B4-BE49-F238E27FC236}">
                <a16:creationId xmlns:a16="http://schemas.microsoft.com/office/drawing/2014/main" id="{465EF946-DAE2-326E-773C-FD6B40EF54EE}"/>
              </a:ext>
            </a:extLst>
          </p:cNvPr>
          <p:cNvSpPr/>
          <p:nvPr userDrawn="1"/>
        </p:nvSpPr>
        <p:spPr>
          <a:xfrm rot="7860679">
            <a:off x="63273" y="3613160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83D10F2F-D60C-5C95-8C72-D398638FD89E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8" name="Freeform 9">
            <a:extLst>
              <a:ext uri="{FF2B5EF4-FFF2-40B4-BE49-F238E27FC236}">
                <a16:creationId xmlns:a16="http://schemas.microsoft.com/office/drawing/2014/main" id="{73FE52D7-8F19-AD71-6D8B-F8BAB2677DFD}"/>
              </a:ext>
            </a:extLst>
          </p:cNvPr>
          <p:cNvSpPr/>
          <p:nvPr userDrawn="1"/>
        </p:nvSpPr>
        <p:spPr>
          <a:xfrm rot="1296289">
            <a:off x="7692175" y="-272960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9" name="Freeform 10">
            <a:extLst>
              <a:ext uri="{FF2B5EF4-FFF2-40B4-BE49-F238E27FC236}">
                <a16:creationId xmlns:a16="http://schemas.microsoft.com/office/drawing/2014/main" id="{F82FEDA8-4EF5-352B-0203-0F0F4CED9C42}"/>
              </a:ext>
            </a:extLst>
          </p:cNvPr>
          <p:cNvSpPr/>
          <p:nvPr userDrawn="1"/>
        </p:nvSpPr>
        <p:spPr>
          <a:xfrm rot="-2487859">
            <a:off x="8476227" y="2383742"/>
            <a:ext cx="1016862" cy="809877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F78FDF13-7102-6390-E270-30320B7A516D}"/>
              </a:ext>
            </a:extLst>
          </p:cNvPr>
          <p:cNvSpPr/>
          <p:nvPr userDrawn="1"/>
        </p:nvSpPr>
        <p:spPr>
          <a:xfrm rot="1296289">
            <a:off x="148477" y="3943212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41" name="Freeform 12">
            <a:extLst>
              <a:ext uri="{FF2B5EF4-FFF2-40B4-BE49-F238E27FC236}">
                <a16:creationId xmlns:a16="http://schemas.microsoft.com/office/drawing/2014/main" id="{1A4604D4-1613-D2EC-3684-B926344CA368}"/>
              </a:ext>
            </a:extLst>
          </p:cNvPr>
          <p:cNvSpPr/>
          <p:nvPr userDrawn="1"/>
        </p:nvSpPr>
        <p:spPr>
          <a:xfrm rot="2046247">
            <a:off x="8861597" y="-178740"/>
            <a:ext cx="853546" cy="968131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262380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>
            <a:extLst>
              <a:ext uri="{FF2B5EF4-FFF2-40B4-BE49-F238E27FC236}">
                <a16:creationId xmlns:a16="http://schemas.microsoft.com/office/drawing/2014/main" id="{39212D54-E1E5-07A5-E13A-D94B11CC73CB}"/>
              </a:ext>
            </a:extLst>
          </p:cNvPr>
          <p:cNvSpPr/>
          <p:nvPr userDrawn="1"/>
        </p:nvSpPr>
        <p:spPr>
          <a:xfrm rot="-2487859">
            <a:off x="924497" y="-196079"/>
            <a:ext cx="1050461" cy="101020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138968B-20AA-CAF8-700F-BAB93331E2BF}"/>
              </a:ext>
            </a:extLst>
          </p:cNvPr>
          <p:cNvSpPr/>
          <p:nvPr userDrawn="1"/>
        </p:nvSpPr>
        <p:spPr>
          <a:xfrm>
            <a:off x="175579" y="2794604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29E3E70-0077-8ABC-C836-0F50A60F7BFD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CF66559-D777-73EC-5EEC-F85C25559919}"/>
              </a:ext>
            </a:extLst>
          </p:cNvPr>
          <p:cNvSpPr/>
          <p:nvPr userDrawn="1"/>
        </p:nvSpPr>
        <p:spPr>
          <a:xfrm>
            <a:off x="-408800" y="-370708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650D41EF-FF4F-AD39-D072-DA92CD711E07}"/>
              </a:ext>
            </a:extLst>
          </p:cNvPr>
          <p:cNvSpPr/>
          <p:nvPr userDrawn="1"/>
        </p:nvSpPr>
        <p:spPr>
          <a:xfrm rot="16008410">
            <a:off x="7679348" y="1225890"/>
            <a:ext cx="1173794" cy="1152696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F621165A-D9E9-AFC9-8B13-32E2C07D5C16}"/>
              </a:ext>
            </a:extLst>
          </p:cNvPr>
          <p:cNvSpPr/>
          <p:nvPr userDrawn="1"/>
        </p:nvSpPr>
        <p:spPr>
          <a:xfrm rot="7860679">
            <a:off x="351398" y="2868168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BB7A524-6050-E014-BA58-27ABC302D830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A399C87-A7CA-F8A4-8F37-8B3B816A02D4}"/>
              </a:ext>
            </a:extLst>
          </p:cNvPr>
          <p:cNvSpPr/>
          <p:nvPr userDrawn="1"/>
        </p:nvSpPr>
        <p:spPr>
          <a:xfrm rot="-458312">
            <a:off x="7870781" y="494660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521874F-32FC-DCEF-0872-46FCFE4B5C46}"/>
              </a:ext>
            </a:extLst>
          </p:cNvPr>
          <p:cNvSpPr/>
          <p:nvPr userDrawn="1"/>
        </p:nvSpPr>
        <p:spPr>
          <a:xfrm rot="1296289">
            <a:off x="7415292" y="-128621"/>
            <a:ext cx="1265998" cy="1077324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67DDB4D3-61D7-854C-133A-D14CBB020B2E}"/>
              </a:ext>
            </a:extLst>
          </p:cNvPr>
          <p:cNvSpPr/>
          <p:nvPr userDrawn="1"/>
        </p:nvSpPr>
        <p:spPr>
          <a:xfrm rot="-2487859">
            <a:off x="8513894" y="2483256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80A42D8-0EF5-016E-B82E-40B3FD20D517}"/>
              </a:ext>
            </a:extLst>
          </p:cNvPr>
          <p:cNvSpPr/>
          <p:nvPr userDrawn="1"/>
        </p:nvSpPr>
        <p:spPr>
          <a:xfrm rot="1296289">
            <a:off x="309959" y="3495606"/>
            <a:ext cx="1647048" cy="1377040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CF364CAB-26D9-242D-2173-35EED9694FFA}"/>
              </a:ext>
            </a:extLst>
          </p:cNvPr>
          <p:cNvSpPr/>
          <p:nvPr userDrawn="1"/>
        </p:nvSpPr>
        <p:spPr>
          <a:xfrm rot="2046247">
            <a:off x="8106435" y="541755"/>
            <a:ext cx="1106586" cy="1136869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16DFAD4E-E1FC-D536-8781-C7766040C289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443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16E78-2793-B012-CB0C-646A6A5A9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2000" y="740569"/>
            <a:ext cx="2617783" cy="6300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BB85FD-ECDA-36AA-2F63-F92D935D9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7" y="740569"/>
            <a:ext cx="4284213" cy="36552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58A1FB-E57C-5418-EBE1-354F986714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F47AD150-4E7B-64E2-B586-D89BE5026781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2" name="Freeform 2">
            <a:extLst>
              <a:ext uri="{FF2B5EF4-FFF2-40B4-BE49-F238E27FC236}">
                <a16:creationId xmlns:a16="http://schemas.microsoft.com/office/drawing/2014/main" id="{B785267F-9B21-E2D1-8B7C-5852346519D4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3" name="Freeform 3">
            <a:extLst>
              <a:ext uri="{FF2B5EF4-FFF2-40B4-BE49-F238E27FC236}">
                <a16:creationId xmlns:a16="http://schemas.microsoft.com/office/drawing/2014/main" id="{DEC9A8E5-7307-5793-E10D-501433896A88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A2353211-40FC-5740-32CD-1C4B636D7A37}"/>
              </a:ext>
            </a:extLst>
          </p:cNvPr>
          <p:cNvSpPr/>
          <p:nvPr userDrawn="1"/>
        </p:nvSpPr>
        <p:spPr>
          <a:xfrm>
            <a:off x="-172347" y="-51866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B03E0420-8A6D-6BE6-D535-527AD41A1A23}"/>
              </a:ext>
            </a:extLst>
          </p:cNvPr>
          <p:cNvSpPr/>
          <p:nvPr userDrawn="1"/>
        </p:nvSpPr>
        <p:spPr>
          <a:xfrm rot="7860679">
            <a:off x="92445" y="85383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6" name="Freeform 8">
            <a:extLst>
              <a:ext uri="{FF2B5EF4-FFF2-40B4-BE49-F238E27FC236}">
                <a16:creationId xmlns:a16="http://schemas.microsoft.com/office/drawing/2014/main" id="{AE95795B-3C8A-0529-1C07-E4386818A618}"/>
              </a:ext>
            </a:extLst>
          </p:cNvPr>
          <p:cNvSpPr/>
          <p:nvPr userDrawn="1"/>
        </p:nvSpPr>
        <p:spPr>
          <a:xfrm rot="-458312">
            <a:off x="8464614" y="-142621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7" name="Freeform 9">
            <a:extLst>
              <a:ext uri="{FF2B5EF4-FFF2-40B4-BE49-F238E27FC236}">
                <a16:creationId xmlns:a16="http://schemas.microsoft.com/office/drawing/2014/main" id="{7CD293D5-CCCD-DB27-0368-65760863B577}"/>
              </a:ext>
            </a:extLst>
          </p:cNvPr>
          <p:cNvSpPr/>
          <p:nvPr userDrawn="1"/>
        </p:nvSpPr>
        <p:spPr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8" name="Freeform 10">
            <a:extLst>
              <a:ext uri="{FF2B5EF4-FFF2-40B4-BE49-F238E27FC236}">
                <a16:creationId xmlns:a16="http://schemas.microsoft.com/office/drawing/2014/main" id="{1D3F4BBB-70D6-DB0B-303C-DA23C05C8358}"/>
              </a:ext>
            </a:extLst>
          </p:cNvPr>
          <p:cNvSpPr/>
          <p:nvPr userDrawn="1"/>
        </p:nvSpPr>
        <p:spPr>
          <a:xfrm rot="-2487859">
            <a:off x="871470" y="-5358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9" name="Freeform 11">
            <a:extLst>
              <a:ext uri="{FF2B5EF4-FFF2-40B4-BE49-F238E27FC236}">
                <a16:creationId xmlns:a16="http://schemas.microsoft.com/office/drawing/2014/main" id="{A91B5530-0FF0-FD42-3AB8-DF8DB9D91CC9}"/>
              </a:ext>
            </a:extLst>
          </p:cNvPr>
          <p:cNvSpPr/>
          <p:nvPr userDrawn="1"/>
        </p:nvSpPr>
        <p:spPr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0" name="Freeform 12">
            <a:extLst>
              <a:ext uri="{FF2B5EF4-FFF2-40B4-BE49-F238E27FC236}">
                <a16:creationId xmlns:a16="http://schemas.microsoft.com/office/drawing/2014/main" id="{23FCDB0A-FE28-5239-063A-55FF77DAEA5E}"/>
              </a:ext>
            </a:extLst>
          </p:cNvPr>
          <p:cNvSpPr/>
          <p:nvPr userDrawn="1"/>
        </p:nvSpPr>
        <p:spPr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AF83C77C-7708-6BFD-1A3A-1A7FE688E2D6}"/>
              </a:ext>
            </a:extLst>
          </p:cNvPr>
          <p:cNvSpPr/>
          <p:nvPr userDrawn="1"/>
        </p:nvSpPr>
        <p:spPr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45E5D326-E072-5757-7F26-55041BCADC38}"/>
              </a:ext>
            </a:extLst>
          </p:cNvPr>
          <p:cNvSpPr/>
          <p:nvPr userDrawn="1"/>
        </p:nvSpPr>
        <p:spPr>
          <a:xfrm rot="7860679">
            <a:off x="8125978" y="4092804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800000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5FF1BE-6E89-BD9B-6F40-A62ECDE55D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284212" cy="3655219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de-DE" dirty="0"/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0BB0451-57CE-6C95-DCE7-EB3A0D295758}"/>
              </a:ext>
            </a:extLst>
          </p:cNvPr>
          <p:cNvSpPr/>
          <p:nvPr userDrawn="1"/>
        </p:nvSpPr>
        <p:spPr>
          <a:xfrm>
            <a:off x="-494409" y="3653516"/>
            <a:ext cx="1249582" cy="1197327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CA1BBC5-0EE1-A6FB-D24A-FE0784B1A512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AC90572-095E-D207-28CC-5CC7CE8AAB54}"/>
              </a:ext>
            </a:extLst>
          </p:cNvPr>
          <p:cNvSpPr/>
          <p:nvPr userDrawn="1"/>
        </p:nvSpPr>
        <p:spPr>
          <a:xfrm>
            <a:off x="-172347" y="-51866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6F91B3CD-CC8F-0B3A-D18E-D660FC7D92FD}"/>
              </a:ext>
            </a:extLst>
          </p:cNvPr>
          <p:cNvSpPr/>
          <p:nvPr userDrawn="1"/>
        </p:nvSpPr>
        <p:spPr>
          <a:xfrm rot="7860679">
            <a:off x="92445" y="85383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8">
            <a:extLst>
              <a:ext uri="{FF2B5EF4-FFF2-40B4-BE49-F238E27FC236}">
                <a16:creationId xmlns:a16="http://schemas.microsoft.com/office/drawing/2014/main" id="{9163308A-5476-0EE0-5224-021FE11335A9}"/>
              </a:ext>
            </a:extLst>
          </p:cNvPr>
          <p:cNvSpPr/>
          <p:nvPr userDrawn="1"/>
        </p:nvSpPr>
        <p:spPr>
          <a:xfrm rot="-458312">
            <a:off x="8464614" y="-142621"/>
            <a:ext cx="1577896" cy="1921634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E41D98E6-757A-F89B-A562-5CC2FF52C434}"/>
              </a:ext>
            </a:extLst>
          </p:cNvPr>
          <p:cNvSpPr/>
          <p:nvPr userDrawn="1"/>
        </p:nvSpPr>
        <p:spPr>
          <a:xfrm rot="1296289">
            <a:off x="7714580" y="-127772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25F7D7F9-A4A2-443D-DB6B-12FBDA0EBEF5}"/>
              </a:ext>
            </a:extLst>
          </p:cNvPr>
          <p:cNvSpPr/>
          <p:nvPr userDrawn="1"/>
        </p:nvSpPr>
        <p:spPr>
          <a:xfrm rot="-2487859">
            <a:off x="871470" y="-53583"/>
            <a:ext cx="881884" cy="747196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1">
            <a:extLst>
              <a:ext uri="{FF2B5EF4-FFF2-40B4-BE49-F238E27FC236}">
                <a16:creationId xmlns:a16="http://schemas.microsoft.com/office/drawing/2014/main" id="{16B66D66-EF89-D409-F216-68548596F9D9}"/>
              </a:ext>
            </a:extLst>
          </p:cNvPr>
          <p:cNvSpPr/>
          <p:nvPr userDrawn="1"/>
        </p:nvSpPr>
        <p:spPr>
          <a:xfrm rot="1296289">
            <a:off x="-539000" y="2932679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5DADAE46-D778-7C30-362F-6F7AE6433EFC}"/>
              </a:ext>
            </a:extLst>
          </p:cNvPr>
          <p:cNvSpPr/>
          <p:nvPr userDrawn="1"/>
        </p:nvSpPr>
        <p:spPr>
          <a:xfrm rot="1597264">
            <a:off x="8671394" y="604272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88CBCFF4-7254-B7D0-3D1F-F21E7E31B92C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2BC145F-1719-414C-C71E-C2EC49EB0A6C}"/>
              </a:ext>
            </a:extLst>
          </p:cNvPr>
          <p:cNvSpPr txBox="1">
            <a:spLocks/>
          </p:cNvSpPr>
          <p:nvPr userDrawn="1"/>
        </p:nvSpPr>
        <p:spPr>
          <a:xfrm>
            <a:off x="972000" y="740569"/>
            <a:ext cx="2617783" cy="630000"/>
          </a:xfrm>
          <a:prstGeom prst="rect">
            <a:avLst/>
          </a:prstGeom>
        </p:spPr>
        <p:txBody>
          <a:bodyPr vert="horz" lIns="45720" tIns="22860" rIns="45720" bIns="2286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600" dirty="0"/>
              <a:t>Überschrift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C519E988-B3EA-8638-30E0-6D5CC7C1CA3E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972000" y="1543050"/>
            <a:ext cx="2607019" cy="28590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4" name="Freeform 5">
            <a:extLst>
              <a:ext uri="{FF2B5EF4-FFF2-40B4-BE49-F238E27FC236}">
                <a16:creationId xmlns:a16="http://schemas.microsoft.com/office/drawing/2014/main" id="{BFAEB560-E424-6593-FE5E-1B75DEA3BB45}"/>
              </a:ext>
            </a:extLst>
          </p:cNvPr>
          <p:cNvSpPr/>
          <p:nvPr userDrawn="1"/>
        </p:nvSpPr>
        <p:spPr>
          <a:xfrm rot="7999432">
            <a:off x="8522608" y="3367698"/>
            <a:ext cx="1398987" cy="1267883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AB5C5D13-66A6-41D5-C8D9-D17B7D1DDE76}"/>
              </a:ext>
            </a:extLst>
          </p:cNvPr>
          <p:cNvSpPr/>
          <p:nvPr userDrawn="1"/>
        </p:nvSpPr>
        <p:spPr>
          <a:xfrm rot="7860679">
            <a:off x="8125978" y="4092804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4149009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093141" y="1201564"/>
            <a:ext cx="6858000" cy="311896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3115147"/>
          </a:xfrm>
        </p:spPr>
        <p:txBody>
          <a:bodyPr anchor="ctr"/>
          <a:lstStyle>
            <a:lvl1pPr algn="ctr">
              <a:defRPr sz="3000"/>
            </a:lvl1pPr>
          </a:lstStyle>
          <a:p>
            <a:r>
              <a:rPr lang="de-DE" dirty="0"/>
              <a:t>Gibt es offene Fragen?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357519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i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9158FE7-BF23-3A43-1F93-3546E5471C12}"/>
              </a:ext>
            </a:extLst>
          </p:cNvPr>
          <p:cNvSpPr/>
          <p:nvPr userDrawn="1"/>
        </p:nvSpPr>
        <p:spPr>
          <a:xfrm>
            <a:off x="1102821" y="1197109"/>
            <a:ext cx="6858000" cy="311896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6FD5BB2-5FA1-0CAB-7744-34BA64E2A5B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2821" y="1205384"/>
            <a:ext cx="6858000" cy="3110692"/>
          </a:xfrm>
        </p:spPr>
        <p:txBody>
          <a:bodyPr anchor="ctr"/>
          <a:lstStyle>
            <a:lvl1pPr algn="ctr">
              <a:defRPr sz="3000"/>
            </a:lvl1pPr>
          </a:lstStyle>
          <a:p>
            <a:r>
              <a:rPr lang="de-DE" dirty="0"/>
              <a:t>Schön das Ihr da wart!</a:t>
            </a:r>
            <a:br>
              <a:rPr lang="de-DE" dirty="0"/>
            </a:br>
            <a:r>
              <a:rPr lang="de-DE" dirty="0"/>
              <a:t>Bis nächste Woche 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446A5110-DC5A-B3A0-2913-617848A9DD3F}"/>
              </a:ext>
            </a:extLst>
          </p:cNvPr>
          <p:cNvSpPr/>
          <p:nvPr userDrawn="1"/>
        </p:nvSpPr>
        <p:spPr>
          <a:xfrm>
            <a:off x="-631546" y="2102047"/>
            <a:ext cx="1249582" cy="2757382"/>
          </a:xfrm>
          <a:custGeom>
            <a:avLst/>
            <a:gdLst/>
            <a:ahLst/>
            <a:cxnLst/>
            <a:rect l="l" t="t" r="r" b="b"/>
            <a:pathLst>
              <a:path w="2499164" h="2394654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D191DFAB-66D4-C0DE-A883-51059913DBB4}"/>
              </a:ext>
            </a:extLst>
          </p:cNvPr>
          <p:cNvSpPr/>
          <p:nvPr userDrawn="1"/>
        </p:nvSpPr>
        <p:spPr>
          <a:xfrm rot="4680789">
            <a:off x="8128709" y="4135491"/>
            <a:ext cx="1317917" cy="1262805"/>
          </a:xfrm>
          <a:custGeom>
            <a:avLst/>
            <a:gdLst/>
            <a:ahLst/>
            <a:cxnLst/>
            <a:rect l="l" t="t" r="r" b="b"/>
            <a:pathLst>
              <a:path w="2635834" h="2525609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B97E9180-2D30-EB36-7569-B410AF92EEBA}"/>
              </a:ext>
            </a:extLst>
          </p:cNvPr>
          <p:cNvSpPr/>
          <p:nvPr userDrawn="1"/>
        </p:nvSpPr>
        <p:spPr>
          <a:xfrm>
            <a:off x="7716851" y="3566736"/>
            <a:ext cx="1752955" cy="1708334"/>
          </a:xfrm>
          <a:custGeom>
            <a:avLst/>
            <a:gdLst/>
            <a:ahLst/>
            <a:cxnLst/>
            <a:rect l="l" t="t" r="r" b="b"/>
            <a:pathLst>
              <a:path w="3505909" h="3416667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036D9318-1EB3-DAA5-E306-1D9E0E86FD06}"/>
              </a:ext>
            </a:extLst>
          </p:cNvPr>
          <p:cNvSpPr/>
          <p:nvPr userDrawn="1"/>
        </p:nvSpPr>
        <p:spPr>
          <a:xfrm>
            <a:off x="-120597" y="73093"/>
            <a:ext cx="1406614" cy="1390931"/>
          </a:xfrm>
          <a:custGeom>
            <a:avLst/>
            <a:gdLst/>
            <a:ahLst/>
            <a:cxnLst/>
            <a:rect l="l" t="t" r="r" b="b"/>
            <a:pathLst>
              <a:path w="2085371" h="2032289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1" name="Freeform 6">
            <a:extLst>
              <a:ext uri="{FF2B5EF4-FFF2-40B4-BE49-F238E27FC236}">
                <a16:creationId xmlns:a16="http://schemas.microsoft.com/office/drawing/2014/main" id="{B000B13F-E65B-B095-4667-ADCCCC9F3E95}"/>
              </a:ext>
            </a:extLst>
          </p:cNvPr>
          <p:cNvSpPr/>
          <p:nvPr userDrawn="1"/>
        </p:nvSpPr>
        <p:spPr>
          <a:xfrm rot="7860679">
            <a:off x="31651" y="157854"/>
            <a:ext cx="800478" cy="745172"/>
          </a:xfrm>
          <a:custGeom>
            <a:avLst/>
            <a:gdLst/>
            <a:ahLst/>
            <a:cxnLst/>
            <a:rect l="l" t="t" r="r" b="b"/>
            <a:pathLst>
              <a:path w="1600955" h="1490343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3C48FF0-42D7-744D-5407-FCEEF9AEF616}"/>
              </a:ext>
            </a:extLst>
          </p:cNvPr>
          <p:cNvSpPr/>
          <p:nvPr userDrawn="1"/>
        </p:nvSpPr>
        <p:spPr>
          <a:xfrm rot="7860679">
            <a:off x="7965339" y="3691202"/>
            <a:ext cx="1121852" cy="1044342"/>
          </a:xfrm>
          <a:custGeom>
            <a:avLst/>
            <a:gdLst/>
            <a:ahLst/>
            <a:cxnLst/>
            <a:rect l="l" t="t" r="r" b="b"/>
            <a:pathLst>
              <a:path w="2243704" h="2088684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3F3C368A-2860-D104-2E7E-A1E0850FF162}"/>
              </a:ext>
            </a:extLst>
          </p:cNvPr>
          <p:cNvSpPr/>
          <p:nvPr userDrawn="1"/>
        </p:nvSpPr>
        <p:spPr>
          <a:xfrm rot="-458312">
            <a:off x="8134661" y="-239338"/>
            <a:ext cx="1577896" cy="1511911"/>
          </a:xfrm>
          <a:custGeom>
            <a:avLst/>
            <a:gdLst/>
            <a:ahLst/>
            <a:cxnLst/>
            <a:rect l="l" t="t" r="r" b="b"/>
            <a:pathLst>
              <a:path w="3155791" h="3023821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10005275-8CE9-6894-87D7-1AE6CBE9D095}"/>
              </a:ext>
            </a:extLst>
          </p:cNvPr>
          <p:cNvSpPr/>
          <p:nvPr userDrawn="1"/>
        </p:nvSpPr>
        <p:spPr>
          <a:xfrm rot="1296289">
            <a:off x="8160002" y="756299"/>
            <a:ext cx="1132800" cy="959791"/>
          </a:xfrm>
          <a:custGeom>
            <a:avLst/>
            <a:gdLst/>
            <a:ahLst/>
            <a:cxnLst/>
            <a:rect l="l" t="t" r="r" b="b"/>
            <a:pathLst>
              <a:path w="2265599" h="1919581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B77F8106-9FDA-71DB-2770-6DB92056C779}"/>
              </a:ext>
            </a:extLst>
          </p:cNvPr>
          <p:cNvSpPr/>
          <p:nvPr userDrawn="1"/>
        </p:nvSpPr>
        <p:spPr>
          <a:xfrm rot="-2487859">
            <a:off x="897473" y="-138746"/>
            <a:ext cx="1080876" cy="901059"/>
          </a:xfrm>
          <a:custGeom>
            <a:avLst/>
            <a:gdLst/>
            <a:ahLst/>
            <a:cxnLst/>
            <a:rect l="l" t="t" r="r" b="b"/>
            <a:pathLst>
              <a:path w="1763767" h="1494392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DA3E4F1B-CD3B-C11B-EBAF-B345B08825A4}"/>
              </a:ext>
            </a:extLst>
          </p:cNvPr>
          <p:cNvSpPr/>
          <p:nvPr userDrawn="1"/>
        </p:nvSpPr>
        <p:spPr>
          <a:xfrm rot="1296289">
            <a:off x="-184880" y="3939896"/>
            <a:ext cx="1215140" cy="1029555"/>
          </a:xfrm>
          <a:custGeom>
            <a:avLst/>
            <a:gdLst/>
            <a:ahLst/>
            <a:cxnLst/>
            <a:rect l="l" t="t" r="r" b="b"/>
            <a:pathLst>
              <a:path w="2430280" h="205911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D7983469-38C3-012D-0693-99BA1B98B12F}"/>
              </a:ext>
            </a:extLst>
          </p:cNvPr>
          <p:cNvSpPr/>
          <p:nvPr userDrawn="1"/>
        </p:nvSpPr>
        <p:spPr>
          <a:xfrm rot="7628197">
            <a:off x="7650425" y="279861"/>
            <a:ext cx="969584" cy="902595"/>
          </a:xfrm>
          <a:custGeom>
            <a:avLst/>
            <a:gdLst/>
            <a:ahLst/>
            <a:cxnLst/>
            <a:rect l="l" t="t" r="r" b="b"/>
            <a:pathLst>
              <a:path w="1939168" h="1805189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386398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E3A0CB0-E9D5-E099-7793-E4F66CD0D4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38453" y="2403662"/>
            <a:ext cx="1186907" cy="796382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F9AFEAC-D5A8-503D-7C40-CF3CBCA3C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10783" y="3445901"/>
            <a:ext cx="751320" cy="79638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3EA40C45-80E3-9DBE-0D88-9108036EE6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819900" y="3319345"/>
            <a:ext cx="974652" cy="796382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EF5E2560-0A3A-94A2-5A16-9B894912A2B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838862" y="3461046"/>
            <a:ext cx="1129342" cy="79638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CE314E4-F661-2E60-D488-01881579C4E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63452" y="2532242"/>
            <a:ext cx="1016933" cy="796382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CC1A16C3-D223-9B94-BC6D-9D2FC378475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242634" y="1610492"/>
            <a:ext cx="887671" cy="796382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35FDDE54-74CC-5209-2E8E-94F46737BDF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110215" y="4263375"/>
            <a:ext cx="1040121" cy="796382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4559DBB7-12D0-1FD0-FC5C-934CA88C7871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74630" y="2400004"/>
            <a:ext cx="1096610" cy="796382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>
            <a:extLst>
              <a:ext uri="{FF2B5EF4-FFF2-40B4-BE49-F238E27FC236}">
                <a16:creationId xmlns:a16="http://schemas.microsoft.com/office/drawing/2014/main" id="{C6AD4F95-6B05-C91C-C7FC-AA231BBD4F4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046601" y="1573302"/>
            <a:ext cx="1078758" cy="796382"/>
          </a:xfrm>
          <a:prstGeom prst="rect">
            <a:avLst/>
          </a:prstGeom>
        </p:spPr>
      </p:pic>
      <p:grpSp>
        <p:nvGrpSpPr>
          <p:cNvPr id="27" name="Google Shape;418;p40">
            <a:extLst>
              <a:ext uri="{FF2B5EF4-FFF2-40B4-BE49-F238E27FC236}">
                <a16:creationId xmlns:a16="http://schemas.microsoft.com/office/drawing/2014/main" id="{E2968DC3-638A-2497-5ACE-FC13D198B37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85260" y="1915658"/>
            <a:ext cx="598450" cy="419877"/>
            <a:chOff x="559275" y="1683950"/>
            <a:chExt cx="466500" cy="327300"/>
          </a:xfrm>
        </p:grpSpPr>
        <p:sp>
          <p:nvSpPr>
            <p:cNvPr id="28" name="Google Shape;419;p40">
              <a:extLst>
                <a:ext uri="{FF2B5EF4-FFF2-40B4-BE49-F238E27FC236}">
                  <a16:creationId xmlns:a16="http://schemas.microsoft.com/office/drawing/2014/main" id="{D4E07169-9311-A919-A5B1-3A2BC489A820}"/>
                </a:ext>
              </a:extLst>
            </p:cNvPr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29" name="Google Shape;420;p40">
              <a:extLst>
                <a:ext uri="{FF2B5EF4-FFF2-40B4-BE49-F238E27FC236}">
                  <a16:creationId xmlns:a16="http://schemas.microsoft.com/office/drawing/2014/main" id="{503B8EED-9682-4157-D085-145252C22655}"/>
                </a:ext>
              </a:extLst>
            </p:cNvPr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0" name="Google Shape;421;p40">
            <a:extLst>
              <a:ext uri="{FF2B5EF4-FFF2-40B4-BE49-F238E27FC236}">
                <a16:creationId xmlns:a16="http://schemas.microsoft.com/office/drawing/2014/main" id="{BE107EB6-45D4-F910-C895-A11AE900F66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455258" y="371497"/>
            <a:ext cx="602899" cy="590266"/>
            <a:chOff x="1233350" y="1619250"/>
            <a:chExt cx="466500" cy="456725"/>
          </a:xfrm>
        </p:grpSpPr>
        <p:sp>
          <p:nvSpPr>
            <p:cNvPr id="31" name="Google Shape;422;p40">
              <a:extLst>
                <a:ext uri="{FF2B5EF4-FFF2-40B4-BE49-F238E27FC236}">
                  <a16:creationId xmlns:a16="http://schemas.microsoft.com/office/drawing/2014/main" id="{006AC4A0-2301-F011-43E4-1034601DD5D6}"/>
                </a:ext>
              </a:extLst>
            </p:cNvPr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2" name="Google Shape;423;p40">
              <a:extLst>
                <a:ext uri="{FF2B5EF4-FFF2-40B4-BE49-F238E27FC236}">
                  <a16:creationId xmlns:a16="http://schemas.microsoft.com/office/drawing/2014/main" id="{60AAD319-02B2-666F-121E-42411FF22D72}"/>
                </a:ext>
              </a:extLst>
            </p:cNvPr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3" name="Google Shape;424;p40">
              <a:extLst>
                <a:ext uri="{FF2B5EF4-FFF2-40B4-BE49-F238E27FC236}">
                  <a16:creationId xmlns:a16="http://schemas.microsoft.com/office/drawing/2014/main" id="{44DD9E97-9119-8124-24B5-C0B800995E2E}"/>
                </a:ext>
              </a:extLst>
            </p:cNvPr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4" name="Google Shape;425;p40">
              <a:extLst>
                <a:ext uri="{FF2B5EF4-FFF2-40B4-BE49-F238E27FC236}">
                  <a16:creationId xmlns:a16="http://schemas.microsoft.com/office/drawing/2014/main" id="{100C8D06-9AEA-8401-04DC-63DB0F2CAFAC}"/>
                </a:ext>
              </a:extLst>
            </p:cNvPr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5" name="Google Shape;426;p40">
            <a:extLst>
              <a:ext uri="{FF2B5EF4-FFF2-40B4-BE49-F238E27FC236}">
                <a16:creationId xmlns:a16="http://schemas.microsoft.com/office/drawing/2014/main" id="{86012837-28A8-42E6-68F8-3AFCF165B60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044197" y="1787344"/>
            <a:ext cx="487469" cy="487469"/>
            <a:chOff x="1922075" y="1629000"/>
            <a:chExt cx="437200" cy="437200"/>
          </a:xfrm>
        </p:grpSpPr>
        <p:sp>
          <p:nvSpPr>
            <p:cNvPr id="36" name="Google Shape;427;p40">
              <a:extLst>
                <a:ext uri="{FF2B5EF4-FFF2-40B4-BE49-F238E27FC236}">
                  <a16:creationId xmlns:a16="http://schemas.microsoft.com/office/drawing/2014/main" id="{6764EFCE-92F1-8642-0498-86DD8044119E}"/>
                </a:ext>
              </a:extLst>
            </p:cNvPr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37" name="Google Shape;428;p40">
              <a:extLst>
                <a:ext uri="{FF2B5EF4-FFF2-40B4-BE49-F238E27FC236}">
                  <a16:creationId xmlns:a16="http://schemas.microsoft.com/office/drawing/2014/main" id="{D94B9682-90C7-4D36-A683-146DF7F296A3}"/>
                </a:ext>
              </a:extLst>
            </p:cNvPr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grpSp>
        <p:nvGrpSpPr>
          <p:cNvPr id="38" name="Google Shape;429;p40">
            <a:extLst>
              <a:ext uri="{FF2B5EF4-FFF2-40B4-BE49-F238E27FC236}">
                <a16:creationId xmlns:a16="http://schemas.microsoft.com/office/drawing/2014/main" id="{D48921D5-D733-0731-440C-0B989FD7E93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257175" y="1768499"/>
            <a:ext cx="502567" cy="502567"/>
            <a:chOff x="2594325" y="1627175"/>
            <a:chExt cx="440850" cy="440850"/>
          </a:xfrm>
        </p:grpSpPr>
        <p:sp>
          <p:nvSpPr>
            <p:cNvPr id="39" name="Google Shape;430;p40">
              <a:extLst>
                <a:ext uri="{FF2B5EF4-FFF2-40B4-BE49-F238E27FC236}">
                  <a16:creationId xmlns:a16="http://schemas.microsoft.com/office/drawing/2014/main" id="{D3F9DF86-A4E3-1AB6-7530-BA688BF05453}"/>
                </a:ext>
              </a:extLst>
            </p:cNvPr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0" name="Google Shape;431;p40">
              <a:extLst>
                <a:ext uri="{FF2B5EF4-FFF2-40B4-BE49-F238E27FC236}">
                  <a16:creationId xmlns:a16="http://schemas.microsoft.com/office/drawing/2014/main" id="{38ABD5BF-A56E-F107-7C2C-893D44E1ED88}"/>
                </a:ext>
              </a:extLst>
            </p:cNvPr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1" name="Google Shape;432;p40">
              <a:extLst>
                <a:ext uri="{FF2B5EF4-FFF2-40B4-BE49-F238E27FC236}">
                  <a16:creationId xmlns:a16="http://schemas.microsoft.com/office/drawing/2014/main" id="{54FDEDA8-B57D-D039-0C8D-D9EF4911BE4E}"/>
                </a:ext>
              </a:extLst>
            </p:cNvPr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sp>
        <p:nvSpPr>
          <p:cNvPr id="42" name="Google Shape;488;p40">
            <a:extLst>
              <a:ext uri="{FF2B5EF4-FFF2-40B4-BE49-F238E27FC236}">
                <a16:creationId xmlns:a16="http://schemas.microsoft.com/office/drawing/2014/main" id="{7ED12B17-1993-D628-7799-0159ECA94621}"/>
              </a:ext>
            </a:extLst>
          </p:cNvPr>
          <p:cNvSpPr>
            <a:spLocks noChangeAspect="1"/>
          </p:cNvSpPr>
          <p:nvPr userDrawn="1"/>
        </p:nvSpPr>
        <p:spPr>
          <a:xfrm>
            <a:off x="3112532" y="862395"/>
            <a:ext cx="622970" cy="799612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sp>
        <p:nvSpPr>
          <p:cNvPr id="43" name="Google Shape;489;p40">
            <a:extLst>
              <a:ext uri="{FF2B5EF4-FFF2-40B4-BE49-F238E27FC236}">
                <a16:creationId xmlns:a16="http://schemas.microsoft.com/office/drawing/2014/main" id="{C237BCA3-79DE-8D6E-1CEF-A0F9100C268E}"/>
              </a:ext>
            </a:extLst>
          </p:cNvPr>
          <p:cNvSpPr>
            <a:spLocks noChangeAspect="1"/>
          </p:cNvSpPr>
          <p:nvPr userDrawn="1"/>
        </p:nvSpPr>
        <p:spPr>
          <a:xfrm>
            <a:off x="2490469" y="856525"/>
            <a:ext cx="451964" cy="783036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45713" tIns="45713" rIns="45713" bIns="4571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  <p:grpSp>
        <p:nvGrpSpPr>
          <p:cNvPr id="44" name="Google Shape;490;p40">
            <a:extLst>
              <a:ext uri="{FF2B5EF4-FFF2-40B4-BE49-F238E27FC236}">
                <a16:creationId xmlns:a16="http://schemas.microsoft.com/office/drawing/2014/main" id="{44661FAB-0382-6414-522D-17D926C903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953034" y="875127"/>
            <a:ext cx="811428" cy="781450"/>
            <a:chOff x="2583325" y="2972875"/>
            <a:chExt cx="462850" cy="445750"/>
          </a:xfrm>
        </p:grpSpPr>
        <p:sp>
          <p:nvSpPr>
            <p:cNvPr id="45" name="Google Shape;491;p40">
              <a:extLst>
                <a:ext uri="{FF2B5EF4-FFF2-40B4-BE49-F238E27FC236}">
                  <a16:creationId xmlns:a16="http://schemas.microsoft.com/office/drawing/2014/main" id="{CD8B1178-8556-58A7-6C61-8230E44A88D1}"/>
                </a:ext>
              </a:extLst>
            </p:cNvPr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  <p:sp>
          <p:nvSpPr>
            <p:cNvPr id="46" name="Google Shape;492;p40">
              <a:extLst>
                <a:ext uri="{FF2B5EF4-FFF2-40B4-BE49-F238E27FC236}">
                  <a16:creationId xmlns:a16="http://schemas.microsoft.com/office/drawing/2014/main" id="{D4FAA2DC-1C82-D242-D22B-E4F855F5EF6D}"/>
                </a:ext>
              </a:extLst>
            </p:cNvPr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700"/>
            </a:p>
          </p:txBody>
        </p:sp>
      </p:grpSp>
      <p:pic>
        <p:nvPicPr>
          <p:cNvPr id="58" name="Grafik 57">
            <a:extLst>
              <a:ext uri="{FF2B5EF4-FFF2-40B4-BE49-F238E27FC236}">
                <a16:creationId xmlns:a16="http://schemas.microsoft.com/office/drawing/2014/main" id="{FFB91F42-563A-857E-ADB7-A2E30A242D6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5071112" y="1825887"/>
            <a:ext cx="863029" cy="57921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B4E8-9696-B68F-92F9-40125CB5CB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062" y="445288"/>
            <a:ext cx="14605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2D5DAD8-AA8F-28C4-CBA3-9566777CF9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809" y="608962"/>
            <a:ext cx="1860550" cy="104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9E89FE1-B766-3D6E-AA9F-15331AADCC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905" y="2425108"/>
            <a:ext cx="863029" cy="72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B72872D-A5BF-026C-D2EA-08D5BCAC6C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6484" y="1547700"/>
            <a:ext cx="943808" cy="87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CB4904A-0C43-3B98-0730-12DF8DD96E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980" y="2706391"/>
            <a:ext cx="1310095" cy="53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F54383CC-19F7-BFAF-9B67-AAB145D7E5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8567" y="4450677"/>
            <a:ext cx="1195255" cy="57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63BBA0AB-BEBB-21E6-04D6-1E1D4A2A286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866" y="3468365"/>
            <a:ext cx="1144417" cy="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4516BB9C-6534-0611-1C86-FB414A1A7A2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365" y="3339198"/>
            <a:ext cx="974652" cy="75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A88FC152-7268-69BB-7621-E5132DEA4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724" y="3423649"/>
            <a:ext cx="781191" cy="788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5" name="Picture 21">
            <a:extLst>
              <a:ext uri="{FF2B5EF4-FFF2-40B4-BE49-F238E27FC236}">
                <a16:creationId xmlns:a16="http://schemas.microsoft.com/office/drawing/2014/main" id="{77E04DC4-2858-564A-AE69-5FA3BADB20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573" y="4543052"/>
            <a:ext cx="823451" cy="48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3252BC43-E7BD-710C-A290-251F91050F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165" y="4320618"/>
            <a:ext cx="969969" cy="681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5765752B-A385-7379-1871-746ED91151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7971" y="4462442"/>
            <a:ext cx="853281" cy="568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1A133E14-E11F-3439-BE67-B088A1B717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9668" y="4212351"/>
            <a:ext cx="1016933" cy="7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4A84675B-44FB-5F5D-4E1A-E9C1B770FD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799" y="2400151"/>
            <a:ext cx="83185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>
            <a:extLst>
              <a:ext uri="{FF2B5EF4-FFF2-40B4-BE49-F238E27FC236}">
                <a16:creationId xmlns:a16="http://schemas.microsoft.com/office/drawing/2014/main" id="{0457828F-C838-CBC5-58C0-55B7A98CAA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154" y="2524678"/>
            <a:ext cx="901700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5" name="Picture 31">
            <a:extLst>
              <a:ext uri="{FF2B5EF4-FFF2-40B4-BE49-F238E27FC236}">
                <a16:creationId xmlns:a16="http://schemas.microsoft.com/office/drawing/2014/main" id="{BEA7027E-96E3-F6DC-7457-15884382C4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182" y="4234357"/>
            <a:ext cx="829270" cy="74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7" name="Picture 33">
            <a:extLst>
              <a:ext uri="{FF2B5EF4-FFF2-40B4-BE49-F238E27FC236}">
                <a16:creationId xmlns:a16="http://schemas.microsoft.com/office/drawing/2014/main" id="{E4E65B55-224F-E51E-929B-C616F58CA4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706" y="3291089"/>
            <a:ext cx="1282700" cy="80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9" name="Picture 35">
            <a:extLst>
              <a:ext uri="{FF2B5EF4-FFF2-40B4-BE49-F238E27FC236}">
                <a16:creationId xmlns:a16="http://schemas.microsoft.com/office/drawing/2014/main" id="{F375770D-1F75-FA8B-30CD-6ED7F25A72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5631" y="1000385"/>
            <a:ext cx="934431" cy="60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1" name="Picture 37">
            <a:extLst>
              <a:ext uri="{FF2B5EF4-FFF2-40B4-BE49-F238E27FC236}">
                <a16:creationId xmlns:a16="http://schemas.microsoft.com/office/drawing/2014/main" id="{1D0C0EBA-5A68-0EE5-F218-E7F7096B32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869" y="1770274"/>
            <a:ext cx="1188887" cy="659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3" name="Picture 39">
            <a:extLst>
              <a:ext uri="{FF2B5EF4-FFF2-40B4-BE49-F238E27FC236}">
                <a16:creationId xmlns:a16="http://schemas.microsoft.com/office/drawing/2014/main" id="{BC89B3E6-A176-0E23-5AB9-D799200C38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19" y="3483555"/>
            <a:ext cx="1049499" cy="77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5" name="Picture 41">
            <a:extLst>
              <a:ext uri="{FF2B5EF4-FFF2-40B4-BE49-F238E27FC236}">
                <a16:creationId xmlns:a16="http://schemas.microsoft.com/office/drawing/2014/main" id="{7D91AAE0-509C-AE87-7A0C-2AE9116F83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5" y="4356037"/>
            <a:ext cx="1083635" cy="714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feld 59">
            <a:extLst>
              <a:ext uri="{FF2B5EF4-FFF2-40B4-BE49-F238E27FC236}">
                <a16:creationId xmlns:a16="http://schemas.microsoft.com/office/drawing/2014/main" id="{36A8B709-8CC6-C6AC-D0ED-E7F706206975}"/>
              </a:ext>
            </a:extLst>
          </p:cNvPr>
          <p:cNvSpPr txBox="1"/>
          <p:nvPr userDrawn="1"/>
        </p:nvSpPr>
        <p:spPr>
          <a:xfrm>
            <a:off x="152696" y="1112985"/>
            <a:ext cx="1056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00" dirty="0"/>
              <a:t>Icon für extra Material</a:t>
            </a:r>
          </a:p>
        </p:txBody>
      </p:sp>
    </p:spTree>
    <p:extLst>
      <p:ext uri="{BB962C8B-B14F-4D97-AF65-F5344CB8AC3E}">
        <p14:creationId xmlns:p14="http://schemas.microsoft.com/office/powerpoint/2010/main" val="2662068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" preserve="1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3662423" y="126722"/>
            <a:ext cx="1819154" cy="660379"/>
          </a:xfrm>
          <a:prstGeom prst="rect">
            <a:avLst/>
          </a:prstGeom>
        </p:spPr>
      </p:pic>
      <p:pic>
        <p:nvPicPr>
          <p:cNvPr id="6" name="Grafik 5"/>
          <p:cNvPicPr/>
          <p:nvPr userDrawn="1"/>
        </p:nvPicPr>
        <p:blipFill>
          <a:blip r:embed="rId3"/>
          <a:srcRect t="228"/>
          <a:stretch/>
        </p:blipFill>
        <p:spPr bwMode="auto">
          <a:xfrm>
            <a:off x="7104296" y="977112"/>
            <a:ext cx="2053664" cy="4180348"/>
          </a:xfrm>
          <a:prstGeom prst="rect">
            <a:avLst/>
          </a:prstGeom>
          <a:ln w="6350" cmpd="sng">
            <a:noFill/>
          </a:ln>
        </p:spPr>
      </p:pic>
      <p:pic>
        <p:nvPicPr>
          <p:cNvPr id="7" name="Grafik 6"/>
          <p:cNvPicPr/>
          <p:nvPr userDrawn="1"/>
        </p:nvPicPr>
        <p:blipFill>
          <a:blip r:embed="rId4"/>
          <a:stretch/>
        </p:blipFill>
        <p:spPr bwMode="auto">
          <a:xfrm>
            <a:off x="0" y="977112"/>
            <a:ext cx="629199" cy="4189907"/>
          </a:xfrm>
          <a:prstGeom prst="rect">
            <a:avLst/>
          </a:prstGeom>
          <a:ln w="6350" cmpd="sng">
            <a:noFill/>
          </a:ln>
        </p:spPr>
      </p:pic>
      <p:sp>
        <p:nvSpPr>
          <p:cNvPr id="12" name="Google Shape;121;p19"/>
          <p:cNvSpPr txBox="1">
            <a:spLocks noGrp="1"/>
          </p:cNvSpPr>
          <p:nvPr>
            <p:ph type="ctrTitle"/>
          </p:nvPr>
        </p:nvSpPr>
        <p:spPr bwMode="auto">
          <a:xfrm>
            <a:off x="1214545" y="1248156"/>
            <a:ext cx="5666877" cy="6492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>
                <a:cs typeface="Arial"/>
              </a:defRPr>
            </a:lvl1pPr>
          </a:lstStyle>
          <a:p>
            <a:pPr algn="ctr">
              <a:defRPr/>
            </a:pPr>
            <a:endParaRPr lang="de-DE" sz="2000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13" name="Google Shape;84;p13"/>
          <p:cNvCxnSpPr>
            <a:cxnSpLocks/>
          </p:cNvCxnSpPr>
          <p:nvPr userDrawn="1"/>
        </p:nvCxnSpPr>
        <p:spPr bwMode="auto">
          <a:xfrm>
            <a:off x="-9000" y="1775736"/>
            <a:ext cx="91620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3;p17"/>
          <p:cNvSpPr/>
          <p:nvPr userDrawn="1"/>
        </p:nvSpPr>
        <p:spPr bwMode="auto">
          <a:xfrm>
            <a:off x="808645" y="1572786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 hasCustomPrompt="1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  <p:grpSp>
        <p:nvGrpSpPr>
          <p:cNvPr id="18" name="Google Shape;138;p20"/>
          <p:cNvGrpSpPr>
            <a:grpSpLocks noChangeAspect="1"/>
          </p:cNvGrpSpPr>
          <p:nvPr userDrawn="1"/>
        </p:nvGrpSpPr>
        <p:grpSpPr bwMode="auto">
          <a:xfrm flipH="1">
            <a:off x="478078" y="678543"/>
            <a:ext cx="271692" cy="271692"/>
            <a:chOff x="2594050" y="1631825"/>
            <a:chExt cx="439625" cy="439625"/>
          </a:xfrm>
          <a:solidFill>
            <a:schemeClr val="bg1"/>
          </a:solidFill>
        </p:grpSpPr>
        <p:sp>
          <p:nvSpPr>
            <p:cNvPr id="19" name="Google Shape;139;p20"/>
            <p:cNvSpPr/>
            <p:nvPr/>
          </p:nvSpPr>
          <p:spPr bwMode="auto"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0" name="Google Shape;140;p20"/>
            <p:cNvSpPr/>
            <p:nvPr/>
          </p:nvSpPr>
          <p:spPr bwMode="auto"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1" name="Google Shape;141;p20"/>
            <p:cNvSpPr/>
            <p:nvPr/>
          </p:nvSpPr>
          <p:spPr bwMode="auto"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2" name="Google Shape;142;p20"/>
            <p:cNvSpPr/>
            <p:nvPr/>
          </p:nvSpPr>
          <p:spPr bwMode="auto">
            <a:xfrm>
              <a:off x="2814911" y="1754062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9525" cap="rnd" cmpd="sng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cxnSp>
        <p:nvCxnSpPr>
          <p:cNvPr id="102" name="Google Shape;102;p17"/>
          <p:cNvCxnSpPr>
            <a:cxnSpLocks/>
            <a:endCxn id="104" idx="1"/>
          </p:cNvCxnSpPr>
          <p:nvPr/>
        </p:nvCxnSpPr>
        <p:spPr bwMode="auto">
          <a:xfrm>
            <a:off x="0" y="836443"/>
            <a:ext cx="981201" cy="8743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7"/>
          <p:cNvSpPr/>
          <p:nvPr userDrawn="1"/>
        </p:nvSpPr>
        <p:spPr bwMode="auto">
          <a:xfrm>
            <a:off x="417426" y="633485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 bwMode="auto">
          <a:xfrm>
            <a:off x="981201" y="627386"/>
            <a:ext cx="3878400" cy="435600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Lora"/>
              <a:buNone/>
              <a:defRPr sz="2000" b="1">
                <a:highlight>
                  <a:srgbClr val="FFFFFF"/>
                </a:highlight>
                <a:latin typeface="Lora"/>
                <a:ea typeface="Lora"/>
                <a:cs typeface="Lor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3429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+mj-lt"/>
              <a:buAutoNum type="arabicPeriod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Arial"/>
              <a:buChar char="•"/>
              <a:defRPr sz="1600">
                <a:solidFill>
                  <a:schemeClr val="tx1"/>
                </a:solidFill>
                <a:latin typeface="Arial Narrow"/>
                <a:ea typeface="Arial Narrow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 lvl="0">
              <a:defRPr/>
            </a:pPr>
            <a:endParaRPr/>
          </a:p>
        </p:txBody>
      </p:sp>
      <p:cxnSp>
        <p:nvCxnSpPr>
          <p:cNvPr id="106" name="Google Shape;106;p17"/>
          <p:cNvCxnSpPr>
            <a:cxnSpLocks/>
          </p:cNvCxnSpPr>
          <p:nvPr/>
        </p:nvCxnSpPr>
        <p:spPr bwMode="auto">
          <a:xfrm flipV="1">
            <a:off x="2419970" y="836444"/>
            <a:ext cx="6724080" cy="8742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14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8" name="Grafik 7" descr="Kaffee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85684" y="883764"/>
            <a:ext cx="376743" cy="376743"/>
          </a:xfrm>
          <a:prstGeom prst="rect">
            <a:avLst/>
          </a:prstGeom>
        </p:spPr>
      </p:pic>
      <p:sp>
        <p:nvSpPr>
          <p:cNvPr id="21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1" name="Grafik 10" descr="Würfel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791685" y="927021"/>
            <a:ext cx="373690" cy="373690"/>
          </a:xfrm>
          <a:prstGeom prst="rect">
            <a:avLst/>
          </a:prstGeom>
        </p:spPr>
      </p:pic>
      <p:sp>
        <p:nvSpPr>
          <p:cNvPr id="18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+ 1 column" preserve="1" userDrawn="1">
  <p:cSld name="1_Title + 1 colum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Google Shape;24;p4"/>
          <p:cNvSpPr/>
          <p:nvPr userDrawn="1"/>
        </p:nvSpPr>
        <p:spPr bwMode="auto">
          <a:xfrm>
            <a:off x="-2319" y="4728668"/>
            <a:ext cx="9144000" cy="4184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" name="Textfeld 15"/>
          <p:cNvSpPr txBox="1"/>
          <p:nvPr userDrawn="1"/>
        </p:nvSpPr>
        <p:spPr bwMode="auto">
          <a:xfrm>
            <a:off x="52073" y="4770424"/>
            <a:ext cx="3647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 b="0">
                <a:latin typeface="Arial Narrow"/>
              </a:rPr>
              <a:t>Title</a:t>
            </a:r>
            <a:endParaRPr lang="de-DE" sz="1000">
              <a:latin typeface="Arial Narrow"/>
            </a:endParaRPr>
          </a:p>
          <a:p>
            <a:pPr algn="l">
              <a:defRPr/>
            </a:pPr>
            <a:r>
              <a:rPr lang="de-DE" sz="1000">
                <a:latin typeface="Arial Narrow"/>
              </a:rPr>
              <a:t>Tutorname</a:t>
            </a:r>
          </a:p>
        </p:txBody>
      </p:sp>
      <p:sp>
        <p:nvSpPr>
          <p:cNvPr id="17" name="Textfeld 16"/>
          <p:cNvSpPr txBox="1"/>
          <p:nvPr userDrawn="1"/>
        </p:nvSpPr>
        <p:spPr bwMode="auto">
          <a:xfrm>
            <a:off x="3441608" y="4797466"/>
            <a:ext cx="1295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/>
            </a:pPr>
            <a:r>
              <a:rPr lang="de-DE" sz="1000">
                <a:latin typeface="Arial Narrow"/>
              </a:rPr>
              <a:t>Date: XXX</a:t>
            </a:r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 bwMode="auto">
          <a:xfrm>
            <a:off x="966912" y="1062986"/>
            <a:ext cx="7205538" cy="3340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66700" lvl="0" indent="-266700">
              <a:spcBef>
                <a:spcPts val="600"/>
              </a:spcBef>
              <a:spcAft>
                <a:spcPts val="0"/>
              </a:spcAft>
              <a:buClr>
                <a:schemeClr val="accent5">
                  <a:lumMod val="60000"/>
                  <a:lumOff val="40000"/>
                </a:schemeClr>
              </a:buClr>
              <a:buSzPct val="80000"/>
              <a:buFont typeface="Quattrocento Sans"/>
              <a:buChar char="◉"/>
              <a:def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defRPr>
            </a:lvl1pPr>
            <a:lvl2pPr marL="914400" lvl="1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○"/>
              <a:defRPr sz="2000">
                <a:latin typeface="Quattrocento Sans"/>
                <a:ea typeface="Quattrocento Sans"/>
                <a:cs typeface="Quattrocento Sans"/>
              </a:defRPr>
            </a:lvl2pPr>
            <a:lvl3pPr marL="1371600" lvl="2" indent="-3556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2000"/>
              <a:buFont typeface="Quattrocento Sans"/>
              <a:buChar char="■"/>
              <a:defRPr sz="2000">
                <a:latin typeface="Quattrocento Sans"/>
                <a:ea typeface="Quattrocento Sans"/>
                <a:cs typeface="Quattrocento Sans"/>
              </a:defRPr>
            </a:lvl3pPr>
            <a:lvl4pPr marL="1828800" lvl="3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4pPr>
            <a:lvl5pPr marL="2286000" lvl="4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5pPr>
            <a:lvl6pPr marL="2743200" lvl="5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6pPr>
            <a:lvl7pPr marL="3200400" lvl="6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●"/>
              <a:defRPr sz="1800">
                <a:latin typeface="Quattrocento Sans"/>
                <a:ea typeface="Quattrocento Sans"/>
                <a:cs typeface="Quattrocento Sans"/>
              </a:defRPr>
            </a:lvl7pPr>
            <a:lvl8pPr marL="3657600" lvl="7" indent="-342900">
              <a:spcBef>
                <a:spcPts val="1600"/>
              </a:spcBef>
              <a:spcAft>
                <a:spcPts val="0"/>
              </a:spcAft>
              <a:buClr>
                <a:srgbClr val="FFCD00"/>
              </a:buClr>
              <a:buSzPts val="1800"/>
              <a:buFont typeface="Quattrocento Sans"/>
              <a:buChar char="○"/>
              <a:defRPr sz="1800">
                <a:latin typeface="Quattrocento Sans"/>
                <a:ea typeface="Quattrocento Sans"/>
                <a:cs typeface="Quattrocento Sans"/>
              </a:defRPr>
            </a:lvl8pPr>
            <a:lvl9pPr marL="4114800" lvl="8" indent="-342900">
              <a:spcBef>
                <a:spcPts val="1600"/>
              </a:spcBef>
              <a:spcAft>
                <a:spcPts val="1600"/>
              </a:spcAft>
              <a:buClr>
                <a:srgbClr val="FFCD00"/>
              </a:buClr>
              <a:buSzPts val="1800"/>
              <a:buFont typeface="Quattrocento Sans"/>
              <a:buChar char="■"/>
              <a:defRPr sz="1800">
                <a:latin typeface="Quattrocento Sans"/>
                <a:ea typeface="Quattrocento Sans"/>
                <a:cs typeface="Quattrocento Sans"/>
              </a:defRPr>
            </a:lvl9pPr>
          </a:lstStyle>
          <a:p>
            <a:pPr>
              <a:defRPr/>
            </a:pPr>
            <a:endParaRPr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4328240" y="205603"/>
            <a:ext cx="487519" cy="418454"/>
          </a:xfrm>
          <a:prstGeom prst="rect">
            <a:avLst/>
          </a:prstGeom>
        </p:spPr>
      </p:pic>
      <p:sp>
        <p:nvSpPr>
          <p:cNvPr id="2" name="Rechtwinkliges Dreieck 1"/>
          <p:cNvSpPr/>
          <p:nvPr userDrawn="1"/>
        </p:nvSpPr>
        <p:spPr bwMode="auto">
          <a:xfrm rot="16199999">
            <a:off x="8660422" y="4671118"/>
            <a:ext cx="418456" cy="548700"/>
          </a:xfrm>
          <a:prstGeom prst="rtTriangle">
            <a:avLst/>
          </a:prstGeom>
          <a:solidFill>
            <a:srgbClr val="7E0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4" name="Rechteck 3"/>
          <p:cNvSpPr/>
          <p:nvPr userDrawn="1"/>
        </p:nvSpPr>
        <p:spPr bwMode="auto">
          <a:xfrm>
            <a:off x="368300" y="571500"/>
            <a:ext cx="487519" cy="4914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5" name="Textplatzhalter 5"/>
          <p:cNvSpPr txBox="1"/>
          <p:nvPr userDrawn="1"/>
        </p:nvSpPr>
        <p:spPr bwMode="auto">
          <a:xfrm>
            <a:off x="974056" y="1062987"/>
            <a:ext cx="7191249" cy="334065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8C8E88"/>
            </a:solidFill>
            <a:prstDash val="sysDash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/>
            </a:pPr>
            <a:endParaRPr lang="de-DE" sz="2800"/>
          </a:p>
          <a:p>
            <a:pPr algn="ctr">
              <a:defRPr/>
            </a:pPr>
            <a:endParaRPr lang="de-DE" sz="2800"/>
          </a:p>
        </p:txBody>
      </p:sp>
      <p:sp>
        <p:nvSpPr>
          <p:cNvPr id="6" name="Google Shape;103;p17"/>
          <p:cNvSpPr/>
          <p:nvPr userDrawn="1"/>
        </p:nvSpPr>
        <p:spPr bwMode="auto">
          <a:xfrm>
            <a:off x="763961" y="901791"/>
            <a:ext cx="405900" cy="405900"/>
          </a:xfrm>
          <a:prstGeom prst="ellipse">
            <a:avLst/>
          </a:prstGeom>
          <a:solidFill>
            <a:srgbClr val="7E0D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" name="Google Shape;107;p17"/>
          <p:cNvSpPr txBox="1">
            <a:spLocks noGrp="1"/>
          </p:cNvSpPr>
          <p:nvPr>
            <p:ph type="sldNum" idx="12"/>
          </p:nvPr>
        </p:nvSpPr>
        <p:spPr bwMode="auto">
          <a:xfrm>
            <a:off x="8634674" y="482354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bg1"/>
                </a:solidFill>
                <a:latin typeface="Arial Narrow"/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 no illustration" preserve="1" userDrawn="1">
  <p:cSld name="Blank no illustr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 bwMode="auto"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7CF1F7-0937-F9F7-257C-5A064E57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00" y="661070"/>
            <a:ext cx="7200000" cy="63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F10457-F989-7DA5-F7A2-573216F1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2000" y="1384556"/>
            <a:ext cx="7200000" cy="324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958ADD56-CB6F-8E99-36ED-1E96FDC0D4A7}"/>
              </a:ext>
            </a:extLst>
          </p:cNvPr>
          <p:cNvSpPr/>
          <p:nvPr userDrawn="1"/>
        </p:nvSpPr>
        <p:spPr>
          <a:xfrm>
            <a:off x="3843954" y="15301"/>
            <a:ext cx="1456093" cy="506081"/>
          </a:xfrm>
          <a:custGeom>
            <a:avLst/>
            <a:gdLst/>
            <a:ahLst/>
            <a:cxnLst/>
            <a:rect l="l" t="t" r="r" b="b"/>
            <a:pathLst>
              <a:path w="2912186" h="1012162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de-DE" sz="700"/>
          </a:p>
        </p:txBody>
      </p:sp>
    </p:spTree>
    <p:extLst>
      <p:ext uri="{BB962C8B-B14F-4D97-AF65-F5344CB8AC3E}">
        <p14:creationId xmlns:p14="http://schemas.microsoft.com/office/powerpoint/2010/main" val="297600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sz="2800" b="1">
                <a:latin typeface="Raleway"/>
                <a:ea typeface="Raleway"/>
                <a:cs typeface="Raleway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1pPr>
            <a:lvl2pPr marL="914400" lvl="1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marL="1371600" lvl="2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marL="1828800" lvl="3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marL="2286000" lvl="4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marL="2743200" lvl="5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marL="3200400" lvl="6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marL="3657600" lvl="7" indent="-298450">
              <a:lnSpc>
                <a:spcPct val="114999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marL="4114800" lvl="8" indent="-298450">
              <a:lnSpc>
                <a:spcPct val="114999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 bwMode="auto"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</a:defRPr>
            </a:lvl9pPr>
          </a:lstStyle>
          <a:p>
            <a:pPr>
              <a:defRPr/>
            </a:pPr>
            <a:fld id="{00000000-1234-1234-1234-123412341234}" type="slidenum">
              <a:rPr lang="de-DE"/>
              <a:t>‹#›</a:t>
            </a:fld>
            <a:endParaRPr lang="de-D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scijournal.org/articles/best-reference-management-software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ustainabilitymethods.org/index.php/Reference_Manager:_Zotero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uphana.de/services/miz/literaturrecherche/literaturverwaltung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youtube.com/@citavi" TargetMode="External"/><Relationship Id="rId4" Type="http://schemas.openxmlformats.org/officeDocument/2006/relationships/hyperlink" Target="https://forums.zotero.org/discussion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svg"/><Relationship Id="rId5" Type="http://schemas.openxmlformats.org/officeDocument/2006/relationships/image" Target="../media/image54.png"/><Relationship Id="rId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hyperlink" Target="https://www.scribbr.com/apa-citation-generator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 descr="Hand typing on keyboard"/>
          <p:cNvPicPr>
            <a:picLocks noChangeAspect="1"/>
          </p:cNvPicPr>
          <p:nvPr/>
        </p:nvPicPr>
        <p:blipFill>
          <a:blip r:embed="rId2">
            <a:alphaModFix amt="20000"/>
          </a:blip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r>
              <a:rPr lang="en-GB" sz="3200" dirty="0"/>
              <a:t>Academic Writing – </a:t>
            </a:r>
            <a:br>
              <a:rPr lang="en-GB" sz="3200" dirty="0"/>
            </a:br>
            <a:r>
              <a:rPr lang="en-GB" sz="3200" dirty="0"/>
              <a:t>Citation and Reference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37E77-BB12-268A-DA63-70EBDF9CB5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idx="1"/>
          </p:nvPr>
        </p:nvSpPr>
        <p:spPr bwMode="auto">
          <a:xfrm>
            <a:off x="2339752" y="1762093"/>
            <a:ext cx="4871083" cy="324000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dirty="0"/>
              <a:t>Welcome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 err="1"/>
              <a:t>Citation</a:t>
            </a:r>
            <a:r>
              <a:rPr lang="de-DE" dirty="0"/>
              <a:t> Software</a:t>
            </a:r>
            <a:endParaRPr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/>
              <a:t>Online Solutions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de-DE" dirty="0"/>
              <a:t>Practice</a:t>
            </a:r>
            <a:endParaRPr lang="en-US" dirty="0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dirty="0"/>
              <a:t>Conclusion and Next Session</a:t>
            </a:r>
          </a:p>
          <a:p>
            <a:pPr marL="342900" indent="-342900">
              <a:buFont typeface="+mj-lt"/>
              <a:buAutoNum type="arabicPeriod" startAt="5"/>
              <a:defRPr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 bwMode="auto">
          <a:xfrm>
            <a:off x="5580112" y="4568229"/>
            <a:ext cx="24058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GB"/>
              <a:t>Estimated time: 20 – 25 min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Welcome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4294967295"/>
          </p:nvPr>
        </p:nvSpPr>
        <p:spPr bwMode="auto"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/>
              <a:t>3</a:t>
            </a:fld>
            <a:endParaRPr lang="de-DE"/>
          </a:p>
        </p:txBody>
      </p:sp>
      <p:sp>
        <p:nvSpPr>
          <p:cNvPr id="8" name="Textfeld 7"/>
          <p:cNvSpPr txBox="1"/>
          <p:nvPr/>
        </p:nvSpPr>
        <p:spPr bwMode="auto">
          <a:xfrm>
            <a:off x="467254" y="640085"/>
            <a:ext cx="397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1800" b="1">
                <a:solidFill>
                  <a:schemeClr val="bg1"/>
                </a:solidFill>
                <a:latin typeface="Arial Narrow"/>
              </a:rPr>
              <a:t>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5A9A80-56A3-70C8-E980-FAB3A4318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00" y="2007836"/>
            <a:ext cx="7200000" cy="779938"/>
          </a:xfrm>
        </p:spPr>
        <p:txBody>
          <a:bodyPr/>
          <a:lstStyle/>
          <a:p>
            <a:r>
              <a:rPr lang="de-DE" dirty="0" err="1"/>
              <a:t>Citation</a:t>
            </a:r>
            <a:r>
              <a:rPr lang="de-DE" dirty="0"/>
              <a:t> Software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48D22-F347-2293-4A9B-FA71F2823E6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33E93-D893-DBB3-0B40-673FFE5A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420234" y="3230631"/>
            <a:ext cx="1290525" cy="1285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834FF8-C6E2-80AC-FE6E-A93E28601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283968" y="3357374"/>
            <a:ext cx="2701314" cy="10318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C1994E-5C9E-2077-2B1D-CF1C053C1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356341" y="961781"/>
            <a:ext cx="1418309" cy="1135724"/>
          </a:xfrm>
          <a:prstGeom prst="rect">
            <a:avLst/>
          </a:prstGeom>
        </p:spPr>
      </p:pic>
      <p:pic>
        <p:nvPicPr>
          <p:cNvPr id="1026" name="Picture 2" descr="EndNote | Universitätsbibliothek der TUM">
            <a:extLst>
              <a:ext uri="{FF2B5EF4-FFF2-40B4-BE49-F238E27FC236}">
                <a16:creationId xmlns:a16="http://schemas.microsoft.com/office/drawing/2014/main" id="{D6C27805-FC74-DA45-D4B2-987F60EBEE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362" y="792973"/>
            <a:ext cx="1290525" cy="129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685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E2AD2-DB5F-DF21-E3A5-A8363FE6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Citation</a:t>
            </a:r>
            <a:r>
              <a:rPr lang="de-DE" dirty="0"/>
              <a:t> Software?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3EE3F-C4D6-E8AC-217E-FEE8B3412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40" y="1548436"/>
            <a:ext cx="7200000" cy="32400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Avoid</a:t>
            </a:r>
            <a:r>
              <a:rPr lang="de-DE" sz="2400" dirty="0"/>
              <a:t> </a:t>
            </a:r>
            <a:r>
              <a:rPr lang="de-DE" sz="2400" dirty="0" err="1"/>
              <a:t>mistakes</a:t>
            </a:r>
            <a:r>
              <a:rPr lang="de-DE" sz="2400" dirty="0"/>
              <a:t>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citing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/>
              <a:t>Save time </a:t>
            </a:r>
            <a:r>
              <a:rPr lang="de-DE" sz="2400" dirty="0" err="1"/>
              <a:t>when</a:t>
            </a:r>
            <a:r>
              <a:rPr lang="de-DE" sz="2400" dirty="0"/>
              <a:t> </a:t>
            </a:r>
            <a:r>
              <a:rPr lang="de-DE" sz="2400" dirty="0" err="1"/>
              <a:t>creating</a:t>
            </a:r>
            <a:r>
              <a:rPr lang="de-DE" sz="2400" dirty="0"/>
              <a:t> </a:t>
            </a:r>
            <a:r>
              <a:rPr lang="de-DE" sz="2400" dirty="0" err="1"/>
              <a:t>the</a:t>
            </a:r>
            <a:r>
              <a:rPr lang="de-DE" sz="2400" dirty="0"/>
              <a:t> </a:t>
            </a:r>
            <a:r>
              <a:rPr lang="de-DE" sz="2400" dirty="0" err="1"/>
              <a:t>bibliography</a:t>
            </a:r>
            <a:endParaRPr lang="de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 err="1"/>
              <a:t>Allows</a:t>
            </a:r>
            <a:r>
              <a:rPr lang="de-DE" sz="2400" dirty="0"/>
              <a:t> </a:t>
            </a:r>
            <a:r>
              <a:rPr lang="de-DE" sz="2400" dirty="0" err="1"/>
              <a:t>you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reuse</a:t>
            </a:r>
            <a:r>
              <a:rPr lang="de-DE" sz="2400" dirty="0"/>
              <a:t> </a:t>
            </a:r>
            <a:r>
              <a:rPr lang="de-DE" sz="2400" dirty="0" err="1"/>
              <a:t>literature</a:t>
            </a:r>
            <a:endParaRPr lang="de-D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B7220-C738-3ADB-F376-984E422476F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A7AF023B-9F19-B1C3-BB2A-5CAAEFD7F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03031">
            <a:off x="5859030" y="2859926"/>
            <a:ext cx="1803259" cy="18032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E29557-7A16-6BE0-99E5-56BEBD0F8C21}"/>
              </a:ext>
            </a:extLst>
          </p:cNvPr>
          <p:cNvSpPr txBox="1"/>
          <p:nvPr/>
        </p:nvSpPr>
        <p:spPr>
          <a:xfrm rot="20996142">
            <a:off x="5913935" y="3019501"/>
            <a:ext cx="1515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You can find a comparison of the most commonly used software </a:t>
            </a:r>
            <a:r>
              <a:rPr lang="en-GB" sz="1200" dirty="0">
                <a:latin typeface="Ink Free" panose="03080402000500000000" pitchFamily="66" charset="0"/>
                <a:hlinkClick r:id="rId4"/>
              </a:rPr>
              <a:t>here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2029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9389-07BD-589F-C59E-A0BFD80E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Which</a:t>
            </a:r>
            <a:r>
              <a:rPr lang="de-DE" dirty="0"/>
              <a:t> Software </a:t>
            </a:r>
            <a:r>
              <a:rPr lang="de-DE" dirty="0" err="1"/>
              <a:t>should</a:t>
            </a:r>
            <a:r>
              <a:rPr lang="de-DE" dirty="0"/>
              <a:t> I </a:t>
            </a:r>
            <a:r>
              <a:rPr lang="de-DE" dirty="0" err="1"/>
              <a:t>use</a:t>
            </a:r>
            <a:r>
              <a:rPr lang="de-DE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527D-F54E-17DC-5451-7080B84DA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/>
              <a:t>Zotero</a:t>
            </a:r>
            <a:endParaRPr lang="de-DE" sz="1600" dirty="0"/>
          </a:p>
          <a:p>
            <a:pPr marL="514350" lvl="1" indent="-285750"/>
            <a:r>
              <a:rPr lang="de-DE" sz="1400" dirty="0"/>
              <a:t>Free, simple</a:t>
            </a:r>
          </a:p>
          <a:p>
            <a:pPr marL="514350" lvl="1" indent="-285750"/>
            <a:r>
              <a:rPr lang="de-DE" sz="1400" dirty="0"/>
              <a:t>Windows, Mac, Linux</a:t>
            </a:r>
          </a:p>
          <a:p>
            <a:pPr marL="514350" lvl="1" indent="-285750"/>
            <a:r>
              <a:rPr lang="de-DE" sz="1400" dirty="0"/>
              <a:t>Also </a:t>
            </a:r>
            <a:r>
              <a:rPr lang="de-DE" sz="1400" dirty="0" err="1"/>
              <a:t>works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Google Docs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Citavi</a:t>
            </a:r>
          </a:p>
          <a:p>
            <a:pPr marL="514350" lvl="1" indent="-285750"/>
            <a:r>
              <a:rPr lang="de-DE" sz="1400" dirty="0"/>
              <a:t>Leuphana </a:t>
            </a:r>
            <a:r>
              <a:rPr lang="de-DE" sz="1400" dirty="0" err="1"/>
              <a:t>license</a:t>
            </a:r>
            <a:endParaRPr lang="de-DE" sz="1400" dirty="0"/>
          </a:p>
          <a:p>
            <a:pPr marL="514350" lvl="1" indent="-285750"/>
            <a:r>
              <a:rPr lang="de-DE" sz="1400" dirty="0"/>
              <a:t>More extensive </a:t>
            </a:r>
            <a:r>
              <a:rPr lang="de-DE" sz="1400" dirty="0" err="1"/>
              <a:t>functions</a:t>
            </a:r>
            <a:r>
              <a:rPr lang="de-DE" sz="1400" dirty="0"/>
              <a:t> (</a:t>
            </a:r>
            <a:r>
              <a:rPr lang="de-DE" sz="1400" dirty="0" err="1"/>
              <a:t>knowledge</a:t>
            </a:r>
            <a:r>
              <a:rPr lang="de-DE" sz="1400" dirty="0"/>
              <a:t> </a:t>
            </a:r>
            <a:r>
              <a:rPr lang="de-DE" sz="1400" dirty="0" err="1"/>
              <a:t>management</a:t>
            </a:r>
            <a:r>
              <a:rPr lang="de-DE" sz="1400" dirty="0"/>
              <a:t>), </a:t>
            </a:r>
            <a:br>
              <a:rPr lang="de-DE" sz="1400" dirty="0"/>
            </a:br>
            <a:r>
              <a:rPr lang="de-DE" sz="1400" dirty="0"/>
              <a:t>but </a:t>
            </a:r>
            <a:r>
              <a:rPr lang="de-DE" sz="1400" dirty="0" err="1"/>
              <a:t>more</a:t>
            </a:r>
            <a:r>
              <a:rPr lang="de-DE" sz="1400" dirty="0"/>
              <a:t> </a:t>
            </a:r>
            <a:r>
              <a:rPr lang="de-DE" sz="1400" dirty="0" err="1"/>
              <a:t>complicated</a:t>
            </a:r>
            <a:endParaRPr lang="de-DE" sz="1400" dirty="0"/>
          </a:p>
          <a:p>
            <a:pPr marL="514350" lvl="1" indent="-285750"/>
            <a:r>
              <a:rPr lang="de-DE" sz="1400" dirty="0"/>
              <a:t>Windows </a:t>
            </a:r>
            <a:r>
              <a:rPr lang="de-DE" sz="1400" dirty="0" err="1"/>
              <a:t>only</a:t>
            </a:r>
            <a:r>
              <a:rPr lang="de-DE" sz="1400" dirty="0"/>
              <a:t> (</a:t>
            </a:r>
            <a:r>
              <a:rPr lang="de-DE" sz="1400" dirty="0" err="1"/>
              <a:t>there</a:t>
            </a:r>
            <a:r>
              <a:rPr lang="de-DE" sz="1400" dirty="0"/>
              <a:t> </a:t>
            </a:r>
            <a:r>
              <a:rPr lang="de-DE" sz="1400" dirty="0" err="1"/>
              <a:t>is</a:t>
            </a:r>
            <a:r>
              <a:rPr lang="de-DE" sz="1400" dirty="0"/>
              <a:t> an online </a:t>
            </a:r>
            <a:r>
              <a:rPr lang="de-DE" sz="1400" dirty="0" err="1"/>
              <a:t>version</a:t>
            </a:r>
            <a:r>
              <a:rPr lang="de-DE" sz="1400" dirty="0"/>
              <a:t> </a:t>
            </a:r>
            <a:r>
              <a:rPr lang="de-DE" sz="1400" dirty="0" err="1"/>
              <a:t>with</a:t>
            </a:r>
            <a:r>
              <a:rPr lang="de-DE" sz="1400" dirty="0"/>
              <a:t> </a:t>
            </a:r>
            <a:br>
              <a:rPr lang="de-DE" sz="1400" dirty="0"/>
            </a:br>
            <a:r>
              <a:rPr lang="de-DE" sz="1400" dirty="0"/>
              <a:t>limited </a:t>
            </a:r>
            <a:r>
              <a:rPr lang="de-DE" sz="1400" dirty="0" err="1"/>
              <a:t>functions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</a:t>
            </a:r>
            <a:r>
              <a:rPr lang="de-DE" sz="1400" dirty="0" err="1"/>
              <a:t>other</a:t>
            </a:r>
            <a:r>
              <a:rPr lang="de-DE" sz="1400" dirty="0"/>
              <a:t> </a:t>
            </a:r>
            <a:r>
              <a:rPr lang="de-DE" sz="1400" dirty="0" err="1"/>
              <a:t>platforms</a:t>
            </a:r>
            <a:r>
              <a:rPr lang="de-DE" sz="1400" dirty="0"/>
              <a:t>)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519D2-5D62-1D77-EECF-15BC8362A39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10BF4DC-766B-1FC1-3687-31EE7E7D7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rot="21003031">
            <a:off x="6370407" y="1705862"/>
            <a:ext cx="1803259" cy="18032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43F329-FCD4-D67F-EB1D-D70995D07960}"/>
              </a:ext>
            </a:extLst>
          </p:cNvPr>
          <p:cNvSpPr txBox="1"/>
          <p:nvPr/>
        </p:nvSpPr>
        <p:spPr bwMode="auto">
          <a:xfrm rot="20996142">
            <a:off x="6514090" y="2048475"/>
            <a:ext cx="1515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de-DE" sz="1200" dirty="0">
                <a:latin typeface="Ink Free"/>
              </a:rPr>
              <a:t>A </a:t>
            </a:r>
            <a:r>
              <a:rPr lang="de-DE" sz="1200" dirty="0" err="1">
                <a:latin typeface="Ink Free"/>
              </a:rPr>
              <a:t>Step-by-Step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guiade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for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installing</a:t>
            </a:r>
            <a:r>
              <a:rPr lang="de-DE" sz="1200" dirty="0">
                <a:latin typeface="Ink Free"/>
              </a:rPr>
              <a:t> and </a:t>
            </a:r>
            <a:r>
              <a:rPr lang="de-DE" sz="1200" dirty="0" err="1">
                <a:latin typeface="Ink Free"/>
              </a:rPr>
              <a:t>using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Zotero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can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be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 err="1">
                <a:latin typeface="Ink Free"/>
              </a:rPr>
              <a:t>found</a:t>
            </a:r>
            <a:r>
              <a:rPr lang="de-DE" sz="1200" dirty="0">
                <a:latin typeface="Ink Free"/>
              </a:rPr>
              <a:t> </a:t>
            </a:r>
            <a:r>
              <a:rPr lang="de-DE" sz="1200" dirty="0">
                <a:latin typeface="Ink Free"/>
                <a:hlinkClick r:id="rId4"/>
              </a:rPr>
              <a:t>here</a:t>
            </a:r>
            <a:r>
              <a:rPr lang="de-DE" sz="1200" dirty="0">
                <a:latin typeface="Ink Free"/>
              </a:rPr>
              <a:t>!</a:t>
            </a:r>
            <a:endParaRPr lang="en-GB" sz="1200" dirty="0">
              <a:latin typeface="Ink Free"/>
            </a:endParaRPr>
          </a:p>
        </p:txBody>
      </p:sp>
    </p:spTree>
    <p:extLst>
      <p:ext uri="{BB962C8B-B14F-4D97-AF65-F5344CB8AC3E}">
        <p14:creationId xmlns:p14="http://schemas.microsoft.com/office/powerpoint/2010/main" val="100126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D856-4475-96AA-8FCA-F9E5D845C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Functions</a:t>
            </a:r>
            <a:r>
              <a:rPr lang="de-DE" dirty="0"/>
              <a:t> and Extras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16E49-6512-D2C8-E136-1F5AAEC6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Web-Picker: </a:t>
            </a:r>
            <a:r>
              <a:rPr lang="de-DE" sz="1800" dirty="0" err="1"/>
              <a:t>imports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bibliographic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</a:t>
            </a:r>
            <a:r>
              <a:rPr lang="de-DE" sz="1800" dirty="0" err="1"/>
              <a:t>directly</a:t>
            </a:r>
            <a:r>
              <a:rPr lang="de-DE" sz="1800" dirty="0"/>
              <a:t> </a:t>
            </a:r>
            <a:r>
              <a:rPr lang="de-DE" sz="1800" dirty="0" err="1"/>
              <a:t>from</a:t>
            </a:r>
            <a:r>
              <a:rPr lang="de-DE" sz="1800" dirty="0"/>
              <a:t>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browser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&amp; Citavi)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Word Add-In: </a:t>
            </a:r>
            <a:r>
              <a:rPr lang="de-DE" sz="1800" dirty="0" err="1"/>
              <a:t>Makes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easier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insert</a:t>
            </a:r>
            <a:r>
              <a:rPr lang="de-DE" sz="1800" dirty="0"/>
              <a:t> </a:t>
            </a:r>
            <a:r>
              <a:rPr lang="de-DE" sz="1800" dirty="0" err="1"/>
              <a:t>citations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</a:t>
            </a:r>
            <a:r>
              <a:rPr lang="de-DE" sz="1800" dirty="0" err="1"/>
              <a:t>your</a:t>
            </a:r>
            <a:r>
              <a:rPr lang="de-DE" sz="1800" dirty="0"/>
              <a:t> </a:t>
            </a:r>
            <a:r>
              <a:rPr lang="de-DE" sz="1800" dirty="0" err="1"/>
              <a:t>paper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&amp; Citavi)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Google Docs Add-In: </a:t>
            </a:r>
            <a:r>
              <a:rPr lang="de-DE" sz="1800" dirty="0" err="1"/>
              <a:t>Makes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easier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insert</a:t>
            </a:r>
            <a:r>
              <a:rPr lang="de-DE" sz="1800" dirty="0"/>
              <a:t> </a:t>
            </a:r>
            <a:r>
              <a:rPr lang="de-DE" sz="1800" dirty="0" err="1"/>
              <a:t>citations</a:t>
            </a:r>
            <a:r>
              <a:rPr lang="de-DE" sz="1800" dirty="0"/>
              <a:t> </a:t>
            </a:r>
            <a:r>
              <a:rPr lang="de-DE" sz="1800" dirty="0" err="1"/>
              <a:t>into</a:t>
            </a:r>
            <a:r>
              <a:rPr lang="de-DE" sz="1800" dirty="0"/>
              <a:t> a </a:t>
            </a:r>
            <a:r>
              <a:rPr lang="de-DE" sz="1800" dirty="0" err="1"/>
              <a:t>shared</a:t>
            </a:r>
            <a:r>
              <a:rPr lang="de-DE" sz="1800" dirty="0"/>
              <a:t> </a:t>
            </a:r>
            <a:r>
              <a:rPr lang="de-DE" sz="1800" dirty="0" err="1"/>
              <a:t>document</a:t>
            </a:r>
            <a:r>
              <a:rPr lang="de-DE" sz="1800" dirty="0"/>
              <a:t> (</a:t>
            </a:r>
            <a:r>
              <a:rPr lang="de-DE" sz="1800" dirty="0" err="1"/>
              <a:t>Zotero</a:t>
            </a:r>
            <a:r>
              <a:rPr lang="de-DE" sz="1800" dirty="0"/>
              <a:t> </a:t>
            </a:r>
            <a:r>
              <a:rPr lang="de-DE" sz="1800" dirty="0" err="1"/>
              <a:t>only</a:t>
            </a:r>
            <a:r>
              <a:rPr lang="de-DE" sz="18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5639E-ABAD-E5A9-27BF-E9B9FE1347A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4470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Further </a:t>
            </a:r>
            <a:r>
              <a:rPr lang="en-US" dirty="0" err="1"/>
              <a:t>Ressources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749021" y="1239905"/>
            <a:ext cx="776796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/>
              <a:t>The Leuphana </a:t>
            </a:r>
            <a:r>
              <a:rPr lang="de-DE" sz="1800" dirty="0" err="1"/>
              <a:t>library</a:t>
            </a:r>
            <a:r>
              <a:rPr lang="de-DE" sz="1800" dirty="0"/>
              <a:t> </a:t>
            </a:r>
            <a:r>
              <a:rPr lang="de-DE" sz="1800" dirty="0" err="1"/>
              <a:t>offers</a:t>
            </a:r>
            <a:r>
              <a:rPr lang="de-DE" sz="1800" dirty="0"/>
              <a:t> </a:t>
            </a:r>
            <a:r>
              <a:rPr lang="de-DE" sz="1800" dirty="0" err="1"/>
              <a:t>information</a:t>
            </a:r>
            <a:r>
              <a:rPr lang="de-DE" sz="1800" dirty="0"/>
              <a:t> and </a:t>
            </a:r>
            <a:r>
              <a:rPr lang="de-DE" sz="1800" dirty="0" err="1"/>
              <a:t>training</a:t>
            </a:r>
            <a:r>
              <a:rPr lang="de-DE" sz="1800" dirty="0"/>
              <a:t> on </a:t>
            </a:r>
            <a:r>
              <a:rPr lang="de-DE" sz="1800" dirty="0" err="1"/>
              <a:t>various</a:t>
            </a:r>
            <a:r>
              <a:rPr lang="de-DE" sz="1800" dirty="0"/>
              <a:t> </a:t>
            </a:r>
            <a:r>
              <a:rPr lang="de-DE" sz="1800" dirty="0" err="1"/>
              <a:t>reference</a:t>
            </a:r>
            <a:r>
              <a:rPr lang="de-DE" sz="1800" dirty="0"/>
              <a:t> </a:t>
            </a:r>
            <a:r>
              <a:rPr lang="de-DE" sz="1800" dirty="0" err="1"/>
              <a:t>management</a:t>
            </a:r>
            <a:r>
              <a:rPr lang="de-DE" sz="1800" dirty="0"/>
              <a:t> </a:t>
            </a:r>
            <a:r>
              <a:rPr lang="de-DE" sz="1800" dirty="0" err="1"/>
              <a:t>programs</a:t>
            </a:r>
            <a:r>
              <a:rPr lang="de-DE" sz="1800" dirty="0"/>
              <a:t>, an </a:t>
            </a:r>
            <a:r>
              <a:rPr lang="de-DE" sz="1800" dirty="0" err="1"/>
              <a:t>overview</a:t>
            </a:r>
            <a:r>
              <a:rPr lang="de-DE" sz="1800" dirty="0"/>
              <a:t> </a:t>
            </a:r>
            <a:r>
              <a:rPr lang="de-DE" sz="1800" dirty="0" err="1"/>
              <a:t>can</a:t>
            </a:r>
            <a:r>
              <a:rPr lang="de-DE" sz="1800" dirty="0"/>
              <a:t> </a:t>
            </a:r>
            <a:r>
              <a:rPr lang="de-DE" sz="1800" dirty="0" err="1"/>
              <a:t>be</a:t>
            </a:r>
            <a:r>
              <a:rPr lang="de-DE" sz="1800" dirty="0"/>
              <a:t> </a:t>
            </a:r>
            <a:r>
              <a:rPr lang="de-DE" sz="1800" dirty="0" err="1"/>
              <a:t>found</a:t>
            </a:r>
            <a:r>
              <a:rPr lang="de-DE" sz="1800" dirty="0"/>
              <a:t> </a:t>
            </a:r>
            <a:r>
              <a:rPr lang="de-DE" sz="1800" dirty="0" err="1">
                <a:hlinkClick r:id="rId3"/>
              </a:rPr>
              <a:t>here</a:t>
            </a:r>
            <a:r>
              <a:rPr lang="de-DE" sz="1800" dirty="0"/>
              <a:t>. 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 err="1"/>
              <a:t>For</a:t>
            </a:r>
            <a:r>
              <a:rPr lang="de-DE" sz="1800" dirty="0"/>
              <a:t> </a:t>
            </a:r>
            <a:r>
              <a:rPr lang="de-DE" sz="1800" dirty="0" err="1"/>
              <a:t>both</a:t>
            </a:r>
            <a:r>
              <a:rPr lang="de-DE" sz="1800" dirty="0"/>
              <a:t> </a:t>
            </a:r>
            <a:r>
              <a:rPr lang="de-DE" sz="1800" dirty="0" err="1"/>
              <a:t>Zotero</a:t>
            </a:r>
            <a:r>
              <a:rPr lang="de-DE" sz="1800" dirty="0"/>
              <a:t> and Citavi </a:t>
            </a:r>
            <a:r>
              <a:rPr lang="de-DE" sz="1800" dirty="0" err="1"/>
              <a:t>there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many</a:t>
            </a:r>
            <a:r>
              <a:rPr lang="de-DE" sz="1800" dirty="0"/>
              <a:t> </a:t>
            </a:r>
            <a:r>
              <a:rPr lang="de-DE" sz="1800" dirty="0" err="1"/>
              <a:t>instructions</a:t>
            </a:r>
            <a:r>
              <a:rPr lang="de-DE" sz="1800" dirty="0"/>
              <a:t> and </a:t>
            </a:r>
            <a:r>
              <a:rPr lang="de-DE" sz="1800" dirty="0" err="1"/>
              <a:t>help</a:t>
            </a:r>
            <a:r>
              <a:rPr lang="de-DE" sz="1800" dirty="0"/>
              <a:t> online</a:t>
            </a:r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 err="1">
                <a:hlinkClick r:id="rId4"/>
              </a:rPr>
              <a:t>Zotero</a:t>
            </a:r>
            <a:r>
              <a:rPr lang="de-DE" sz="1800" dirty="0">
                <a:hlinkClick r:id="rId4"/>
              </a:rPr>
              <a:t> Forum</a:t>
            </a:r>
            <a:endParaRPr lang="de-DE" sz="1800" dirty="0"/>
          </a:p>
          <a:p>
            <a:pPr marL="285750" indent="-285750">
              <a:spcAft>
                <a:spcPts val="1200"/>
              </a:spcAft>
              <a:buFont typeface="Arial"/>
              <a:buChar char="•"/>
              <a:defRPr/>
            </a:pPr>
            <a:r>
              <a:rPr lang="de-DE" sz="1800" dirty="0">
                <a:hlinkClick r:id="rId5"/>
              </a:rPr>
              <a:t>Citavi YouTube channel </a:t>
            </a:r>
            <a:endParaRPr lang="de-DE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Online Solutions</a:t>
            </a:r>
            <a:endParaRPr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5FFD91B-A325-169B-A0EA-5EA9430034C0}"/>
              </a:ext>
            </a:extLst>
          </p:cNvPr>
          <p:cNvSpPr txBox="1">
            <a:spLocks/>
          </p:cNvSpPr>
          <p:nvPr/>
        </p:nvSpPr>
        <p:spPr>
          <a:xfrm>
            <a:off x="8634674" y="4823540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E4D01-A9A0-758F-9F14-262A328B26FA}"/>
              </a:ext>
            </a:extLst>
          </p:cNvPr>
          <p:cNvSpPr txBox="1"/>
          <p:nvPr/>
        </p:nvSpPr>
        <p:spPr>
          <a:xfrm>
            <a:off x="865187" y="1079883"/>
            <a:ext cx="60279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7C0E31"/>
                </a:solidFill>
              </a:rPr>
              <a:t>2.1 Google Scholar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75D929-1DDA-6A68-2A3C-219C69C9D045}"/>
              </a:ext>
            </a:extLst>
          </p:cNvPr>
          <p:cNvSpPr txBox="1"/>
          <p:nvPr/>
        </p:nvSpPr>
        <p:spPr>
          <a:xfrm>
            <a:off x="706102" y="1420572"/>
            <a:ext cx="76928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Google scholar can provide you with commonly used citation styles such as MLA, APA, Chicago, Harvard, and Vancouver.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citation function includes links for exporting the citation data as </a:t>
            </a:r>
            <a:r>
              <a:rPr lang="en-GB" i="1" dirty="0" err="1"/>
              <a:t>BibTeX</a:t>
            </a:r>
            <a:r>
              <a:rPr lang="en-GB" dirty="0"/>
              <a:t> or </a:t>
            </a:r>
            <a:r>
              <a:rPr lang="en-GB" i="1" dirty="0"/>
              <a:t>RIS</a:t>
            </a:r>
            <a:r>
              <a:rPr lang="en-GB" dirty="0"/>
              <a:t> files supported by reference manager software.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DAA85D-A5BE-AF57-2A68-2BA5191F9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648" y="2474625"/>
            <a:ext cx="5493553" cy="1165476"/>
          </a:xfrm>
          <a:prstGeom prst="rect">
            <a:avLst/>
          </a:prstGeom>
        </p:spPr>
      </p:pic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CF52D4-9C74-89E4-E14E-4DA40B1E2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76717">
            <a:off x="557241" y="3112615"/>
            <a:ext cx="1798746" cy="1798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70E84D-74B2-00B7-5FEC-C1F72F183EA1}"/>
              </a:ext>
            </a:extLst>
          </p:cNvPr>
          <p:cNvSpPr txBox="1"/>
          <p:nvPr/>
        </p:nvSpPr>
        <p:spPr>
          <a:xfrm rot="21169349">
            <a:off x="585190" y="3416881"/>
            <a:ext cx="1791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To access the citation options, click on the </a:t>
            </a:r>
            <a:r>
              <a:rPr lang="en-GB" sz="1200" b="1" dirty="0">
                <a:latin typeface="Ink Free" panose="03080402000500000000" pitchFamily="66" charset="0"/>
              </a:rPr>
              <a:t>quotation mark - Cite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  <p:pic>
        <p:nvPicPr>
          <p:cNvPr id="16" name="Graphic 15" descr="Line arrow: Counter-clockwise curve outline">
            <a:extLst>
              <a:ext uri="{FF2B5EF4-FFF2-40B4-BE49-F238E27FC236}">
                <a16:creationId xmlns:a16="http://schemas.microsoft.com/office/drawing/2014/main" id="{E881759D-6304-45F2-4ABF-63D2F278AD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046544">
            <a:off x="1924597" y="3303684"/>
            <a:ext cx="1416606" cy="1416606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D88D8B77-A814-1345-3332-A30B15043C5B}"/>
              </a:ext>
            </a:extLst>
          </p:cNvPr>
          <p:cNvSpPr/>
          <p:nvPr/>
        </p:nvSpPr>
        <p:spPr>
          <a:xfrm>
            <a:off x="2884307" y="3324927"/>
            <a:ext cx="593865" cy="315174"/>
          </a:xfrm>
          <a:prstGeom prst="ellipse">
            <a:avLst/>
          </a:prstGeom>
          <a:noFill/>
          <a:ln>
            <a:solidFill>
              <a:srgbClr val="7C0E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176E8E2-A612-D51F-2441-F743471977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8652" y="2908067"/>
            <a:ext cx="2468678" cy="2112273"/>
          </a:xfrm>
          <a:prstGeom prst="rect">
            <a:avLst/>
          </a:prstGeom>
          <a:ln>
            <a:solidFill>
              <a:srgbClr val="7C0E3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972000" y="555526"/>
            <a:ext cx="7200000" cy="630000"/>
          </a:xfrm>
        </p:spPr>
        <p:txBody>
          <a:bodyPr/>
          <a:lstStyle/>
          <a:p>
            <a:pPr>
              <a:defRPr/>
            </a:pPr>
            <a:r>
              <a:rPr lang="de-DE" dirty="0"/>
              <a:t>Online Solutions</a:t>
            </a:r>
            <a:endParaRPr lang="en-GB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252BF7C-5B5D-1B98-DEB7-79729AA6685B}"/>
              </a:ext>
            </a:extLst>
          </p:cNvPr>
          <p:cNvSpPr txBox="1">
            <a:spLocks/>
          </p:cNvSpPr>
          <p:nvPr/>
        </p:nvSpPr>
        <p:spPr>
          <a:xfrm>
            <a:off x="8634674" y="4823540"/>
            <a:ext cx="548700" cy="393600"/>
          </a:xfrm>
          <a:prstGeom prst="rect">
            <a:avLst/>
          </a:prstGeom>
        </p:spPr>
        <p:txBody>
          <a:bodyPr/>
          <a:lstStyle>
            <a:def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97B72-7265-FC7D-A24F-E4699DF2D544}"/>
              </a:ext>
            </a:extLst>
          </p:cNvPr>
          <p:cNvSpPr txBox="1"/>
          <p:nvPr/>
        </p:nvSpPr>
        <p:spPr>
          <a:xfrm>
            <a:off x="865187" y="1129249"/>
            <a:ext cx="45897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7C0E31"/>
                </a:solidFill>
              </a:rPr>
              <a:t>2.2 </a:t>
            </a:r>
            <a:r>
              <a:rPr lang="en-GB" sz="1400" b="1" dirty="0" err="1">
                <a:solidFill>
                  <a:srgbClr val="7C0E31"/>
                </a:solidFill>
              </a:rPr>
              <a:t>Scribbr</a:t>
            </a:r>
            <a:r>
              <a:rPr lang="en-GB" sz="1400" b="1" dirty="0">
                <a:solidFill>
                  <a:srgbClr val="7C0E31"/>
                </a:solidFill>
              </a:rPr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C5FD2-6943-30BC-2440-3F55D7B67653}"/>
              </a:ext>
            </a:extLst>
          </p:cNvPr>
          <p:cNvSpPr txBox="1"/>
          <p:nvPr/>
        </p:nvSpPr>
        <p:spPr>
          <a:xfrm>
            <a:off x="888371" y="1503294"/>
            <a:ext cx="36836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website </a:t>
            </a:r>
            <a:r>
              <a:rPr lang="en-GB" dirty="0" err="1"/>
              <a:t>Scribbr</a:t>
            </a:r>
            <a:r>
              <a:rPr lang="en-GB" dirty="0"/>
              <a:t> has a free online citation generator. You can generate citations from different sources, such as academic papers, websites, books, movie or documentary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APA and MLA style.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can choose between in-text citation or full reference.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9C6FC87-4255-F19D-05BE-1AC7077B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47"/>
          <a:stretch/>
        </p:blipFill>
        <p:spPr>
          <a:xfrm>
            <a:off x="4460937" y="1129248"/>
            <a:ext cx="1838037" cy="1696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9ED70D-089E-5AFB-5C09-1D4C75871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436" y="1066038"/>
            <a:ext cx="2173525" cy="15725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BB7195-B87F-7664-D547-1B14B8EE1B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061" y="2953367"/>
            <a:ext cx="3620749" cy="1529260"/>
          </a:xfrm>
          <a:prstGeom prst="rect">
            <a:avLst/>
          </a:prstGeom>
        </p:spPr>
      </p:pic>
      <p:pic>
        <p:nvPicPr>
          <p:cNvPr id="14" name="Picture 13" descr="Icon&#10;&#10;Description automatically generated">
            <a:extLst>
              <a:ext uri="{FF2B5EF4-FFF2-40B4-BE49-F238E27FC236}">
                <a16:creationId xmlns:a16="http://schemas.microsoft.com/office/drawing/2014/main" id="{88F40DEA-906D-63DD-58D3-FD1797231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81506">
            <a:off x="2171919" y="3378823"/>
            <a:ext cx="1559206" cy="1559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96E14A-35F0-7CD5-373B-1FE5475C9BB8}"/>
              </a:ext>
            </a:extLst>
          </p:cNvPr>
          <p:cNvSpPr txBox="1"/>
          <p:nvPr/>
        </p:nvSpPr>
        <p:spPr>
          <a:xfrm rot="21169349">
            <a:off x="2269697" y="3559250"/>
            <a:ext cx="1515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Ink Free" panose="03080402000500000000" pitchFamily="66" charset="0"/>
              </a:rPr>
              <a:t>You can access </a:t>
            </a:r>
            <a:r>
              <a:rPr lang="en-GB" sz="1200" dirty="0" err="1">
                <a:latin typeface="Ink Free" panose="03080402000500000000" pitchFamily="66" charset="0"/>
              </a:rPr>
              <a:t>Scribbr</a:t>
            </a:r>
            <a:r>
              <a:rPr lang="en-GB" sz="1200" dirty="0">
                <a:latin typeface="Ink Free" panose="03080402000500000000" pitchFamily="66" charset="0"/>
              </a:rPr>
              <a:t> citation generator </a:t>
            </a:r>
            <a:r>
              <a:rPr lang="en-GB" sz="1200" dirty="0">
                <a:solidFill>
                  <a:srgbClr val="7C0E31"/>
                </a:solidFill>
                <a:latin typeface="Ink Free" panose="03080402000500000000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r>
              <a:rPr lang="en-GB" sz="1200" dirty="0">
                <a:latin typeface="Ink Free" panose="03080402000500000000" pitchFamily="66" charset="0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E59944-505E-C60C-0A4F-DE4F9B32BD38}"/>
              </a:ext>
            </a:extLst>
          </p:cNvPr>
          <p:cNvSpPr txBox="1"/>
          <p:nvPr/>
        </p:nvSpPr>
        <p:spPr>
          <a:xfrm>
            <a:off x="5377602" y="4416922"/>
            <a:ext cx="3445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Images source</a:t>
            </a:r>
            <a:r>
              <a:rPr lang="pt-BR" sz="1050" dirty="0"/>
              <a:t>: https://www.scribbr.com/</a:t>
            </a:r>
            <a:endParaRPr lang="en-GB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B888B1-3EB8-4840-A2DF-F39715529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4294967295"/>
          </p:nvPr>
        </p:nvSpPr>
        <p:spPr bwMode="auto"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/>
              <a:t>11</a:t>
            </a:fld>
            <a:endParaRPr lang="de-DE"/>
          </a:p>
        </p:txBody>
      </p:sp>
      <p:sp>
        <p:nvSpPr>
          <p:cNvPr id="4" name="TextBox 3"/>
          <p:cNvSpPr txBox="1"/>
          <p:nvPr/>
        </p:nvSpPr>
        <p:spPr bwMode="auto">
          <a:xfrm>
            <a:off x="2840853" y="710214"/>
            <a:ext cx="330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GB" sz="1800" b="1" dirty="0">
                <a:solidFill>
                  <a:srgbClr val="7C0E31"/>
                </a:solidFill>
              </a:rPr>
              <a:t>Practice</a:t>
            </a:r>
            <a:r>
              <a:rPr lang="en-GB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dirty="0"/>
              <a:t>Conclusion and Next Session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4294967295"/>
          </p:nvPr>
        </p:nvSpPr>
        <p:spPr bwMode="auto"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/>
              <a:t>12</a:t>
            </a:fld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5FA7B-8AD1-073E-5231-EC45F53D5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Any Questions?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4294967295"/>
          </p:nvPr>
        </p:nvSpPr>
        <p:spPr bwMode="auto">
          <a:xfrm>
            <a:off x="8594725" y="4822825"/>
            <a:ext cx="549275" cy="3937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0000000-1234-1234-1234-123412341234}" type="slidenum">
              <a:rPr lang="de-DE"/>
              <a:t>13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Streamline">
  <a:themeElements>
    <a:clrScheme name="Benutzerdefiniert 3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9FB940F-634A-46E1-B2A0-894B823E7277}"/>
</file>

<file path=customXml/itemProps2.xml><?xml version="1.0" encoding="utf-8"?>
<ds:datastoreItem xmlns:ds="http://schemas.openxmlformats.org/officeDocument/2006/customXml" ds:itemID="{B121211F-26D2-4146-8BED-F2D609A63E24}"/>
</file>

<file path=customXml/itemProps3.xml><?xml version="1.0" encoding="utf-8"?>
<ds:datastoreItem xmlns:ds="http://schemas.openxmlformats.org/officeDocument/2006/customXml" ds:itemID="{2D82A017-61BA-493D-80B8-ACCA0480E69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746</Words>
  <Application>Microsoft Macintosh PowerPoint</Application>
  <DocSecurity>0</DocSecurity>
  <PresentationFormat>On-screen Show (16:9)</PresentationFormat>
  <Paragraphs>78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Ink Free</vt:lpstr>
      <vt:lpstr>Raleway</vt:lpstr>
      <vt:lpstr>Lora</vt:lpstr>
      <vt:lpstr>Arial Narrow</vt:lpstr>
      <vt:lpstr>Quattrocento Sans</vt:lpstr>
      <vt:lpstr>Aptos</vt:lpstr>
      <vt:lpstr>Lato</vt:lpstr>
      <vt:lpstr>Benutzerdefiniertes Design</vt:lpstr>
      <vt:lpstr>1_Streamline</vt:lpstr>
      <vt:lpstr>Academic Writing –  Citation and Reference Tools</vt:lpstr>
      <vt:lpstr>Agenda</vt:lpstr>
      <vt:lpstr>Welcome</vt:lpstr>
      <vt:lpstr>Citation Software</vt:lpstr>
      <vt:lpstr>Why Citation Software?</vt:lpstr>
      <vt:lpstr>Which Software should I use?</vt:lpstr>
      <vt:lpstr>Functions and Extras</vt:lpstr>
      <vt:lpstr>Further Ressources</vt:lpstr>
      <vt:lpstr>Online Solutions</vt:lpstr>
      <vt:lpstr>Online Solutions</vt:lpstr>
      <vt:lpstr>PowerPoint Presentation</vt:lpstr>
      <vt:lpstr>Conclusion and Next Session</vt:lpstr>
      <vt:lpstr>Any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subject/>
  <dc:creator>Mai Huong Crämer</dc:creator>
  <cp:keywords/>
  <dc:description/>
  <cp:lastModifiedBy>Carlo Kruegermeier</cp:lastModifiedBy>
  <cp:revision>359</cp:revision>
  <dcterms:modified xsi:type="dcterms:W3CDTF">2024-09-15T13:41:12Z</dcterms:modified>
  <cp:category/>
  <dc:identifier/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