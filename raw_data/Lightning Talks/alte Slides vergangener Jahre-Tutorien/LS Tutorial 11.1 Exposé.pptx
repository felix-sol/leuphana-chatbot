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32"/>
  </p:notesMasterIdLst>
  <p:sldIdLst>
    <p:sldId id="256" r:id="rId3"/>
    <p:sldId id="257" r:id="rId4"/>
    <p:sldId id="258" r:id="rId5"/>
    <p:sldId id="259" r:id="rId6"/>
    <p:sldId id="273" r:id="rId7"/>
    <p:sldId id="275" r:id="rId8"/>
    <p:sldId id="272" r:id="rId9"/>
    <p:sldId id="277" r:id="rId10"/>
    <p:sldId id="278" r:id="rId11"/>
    <p:sldId id="279" r:id="rId12"/>
    <p:sldId id="280" r:id="rId13"/>
    <p:sldId id="281" r:id="rId14"/>
    <p:sldId id="282" r:id="rId15"/>
    <p:sldId id="276" r:id="rId16"/>
    <p:sldId id="284" r:id="rId17"/>
    <p:sldId id="261" r:id="rId18"/>
    <p:sldId id="274" r:id="rId19"/>
    <p:sldId id="283" r:id="rId20"/>
    <p:sldId id="260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</p:sldIdLst>
  <p:sldSz cx="18288000" cy="10287000"/>
  <p:notesSz cx="6858000" cy="9144000"/>
  <p:embeddedFontLst>
    <p:embeddedFont>
      <p:font typeface="Arial Narrow" panose="020B0606020202030204" pitchFamily="34" charset="0"/>
      <p:regular r:id="rId33"/>
      <p:bold r:id="rId34"/>
      <p:italic r:id="rId35"/>
      <p:boldItalic r:id="rId36"/>
    </p:embeddedFont>
    <p:embeddedFont>
      <p:font typeface="Ink Free" panose="03080402000500000000" pitchFamily="66" charset="0"/>
      <p:regular r:id="rId37"/>
    </p:embeddedFont>
    <p:embeddedFont>
      <p:font typeface="Lato" panose="020F0502020204030203" pitchFamily="34" charset="0"/>
      <p:regular r:id="rId38"/>
      <p:bold r:id="rId39"/>
      <p:italic r:id="rId40"/>
      <p:boldItalic r:id="rId41"/>
    </p:embeddedFont>
    <p:embeddedFont>
      <p:font typeface="Lora" pitchFamily="2" charset="0"/>
      <p:regular r:id="rId42"/>
      <p:bold r:id="rId43"/>
      <p:italic r:id="rId44"/>
      <p:boldItalic r:id="rId45"/>
    </p:embeddedFont>
    <p:embeddedFont>
      <p:font typeface="Quattrocento Sans" panose="020B0502050000020003" pitchFamily="34" charset="0"/>
      <p:regular r:id="rId46"/>
      <p:bold r:id="rId47"/>
      <p:italic r:id="rId48"/>
      <p:boldItalic r:id="rId49"/>
    </p:embeddedFont>
    <p:embeddedFont>
      <p:font typeface="Raleway" pitchFamily="2" charset="0"/>
      <p:regular r:id="rId50"/>
      <p:bold r:id="rId51"/>
      <p:italic r:id="rId52"/>
      <p:boldItalic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6" autoAdjust="0"/>
    <p:restoredTop sz="67311" autoAdjust="0"/>
  </p:normalViewPr>
  <p:slideViewPr>
    <p:cSldViewPr>
      <p:cViewPr varScale="1">
        <p:scale>
          <a:sx n="38" d="100"/>
          <a:sy n="38" d="100"/>
        </p:scale>
        <p:origin x="1617" y="3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58" Type="http://schemas.openxmlformats.org/officeDocument/2006/relationships/customXml" Target="../customXml/item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19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customXml" Target="../customXml/item2.xml"/><Relationship Id="rId20" Type="http://schemas.openxmlformats.org/officeDocument/2006/relationships/slide" Target="slides/slide18.xml"/><Relationship Id="rId41" Type="http://schemas.openxmlformats.org/officeDocument/2006/relationships/font" Target="fonts/font9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6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AB545-A7A2-C64E-BEC8-51F178C6B1AA}" type="datetimeFigureOut">
              <a:rPr lang="de-DE" smtClean="0"/>
              <a:t>03.09.2024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7837A-BE0C-8E44-AC6E-3BD867A160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38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Here you can introduce the students to the presentation’s topic.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The goal is to give an overview about what is an exposé and how to write one.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106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de-DE" b="0" dirty="0"/>
              <a:t>Auf dieser Folie beginnen wir, das Thema Exposé vorzustellen. </a:t>
            </a:r>
            <a:endParaRPr lang="de-DE" dirty="0"/>
          </a:p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b="0" dirty="0"/>
              <a:t>Es soll als Leitfaden dienen und helfen, die Arbeitsschritte zu organisieren. </a:t>
            </a:r>
            <a:endParaRPr lang="de-DE" dirty="0"/>
          </a:p>
          <a:p>
            <a:pPr marL="139700" indent="0">
              <a:buNone/>
              <a:defRPr/>
            </a:pPr>
            <a:endParaRPr lang="de-DE" b="0" dirty="0"/>
          </a:p>
          <a:p>
            <a:pPr>
              <a:defRPr/>
            </a:pPr>
            <a:r>
              <a:rPr lang="de-DE" b="1" dirty="0"/>
              <a:t>Was ist ein Exposé?</a:t>
            </a:r>
            <a:endParaRPr lang="de-DE" dirty="0"/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Ein Arbeitsplan für ein Schreibprojekt.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Es fasst Ihr vorläufiges Forschungsdesign zusammen und leitet Sie beim Schreiben Ihres Forschungsaufsatzes an.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Es ist ein Zwischenschritt.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Es kann vor akademischen Hausarbeiten, Master- und Doktorarbeiten geschrieben werden.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Es handelt sich nicht um einen endgültigen Zeitplan. 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Änderungen sind möglich, sollten aber mit dem zuständigen Professor besprochen werden.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de-DE" b="0" dirty="0"/>
              <a:t>Man sollte eine wissenschaftliche, akademische Sprache verwenden.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endParaRPr lang="de-DE" b="0" dirty="0"/>
          </a:p>
          <a:p>
            <a:pPr marL="0" lvl="0" indent="0">
              <a:buFont typeface="Arial" panose="020B0604020202020204" pitchFamily="34" charset="0"/>
              <a:buNone/>
              <a:defRPr/>
            </a:pPr>
            <a:r>
              <a:rPr lang="de-DE" b="1" dirty="0"/>
              <a:t>Wichtig:</a:t>
            </a:r>
            <a:r>
              <a:rPr lang="de-DE" b="0" dirty="0"/>
              <a:t> Bitte beachtet besonders den Zusammenhang des Exposés mit dem Leuphana Semestermodul Problematisierung von Wissen: Kritisches Denken.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195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b="1" dirty="0"/>
              <a:t>Suggested activity: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GB" b="0" dirty="0"/>
              <a:t>Before showing the slide content, you can ask your students what are the advantages of writing an exposé according to their opinion. </a:t>
            </a:r>
          </a:p>
          <a:p>
            <a:pPr marL="311150" indent="-171450">
              <a:buFont typeface="Arial" panose="020B0604020202020204" pitchFamily="34" charset="0"/>
              <a:buChar char="•"/>
            </a:pPr>
            <a:r>
              <a:rPr lang="en-GB" b="0" dirty="0"/>
              <a:t>Ask the group if anyone uses other ways of organising their work beforehand. </a:t>
            </a:r>
          </a:p>
          <a:p>
            <a:pPr marL="139700" indent="0">
              <a:buNone/>
              <a:defRPr/>
            </a:pPr>
            <a:endParaRPr lang="de-DE" b="1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657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GB" b="1" dirty="0"/>
              <a:t>Advantages of writing an exposé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Makes it clear whether the state of research is sufficient to deal with the planned research question;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It will save you time in the future;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Allows you to clearly structure your work;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It gives you an overview of possible problems and areas for improvement. 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marL="139700" indent="0">
              <a:buNone/>
              <a:defRPr/>
            </a:pPr>
            <a:endParaRPr lang="de-DE" b="1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26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is an example of an exhibition structure provided by </a:t>
            </a:r>
            <a:r>
              <a:rPr lang="en-GB" dirty="0" err="1"/>
              <a:t>Leuphana's</a:t>
            </a:r>
            <a:r>
              <a:rPr lang="en-GB" dirty="0"/>
              <a:t> writing centre.</a:t>
            </a:r>
          </a:p>
          <a:p>
            <a:endParaRPr lang="en-GB" dirty="0"/>
          </a:p>
          <a:p>
            <a:r>
              <a:rPr lang="en-GB" dirty="0"/>
              <a:t>Please emphasize that the structure presented here is only an </a:t>
            </a:r>
            <a:r>
              <a:rPr lang="en-GB" b="1" dirty="0"/>
              <a:t>example</a:t>
            </a:r>
            <a:r>
              <a:rPr lang="en-GB" dirty="0"/>
              <a:t>. The professors have the final say on the structure they should follow.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692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Auf den folgenden Folien wird der Aufbau eines Exposés anhand eines Beispiels aus dem Leuphana Semester kurz vorgestellt. </a:t>
            </a:r>
          </a:p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Bitte vergisst nicht, noch einmal zu betonen, dass dies nur ein Beispiel ist. Bitten der Studierenden, sich immer bei ihren Professoren zu erkundigen, welche Struktur sie einhalten sollten.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3014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this slide we have an image of the example of exposé provided by </a:t>
            </a:r>
            <a:r>
              <a:rPr lang="en-GB" dirty="0" err="1"/>
              <a:t>Leuphana</a:t>
            </a:r>
            <a:r>
              <a:rPr lang="en-GB" dirty="0"/>
              <a:t> </a:t>
            </a:r>
            <a:r>
              <a:rPr lang="en-GB" dirty="0" err="1"/>
              <a:t>Semster</a:t>
            </a:r>
            <a:r>
              <a:rPr lang="en-GB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Ideally, tutors should follow the items, identifying and explaining their function and allowing the group to ask questions and clarify possible queries.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487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this slide we have an image of the example of exposé provided by </a:t>
            </a:r>
            <a:r>
              <a:rPr lang="en-GB" dirty="0" err="1"/>
              <a:t>Leuphana</a:t>
            </a:r>
            <a:r>
              <a:rPr lang="en-GB" dirty="0"/>
              <a:t> </a:t>
            </a:r>
            <a:r>
              <a:rPr lang="en-GB" dirty="0" err="1"/>
              <a:t>Semster</a:t>
            </a:r>
            <a:r>
              <a:rPr lang="en-GB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Ideally, tutors should follow the items, identifying and explaining their function and allowing the group to ask questions and clarify possible queries.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5267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this slide we have an image of the example of exposé provided by </a:t>
            </a:r>
            <a:r>
              <a:rPr lang="en-GB" dirty="0" err="1"/>
              <a:t>Leuphana</a:t>
            </a:r>
            <a:r>
              <a:rPr lang="en-GB" dirty="0"/>
              <a:t> </a:t>
            </a:r>
            <a:r>
              <a:rPr lang="en-GB" dirty="0" err="1"/>
              <a:t>Semster</a:t>
            </a:r>
            <a:r>
              <a:rPr lang="en-GB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Ideally, tutors should follow the items, identifying and explaining their function and allowing the group to ask questions and clarify possible queries.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9467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In this slide we have an image of the example of exposé provided by </a:t>
            </a:r>
            <a:r>
              <a:rPr lang="en-GB" dirty="0" err="1"/>
              <a:t>Leuphana</a:t>
            </a:r>
            <a:r>
              <a:rPr lang="en-GB" dirty="0"/>
              <a:t> </a:t>
            </a:r>
            <a:r>
              <a:rPr lang="en-GB" dirty="0" err="1"/>
              <a:t>Semster</a:t>
            </a:r>
            <a:r>
              <a:rPr lang="en-GB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Ideally, tutors should follow the items, identifying and explaining their function and allowing the group to ask questions and clarify possible queries.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236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b="0" dirty="0"/>
              <a:t>Here we bring you some links that contain more information and examples about exposés.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b="0" dirty="0"/>
              <a:t>Please alert the group to the fact that such links are not from </a:t>
            </a:r>
            <a:r>
              <a:rPr lang="en-GB" b="0" dirty="0" err="1"/>
              <a:t>Leuphana</a:t>
            </a:r>
            <a:r>
              <a:rPr lang="en-GB" b="0" dirty="0"/>
              <a:t>, so for them to take the content only as an example.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109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/>
              <a:t>On this page, we present a checklist from Bielefeld University </a:t>
            </a:r>
            <a:r>
              <a:rPr lang="de-DE" b="0" dirty="0"/>
              <a:t>(</a:t>
            </a:r>
            <a:r>
              <a:rPr lang="de-DE" u="sng" dirty="0"/>
              <a:t>https://www.uni-muenster.de/imperia/md/content/promotionskolleg_sprachwissenschaft/leitfaden_zum_verfassen_eines_expos__s.pdf )</a:t>
            </a:r>
            <a:r>
              <a:rPr lang="en-GB" b="0" dirty="0"/>
              <a:t> that you can use to check whether your exposé is well structured. This checklist was recommended by the </a:t>
            </a:r>
            <a:r>
              <a:rPr lang="en-GB" b="0" dirty="0" err="1"/>
              <a:t>Leuphana</a:t>
            </a:r>
            <a:r>
              <a:rPr lang="en-GB" b="0" dirty="0"/>
              <a:t> Writing Centre in the document "How to Exposé". </a:t>
            </a:r>
          </a:p>
          <a:p>
            <a:pPr marL="139700" indent="0">
              <a:buNone/>
            </a:pPr>
            <a:endParaRPr lang="en-GB" b="0" dirty="0"/>
          </a:p>
          <a:p>
            <a:r>
              <a:rPr lang="en-GB" b="1" dirty="0"/>
              <a:t>Suggested exercise: </a:t>
            </a:r>
            <a:r>
              <a:rPr lang="en-GB" b="0" dirty="0"/>
              <a:t>Take this opportunity to ask the students what else should be on this list. Or how they would control the quality and structure their own exposé.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2654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/>
              <a:t>On this page, we present a checklist from Bielefeld University </a:t>
            </a:r>
            <a:r>
              <a:rPr lang="de-DE" b="0" dirty="0"/>
              <a:t>(</a:t>
            </a:r>
            <a:r>
              <a:rPr lang="de-DE" u="sng" dirty="0"/>
              <a:t>https://www.uni-muenster.de/imperia/md/content/promotionskolleg_sprachwissenschaft/leitfaden_zum_verfassen_eines_expos__s.pdf )</a:t>
            </a:r>
            <a:r>
              <a:rPr lang="en-GB" b="0" dirty="0"/>
              <a:t> that you can use to check whether your exposé is well structured. This checklist was recommended by the </a:t>
            </a:r>
            <a:r>
              <a:rPr lang="en-GB" b="0" dirty="0" err="1"/>
              <a:t>Leuphana</a:t>
            </a:r>
            <a:r>
              <a:rPr lang="en-GB" b="0" dirty="0"/>
              <a:t> Writing Centre in the document "How to Exposé". </a:t>
            </a:r>
          </a:p>
          <a:p>
            <a:pPr marL="139700" indent="0">
              <a:buNone/>
            </a:pPr>
            <a:endParaRPr lang="en-GB" b="0" dirty="0"/>
          </a:p>
          <a:p>
            <a:r>
              <a:rPr lang="en-GB" b="1" dirty="0"/>
              <a:t>Suggested exercise: </a:t>
            </a:r>
            <a:r>
              <a:rPr lang="en-GB" b="0" dirty="0"/>
              <a:t>Take this opportunity to ask the students what else should be on this list. Or how they would control the quality and structure their own exposé.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378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Tutors: You can use this moment to show further examples of exposés created by </a:t>
            </a:r>
            <a:r>
              <a:rPr lang="en-US" dirty="0" err="1"/>
              <a:t>Leuphana</a:t>
            </a:r>
            <a:r>
              <a:rPr lang="en-US" dirty="0"/>
              <a:t> or by yourselves.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7837A-BE0C-8E44-AC6E-3BD867A160FB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0231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9.svg"/><Relationship Id="rId9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9.svg"/><Relationship Id="rId9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1.jpe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5F8C20-5144-BCD6-046F-3A4637BEE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05643" y="7982337"/>
            <a:ext cx="6777643" cy="783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Tutor*in: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098E5780-8526-6089-883C-304A7B1FEF87}"/>
              </a:ext>
            </a:extLst>
          </p:cNvPr>
          <p:cNvSpPr txBox="1">
            <a:spLocks/>
          </p:cNvSpPr>
          <p:nvPr userDrawn="1"/>
        </p:nvSpPr>
        <p:spPr>
          <a:xfrm>
            <a:off x="2205642" y="6228658"/>
            <a:ext cx="13716000" cy="127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9A44B3A5-D45E-6AC8-EA59-A853F9E8010A}"/>
              </a:ext>
            </a:extLst>
          </p:cNvPr>
          <p:cNvSpPr txBox="1">
            <a:spLocks/>
          </p:cNvSpPr>
          <p:nvPr userDrawn="1"/>
        </p:nvSpPr>
        <p:spPr>
          <a:xfrm>
            <a:off x="9144000" y="7982337"/>
            <a:ext cx="6777643" cy="78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Datum: </a:t>
            </a:r>
          </a:p>
        </p:txBody>
      </p:sp>
    </p:spTree>
    <p:extLst>
      <p:ext uri="{BB962C8B-B14F-4D97-AF65-F5344CB8AC3E}">
        <p14:creationId xmlns:p14="http://schemas.microsoft.com/office/powerpoint/2010/main" val="353831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6000"/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2018666" y="506518"/>
            <a:ext cx="2809405" cy="2643335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-562784" y="4424673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1766" y="-260603"/>
            <a:ext cx="3894251" cy="4068485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4998235" y="987245"/>
            <a:ext cx="3473526" cy="291463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4548476" y="-705407"/>
            <a:ext cx="3201123" cy="3188050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-366738" y="7821452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7050506" y="-563810"/>
            <a:ext cx="2158222" cy="2864923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A5BB02-AE5B-0564-222E-54F98BC7CA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6760" y="2718492"/>
            <a:ext cx="9742165" cy="6480000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600"/>
            </a:lvl1pPr>
            <a:lvl2pPr marL="971550" indent="-514350">
              <a:buFont typeface="+mj-lt"/>
              <a:buAutoNum type="romanLcPeriod"/>
              <a:defRPr sz="3600"/>
            </a:lvl2pPr>
          </a:lstStyle>
          <a:p>
            <a:pPr lvl="0"/>
            <a:r>
              <a:rPr lang="de-DE" dirty="0"/>
              <a:t> </a:t>
            </a:r>
          </a:p>
          <a:p>
            <a:pPr lvl="1"/>
            <a:r>
              <a:rPr lang="de-DE" dirty="0"/>
              <a:t> 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429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-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F13051-CF4E-443B-29BC-001C474A56A9}"/>
              </a:ext>
            </a:extLst>
          </p:cNvPr>
          <p:cNvSpPr/>
          <p:nvPr userDrawn="1"/>
        </p:nvSpPr>
        <p:spPr>
          <a:xfrm>
            <a:off x="1895176" y="2183393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483674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Check-In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36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BE749-CE66-C75E-E6F2-FFD072462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301860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324FA-E215-DE5C-2D6F-0CD86830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000" y="2738828"/>
            <a:ext cx="14400000" cy="64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E0289C6-007F-CC39-352D-152520C8FEE2}"/>
              </a:ext>
            </a:extLst>
          </p:cNvPr>
          <p:cNvSpPr/>
          <p:nvPr userDrawn="1"/>
        </p:nvSpPr>
        <p:spPr>
          <a:xfrm>
            <a:off x="-806140" y="-803735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0151D67-84F6-087A-13ED-2BF5A2A4837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5926566D-A50F-E915-FB4C-1392EE78A825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D49F164-DAE8-6727-6DAB-B303AC9C1A18}"/>
              </a:ext>
            </a:extLst>
          </p:cNvPr>
          <p:cNvSpPr/>
          <p:nvPr userDrawn="1"/>
        </p:nvSpPr>
        <p:spPr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BC7A24B-F3D9-A693-9531-5D0A3B32C020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C3FB793-4DEF-326C-B9F2-AAFE13EF7B3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E1DBF27E-8ABB-7894-AF4C-68B34C6EF44A}"/>
              </a:ext>
            </a:extLst>
          </p:cNvPr>
          <p:cNvSpPr/>
          <p:nvPr userDrawn="1"/>
        </p:nvSpPr>
        <p:spPr>
          <a:xfrm rot="-458312">
            <a:off x="16771767" y="216258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BF99FDA7-CEAC-A470-15A2-8AF647F45C2E}"/>
              </a:ext>
            </a:extLst>
          </p:cNvPr>
          <p:cNvSpPr/>
          <p:nvPr userDrawn="1"/>
        </p:nvSpPr>
        <p:spPr>
          <a:xfrm rot="1296289">
            <a:off x="15646620" y="-376703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4B80B37-6A71-F39A-8153-BF8EBFA9CA05}"/>
              </a:ext>
            </a:extLst>
          </p:cNvPr>
          <p:cNvSpPr/>
          <p:nvPr userDrawn="1"/>
        </p:nvSpPr>
        <p:spPr>
          <a:xfrm rot="2310652">
            <a:off x="-811538" y="3739758"/>
            <a:ext cx="2509961" cy="2095591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C39BFFC2-02E0-2076-5648-D928091BA4F6}"/>
              </a:ext>
            </a:extLst>
          </p:cNvPr>
          <p:cNvSpPr/>
          <p:nvPr userDrawn="1"/>
        </p:nvSpPr>
        <p:spPr>
          <a:xfrm rot="7628197">
            <a:off x="17318415" y="2283638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565003B8-E35C-4A98-29B0-022ACADD0DE8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48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3955611"/>
          </a:xfrm>
        </p:spPr>
        <p:txBody>
          <a:bodyPr lIns="90000" anchor="b"/>
          <a:lstStyle>
            <a:lvl1pPr>
              <a:defRPr sz="60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84CE9-ADC6-C3BB-E2FC-2F28B70A4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6800" y="6491289"/>
            <a:ext cx="14400000" cy="2079814"/>
          </a:xfrm>
        </p:spPr>
        <p:txBody>
          <a:bodyPr lIns="9000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7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FDF0A71-9CBE-84BC-7998-A4155D1C9C56}"/>
              </a:ext>
            </a:extLst>
          </p:cNvPr>
          <p:cNvSpPr/>
          <p:nvPr userDrawn="1"/>
        </p:nvSpPr>
        <p:spPr>
          <a:xfrm>
            <a:off x="1906799" y="2171700"/>
            <a:ext cx="14399999" cy="6399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PAUSE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04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z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315B97D-904D-C50B-4A96-2667B117C251}"/>
              </a:ext>
            </a:extLst>
          </p:cNvPr>
          <p:cNvSpPr/>
          <p:nvPr userDrawn="1"/>
        </p:nvSpPr>
        <p:spPr>
          <a:xfrm>
            <a:off x="1906799" y="2171700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r>
              <a:rPr lang="de-DE" dirty="0"/>
              <a:t>ENERGIZER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1040125" y="-8334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45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3C3F7-A725-A168-57F5-A5ACAC911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366765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BFAA9C-C85A-A03F-D628-0BFBEFFC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4000" y="2738438"/>
            <a:ext cx="7123800" cy="652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0397D-4828-69AF-16C0-77D8182A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123800" cy="652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2414888-863A-7F49-938F-5E972A82EA70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2922934-2D9F-FFEA-894A-C9CB5345C80F}"/>
              </a:ext>
            </a:extLst>
          </p:cNvPr>
          <p:cNvSpPr/>
          <p:nvPr userDrawn="1"/>
        </p:nvSpPr>
        <p:spPr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B06EBE0-28F0-2460-421C-812848A0CF4B}"/>
              </a:ext>
            </a:extLst>
          </p:cNvPr>
          <p:cNvSpPr/>
          <p:nvPr userDrawn="1"/>
        </p:nvSpPr>
        <p:spPr>
          <a:xfrm rot="7860679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A4327127-659A-AEE9-A699-17689FB4515C}"/>
              </a:ext>
            </a:extLst>
          </p:cNvPr>
          <p:cNvSpPr/>
          <p:nvPr userDrawn="1"/>
        </p:nvSpPr>
        <p:spPr>
          <a:xfrm rot="-2487859">
            <a:off x="1653257" y="-539706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E1420116-728D-9DD6-C96F-FEB09C92235D}"/>
              </a:ext>
            </a:extLst>
          </p:cNvPr>
          <p:cNvSpPr/>
          <p:nvPr userDrawn="1"/>
        </p:nvSpPr>
        <p:spPr>
          <a:xfrm rot="1296289">
            <a:off x="-407556" y="850423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43BE1EB-BFDE-6083-A284-87D7CF37DB8D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A284C4F-77FA-8BBB-7032-15B26047A961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EF206E22-45CF-248B-6797-2BB7CFC8EBDF}"/>
              </a:ext>
            </a:extLst>
          </p:cNvPr>
          <p:cNvSpPr/>
          <p:nvPr userDrawn="1"/>
        </p:nvSpPr>
        <p:spPr>
          <a:xfrm rot="16008410">
            <a:off x="16401541" y="71447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7FC525E-1B82-33A4-4138-CFFD1DF018B2}"/>
              </a:ext>
            </a:extLst>
          </p:cNvPr>
          <p:cNvSpPr/>
          <p:nvPr userDrawn="1"/>
        </p:nvSpPr>
        <p:spPr>
          <a:xfrm rot="7860679">
            <a:off x="16917043" y="6687679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1DD168A7-BF44-B367-A030-F04BE42823FB}"/>
              </a:ext>
            </a:extLst>
          </p:cNvPr>
          <p:cNvSpPr/>
          <p:nvPr userDrawn="1"/>
        </p:nvSpPr>
        <p:spPr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B1895A35-2902-C1EF-0731-B1979F77C793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E78247A3-9477-C8B5-82A9-1C29B4E555F6}"/>
              </a:ext>
            </a:extLst>
          </p:cNvPr>
          <p:cNvSpPr/>
          <p:nvPr userDrawn="1"/>
        </p:nvSpPr>
        <p:spPr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133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A6022-A198-7B99-5333-A92C521AF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174623"/>
            <a:ext cx="14400000" cy="126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61611-BC98-8FC7-6998-CB2FCAF8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4000" y="2522538"/>
            <a:ext cx="7052362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97-79C7-8C43-A7ED-2FC609436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44000" y="3757613"/>
            <a:ext cx="7052362" cy="55276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4D4B16-AEDF-5032-88F4-0CB7020E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1" y="2522538"/>
            <a:ext cx="7085700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F08C4B-3B79-0941-39EA-7FCD122BB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1" y="3757613"/>
            <a:ext cx="7085700" cy="55276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155CCDE1-46E7-C56E-E499-CAC8BE54C302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35889E93-2A5D-58AD-C395-D2FD5A443DED}"/>
              </a:ext>
            </a:extLst>
          </p:cNvPr>
          <p:cNvSpPr/>
          <p:nvPr userDrawn="1"/>
        </p:nvSpPr>
        <p:spPr>
          <a:xfrm>
            <a:off x="16605940" y="6291738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96CF57D-CA1A-A609-3F9C-8F5C6C7CF86E}"/>
              </a:ext>
            </a:extLst>
          </p:cNvPr>
          <p:cNvSpPr/>
          <p:nvPr userDrawn="1"/>
        </p:nvSpPr>
        <p:spPr>
          <a:xfrm rot="7860679">
            <a:off x="16672693" y="586569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EEEBD99B-9609-C10D-B938-37A1D1276820}"/>
              </a:ext>
            </a:extLst>
          </p:cNvPr>
          <p:cNvSpPr/>
          <p:nvPr userDrawn="1"/>
        </p:nvSpPr>
        <p:spPr>
          <a:xfrm rot="-458312">
            <a:off x="16710104" y="1053145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E104128-F882-CD53-0D5D-FECF05E8306F}"/>
              </a:ext>
            </a:extLst>
          </p:cNvPr>
          <p:cNvSpPr/>
          <p:nvPr userDrawn="1"/>
        </p:nvSpPr>
        <p:spPr>
          <a:xfrm rot="1296289">
            <a:off x="15390336" y="-527401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2F05AF10-F9C8-3261-CB2F-ECE3F6CFA40E}"/>
              </a:ext>
            </a:extLst>
          </p:cNvPr>
          <p:cNvSpPr/>
          <p:nvPr userDrawn="1"/>
        </p:nvSpPr>
        <p:spPr>
          <a:xfrm rot="7628197">
            <a:off x="17157286" y="131932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ED978E30-DF37-EF1E-4EDA-D257DB52A802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C28FAE3-EF77-16F7-D36F-89291BDBA23F}"/>
              </a:ext>
            </a:extLst>
          </p:cNvPr>
          <p:cNvSpPr/>
          <p:nvPr userDrawn="1"/>
        </p:nvSpPr>
        <p:spPr>
          <a:xfrm>
            <a:off x="-1249582" y="4137531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CEB1C3FA-1EEC-56C1-1AF2-E589AD20F890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2B7A818-0250-2839-7F03-AE94C1840AFE}"/>
              </a:ext>
            </a:extLst>
          </p:cNvPr>
          <p:cNvSpPr/>
          <p:nvPr userDrawn="1"/>
        </p:nvSpPr>
        <p:spPr>
          <a:xfrm rot="7860679">
            <a:off x="-755376" y="4673141"/>
            <a:ext cx="1600955" cy="1645696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7C0607F9-ADE3-ED8B-F55F-39BB06FB9595}"/>
              </a:ext>
            </a:extLst>
          </p:cNvPr>
          <p:cNvSpPr/>
          <p:nvPr userDrawn="1"/>
        </p:nvSpPr>
        <p:spPr>
          <a:xfrm rot="-2487859">
            <a:off x="754582" y="-207773"/>
            <a:ext cx="1882775" cy="168495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64108208-23A2-8DFE-FE94-2A9E0DE10064}"/>
              </a:ext>
            </a:extLst>
          </p:cNvPr>
          <p:cNvSpPr/>
          <p:nvPr userDrawn="1"/>
        </p:nvSpPr>
        <p:spPr>
          <a:xfrm>
            <a:off x="-613526" y="-932654"/>
            <a:ext cx="2609805" cy="259339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391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634233" y="-130796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92944" y="603209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817599" y="-741416"/>
            <a:ext cx="2912187" cy="310971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15833994" y="712804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296953" y="7886423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78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0">
            <a:extLst>
              <a:ext uri="{FF2B5EF4-FFF2-40B4-BE49-F238E27FC236}">
                <a16:creationId xmlns:a16="http://schemas.microsoft.com/office/drawing/2014/main" id="{39212D54-E1E5-07A5-E13A-D94B11CC73CB}"/>
              </a:ext>
            </a:extLst>
          </p:cNvPr>
          <p:cNvSpPr/>
          <p:nvPr userDrawn="1"/>
        </p:nvSpPr>
        <p:spPr>
          <a:xfrm rot="-2487859">
            <a:off x="1848993" y="-392157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138968B-20AA-CAF8-700F-BAB93331E2BF}"/>
              </a:ext>
            </a:extLst>
          </p:cNvPr>
          <p:cNvSpPr/>
          <p:nvPr userDrawn="1"/>
        </p:nvSpPr>
        <p:spPr>
          <a:xfrm>
            <a:off x="351158" y="5589207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29E3E70-0077-8ABC-C836-0F50A60F7BFD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CF66559-D777-73EC-5EEC-F85C25559919}"/>
              </a:ext>
            </a:extLst>
          </p:cNvPr>
          <p:cNvSpPr/>
          <p:nvPr userDrawn="1"/>
        </p:nvSpPr>
        <p:spPr>
          <a:xfrm>
            <a:off x="-817599" y="-741417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50D41EF-FF4F-AD39-D072-DA92CD711E07}"/>
              </a:ext>
            </a:extLst>
          </p:cNvPr>
          <p:cNvSpPr/>
          <p:nvPr userDrawn="1"/>
        </p:nvSpPr>
        <p:spPr>
          <a:xfrm rot="16008410">
            <a:off x="15358696" y="245178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621165A-D9E9-AFC9-8B13-32E2C07D5C16}"/>
              </a:ext>
            </a:extLst>
          </p:cNvPr>
          <p:cNvSpPr/>
          <p:nvPr userDrawn="1"/>
        </p:nvSpPr>
        <p:spPr>
          <a:xfrm rot="7860679">
            <a:off x="702797" y="573633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BB7A524-6050-E014-BA58-27ABC302D830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A399C87-A7CA-F8A4-8F37-8B3B816A02D4}"/>
              </a:ext>
            </a:extLst>
          </p:cNvPr>
          <p:cNvSpPr/>
          <p:nvPr userDrawn="1"/>
        </p:nvSpPr>
        <p:spPr>
          <a:xfrm rot="-458312">
            <a:off x="15741562" y="989320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521874F-32FC-DCEF-0872-46FCFE4B5C46}"/>
              </a:ext>
            </a:extLst>
          </p:cNvPr>
          <p:cNvSpPr/>
          <p:nvPr userDrawn="1"/>
        </p:nvSpPr>
        <p:spPr>
          <a:xfrm rot="1296289">
            <a:off x="14830585" y="-257242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7DDB4D3-61D7-854C-133A-D14CBB020B2E}"/>
              </a:ext>
            </a:extLst>
          </p:cNvPr>
          <p:cNvSpPr/>
          <p:nvPr userDrawn="1"/>
        </p:nvSpPr>
        <p:spPr>
          <a:xfrm rot="-2487859">
            <a:off x="17027787" y="4966511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80A42D8-0EF5-016E-B82E-40B3FD20D517}"/>
              </a:ext>
            </a:extLst>
          </p:cNvPr>
          <p:cNvSpPr/>
          <p:nvPr userDrawn="1"/>
        </p:nvSpPr>
        <p:spPr>
          <a:xfrm rot="1296289">
            <a:off x="619918" y="6991212"/>
            <a:ext cx="3294095" cy="275408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CF364CAB-26D9-242D-2173-35EED9694FFA}"/>
              </a:ext>
            </a:extLst>
          </p:cNvPr>
          <p:cNvSpPr/>
          <p:nvPr userDrawn="1"/>
        </p:nvSpPr>
        <p:spPr>
          <a:xfrm rot="2046247">
            <a:off x="16212870" y="1083509"/>
            <a:ext cx="2213171" cy="2273738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16DFAD4E-E1FC-D536-8781-C7766040C289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0893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16E78-2793-B012-CB0C-646A6A5A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44000" y="1481138"/>
            <a:ext cx="5235566" cy="1260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BB85FD-ECDA-36AA-2F63-F92D935D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5574" y="1481138"/>
            <a:ext cx="8568425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8A1FB-E57C-5418-EBE1-354F9867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F47AD150-4E7B-64E2-B586-D89BE5026781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785267F-9B21-E2D1-8B7C-5852346519D4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EC9A8E5-7307-5793-E10D-501433896A88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2353211-40FC-5740-32CD-1C4B636D7A37}"/>
              </a:ext>
            </a:extLst>
          </p:cNvPr>
          <p:cNvSpPr/>
          <p:nvPr userDrawn="1"/>
        </p:nvSpPr>
        <p:spPr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03E0420-8A6D-6BE6-D535-527AD41A1A23}"/>
              </a:ext>
            </a:extLst>
          </p:cNvPr>
          <p:cNvSpPr/>
          <p:nvPr userDrawn="1"/>
        </p:nvSpPr>
        <p:spPr>
          <a:xfrm rot="7860679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AE95795B-3C8A-0529-1C07-E4386818A618}"/>
              </a:ext>
            </a:extLst>
          </p:cNvPr>
          <p:cNvSpPr/>
          <p:nvPr userDrawn="1"/>
        </p:nvSpPr>
        <p:spPr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7CD293D5-CCCD-DB27-0368-65760863B577}"/>
              </a:ext>
            </a:extLst>
          </p:cNvPr>
          <p:cNvSpPr/>
          <p:nvPr userDrawn="1"/>
        </p:nvSpPr>
        <p:spPr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1D3F4BBB-70D6-DB0B-303C-DA23C05C8358}"/>
              </a:ext>
            </a:extLst>
          </p:cNvPr>
          <p:cNvSpPr/>
          <p:nvPr userDrawn="1"/>
        </p:nvSpPr>
        <p:spPr>
          <a:xfrm rot="-2487859">
            <a:off x="1742939" y="-107165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A91B5530-0FF0-FD42-3AB8-DF8DB9D91CC9}"/>
              </a:ext>
            </a:extLst>
          </p:cNvPr>
          <p:cNvSpPr/>
          <p:nvPr userDrawn="1"/>
        </p:nvSpPr>
        <p:spPr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23FCDB0A-FE28-5239-063A-55FF77DAEA5E}"/>
              </a:ext>
            </a:extLst>
          </p:cNvPr>
          <p:cNvSpPr/>
          <p:nvPr userDrawn="1"/>
        </p:nvSpPr>
        <p:spPr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AF83C77C-7708-6BFD-1A3A-1A7FE688E2D6}"/>
              </a:ext>
            </a:extLst>
          </p:cNvPr>
          <p:cNvSpPr/>
          <p:nvPr userDrawn="1"/>
        </p:nvSpPr>
        <p:spPr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5E5D326-E072-5757-7F26-55041BCADC38}"/>
              </a:ext>
            </a:extLst>
          </p:cNvPr>
          <p:cNvSpPr/>
          <p:nvPr userDrawn="1"/>
        </p:nvSpPr>
        <p:spPr>
          <a:xfrm rot="7860679">
            <a:off x="16251956" y="8185608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122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5FF1BE-6E89-BD9B-6F40-A62ECDE55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8568424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0BB0451-57CE-6C95-DCE7-EB3A0D295758}"/>
              </a:ext>
            </a:extLst>
          </p:cNvPr>
          <p:cNvSpPr/>
          <p:nvPr userDrawn="1"/>
        </p:nvSpPr>
        <p:spPr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CA1BBC5-0EE1-A6FB-D24A-FE0784B1A512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AC90572-095E-D207-28CC-5CC7CE8AAB54}"/>
              </a:ext>
            </a:extLst>
          </p:cNvPr>
          <p:cNvSpPr/>
          <p:nvPr userDrawn="1"/>
        </p:nvSpPr>
        <p:spPr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F91B3CD-CC8F-0B3A-D18E-D660FC7D92FD}"/>
              </a:ext>
            </a:extLst>
          </p:cNvPr>
          <p:cNvSpPr/>
          <p:nvPr userDrawn="1"/>
        </p:nvSpPr>
        <p:spPr>
          <a:xfrm rot="7860679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163308A-5476-0EE0-5224-021FE11335A9}"/>
              </a:ext>
            </a:extLst>
          </p:cNvPr>
          <p:cNvSpPr/>
          <p:nvPr userDrawn="1"/>
        </p:nvSpPr>
        <p:spPr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41D98E6-757A-F89B-A562-5CC2FF52C434}"/>
              </a:ext>
            </a:extLst>
          </p:cNvPr>
          <p:cNvSpPr/>
          <p:nvPr userDrawn="1"/>
        </p:nvSpPr>
        <p:spPr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25F7D7F9-A4A2-443D-DB6B-12FBDA0EBEF5}"/>
              </a:ext>
            </a:extLst>
          </p:cNvPr>
          <p:cNvSpPr/>
          <p:nvPr userDrawn="1"/>
        </p:nvSpPr>
        <p:spPr>
          <a:xfrm rot="-2487859">
            <a:off x="1742939" y="-107165"/>
            <a:ext cx="1763767" cy="1494392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6B66D66-EF89-D409-F216-68548596F9D9}"/>
              </a:ext>
            </a:extLst>
          </p:cNvPr>
          <p:cNvSpPr/>
          <p:nvPr userDrawn="1"/>
        </p:nvSpPr>
        <p:spPr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DADAE46-D778-7C30-362F-6F7AE6433EFC}"/>
              </a:ext>
            </a:extLst>
          </p:cNvPr>
          <p:cNvSpPr/>
          <p:nvPr userDrawn="1"/>
        </p:nvSpPr>
        <p:spPr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88CBCFF4-7254-B7D0-3D1F-F21E7E31B92C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2BC145F-1719-414C-C71E-C2EC49EB0A6C}"/>
              </a:ext>
            </a:extLst>
          </p:cNvPr>
          <p:cNvSpPr txBox="1">
            <a:spLocks/>
          </p:cNvSpPr>
          <p:nvPr userDrawn="1"/>
        </p:nvSpPr>
        <p:spPr>
          <a:xfrm>
            <a:off x="1944000" y="1481138"/>
            <a:ext cx="5235566" cy="12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C519E988-B3EA-8638-30E0-6D5CC7C1CA3E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FAEB560-E424-6593-FE5E-1B75DEA3BB45}"/>
              </a:ext>
            </a:extLst>
          </p:cNvPr>
          <p:cNvSpPr/>
          <p:nvPr userDrawn="1"/>
        </p:nvSpPr>
        <p:spPr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B5C5D13-66A6-41D5-C8D9-D17B7D1DDE76}"/>
              </a:ext>
            </a:extLst>
          </p:cNvPr>
          <p:cNvSpPr/>
          <p:nvPr userDrawn="1"/>
        </p:nvSpPr>
        <p:spPr>
          <a:xfrm rot="7860679">
            <a:off x="16251956" y="8185608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1507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2186282" y="2403128"/>
            <a:ext cx="13716000" cy="623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6230294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de-DE" dirty="0"/>
              <a:t>Gibt es offene Fragen?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7282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2205643" y="2394218"/>
            <a:ext cx="13716000" cy="62379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05643" y="2410767"/>
            <a:ext cx="13716000" cy="6221384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de-DE" dirty="0"/>
              <a:t>Schön das Ihr da wart!</a:t>
            </a:r>
            <a:br>
              <a:rPr lang="de-DE" dirty="0"/>
            </a:br>
            <a:r>
              <a:rPr lang="de-DE" dirty="0"/>
              <a:t>Bis nächste Woche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15433702" y="7133472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63302" y="31570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6106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E3A0CB0-E9D5-E099-7793-E4F66CD0D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6905" y="4807323"/>
            <a:ext cx="2373813" cy="1592764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F9AFEAC-D5A8-503D-7C40-CF3CBCA3C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021566" y="6891802"/>
            <a:ext cx="1502640" cy="159276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EA40C45-80E3-9DBE-0D88-9108036EE6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3639800" y="6638689"/>
            <a:ext cx="1949303" cy="1592764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F5E2560-0A3A-94A2-5A16-9B894912A2B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677723" y="6922092"/>
            <a:ext cx="2258684" cy="159276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E314E4-F661-2E60-D488-01881579C4E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6904" y="5064484"/>
            <a:ext cx="2033866" cy="1592764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C1A16C3-D223-9B94-BC6D-9D2FC378475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485268" y="3220983"/>
            <a:ext cx="1775341" cy="1592764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5FDDE54-74CC-5209-2E8E-94F46737BDF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220430" y="8526750"/>
            <a:ext cx="2080242" cy="1592764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559DBB7-12D0-1FD0-FC5C-934CA88C78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349260" y="4800008"/>
            <a:ext cx="2193219" cy="1592764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>
            <a:extLst>
              <a:ext uri="{FF2B5EF4-FFF2-40B4-BE49-F238E27FC236}">
                <a16:creationId xmlns:a16="http://schemas.microsoft.com/office/drawing/2014/main" id="{C6AD4F95-6B05-C91C-C7FC-AA231BBD4F4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6093202" y="3146603"/>
            <a:ext cx="2157516" cy="1592764"/>
          </a:xfrm>
          <a:prstGeom prst="rect">
            <a:avLst/>
          </a:prstGeom>
        </p:spPr>
      </p:pic>
      <p:grpSp>
        <p:nvGrpSpPr>
          <p:cNvPr id="27" name="Google Shape;418;p40">
            <a:extLst>
              <a:ext uri="{FF2B5EF4-FFF2-40B4-BE49-F238E27FC236}">
                <a16:creationId xmlns:a16="http://schemas.microsoft.com/office/drawing/2014/main" id="{E2968DC3-638A-2497-5ACE-FC13D198B3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970519" y="3831316"/>
            <a:ext cx="1196899" cy="839754"/>
            <a:chOff x="559275" y="1683950"/>
            <a:chExt cx="466500" cy="327300"/>
          </a:xfrm>
        </p:grpSpPr>
        <p:sp>
          <p:nvSpPr>
            <p:cNvPr id="28" name="Google Shape;419;p40">
              <a:extLst>
                <a:ext uri="{FF2B5EF4-FFF2-40B4-BE49-F238E27FC236}">
                  <a16:creationId xmlns:a16="http://schemas.microsoft.com/office/drawing/2014/main" id="{D4E07169-9311-A919-A5B1-3A2BC489A820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420;p40">
              <a:extLst>
                <a:ext uri="{FF2B5EF4-FFF2-40B4-BE49-F238E27FC236}">
                  <a16:creationId xmlns:a16="http://schemas.microsoft.com/office/drawing/2014/main" id="{503B8EED-9682-4157-D085-145252C22655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421;p40">
            <a:extLst>
              <a:ext uri="{FF2B5EF4-FFF2-40B4-BE49-F238E27FC236}">
                <a16:creationId xmlns:a16="http://schemas.microsoft.com/office/drawing/2014/main" id="{BE107EB6-45D4-F910-C895-A11AE900F6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10516" y="742994"/>
            <a:ext cx="1205798" cy="1180532"/>
            <a:chOff x="1233350" y="1619250"/>
            <a:chExt cx="466500" cy="456725"/>
          </a:xfrm>
        </p:grpSpPr>
        <p:sp>
          <p:nvSpPr>
            <p:cNvPr id="31" name="Google Shape;422;p40">
              <a:extLst>
                <a:ext uri="{FF2B5EF4-FFF2-40B4-BE49-F238E27FC236}">
                  <a16:creationId xmlns:a16="http://schemas.microsoft.com/office/drawing/2014/main" id="{006AC4A0-2301-F011-43E4-1034601DD5D6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423;p40">
              <a:extLst>
                <a:ext uri="{FF2B5EF4-FFF2-40B4-BE49-F238E27FC236}">
                  <a16:creationId xmlns:a16="http://schemas.microsoft.com/office/drawing/2014/main" id="{60AAD319-02B2-666F-121E-42411FF22D72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424;p40">
              <a:extLst>
                <a:ext uri="{FF2B5EF4-FFF2-40B4-BE49-F238E27FC236}">
                  <a16:creationId xmlns:a16="http://schemas.microsoft.com/office/drawing/2014/main" id="{44DD9E97-9119-8124-24B5-C0B800995E2E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425;p40">
              <a:extLst>
                <a:ext uri="{FF2B5EF4-FFF2-40B4-BE49-F238E27FC236}">
                  <a16:creationId xmlns:a16="http://schemas.microsoft.com/office/drawing/2014/main" id="{100C8D06-9AEA-8401-04DC-63DB0F2CAFAC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426;p40">
            <a:extLst>
              <a:ext uri="{FF2B5EF4-FFF2-40B4-BE49-F238E27FC236}">
                <a16:creationId xmlns:a16="http://schemas.microsoft.com/office/drawing/2014/main" id="{86012837-28A8-42E6-68F8-3AFCF165B60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088394" y="3574688"/>
            <a:ext cx="974938" cy="974938"/>
            <a:chOff x="1922075" y="1629000"/>
            <a:chExt cx="437200" cy="437200"/>
          </a:xfrm>
        </p:grpSpPr>
        <p:sp>
          <p:nvSpPr>
            <p:cNvPr id="36" name="Google Shape;427;p40">
              <a:extLst>
                <a:ext uri="{FF2B5EF4-FFF2-40B4-BE49-F238E27FC236}">
                  <a16:creationId xmlns:a16="http://schemas.microsoft.com/office/drawing/2014/main" id="{6764EFCE-92F1-8642-0498-86DD8044119E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428;p40">
              <a:extLst>
                <a:ext uri="{FF2B5EF4-FFF2-40B4-BE49-F238E27FC236}">
                  <a16:creationId xmlns:a16="http://schemas.microsoft.com/office/drawing/2014/main" id="{D94B9682-90C7-4D36-A683-146DF7F296A3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429;p40">
            <a:extLst>
              <a:ext uri="{FF2B5EF4-FFF2-40B4-BE49-F238E27FC236}">
                <a16:creationId xmlns:a16="http://schemas.microsoft.com/office/drawing/2014/main" id="{D48921D5-D733-0731-440C-0B989FD7E9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14349" y="3536998"/>
            <a:ext cx="1005134" cy="1005134"/>
            <a:chOff x="2594325" y="1627175"/>
            <a:chExt cx="440850" cy="440850"/>
          </a:xfrm>
        </p:grpSpPr>
        <p:sp>
          <p:nvSpPr>
            <p:cNvPr id="39" name="Google Shape;430;p40">
              <a:extLst>
                <a:ext uri="{FF2B5EF4-FFF2-40B4-BE49-F238E27FC236}">
                  <a16:creationId xmlns:a16="http://schemas.microsoft.com/office/drawing/2014/main" id="{D3F9DF86-A4E3-1AB6-7530-BA688BF05453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31;p40">
              <a:extLst>
                <a:ext uri="{FF2B5EF4-FFF2-40B4-BE49-F238E27FC236}">
                  <a16:creationId xmlns:a16="http://schemas.microsoft.com/office/drawing/2014/main" id="{38ABD5BF-A56E-F107-7C2C-893D44E1ED88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32;p40">
              <a:extLst>
                <a:ext uri="{FF2B5EF4-FFF2-40B4-BE49-F238E27FC236}">
                  <a16:creationId xmlns:a16="http://schemas.microsoft.com/office/drawing/2014/main" id="{54FDEDA8-B57D-D039-0C8D-D9EF4911BE4E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88;p40">
            <a:extLst>
              <a:ext uri="{FF2B5EF4-FFF2-40B4-BE49-F238E27FC236}">
                <a16:creationId xmlns:a16="http://schemas.microsoft.com/office/drawing/2014/main" id="{7ED12B17-1993-D628-7799-0159ECA94621}"/>
              </a:ext>
            </a:extLst>
          </p:cNvPr>
          <p:cNvSpPr>
            <a:spLocks noChangeAspect="1"/>
          </p:cNvSpPr>
          <p:nvPr userDrawn="1"/>
        </p:nvSpPr>
        <p:spPr>
          <a:xfrm>
            <a:off x="6225064" y="1724791"/>
            <a:ext cx="1245939" cy="1599223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89;p40">
            <a:extLst>
              <a:ext uri="{FF2B5EF4-FFF2-40B4-BE49-F238E27FC236}">
                <a16:creationId xmlns:a16="http://schemas.microsoft.com/office/drawing/2014/main" id="{C237BCA3-79DE-8D6E-1CEF-A0F9100C268E}"/>
              </a:ext>
            </a:extLst>
          </p:cNvPr>
          <p:cNvSpPr>
            <a:spLocks noChangeAspect="1"/>
          </p:cNvSpPr>
          <p:nvPr userDrawn="1"/>
        </p:nvSpPr>
        <p:spPr>
          <a:xfrm>
            <a:off x="4980938" y="1713050"/>
            <a:ext cx="903927" cy="1566072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90;p40">
            <a:extLst>
              <a:ext uri="{FF2B5EF4-FFF2-40B4-BE49-F238E27FC236}">
                <a16:creationId xmlns:a16="http://schemas.microsoft.com/office/drawing/2014/main" id="{44661FAB-0382-6414-522D-17D926C903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906067" y="1750254"/>
            <a:ext cx="1622856" cy="1562899"/>
            <a:chOff x="2583325" y="2972875"/>
            <a:chExt cx="462850" cy="445750"/>
          </a:xfrm>
        </p:grpSpPr>
        <p:sp>
          <p:nvSpPr>
            <p:cNvPr id="45" name="Google Shape;491;p40">
              <a:extLst>
                <a:ext uri="{FF2B5EF4-FFF2-40B4-BE49-F238E27FC236}">
                  <a16:creationId xmlns:a16="http://schemas.microsoft.com/office/drawing/2014/main" id="{CD8B1178-8556-58A7-6C61-8230E44A88D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92;p40">
              <a:extLst>
                <a:ext uri="{FF2B5EF4-FFF2-40B4-BE49-F238E27FC236}">
                  <a16:creationId xmlns:a16="http://schemas.microsoft.com/office/drawing/2014/main" id="{D4FAA2DC-1C82-D242-D22B-E4F855F5EF6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8" name="Grafik 57">
            <a:extLst>
              <a:ext uri="{FF2B5EF4-FFF2-40B4-BE49-F238E27FC236}">
                <a16:creationId xmlns:a16="http://schemas.microsoft.com/office/drawing/2014/main" id="{FFB91F42-563A-857E-ADB7-A2E30A242D6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10142224" y="3651773"/>
            <a:ext cx="1726057" cy="115842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B4E8-9696-B68F-92F9-40125CB5CB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0124" y="890575"/>
            <a:ext cx="2921000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D5DAD8-AA8F-28C4-CBA3-9566777CF9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9618" y="1217924"/>
            <a:ext cx="3721100" cy="208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9E89FE1-B766-3D6E-AA9F-15331AADCC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5809" y="4850217"/>
            <a:ext cx="1726057" cy="145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72872D-A5BF-026C-D2EA-08D5BCAC6C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2967" y="3095399"/>
            <a:ext cx="1887615" cy="175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CB4904A-0C43-3B98-0730-12DF8DD96E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959" y="5412782"/>
            <a:ext cx="2620189" cy="107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54383CC-19F7-BFAF-9B67-AAB145D7E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7133" y="8901354"/>
            <a:ext cx="2390510" cy="1157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3BBA0AB-BEBB-21E6-04D6-1E1D4A2A2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731" y="6936730"/>
            <a:ext cx="2288833" cy="158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4516BB9C-6534-0611-1C86-FB414A1A7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4729" y="6678395"/>
            <a:ext cx="1949303" cy="1519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88FC152-7268-69BB-7621-E5132DEA4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448" y="6847298"/>
            <a:ext cx="1562381" cy="1577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77E04DC4-2858-564A-AE69-5FA3BADB20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146" y="9086104"/>
            <a:ext cx="1646901" cy="97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252BC43-E7BD-710C-A290-251F91050F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8330" y="8641236"/>
            <a:ext cx="1939938" cy="136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5765752B-A385-7379-1871-746ED91151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942" y="8924883"/>
            <a:ext cx="1706562" cy="113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A133E14-E11F-3439-BE67-B088A1B717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9336" y="8424702"/>
            <a:ext cx="2033866" cy="1538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4A84675B-44FB-5F5D-4E1A-E9C1B770FD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598" y="4800301"/>
            <a:ext cx="16637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0457828F-C838-CBC5-58C0-55B7A98CA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308" y="5049355"/>
            <a:ext cx="18034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BEA7027E-96E3-F6DC-7457-15884382C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363" y="8468714"/>
            <a:ext cx="1658539" cy="149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E4E65B55-224F-E51E-929B-C616F58CA4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411" y="6582177"/>
            <a:ext cx="2565400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F375770D-1F75-FA8B-30CD-6ED7F25A72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262" y="2000770"/>
            <a:ext cx="1868862" cy="121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1D0C0EBA-5A68-0EE5-F218-E7F7096B32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737" y="3540548"/>
            <a:ext cx="2377773" cy="131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>
            <a:extLst>
              <a:ext uri="{FF2B5EF4-FFF2-40B4-BE49-F238E27FC236}">
                <a16:creationId xmlns:a16="http://schemas.microsoft.com/office/drawing/2014/main" id="{BC89B3E6-A176-0E23-5AB9-D799200C3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38" y="6967110"/>
            <a:ext cx="2098998" cy="154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7D91AAE0-509C-AE87-7A0C-2AE9116F83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9" y="8712074"/>
            <a:ext cx="2167269" cy="142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36A8B709-8CC6-C6AC-D0ED-E7F706206975}"/>
              </a:ext>
            </a:extLst>
          </p:cNvPr>
          <p:cNvSpPr txBox="1"/>
          <p:nvPr userDrawn="1"/>
        </p:nvSpPr>
        <p:spPr>
          <a:xfrm>
            <a:off x="305392" y="222596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Icon für extra Material</a:t>
            </a:r>
          </a:p>
        </p:txBody>
      </p:sp>
    </p:spTree>
    <p:extLst>
      <p:ext uri="{BB962C8B-B14F-4D97-AF65-F5344CB8AC3E}">
        <p14:creationId xmlns:p14="http://schemas.microsoft.com/office/powerpoint/2010/main" val="1633780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4638" y="9457337"/>
            <a:ext cx="18288000" cy="8369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800"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104146" y="9540848"/>
            <a:ext cx="7294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2000" b="0">
                <a:latin typeface="Arial Narrow"/>
              </a:rPr>
              <a:t>Title</a:t>
            </a:r>
            <a:endParaRPr lang="de-DE" sz="2000">
              <a:latin typeface="Arial Narrow"/>
            </a:endParaRPr>
          </a:p>
          <a:p>
            <a:pPr algn="l">
              <a:defRPr/>
            </a:pPr>
            <a:r>
              <a:rPr lang="de-DE" sz="2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6883216" y="9594933"/>
            <a:ext cx="2590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2000">
                <a:latin typeface="Arial Narrow"/>
              </a:rPr>
              <a:t>Date: XXX</a:t>
            </a:r>
            <a:endParaRPr sz="2800"/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1" y="1672887"/>
            <a:ext cx="1962402" cy="17486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/>
        </p:nvSpPr>
        <p:spPr bwMode="auto">
          <a:xfrm>
            <a:off x="834852" y="1266970"/>
            <a:ext cx="811800" cy="8118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800"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hasCustomPrompt="1"/>
          </p:nvPr>
        </p:nvSpPr>
        <p:spPr bwMode="auto">
          <a:xfrm>
            <a:off x="1962402" y="1254772"/>
            <a:ext cx="7756800" cy="8712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4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1933824" y="2125972"/>
            <a:ext cx="14411076" cy="66813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533400" lvl="0" indent="-533400">
              <a:spcBef>
                <a:spcPts val="12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36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1828800" lvl="1" indent="-71120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32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2743200" lvl="2" indent="-7112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4000">
                <a:latin typeface="Quattrocento Sans"/>
                <a:ea typeface="Quattrocento Sans"/>
                <a:cs typeface="Quattrocento Sans"/>
              </a:defRPr>
            </a:lvl3pPr>
            <a:lvl4pPr marL="3657600" lvl="3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3600">
                <a:latin typeface="Quattrocento Sans"/>
                <a:ea typeface="Quattrocento Sans"/>
                <a:cs typeface="Quattrocento Sans"/>
              </a:defRPr>
            </a:lvl4pPr>
            <a:lvl5pPr marL="4572000" lvl="4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3600">
                <a:latin typeface="Quattrocento Sans"/>
                <a:ea typeface="Quattrocento Sans"/>
                <a:cs typeface="Quattrocento Sans"/>
              </a:defRPr>
            </a:lvl5pPr>
            <a:lvl6pPr marL="5486400" lvl="5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3600">
                <a:latin typeface="Quattrocento Sans"/>
                <a:ea typeface="Quattrocento Sans"/>
                <a:cs typeface="Quattrocento Sans"/>
              </a:defRPr>
            </a:lvl6pPr>
            <a:lvl7pPr marL="6400800" lvl="6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3600">
                <a:latin typeface="Quattrocento Sans"/>
                <a:ea typeface="Quattrocento Sans"/>
                <a:cs typeface="Quattrocento Sans"/>
              </a:defRPr>
            </a:lvl7pPr>
            <a:lvl8pPr marL="7315200" lvl="7" indent="-685800">
              <a:spcBef>
                <a:spcPts val="32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3600">
                <a:latin typeface="Quattrocento Sans"/>
                <a:ea typeface="Quattrocento Sans"/>
                <a:cs typeface="Quattrocento Sans"/>
              </a:defRPr>
            </a:lvl8pPr>
            <a:lvl9pPr marL="8229600" lvl="8" indent="-685800">
              <a:spcBef>
                <a:spcPts val="3200"/>
              </a:spcBef>
              <a:spcAft>
                <a:spcPts val="32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36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4839940" y="1672888"/>
            <a:ext cx="13448160" cy="17484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8656481" y="411206"/>
            <a:ext cx="975038" cy="836908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17320844" y="9342236"/>
            <a:ext cx="836912" cy="10974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2800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736601" y="1143001"/>
            <a:ext cx="975038" cy="98297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2800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17269348" y="9647080"/>
            <a:ext cx="1097400" cy="7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  <p:grpSp>
        <p:nvGrpSpPr>
          <p:cNvPr id="18" name="Google Shape;138;p20"/>
          <p:cNvGrpSpPr>
            <a:grpSpLocks noChangeAspect="1"/>
          </p:cNvGrpSpPr>
          <p:nvPr userDrawn="1"/>
        </p:nvGrpSpPr>
        <p:grpSpPr bwMode="auto">
          <a:xfrm flipH="1">
            <a:off x="956156" y="1357086"/>
            <a:ext cx="543384" cy="543384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19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800"/>
            </a:p>
          </p:txBody>
        </p:sp>
        <p:sp>
          <p:nvSpPr>
            <p:cNvPr id="20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800"/>
            </a:p>
          </p:txBody>
        </p:sp>
        <p:sp>
          <p:nvSpPr>
            <p:cNvPr id="21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800"/>
            </a:p>
          </p:txBody>
        </p:sp>
        <p:sp>
          <p:nvSpPr>
            <p:cNvPr id="22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280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7CF1F7-0937-F9F7-257C-5A064E57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000" y="1322140"/>
            <a:ext cx="14400000" cy="126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F10457-F989-7DA5-F7A2-573216F1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4000" y="2769111"/>
            <a:ext cx="14400000" cy="64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8ADD56-CB6F-8E99-36ED-1E96FDC0D4A7}"/>
              </a:ext>
            </a:extLst>
          </p:cNvPr>
          <p:cNvSpPr/>
          <p:nvPr userDrawn="1"/>
        </p:nvSpPr>
        <p:spPr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001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3" r:id="rId3"/>
    <p:sldLayoutId id="2147483662" r:id="rId4"/>
    <p:sldLayoutId id="2147483663" r:id="rId5"/>
    <p:sldLayoutId id="2147483671" r:id="rId6"/>
    <p:sldLayoutId id="2147483672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4" r:id="rId14"/>
    <p:sldLayoutId id="2147483676" r:id="rId15"/>
    <p:sldLayoutId id="214748367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1pPr>
            <a:lvl2pPr marL="914400" lvl="1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marL="1371600" lvl="2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marL="1828800" lvl="3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marL="2286000" lvl="4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marL="2743200" lvl="5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marL="3200400" lvl="6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marL="3657600" lvl="7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marL="4114800" lvl="8" indent="-29845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17072604" y="9499702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lvl="1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lvl="2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lvl="3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lvl="4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lvl="5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lvl="6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lvl="7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lvl="8" algn="r">
              <a:buNone/>
              <a:defRPr sz="2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fld id="{00000000-1234-1234-1234-123412341234}" type="slidenum">
              <a:rPr lang="de-DE"/>
              <a:t>‹Nr.›</a:t>
            </a:fld>
            <a:endParaRPr lang="de-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629D2E-CA01-9782-F867-19335E23C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Exposé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CB3BB7D-61A1-DFC7-EA97-FDD7A6839B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094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7BFC7-9BD2-7BD4-EFBA-90444924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8416EE-1AE2-5884-0E8D-F88CF0CF9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What is an exposé?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Advantages of writing an exposé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Structure</a:t>
            </a:r>
            <a:r>
              <a:rPr lang="en-US" dirty="0">
                <a:sym typeface="Symbol" panose="05050102010706020507" pitchFamily="18" charset="2"/>
              </a:rPr>
              <a:t> key elements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ym typeface="Symbol" panose="05050102010706020507" pitchFamily="18" charset="2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dirty="0">
                <a:sym typeface="Symbol" panose="05050102010706020507" pitchFamily="18" charset="2"/>
              </a:rPr>
              <a:t>Checklist for writing an Exposé</a:t>
            </a:r>
            <a:r>
              <a:rPr lang="en-US" dirty="0">
                <a:sym typeface="Symbol" panose="050501020107060205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8306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54EE25-6DB5-A8B3-73ED-80E08B7CE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95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1.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an </a:t>
            </a:r>
            <a:r>
              <a:rPr lang="de-DE" dirty="0" err="1"/>
              <a:t>exposé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Work plan for a writing project.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Summarizes preliminary research; serves as a guide.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It is an intermediate step.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It is not a final timetable. Changes may occur.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Use scientific language.</a:t>
            </a:r>
          </a:p>
        </p:txBody>
      </p:sp>
      <p:pic>
        <p:nvPicPr>
          <p:cNvPr id="4" name="Graphic 7">
            <a:extLst>
              <a:ext uri="{FF2B5EF4-FFF2-40B4-BE49-F238E27FC236}">
                <a16:creationId xmlns:a16="http://schemas.microsoft.com/office/drawing/2014/main" id="{2D696126-E24B-2F89-A9AF-5D11E2DD9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525000" y="4991100"/>
            <a:ext cx="5667000" cy="511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34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76E08-DBAE-B593-FC82-387B662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2. </a:t>
            </a:r>
            <a:r>
              <a:rPr lang="en-GB" dirty="0"/>
              <a:t>Advantages of writing an exposé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4014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76E08-DBAE-B593-FC82-387B662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2. </a:t>
            </a:r>
            <a:r>
              <a:rPr lang="en-GB" dirty="0"/>
              <a:t>Advantages of writing an exposé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2126B7-F1D5-4383-EA86-D25E1CA6FD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Is state of research is sufficient to deal with the planned research question?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Saves time;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Clear structure;</a:t>
            </a:r>
          </a:p>
          <a:p>
            <a:pPr marL="809625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Overview of problems or areas of improvement.</a:t>
            </a:r>
          </a:p>
          <a:p>
            <a:pPr>
              <a:defRPr/>
            </a:pPr>
            <a:endParaRPr lang="de-DE" dirty="0"/>
          </a:p>
          <a:p>
            <a:endParaRPr lang="de-DE" dirty="0"/>
          </a:p>
        </p:txBody>
      </p:sp>
      <p:pic>
        <p:nvPicPr>
          <p:cNvPr id="5" name="Picture 9" descr="Icon&#10;&#10;Description automatically generated">
            <a:extLst>
              <a:ext uri="{FF2B5EF4-FFF2-40B4-BE49-F238E27FC236}">
                <a16:creationId xmlns:a16="http://schemas.microsoft.com/office/drawing/2014/main" id="{0BE0FBEC-A250-ED9B-1083-99A1DCC60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363200" y="3202555"/>
            <a:ext cx="4684145" cy="4684145"/>
          </a:xfrm>
          <a:prstGeom prst="rect">
            <a:avLst/>
          </a:prstGeom>
        </p:spPr>
      </p:pic>
      <p:sp>
        <p:nvSpPr>
          <p:cNvPr id="6" name="TextBox 10">
            <a:extLst>
              <a:ext uri="{FF2B5EF4-FFF2-40B4-BE49-F238E27FC236}">
                <a16:creationId xmlns:a16="http://schemas.microsoft.com/office/drawing/2014/main" id="{0E0731FE-7F21-6BF6-C4E0-CEB7CD6DA1DC}"/>
              </a:ext>
            </a:extLst>
          </p:cNvPr>
          <p:cNvSpPr txBox="1"/>
          <p:nvPr/>
        </p:nvSpPr>
        <p:spPr bwMode="auto">
          <a:xfrm>
            <a:off x="10817559" y="3848100"/>
            <a:ext cx="37754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Ink Free" panose="03080402000500000000" pitchFamily="66" charset="0"/>
              </a:rPr>
              <a:t>Writing an exposé involves dedicating time to preliminary reading and freewriting.</a:t>
            </a:r>
          </a:p>
        </p:txBody>
      </p:sp>
    </p:spTree>
    <p:extLst>
      <p:ext uri="{BB962C8B-B14F-4D97-AF65-F5344CB8AC3E}">
        <p14:creationId xmlns:p14="http://schemas.microsoft.com/office/powerpoint/2010/main" val="83783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000" y="2738828"/>
            <a:ext cx="13372200" cy="6480000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 err="1"/>
              <a:t>Exposés’</a:t>
            </a:r>
            <a:r>
              <a:rPr lang="en-GB" dirty="0"/>
              <a:t> structure might vary from subject to subject.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Commonly it includes the elements listed below (</a:t>
            </a:r>
            <a:r>
              <a:rPr lang="en-GB" dirty="0" err="1"/>
              <a:t>Leuphana</a:t>
            </a:r>
            <a:r>
              <a:rPr lang="en-GB" dirty="0"/>
              <a:t> Writing </a:t>
            </a:r>
            <a:r>
              <a:rPr lang="en-GB" dirty="0" err="1"/>
              <a:t>Center</a:t>
            </a:r>
            <a:r>
              <a:rPr lang="en-GB" dirty="0"/>
              <a:t>, 2020): 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Introduction (issue/problem/topic)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Preliminary research question/main argument/ (hypo)thesis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Relevance and (potential) new insight, contribution (theoretical, methodological, etc.), implications for researchers (and practitioners).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Context, framework, other perspectives, hypotheses, theories.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Literature review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Data/texts/artefacts/cases.</a:t>
            </a:r>
          </a:p>
          <a:p>
            <a:pPr marL="719138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800" dirty="0"/>
              <a:t> Methods (reasons for choosing these methods, potential limitations, etc.).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017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9">
            <a:extLst>
              <a:ext uri="{FF2B5EF4-FFF2-40B4-BE49-F238E27FC236}">
                <a16:creationId xmlns:a16="http://schemas.microsoft.com/office/drawing/2014/main" id="{A296F230-14C3-19E9-DD39-A9D115579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38800" y="4000500"/>
            <a:ext cx="8218145" cy="515867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38416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9505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>
            <a:extLst>
              <a:ext uri="{FF2B5EF4-FFF2-40B4-BE49-F238E27FC236}">
                <a16:creationId xmlns:a16="http://schemas.microsoft.com/office/drawing/2014/main" id="{670CF84F-58A0-FF91-0354-53FC5C28D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738"/>
          <a:stretch/>
        </p:blipFill>
        <p:spPr>
          <a:xfrm>
            <a:off x="1970300" y="5969783"/>
            <a:ext cx="7632178" cy="2777192"/>
          </a:xfrm>
          <a:prstGeom prst="rect">
            <a:avLst/>
          </a:prstGeom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34825A74-A2F7-2B1B-7DB3-121E5E8588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738"/>
          <a:stretch/>
        </p:blipFill>
        <p:spPr>
          <a:xfrm>
            <a:off x="1905000" y="3454399"/>
            <a:ext cx="7632178" cy="2777192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  <p:sp>
        <p:nvSpPr>
          <p:cNvPr id="3" name="Right Brace 6">
            <a:extLst>
              <a:ext uri="{FF2B5EF4-FFF2-40B4-BE49-F238E27FC236}">
                <a16:creationId xmlns:a16="http://schemas.microsoft.com/office/drawing/2014/main" id="{5D20171E-CDBF-DDAE-6442-C1F80D790523}"/>
              </a:ext>
            </a:extLst>
          </p:cNvPr>
          <p:cNvSpPr/>
          <p:nvPr/>
        </p:nvSpPr>
        <p:spPr bwMode="auto">
          <a:xfrm>
            <a:off x="8802000" y="5676900"/>
            <a:ext cx="875400" cy="2777192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372BA70-29A7-3A6F-478E-3A7CAFAF0A53}"/>
              </a:ext>
            </a:extLst>
          </p:cNvPr>
          <p:cNvSpPr txBox="1"/>
          <p:nvPr/>
        </p:nvSpPr>
        <p:spPr bwMode="auto">
          <a:xfrm>
            <a:off x="10134600" y="6400829"/>
            <a:ext cx="5562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/>
              <a:t>Cover sheet (personal details)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Your name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E-mail address of </a:t>
            </a:r>
            <a:r>
              <a:rPr lang="en-US" sz="2000" dirty="0" err="1"/>
              <a:t>Leuphana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Enrollment number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Degree program and semester</a:t>
            </a:r>
            <a:endParaRPr lang="en-GB" sz="2000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B8038DF-2401-8BC0-1C09-11F2ED1BBD24}"/>
              </a:ext>
            </a:extLst>
          </p:cNvPr>
          <p:cNvSpPr/>
          <p:nvPr/>
        </p:nvSpPr>
        <p:spPr bwMode="auto">
          <a:xfrm>
            <a:off x="8806011" y="3428999"/>
            <a:ext cx="875400" cy="2039255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3FD3D-11DE-FD89-6EEF-1D9EAAA937CB}"/>
              </a:ext>
            </a:extLst>
          </p:cNvPr>
          <p:cNvSpPr txBox="1"/>
          <p:nvPr/>
        </p:nvSpPr>
        <p:spPr bwMode="auto">
          <a:xfrm>
            <a:off x="10134600" y="3910263"/>
            <a:ext cx="5562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/>
              <a:t>Cover sheet (general information)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University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Semester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Module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Seminar</a:t>
            </a:r>
            <a:endParaRPr lang="en-GB" sz="200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592F44B-DE78-DD24-2B2D-1DA8466F21F1}"/>
              </a:ext>
            </a:extLst>
          </p:cNvPr>
          <p:cNvSpPr/>
          <p:nvPr/>
        </p:nvSpPr>
        <p:spPr>
          <a:xfrm>
            <a:off x="2286000" y="6733120"/>
            <a:ext cx="2438400" cy="2391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5A5F10A-D176-63A9-0F49-9B0053B3747F}"/>
              </a:ext>
            </a:extLst>
          </p:cNvPr>
          <p:cNvSpPr/>
          <p:nvPr/>
        </p:nvSpPr>
        <p:spPr>
          <a:xfrm>
            <a:off x="2298700" y="7052586"/>
            <a:ext cx="2959100" cy="2902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F51A0A8-48BE-1F05-0F2C-718751D76BAA}"/>
              </a:ext>
            </a:extLst>
          </p:cNvPr>
          <p:cNvSpPr/>
          <p:nvPr/>
        </p:nvSpPr>
        <p:spPr>
          <a:xfrm>
            <a:off x="2298700" y="7406907"/>
            <a:ext cx="3200400" cy="2585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57F60E9-A7C7-785F-1DE1-74F0B9671499}"/>
              </a:ext>
            </a:extLst>
          </p:cNvPr>
          <p:cNvSpPr/>
          <p:nvPr/>
        </p:nvSpPr>
        <p:spPr>
          <a:xfrm>
            <a:off x="2286000" y="7744415"/>
            <a:ext cx="5867400" cy="2902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4337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8D3A40C0-E1F2-C574-0DD9-D2494EA28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650" y="4352344"/>
            <a:ext cx="8209010" cy="5011314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  <p:pic>
        <p:nvPicPr>
          <p:cNvPr id="11" name="Picture 9" descr="Icon&#10;&#10;Description automatically generated">
            <a:extLst>
              <a:ext uri="{FF2B5EF4-FFF2-40B4-BE49-F238E27FC236}">
                <a16:creationId xmlns:a16="http://schemas.microsoft.com/office/drawing/2014/main" id="{1FFEC89A-58F0-845E-61D8-11A8598E9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3411200" y="3924300"/>
            <a:ext cx="3364772" cy="3364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33FD3D-11DE-FD89-6EEF-1D9EAAA937CB}"/>
              </a:ext>
            </a:extLst>
          </p:cNvPr>
          <p:cNvSpPr txBox="1"/>
          <p:nvPr/>
        </p:nvSpPr>
        <p:spPr bwMode="auto">
          <a:xfrm>
            <a:off x="13508989" y="4091823"/>
            <a:ext cx="326698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de-DE" sz="2000" b="1" dirty="0"/>
              <a:t>Body</a:t>
            </a:r>
            <a:endParaRPr lang="de-DE" sz="1600" dirty="0"/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Overview of the topic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Research question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Objectives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Work steps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Conclusion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dirty="0"/>
              <a:t>Reference</a:t>
            </a:r>
            <a:endParaRPr lang="en-GB" sz="2000" dirty="0"/>
          </a:p>
        </p:txBody>
      </p:sp>
      <p:sp>
        <p:nvSpPr>
          <p:cNvPr id="12" name="Right Brace 6">
            <a:extLst>
              <a:ext uri="{FF2B5EF4-FFF2-40B4-BE49-F238E27FC236}">
                <a16:creationId xmlns:a16="http://schemas.microsoft.com/office/drawing/2014/main" id="{3223377D-7765-DF65-2322-7D1D74E3D7B2}"/>
              </a:ext>
            </a:extLst>
          </p:cNvPr>
          <p:cNvSpPr/>
          <p:nvPr/>
        </p:nvSpPr>
        <p:spPr bwMode="auto">
          <a:xfrm>
            <a:off x="8953055" y="3429000"/>
            <a:ext cx="875400" cy="122500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BE81A957-619B-0EA0-29E2-4A6B747CC58F}"/>
              </a:ext>
            </a:extLst>
          </p:cNvPr>
          <p:cNvSpPr txBox="1"/>
          <p:nvPr/>
        </p:nvSpPr>
        <p:spPr bwMode="auto">
          <a:xfrm>
            <a:off x="9899300" y="3879364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/>
              <a:t>Overview of the topic</a:t>
            </a:r>
          </a:p>
        </p:txBody>
      </p:sp>
      <p:sp>
        <p:nvSpPr>
          <p:cNvPr id="14" name="Right Brace 6">
            <a:extLst>
              <a:ext uri="{FF2B5EF4-FFF2-40B4-BE49-F238E27FC236}">
                <a16:creationId xmlns:a16="http://schemas.microsoft.com/office/drawing/2014/main" id="{EDE1E22A-015B-C572-5603-AB6AC31296A3}"/>
              </a:ext>
            </a:extLst>
          </p:cNvPr>
          <p:cNvSpPr/>
          <p:nvPr/>
        </p:nvSpPr>
        <p:spPr bwMode="auto">
          <a:xfrm>
            <a:off x="8882211" y="4859444"/>
            <a:ext cx="1017089" cy="2483676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7E511B01-B007-0D26-52B9-1C336A9BD888}"/>
              </a:ext>
            </a:extLst>
          </p:cNvPr>
          <p:cNvSpPr txBox="1"/>
          <p:nvPr/>
        </p:nvSpPr>
        <p:spPr bwMode="auto">
          <a:xfrm>
            <a:off x="9982200" y="5776598"/>
            <a:ext cx="2590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dirty="0"/>
              <a:t>Personal introduction to the topic</a:t>
            </a:r>
            <a:endParaRPr lang="en-GB" sz="2000" dirty="0"/>
          </a:p>
        </p:txBody>
      </p:sp>
      <p:sp>
        <p:nvSpPr>
          <p:cNvPr id="16" name="Right Brace 6">
            <a:extLst>
              <a:ext uri="{FF2B5EF4-FFF2-40B4-BE49-F238E27FC236}">
                <a16:creationId xmlns:a16="http://schemas.microsoft.com/office/drawing/2014/main" id="{708BAC4A-8F1D-2C94-167A-101C7D595DB9}"/>
              </a:ext>
            </a:extLst>
          </p:cNvPr>
          <p:cNvSpPr/>
          <p:nvPr/>
        </p:nvSpPr>
        <p:spPr bwMode="auto">
          <a:xfrm>
            <a:off x="8882211" y="7495520"/>
            <a:ext cx="1017089" cy="1544651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091836F0-B850-0305-E2F0-CBCEC8A81AD8}"/>
              </a:ext>
            </a:extLst>
          </p:cNvPr>
          <p:cNvSpPr txBox="1"/>
          <p:nvPr/>
        </p:nvSpPr>
        <p:spPr bwMode="auto">
          <a:xfrm>
            <a:off x="9982200" y="8067790"/>
            <a:ext cx="5562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000" dirty="0"/>
              <a:t>Research question and objectives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B34778E-70D2-5DEE-3DB4-7AB12698E34D}"/>
              </a:ext>
            </a:extLst>
          </p:cNvPr>
          <p:cNvSpPr/>
          <p:nvPr/>
        </p:nvSpPr>
        <p:spPr>
          <a:xfrm>
            <a:off x="1421793" y="3469988"/>
            <a:ext cx="7112162" cy="1224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6757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FD9CD106-3F30-1D74-C4A6-5A5D11DD00D0}"/>
              </a:ext>
            </a:extLst>
          </p:cNvPr>
          <p:cNvSpPr txBox="1"/>
          <p:nvPr/>
        </p:nvSpPr>
        <p:spPr bwMode="auto">
          <a:xfrm>
            <a:off x="12763497" y="5692854"/>
            <a:ext cx="388768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dirty="0"/>
              <a:t>Outline what your work will look like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Indicate the steps you will take for your research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D6593997-7296-89C3-0922-381F88E884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7816"/>
          <a:stretch/>
        </p:blipFill>
        <p:spPr>
          <a:xfrm>
            <a:off x="2133600" y="3834178"/>
            <a:ext cx="10294679" cy="1715502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89B17A5-55E0-7C07-7D11-FF8529339A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865" b="-1"/>
          <a:stretch/>
        </p:blipFill>
        <p:spPr>
          <a:xfrm>
            <a:off x="2120898" y="5482350"/>
            <a:ext cx="10294681" cy="3413046"/>
          </a:xfrm>
          <a:prstGeom prst="rect">
            <a:avLst/>
          </a:prstGeom>
        </p:spPr>
      </p:pic>
      <p:sp>
        <p:nvSpPr>
          <p:cNvPr id="3" name="Right Brace 7">
            <a:extLst>
              <a:ext uri="{FF2B5EF4-FFF2-40B4-BE49-F238E27FC236}">
                <a16:creationId xmlns:a16="http://schemas.microsoft.com/office/drawing/2014/main" id="{E78B926F-355A-3B0C-F7EB-E672D549CBA9}"/>
              </a:ext>
            </a:extLst>
          </p:cNvPr>
          <p:cNvSpPr/>
          <p:nvPr/>
        </p:nvSpPr>
        <p:spPr bwMode="auto">
          <a:xfrm>
            <a:off x="11220262" y="4038600"/>
            <a:ext cx="1314635" cy="4838700"/>
          </a:xfrm>
          <a:prstGeom prst="rightBrace">
            <a:avLst>
              <a:gd name="adj1" fmla="val 8333"/>
              <a:gd name="adj2" fmla="val 4007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7546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3B0E3285-96A9-E724-6383-040E9F5C0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3127" y="3543300"/>
            <a:ext cx="9601767" cy="6510866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0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GB" b="1" dirty="0">
                <a:solidFill>
                  <a:srgbClr val="7E0D31"/>
                </a:solidFill>
              </a:rPr>
              <a:t>example from </a:t>
            </a:r>
            <a:r>
              <a:rPr lang="en-GB" b="1" dirty="0" err="1">
                <a:solidFill>
                  <a:srgbClr val="7E0D31"/>
                </a:solidFill>
              </a:rPr>
              <a:t>Leuphana</a:t>
            </a:r>
            <a:r>
              <a:rPr lang="en-GB" b="1" dirty="0">
                <a:solidFill>
                  <a:srgbClr val="7E0D31"/>
                </a:solidFill>
              </a:rPr>
              <a:t> Semester</a:t>
            </a:r>
            <a:endParaRPr lang="de-DE" dirty="0"/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FD9CD106-3F30-1D74-C4A6-5A5D11DD00D0}"/>
              </a:ext>
            </a:extLst>
          </p:cNvPr>
          <p:cNvSpPr txBox="1"/>
          <p:nvPr/>
        </p:nvSpPr>
        <p:spPr bwMode="auto">
          <a:xfrm>
            <a:off x="12495319" y="5829300"/>
            <a:ext cx="3887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000" dirty="0" err="1"/>
              <a:t>Bibliography</a:t>
            </a:r>
            <a:r>
              <a:rPr lang="de-DE" sz="2000" dirty="0"/>
              <a:t> and References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Right Brace 7">
            <a:extLst>
              <a:ext uri="{FF2B5EF4-FFF2-40B4-BE49-F238E27FC236}">
                <a16:creationId xmlns:a16="http://schemas.microsoft.com/office/drawing/2014/main" id="{E78B926F-355A-3B0C-F7EB-E672D549CBA9}"/>
              </a:ext>
            </a:extLst>
          </p:cNvPr>
          <p:cNvSpPr/>
          <p:nvPr/>
        </p:nvSpPr>
        <p:spPr bwMode="auto">
          <a:xfrm>
            <a:off x="10972800" y="3428999"/>
            <a:ext cx="1314635" cy="6625167"/>
          </a:xfrm>
          <a:prstGeom prst="rightBrace">
            <a:avLst>
              <a:gd name="adj1" fmla="val 8333"/>
              <a:gd name="adj2" fmla="val 4007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2836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DE51AFF6-5CA6-701C-D558-043448B54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800" y="1606660"/>
            <a:ext cx="14400000" cy="1822340"/>
          </a:xfrm>
        </p:spPr>
        <p:txBody>
          <a:bodyPr anchor="t">
            <a:normAutofit/>
          </a:bodyPr>
          <a:lstStyle/>
          <a:p>
            <a:pPr algn="ctr"/>
            <a: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3. </a:t>
            </a:r>
            <a:r>
              <a:rPr lang="en-GB" dirty="0"/>
              <a:t>Structure </a:t>
            </a:r>
            <a:r>
              <a:rPr lang="en-GB" dirty="0">
                <a:sym typeface="Symbol" panose="05050102010706020507" pitchFamily="18" charset="2"/>
              </a:rPr>
              <a:t> Key elements</a:t>
            </a:r>
            <a:br>
              <a:rPr lang="de-DE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de-DE" b="1" kern="1200" dirty="0">
                <a:solidFill>
                  <a:srgbClr val="7E0D31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More on Exposés</a:t>
            </a:r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FA6ABE-C797-DBBF-780F-72BCD7783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7800" y="3695700"/>
            <a:ext cx="7123800" cy="5570538"/>
          </a:xfrm>
        </p:spPr>
        <p:txBody>
          <a:bodyPr>
            <a:normAutofit/>
          </a:bodyPr>
          <a:lstStyle/>
          <a:p>
            <a:pPr marL="171450" indent="-171450">
              <a:spcAft>
                <a:spcPts val="600"/>
              </a:spcAft>
              <a:buFont typeface="Arial"/>
              <a:buChar char="•"/>
              <a:defRPr/>
            </a:pPr>
            <a:r>
              <a:rPr lang="de-DE" sz="2400" u="sng" dirty="0">
                <a:latin typeface="+mj-lt"/>
              </a:rPr>
              <a:t>https://www.youtube.com/watch?v=KCqgErJbeXY 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  <a:defRPr/>
            </a:pPr>
            <a:r>
              <a:rPr lang="de-DE" sz="2400" u="sng" dirty="0">
                <a:latin typeface="+mj-lt"/>
              </a:rPr>
              <a:t>https://www.ar.tum.de/fileadmin/w00bfl/www/06_Promotion/180801_Guildelines_Expose.pdf 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  <a:defRPr/>
            </a:pPr>
            <a:r>
              <a:rPr lang="de-DE" sz="2400" u="sng" dirty="0">
                <a:latin typeface="+mj-lt"/>
              </a:rPr>
              <a:t>https://sts.univie.ac.at/fileadmin/user_upload/i_sts/Studium/Master_STS/05_Services_for_current_students/Master_Thesis/Guidelines_for_Writing_a_Master_Thesis_Expose.pdf </a:t>
            </a:r>
          </a:p>
          <a:p>
            <a:pPr marL="171450" indent="-171450">
              <a:spcAft>
                <a:spcPts val="600"/>
              </a:spcAft>
              <a:buFont typeface="Arial"/>
              <a:buChar char="•"/>
              <a:defRPr/>
            </a:pPr>
            <a:r>
              <a:rPr lang="de-DE" sz="2400" u="sng" dirty="0">
                <a:latin typeface="+mj-lt"/>
              </a:rPr>
              <a:t>https://cccp.uni-koeln.de/sites/cccp/Lehre/How_to_write_an_expose.pdf</a:t>
            </a:r>
          </a:p>
          <a:p>
            <a:pPr marL="171450" indent="-171450">
              <a:buFont typeface="Arial"/>
              <a:buChar char="•"/>
              <a:defRPr/>
            </a:pPr>
            <a:endParaRPr lang="de-DE" sz="2400" dirty="0">
              <a:latin typeface="+mj-lt"/>
            </a:endParaRPr>
          </a:p>
          <a:p>
            <a:pPr>
              <a:defRPr/>
            </a:pPr>
            <a:endParaRPr lang="de-DE" sz="2400" dirty="0">
              <a:latin typeface="+mj-lt"/>
            </a:endParaRPr>
          </a:p>
          <a:p>
            <a:endParaRPr lang="de-DE" sz="2400" dirty="0">
              <a:latin typeface="+mj-lt"/>
            </a:endParaRPr>
          </a:p>
        </p:txBody>
      </p:sp>
      <p:pic>
        <p:nvPicPr>
          <p:cNvPr id="10" name="Graphic 7">
            <a:extLst>
              <a:ext uri="{FF2B5EF4-FFF2-40B4-BE49-F238E27FC236}">
                <a16:creationId xmlns:a16="http://schemas.microsoft.com/office/drawing/2014/main" id="{E9626AE5-7B8C-37BB-AC5E-512C360A2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82200" y="5143500"/>
            <a:ext cx="5257800" cy="4742477"/>
          </a:xfrm>
          <a:prstGeom prst="rect">
            <a:avLst/>
          </a:prstGeom>
        </p:spPr>
      </p:pic>
      <p:sp>
        <p:nvSpPr>
          <p:cNvPr id="2" name="Google Shape;422;p40">
            <a:extLst>
              <a:ext uri="{FF2B5EF4-FFF2-40B4-BE49-F238E27FC236}">
                <a16:creationId xmlns:a16="http://schemas.microsoft.com/office/drawing/2014/main" id="{4D79AD38-72CE-D1EB-6E73-9FEC89F73BC1}"/>
              </a:ext>
            </a:extLst>
          </p:cNvPr>
          <p:cNvSpPr/>
          <p:nvPr/>
        </p:nvSpPr>
        <p:spPr>
          <a:xfrm>
            <a:off x="2131791" y="8280231"/>
            <a:ext cx="1525809" cy="1493838"/>
          </a:xfrm>
          <a:custGeom>
            <a:avLst/>
            <a:gdLst/>
            <a:ahLst/>
            <a:cxnLst/>
            <a:rect l="l" t="t" r="r" b="b"/>
            <a:pathLst>
              <a:path w="18660" h="18269" extrusionOk="0">
                <a:moveTo>
                  <a:pt x="14923" y="5080"/>
                </a:moveTo>
                <a:lnTo>
                  <a:pt x="14923" y="9037"/>
                </a:lnTo>
                <a:lnTo>
                  <a:pt x="17316" y="7913"/>
                </a:lnTo>
                <a:lnTo>
                  <a:pt x="9476" y="13579"/>
                </a:lnTo>
                <a:lnTo>
                  <a:pt x="9403" y="13604"/>
                </a:lnTo>
                <a:lnTo>
                  <a:pt x="9330" y="13628"/>
                </a:lnTo>
                <a:lnTo>
                  <a:pt x="9257" y="13604"/>
                </a:lnTo>
                <a:lnTo>
                  <a:pt x="9183" y="13579"/>
                </a:lnTo>
                <a:lnTo>
                  <a:pt x="1344" y="7913"/>
                </a:lnTo>
                <a:lnTo>
                  <a:pt x="3737" y="9037"/>
                </a:lnTo>
                <a:lnTo>
                  <a:pt x="3737" y="5080"/>
                </a:lnTo>
                <a:close/>
                <a:moveTo>
                  <a:pt x="9330" y="0"/>
                </a:moveTo>
                <a:lnTo>
                  <a:pt x="0" y="6741"/>
                </a:lnTo>
                <a:lnTo>
                  <a:pt x="0" y="17780"/>
                </a:lnTo>
                <a:lnTo>
                  <a:pt x="0" y="17853"/>
                </a:lnTo>
                <a:lnTo>
                  <a:pt x="5129" y="14165"/>
                </a:lnTo>
                <a:lnTo>
                  <a:pt x="5227" y="14117"/>
                </a:lnTo>
                <a:lnTo>
                  <a:pt x="5325" y="14117"/>
                </a:lnTo>
                <a:lnTo>
                  <a:pt x="5398" y="14141"/>
                </a:lnTo>
                <a:lnTo>
                  <a:pt x="5471" y="14214"/>
                </a:lnTo>
                <a:lnTo>
                  <a:pt x="5520" y="14312"/>
                </a:lnTo>
                <a:lnTo>
                  <a:pt x="5520" y="14385"/>
                </a:lnTo>
                <a:lnTo>
                  <a:pt x="5471" y="14483"/>
                </a:lnTo>
                <a:lnTo>
                  <a:pt x="5422" y="14556"/>
                </a:lnTo>
                <a:lnTo>
                  <a:pt x="318" y="18244"/>
                </a:lnTo>
                <a:lnTo>
                  <a:pt x="416" y="18244"/>
                </a:lnTo>
                <a:lnTo>
                  <a:pt x="489" y="18268"/>
                </a:lnTo>
                <a:lnTo>
                  <a:pt x="18171" y="18268"/>
                </a:lnTo>
                <a:lnTo>
                  <a:pt x="18244" y="18244"/>
                </a:lnTo>
                <a:lnTo>
                  <a:pt x="18342" y="18244"/>
                </a:lnTo>
                <a:lnTo>
                  <a:pt x="13238" y="14556"/>
                </a:lnTo>
                <a:lnTo>
                  <a:pt x="13189" y="14483"/>
                </a:lnTo>
                <a:lnTo>
                  <a:pt x="13140" y="14385"/>
                </a:lnTo>
                <a:lnTo>
                  <a:pt x="13140" y="14312"/>
                </a:lnTo>
                <a:lnTo>
                  <a:pt x="13189" y="14214"/>
                </a:lnTo>
                <a:lnTo>
                  <a:pt x="13262" y="14141"/>
                </a:lnTo>
                <a:lnTo>
                  <a:pt x="13335" y="14117"/>
                </a:lnTo>
                <a:lnTo>
                  <a:pt x="13433" y="14117"/>
                </a:lnTo>
                <a:lnTo>
                  <a:pt x="13531" y="14165"/>
                </a:lnTo>
                <a:lnTo>
                  <a:pt x="18660" y="17853"/>
                </a:lnTo>
                <a:lnTo>
                  <a:pt x="18660" y="17780"/>
                </a:lnTo>
                <a:lnTo>
                  <a:pt x="18660" y="6741"/>
                </a:lnTo>
                <a:lnTo>
                  <a:pt x="9330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DB196063-1450-1370-9AB6-76D861A48225}"/>
              </a:ext>
            </a:extLst>
          </p:cNvPr>
          <p:cNvSpPr txBox="1"/>
          <p:nvPr/>
        </p:nvSpPr>
        <p:spPr bwMode="auto">
          <a:xfrm>
            <a:off x="3732319" y="8758406"/>
            <a:ext cx="38876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2000" dirty="0" err="1"/>
              <a:t>How</a:t>
            </a:r>
            <a:r>
              <a:rPr lang="de-DE" sz="2000" dirty="0"/>
              <a:t> </a:t>
            </a:r>
            <a:r>
              <a:rPr lang="de-DE" sz="2000" dirty="0" err="1"/>
              <a:t>to</a:t>
            </a:r>
            <a:r>
              <a:rPr lang="de-DE" sz="2000" dirty="0"/>
              <a:t> </a:t>
            </a:r>
            <a:r>
              <a:rPr lang="de-DE" sz="2000" dirty="0" err="1"/>
              <a:t>exposé</a:t>
            </a:r>
            <a:endParaRPr lang="de-DE" sz="2000" dirty="0"/>
          </a:p>
          <a:p>
            <a:pPr>
              <a:defRPr/>
            </a:pPr>
            <a:r>
              <a:rPr lang="de-DE" sz="2000" dirty="0"/>
              <a:t>&amp; </a:t>
            </a:r>
          </a:p>
          <a:p>
            <a:pPr>
              <a:defRPr/>
            </a:pPr>
            <a:r>
              <a:rPr lang="de-DE" sz="2000" dirty="0"/>
              <a:t>2 </a:t>
            </a:r>
            <a:r>
              <a:rPr lang="de-DE" sz="2000" dirty="0" err="1"/>
              <a:t>examples</a:t>
            </a:r>
            <a:r>
              <a:rPr lang="de-DE" sz="2000" dirty="0"/>
              <a:t> (in </a:t>
            </a:r>
            <a:r>
              <a:rPr lang="de-DE" sz="2000" dirty="0" err="1"/>
              <a:t>german</a:t>
            </a:r>
            <a:r>
              <a:rPr lang="de-DE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9982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</a:t>
            </a:r>
            <a:r>
              <a:rPr lang="en-GB" dirty="0"/>
              <a:t>Checklist for writing an exposé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Does your exposé for a term paper contain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dirty="0"/>
              <a:t>the working title of the writing project with the research question,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dirty="0"/>
              <a:t>the preliminary outline of the paper and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dirty="0"/>
              <a:t>a likewise preliminary introduction with </a:t>
            </a:r>
          </a:p>
          <a:p>
            <a:pPr indent="806450">
              <a:lnSpc>
                <a:spcPct val="150000"/>
              </a:lnSpc>
            </a:pPr>
            <a:r>
              <a:rPr lang="en-GB" sz="2400" dirty="0"/>
              <a:t>the problem,</a:t>
            </a:r>
          </a:p>
          <a:p>
            <a:pPr indent="806450">
              <a:lnSpc>
                <a:spcPct val="150000"/>
              </a:lnSpc>
            </a:pPr>
            <a:r>
              <a:rPr lang="en-GB" sz="2400" dirty="0"/>
              <a:t>the research question,</a:t>
            </a:r>
          </a:p>
          <a:p>
            <a:pPr indent="806450">
              <a:lnSpc>
                <a:spcPct val="150000"/>
              </a:lnSpc>
            </a:pPr>
            <a:r>
              <a:rPr lang="en-GB" sz="2400" dirty="0"/>
              <a:t>and the aim of the work, as well as</a:t>
            </a:r>
          </a:p>
          <a:p>
            <a:pPr indent="806450">
              <a:lnSpc>
                <a:spcPct val="150000"/>
              </a:lnSpc>
            </a:pPr>
            <a:r>
              <a:rPr lang="en-GB" sz="2400" dirty="0"/>
              <a:t>its structure and- its sources?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2968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4. </a:t>
            </a:r>
            <a:r>
              <a:rPr lang="en-GB" dirty="0"/>
              <a:t>Checklist for writing an exposé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de-DE" b="1" dirty="0">
                <a:latin typeface="+mn-lt"/>
              </a:rPr>
              <a:t>2. </a:t>
            </a:r>
            <a:r>
              <a:rPr lang="en-GB" sz="2800" b="1" dirty="0"/>
              <a:t>Your exposé for a thesis or dissertation provides information about</a:t>
            </a:r>
            <a:br>
              <a:rPr lang="en-GB" sz="3600" dirty="0"/>
            </a:br>
            <a:r>
              <a:rPr lang="en-GB" sz="2800" dirty="0"/>
              <a:t>- The problem of the writing project,</a:t>
            </a:r>
            <a:br>
              <a:rPr lang="en-GB" sz="2800" dirty="0"/>
            </a:br>
            <a:r>
              <a:rPr lang="en-GB" sz="2800" dirty="0"/>
              <a:t>- the current state of research on the topic,</a:t>
            </a:r>
            <a:br>
              <a:rPr lang="en-GB" sz="2800" dirty="0"/>
            </a:br>
            <a:r>
              <a:rPr lang="en-GB" sz="2800" dirty="0"/>
              <a:t>- the research question of the thesis,</a:t>
            </a:r>
            <a:br>
              <a:rPr lang="en-GB" sz="2800" dirty="0"/>
            </a:br>
            <a:r>
              <a:rPr lang="en-GB" sz="2800" dirty="0"/>
              <a:t>- the author's research interests,</a:t>
            </a:r>
            <a:br>
              <a:rPr lang="en-GB" sz="2800" dirty="0"/>
            </a:br>
            <a:r>
              <a:rPr lang="en-GB" sz="2800" dirty="0"/>
              <a:t>- the aim or the hypothesis underlying the work,</a:t>
            </a:r>
            <a:br>
              <a:rPr lang="en-GB" sz="2800" dirty="0"/>
            </a:br>
            <a:r>
              <a:rPr lang="en-GB" sz="2800" dirty="0"/>
              <a:t>- the theory(s) to be referred to,</a:t>
            </a:r>
            <a:br>
              <a:rPr lang="en-GB" sz="2800" dirty="0"/>
            </a:br>
            <a:r>
              <a:rPr lang="en-GB" sz="2800" dirty="0"/>
              <a:t>- the method(s) to be used,</a:t>
            </a:r>
            <a:br>
              <a:rPr lang="en-GB" sz="2800" dirty="0"/>
            </a:br>
            <a:r>
              <a:rPr lang="en-GB" sz="2800" dirty="0"/>
              <a:t>- the sources or material to be used,</a:t>
            </a:r>
            <a:br>
              <a:rPr lang="en-GB" sz="2800" dirty="0"/>
            </a:br>
            <a:r>
              <a:rPr lang="en-GB" sz="2800" dirty="0"/>
              <a:t>- the preliminary outline, and</a:t>
            </a:r>
            <a:br>
              <a:rPr lang="en-GB" sz="2800" dirty="0"/>
            </a:br>
            <a:r>
              <a:rPr lang="en-GB" sz="2800" dirty="0"/>
              <a:t>- the timetable until the deadline?</a:t>
            </a:r>
            <a:endParaRPr lang="de-DE" sz="2800" dirty="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22109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D77CBA-B4F4-AE54-D2C2-163B1AD3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BEISPIELE</a:t>
            </a:r>
          </a:p>
        </p:txBody>
      </p:sp>
    </p:spTree>
    <p:extLst>
      <p:ext uri="{BB962C8B-B14F-4D97-AF65-F5344CB8AC3E}">
        <p14:creationId xmlns:p14="http://schemas.microsoft.com/office/powerpoint/2010/main" val="18756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C04D1D-F39B-57A0-D03F-D6200654D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DCDD02-29AC-5C13-F0CF-FCD5EF194E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BA3221-767D-17ED-4F11-BC5AB57306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1120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7BC2-CC26-1799-8444-917E8520B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7B010D-E664-70F4-31A1-DE1BBFD89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1341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56264B-3D84-F85C-1DFF-920EB25B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CED5EB-974F-51B8-BCC8-BB35A5B4A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2360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6A7E86-F92C-C75E-D530-2097ADB1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488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76E08-DBAE-B593-FC82-387B662C6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2126B7-F1D5-4383-EA86-D25E1CA6FD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44EB89-2A88-9942-8288-61486612EE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648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D7F040-0A69-F3DB-FC10-6CC2A0177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19A09F-115E-30E4-E70A-7959A565B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89BA2C9-B8F9-5535-1AE9-C44C45D4E9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1C3AB2-8711-6619-EBD8-18C582629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B4DB0E-84AF-E33E-5AAB-DA37021327A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744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0C3897-8F40-9180-7F2F-A38248BF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4826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709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441D83-0189-77DD-05B3-989BA61C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F40FD8-3969-5EE1-433D-E5F585D82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B2E0CFC-E5C2-DABA-8C4D-C90757085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4339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88D8CFD5-D4E6-9AE5-396A-35CDDD5BB700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F72841-1FA0-EC54-B2EA-D9451507446D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013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600168-6E42-ED0F-C3D0-BDBB12D17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8444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714FA0-98A4-3EE3-4CA7-8EE8D54B0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2240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747445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Streamline">
  <a:themeElements>
    <a:clrScheme name="Benutzerdefiniert 3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7C6549-B16F-4EAC-B494-3612C00F6564}"/>
</file>

<file path=customXml/itemProps2.xml><?xml version="1.0" encoding="utf-8"?>
<ds:datastoreItem xmlns:ds="http://schemas.openxmlformats.org/officeDocument/2006/customXml" ds:itemID="{2905E565-1456-4586-9478-46208EEDB4E4}"/>
</file>

<file path=customXml/itemProps3.xml><?xml version="1.0" encoding="utf-8"?>
<ds:datastoreItem xmlns:ds="http://schemas.openxmlformats.org/officeDocument/2006/customXml" ds:itemID="{5E9C6887-62DC-4450-B511-474DCE1CAA8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1457</Words>
  <Application>Microsoft Office PowerPoint</Application>
  <PresentationFormat>Benutzerdefiniert</PresentationFormat>
  <Paragraphs>143</Paragraphs>
  <Slides>29</Slides>
  <Notes>14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10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29</vt:i4>
      </vt:variant>
    </vt:vector>
  </HeadingPairs>
  <TitlesOfParts>
    <vt:vector size="41" baseType="lpstr">
      <vt:lpstr>Lora</vt:lpstr>
      <vt:lpstr>Aptos</vt:lpstr>
      <vt:lpstr>Arial Narrow</vt:lpstr>
      <vt:lpstr>Lato</vt:lpstr>
      <vt:lpstr>Wingdings</vt:lpstr>
      <vt:lpstr>Symbol</vt:lpstr>
      <vt:lpstr>Quattrocento Sans</vt:lpstr>
      <vt:lpstr>Raleway</vt:lpstr>
      <vt:lpstr>Ink Free</vt:lpstr>
      <vt:lpstr>Arial</vt:lpstr>
      <vt:lpstr>Benutzerdefiniertes Design</vt:lpstr>
      <vt:lpstr>1_Streamline</vt:lpstr>
      <vt:lpstr>Exposé</vt:lpstr>
      <vt:lpstr>PowerPoint-Präsentation</vt:lpstr>
      <vt:lpstr>PowerPoint-Präsentation</vt:lpstr>
      <vt:lpstr>1. What is an exposé?</vt:lpstr>
      <vt:lpstr>2. Advantages of writing an exposé</vt:lpstr>
      <vt:lpstr>2. Advantages of writing an exposé</vt:lpstr>
      <vt:lpstr>3. Structure  Key elements</vt:lpstr>
      <vt:lpstr>3. Structure  Key elements example from Leuphana Semester</vt:lpstr>
      <vt:lpstr>3. Structure  Key elements example from Leuphana Semester</vt:lpstr>
      <vt:lpstr>3. Structure  Key elements example from Leuphana Semester</vt:lpstr>
      <vt:lpstr>3. Structure  Key elements example from Leuphana Semester</vt:lpstr>
      <vt:lpstr>3. Structure  Key elements example from Leuphana Semester</vt:lpstr>
      <vt:lpstr>3. Structure  Key elements More on Exposés</vt:lpstr>
      <vt:lpstr>4. Checklist for writing an exposé</vt:lpstr>
      <vt:lpstr>4. Checklist for writing an exposé </vt:lpstr>
      <vt:lpstr>WEITERE BEISPIELE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Clara Mueller2901</cp:lastModifiedBy>
  <cp:revision>9</cp:revision>
  <dcterms:created xsi:type="dcterms:W3CDTF">2006-08-16T00:00:00Z</dcterms:created>
  <dcterms:modified xsi:type="dcterms:W3CDTF">2024-09-03T08:38:51Z</dcterms:modified>
  <dc:identifier>DAGKdR2DXUk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