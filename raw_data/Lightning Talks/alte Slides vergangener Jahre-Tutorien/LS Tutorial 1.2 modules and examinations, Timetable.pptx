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9144000" cy="5143500"/>
  <p:embeddedFontLst>
    <p:embeddedFont>
      <p:font typeface="Arial Narrow" panose="020B0604020202020204" pitchFamily="34" charset="0"/>
      <p:regular r:id="rId11"/>
      <p:bold r:id="rId12"/>
      <p:italic r:id="rId13"/>
      <p:boldItalic r:id="rId14"/>
    </p:embeddedFont>
    <p:embeddedFont>
      <p:font typeface="Lora" pitchFamily="2" charset="77"/>
      <p:regular r:id="rId15"/>
      <p:bold r:id="rId16"/>
      <p:italic r:id="rId17"/>
      <p:boldItalic r:id="rId18"/>
    </p:embeddedFont>
    <p:embeddedFont>
      <p:font typeface="Quattrocento Sans" panose="020B0502050000020003" pitchFamily="34" charset="0"/>
      <p:regular r:id="rId19"/>
      <p:bold r:id="rId20"/>
      <p:italic r:id="rId21"/>
      <p:boldItalic r:id="rId22"/>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p:cViewPr varScale="1">
        <p:scale>
          <a:sx n="132" d="100"/>
          <a:sy n="132" d="100"/>
        </p:scale>
        <p:origin x="944"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86E683-4333-4BFF-9A21-BDCC2B5512C7}"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EC6C9A-C01C-4C82-F948-7BBF71216B54}"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00AC7C-FE9E-D2D3-D537-E8D6CD85DC36}"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b="0" i="0" u="none">
                <a:solidFill>
                  <a:schemeClr val="tx1"/>
                </a:solidFill>
              </a:rPr>
              <a:t>go through the individual points</a:t>
            </a:r>
            <a:endParaRPr>
              <a:solidFill>
                <a:schemeClr val="tx1"/>
              </a:solidFill>
            </a:endParaRPr>
          </a:p>
          <a:p>
            <a:pPr>
              <a:defRPr/>
            </a:pPr>
            <a:r>
              <a:rPr lang="de-DE" b="0" i="0" u="none">
                <a:solidFill>
                  <a:schemeClr val="tx1"/>
                </a:solidFill>
              </a:rPr>
              <a:t>if required: explain the conference week, describe your own experiences</a:t>
            </a:r>
            <a:endParaRPr>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marL="139699" indent="0">
              <a:buSzPts val="1400"/>
              <a:buNone/>
              <a:defRPr/>
            </a:pPr>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r>
              <a:rPr lang="en-US" sz="1100" b="0" i="0" u="none" strike="noStrike" cap="none" spc="0">
                <a:solidFill>
                  <a:srgbClr val="000000"/>
                </a:solidFill>
                <a:latin typeface="Arial"/>
                <a:ea typeface="Arial"/>
                <a:cs typeface="Arial"/>
              </a:rPr>
              <a:t>It is a good idea to call up MyCampus together and navigate through the structure; or to show the structure via screenshare using the projector</a:t>
            </a:r>
            <a:endParaRPr sz="1100"/>
          </a:p>
          <a:p>
            <a:pPr>
              <a:defRPr/>
            </a:pPr>
            <a:r>
              <a:t>Suggestion: joint registration for an exam of the Leuphana semester.</a:t>
            </a:r>
          </a:p>
          <a:p>
            <a:pPr>
              <a:defRPr/>
            </a:pPr>
            <a:r>
              <a:t>Please explain how withdrawing from an exam works and what the consequences are. LS modules cannot be repeated in the summer, but must be taken again in the coming winter semester.</a:t>
            </a:r>
            <a:endParaRPr lang="de-DE"/>
          </a:p>
          <a:p>
            <a:pPr>
              <a:defRPr/>
            </a:pPr>
            <a:endParaRPr lang="de-DE"/>
          </a:p>
          <a:p>
            <a:pPr>
              <a:defRPr/>
            </a:pPr>
            <a:r>
              <a:rPr lang="de-DE"/>
              <a:t>There is a guide for myCampus in Moodle - please upload it for the participants or go through it with them</a:t>
            </a:r>
            <a:endParaRPr/>
          </a:p>
          <a:p>
            <a:pPr lvl="1">
              <a:defRPr/>
            </a:pPr>
            <a:r>
              <a:rPr lang="de-DE"/>
              <a:t>An example timetable can also be found on moodle</a:t>
            </a:r>
            <a:endParaRP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073877A-EF01-C9D8-6A21-F76F60FF0386}" type="slidenum">
              <a:rPr/>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Master" Target="../slideMasters/slideMaster1.xml"/><Relationship Id="rId4"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1102822" y="1205384"/>
            <a:ext cx="6858000" cy="1790700"/>
          </a:xfrm>
        </p:spPr>
        <p:txBody>
          <a:bodyPr anchor="b"/>
          <a:lstStyle>
            <a:lvl1pPr algn="ctr">
              <a:defRPr sz="3000"/>
            </a:lvl1pPr>
          </a:lstStyle>
          <a:p>
            <a:pPr>
              <a:defRPr/>
            </a:pPr>
            <a:r>
              <a:rPr lang="de-DE"/>
              <a:t>Titel</a:t>
            </a:r>
            <a:endParaRPr/>
          </a:p>
        </p:txBody>
      </p:sp>
      <p:sp>
        <p:nvSpPr>
          <p:cNvPr id="3" name="Untertitel 2"/>
          <p:cNvSpPr>
            <a:spLocks noGrp="1"/>
          </p:cNvSpPr>
          <p:nvPr>
            <p:ph type="subTitle" idx="1" hasCustomPrompt="1"/>
          </p:nvPr>
        </p:nvSpPr>
        <p:spPr bwMode="auto">
          <a:xfrm>
            <a:off x="1102822" y="3194218"/>
            <a:ext cx="6858000" cy="55813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pPr>
              <a:defRPr/>
            </a:pPr>
            <a:r>
              <a:rPr lang="de-DE"/>
              <a:t>Tutor*in:</a:t>
            </a:r>
            <a:endParaRPr/>
          </a:p>
          <a:p>
            <a:pPr>
              <a:defRPr/>
            </a:pPr>
            <a:r>
              <a:rPr lang="de-DE"/>
              <a:t>Datum: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3000"/>
            </a:lvl1pPr>
          </a:lstStyle>
          <a:p>
            <a:pPr>
              <a:defRPr/>
            </a:pPr>
            <a:r>
              <a:rPr lang="de-DE"/>
              <a:t>Agenda</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1009333" y="253259"/>
            <a:ext cx="1404703" cy="132166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281392" y="2212337"/>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883" y="-130302"/>
            <a:ext cx="1947126" cy="2034242"/>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499118" y="493623"/>
            <a:ext cx="1736763" cy="1457318"/>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7">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274238" y="-352704"/>
            <a:ext cx="1600562" cy="1594025"/>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83369" y="391072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525253" y="-281905"/>
            <a:ext cx="1079111" cy="14324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
        <p:nvSpPr>
          <p:cNvPr id="3" name="Inhaltsplatzhalter 2"/>
          <p:cNvSpPr>
            <a:spLocks noGrp="1"/>
          </p:cNvSpPr>
          <p:nvPr>
            <p:ph idx="1" hasCustomPrompt="1"/>
          </p:nvPr>
        </p:nvSpPr>
        <p:spPr bwMode="auto">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241837"/>
          </a:xfrm>
        </p:spPr>
        <p:txBody>
          <a:bodyPr lIns="90000" anchor="ctr"/>
          <a:lstStyle>
            <a:lvl1pPr>
              <a:defRPr sz="3000"/>
            </a:lvl1pPr>
          </a:lstStyle>
          <a:p>
            <a:pPr>
              <a:defRPr/>
            </a:pPr>
            <a:r>
              <a:rPr lang="de-DE"/>
              <a:t>Check-In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50930"/>
            <a:ext cx="7200000" cy="630000"/>
          </a:xfrm>
        </p:spPr>
        <p:txBody>
          <a:bodyPr/>
          <a:lstStyle/>
          <a:p>
            <a:pPr>
              <a:defRPr/>
            </a:pPr>
            <a:r>
              <a:rPr lang="de-DE"/>
              <a:t>Überschrift</a:t>
            </a:r>
            <a:endParaRPr/>
          </a:p>
        </p:txBody>
      </p:sp>
      <p:sp>
        <p:nvSpPr>
          <p:cNvPr id="3" name="Inhaltsplatzhalter 2"/>
          <p:cNvSpPr>
            <a:spLocks noGrp="1"/>
          </p:cNvSpPr>
          <p:nvPr>
            <p:ph idx="1"/>
          </p:nvPr>
        </p:nvSpPr>
        <p:spPr bwMode="auto">
          <a:xfrm>
            <a:off x="972000" y="1369414"/>
            <a:ext cx="7200000" cy="324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403070" y="-401868"/>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385884" y="108129"/>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823310" y="-18835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310651">
            <a:off x="-405768" y="1869879"/>
            <a:ext cx="1254981" cy="104779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8659208" y="1141819"/>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53400" y="1085850"/>
            <a:ext cx="7200000" cy="1977806"/>
          </a:xfrm>
        </p:spPr>
        <p:txBody>
          <a:bodyPr lIns="90000" anchor="b"/>
          <a:lstStyle>
            <a:lvl1pPr>
              <a:defRPr sz="3000"/>
            </a:lvl1pPr>
          </a:lstStyle>
          <a:p>
            <a:pPr>
              <a:defRPr/>
            </a:pPr>
            <a:r>
              <a:rPr lang="de-DE"/>
              <a:t>Überschrift</a:t>
            </a:r>
            <a:endParaRPr/>
          </a:p>
        </p:txBody>
      </p:sp>
      <p:sp>
        <p:nvSpPr>
          <p:cNvPr id="3" name="Textplatzhalter 2"/>
          <p:cNvSpPr>
            <a:spLocks noGrp="1"/>
          </p:cNvSpPr>
          <p:nvPr>
            <p:ph type="body" idx="1"/>
          </p:nvPr>
        </p:nvSpPr>
        <p:spPr bwMode="auto">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PAUSE</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ENERGIZER</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83382"/>
            <a:ext cx="7200000" cy="630000"/>
          </a:xfrm>
        </p:spPr>
        <p:txBody>
          <a:bodyPr/>
          <a:lstStyle/>
          <a:p>
            <a:pPr>
              <a:defRPr/>
            </a:pPr>
            <a:r>
              <a:rPr lang="de-DE"/>
              <a:t>Überschrift</a:t>
            </a:r>
            <a:endParaRPr/>
          </a:p>
        </p:txBody>
      </p:sp>
      <p:sp>
        <p:nvSpPr>
          <p:cNvPr id="3" name="Inhaltsplatzhalter 2"/>
          <p:cNvSpPr>
            <a:spLocks noGrp="1"/>
          </p:cNvSpPr>
          <p:nvPr>
            <p:ph sz="half" idx="1"/>
          </p:nvPr>
        </p:nvSpPr>
        <p:spPr bwMode="auto">
          <a:xfrm>
            <a:off x="9720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46101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7">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6" name="Freeform 10"/>
          <p:cNvSpPr/>
          <p:nvPr userDrawn="1"/>
        </p:nvSpPr>
        <p:spPr bwMode="auto">
          <a:xfrm rot="-2487859">
            <a:off x="826629" y="-26985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203778" y="425211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21" name="Freeform 5"/>
          <p:cNvSpPr/>
          <p:nvPr userDrawn="1"/>
        </p:nvSpPr>
        <p:spPr bwMode="auto">
          <a:xfrm rot="16008410">
            <a:off x="8200771" y="357236"/>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22" name="Freeform 7"/>
          <p:cNvSpPr/>
          <p:nvPr userDrawn="1"/>
        </p:nvSpPr>
        <p:spPr bwMode="auto">
          <a:xfrm rot="7860677">
            <a:off x="8458522" y="3343840"/>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23"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4"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587312"/>
            <a:ext cx="7200000" cy="630000"/>
          </a:xfrm>
        </p:spPr>
        <p:txBody>
          <a:bodyPr/>
          <a:lstStyle/>
          <a:p>
            <a:pPr>
              <a:defRPr/>
            </a:pPr>
            <a:r>
              <a:rPr lang="de-DE"/>
              <a:t>Überschrift</a:t>
            </a:r>
            <a:endParaRPr/>
          </a:p>
        </p:txBody>
      </p:sp>
      <p:sp>
        <p:nvSpPr>
          <p:cNvPr id="3" name="Textplatzhalter 2"/>
          <p:cNvSpPr>
            <a:spLocks noGrp="1"/>
          </p:cNvSpPr>
          <p:nvPr>
            <p:ph type="body" idx="1"/>
          </p:nvPr>
        </p:nvSpPr>
        <p:spPr bwMode="auto">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4" name="Inhaltsplatzhalter 3"/>
          <p:cNvSpPr>
            <a:spLocks noGrp="1"/>
          </p:cNvSpPr>
          <p:nvPr>
            <p:ph sz="half" idx="2"/>
          </p:nvPr>
        </p:nvSpPr>
        <p:spPr bwMode="auto">
          <a:xfrm>
            <a:off x="972000" y="1878807"/>
            <a:ext cx="3526181"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4629151" y="1878807"/>
            <a:ext cx="3542850"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2" name="Freeform 4"/>
          <p:cNvSpPr/>
          <p:nvPr userDrawn="1"/>
        </p:nvSpPr>
        <p:spPr bwMode="auto">
          <a:xfrm>
            <a:off x="8302970" y="3145869"/>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5" name="Freeform 7"/>
          <p:cNvSpPr/>
          <p:nvPr userDrawn="1"/>
        </p:nvSpPr>
        <p:spPr bwMode="auto">
          <a:xfrm rot="7860677">
            <a:off x="8336347" y="2932849"/>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6" name="Freeform 8"/>
          <p:cNvSpPr/>
          <p:nvPr userDrawn="1"/>
        </p:nvSpPr>
        <p:spPr bwMode="auto">
          <a:xfrm rot="-458312">
            <a:off x="8355052" y="526573"/>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7" name="Freeform 9"/>
          <p:cNvSpPr/>
          <p:nvPr userDrawn="1"/>
        </p:nvSpPr>
        <p:spPr bwMode="auto">
          <a:xfrm rot="1296289">
            <a:off x="7695168" y="-263701"/>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0" name="Freeform 12"/>
          <p:cNvSpPr/>
          <p:nvPr userDrawn="1"/>
        </p:nvSpPr>
        <p:spPr bwMode="auto">
          <a:xfrm rot="7628195">
            <a:off x="8578643" y="65966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21"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2" name="Freeform 2"/>
          <p:cNvSpPr/>
          <p:nvPr userDrawn="1"/>
        </p:nvSpPr>
        <p:spPr bwMode="auto">
          <a:xfrm>
            <a:off x="-624791" y="2068765"/>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23"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4" name="Freeform 6"/>
          <p:cNvSpPr/>
          <p:nvPr userDrawn="1"/>
        </p:nvSpPr>
        <p:spPr bwMode="auto">
          <a:xfrm rot="7860677">
            <a:off x="-377688" y="2336570"/>
            <a:ext cx="800477" cy="822848"/>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24" name="Freeform 10"/>
          <p:cNvSpPr/>
          <p:nvPr userDrawn="1"/>
        </p:nvSpPr>
        <p:spPr bwMode="auto">
          <a:xfrm rot="-2487859">
            <a:off x="377291" y="-103887"/>
            <a:ext cx="941388" cy="84247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4"/>
          <p:cNvSpPr/>
          <p:nvPr userDrawn="1"/>
        </p:nvSpPr>
        <p:spPr bwMode="auto">
          <a:xfrm>
            <a:off x="-306763" y="-466327"/>
            <a:ext cx="1304903" cy="1296699"/>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317117" y="-65398"/>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46472" y="301604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408800" y="-370708"/>
            <a:ext cx="1456094" cy="155485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916997" y="356402"/>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7">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48477" y="3943212"/>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924497" y="-196079"/>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5" name="Freeform 2"/>
          <p:cNvSpPr/>
          <p:nvPr userDrawn="1"/>
        </p:nvSpPr>
        <p:spPr bwMode="auto">
          <a:xfrm>
            <a:off x="175579" y="2794604"/>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6"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7" name="Freeform 4"/>
          <p:cNvSpPr/>
          <p:nvPr userDrawn="1"/>
        </p:nvSpPr>
        <p:spPr bwMode="auto">
          <a:xfrm>
            <a:off x="-408800" y="-370708"/>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700"/>
          </a:p>
        </p:txBody>
      </p:sp>
      <p:sp>
        <p:nvSpPr>
          <p:cNvPr id="8" name="Freeform 5"/>
          <p:cNvSpPr/>
          <p:nvPr userDrawn="1"/>
        </p:nvSpPr>
        <p:spPr bwMode="auto">
          <a:xfrm rot="16008410">
            <a:off x="7679348" y="1225890"/>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9" name="Freeform 6"/>
          <p:cNvSpPr/>
          <p:nvPr userDrawn="1"/>
        </p:nvSpPr>
        <p:spPr bwMode="auto">
          <a:xfrm rot="7860677">
            <a:off x="351399" y="2868168"/>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10"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
        <p:nvSpPr>
          <p:cNvPr id="11" name="Freeform 8"/>
          <p:cNvSpPr/>
          <p:nvPr userDrawn="1"/>
        </p:nvSpPr>
        <p:spPr bwMode="auto">
          <a:xfrm rot="-458312">
            <a:off x="7870781" y="494660"/>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12" name="Freeform 9"/>
          <p:cNvSpPr/>
          <p:nvPr userDrawn="1"/>
        </p:nvSpPr>
        <p:spPr bwMode="auto">
          <a:xfrm rot="1296289">
            <a:off x="7415292" y="-128621"/>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700"/>
          </a:p>
        </p:txBody>
      </p:sp>
      <p:sp>
        <p:nvSpPr>
          <p:cNvPr id="13" name="Freeform 10"/>
          <p:cNvSpPr/>
          <p:nvPr userDrawn="1"/>
        </p:nvSpPr>
        <p:spPr bwMode="auto">
          <a:xfrm rot="-2487859">
            <a:off x="8513894" y="2483256"/>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14" name="Freeform 11"/>
          <p:cNvSpPr/>
          <p:nvPr userDrawn="1"/>
        </p:nvSpPr>
        <p:spPr bwMode="auto">
          <a:xfrm rot="1296289">
            <a:off x="309959" y="349560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700"/>
          </a:p>
        </p:txBody>
      </p:sp>
      <p:sp>
        <p:nvSpPr>
          <p:cNvPr id="15" name="Freeform 12"/>
          <p:cNvSpPr/>
          <p:nvPr userDrawn="1"/>
        </p:nvSpPr>
        <p:spPr bwMode="auto">
          <a:xfrm rot="2046247">
            <a:off x="8106435" y="541755"/>
            <a:ext cx="1106586" cy="113686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16"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740569"/>
            <a:ext cx="2617783" cy="630000"/>
          </a:xfrm>
        </p:spPr>
        <p:txBody>
          <a:bodyPr anchor="b"/>
          <a:lstStyle>
            <a:lvl1pPr>
              <a:defRPr sz="1600"/>
            </a:lvl1pPr>
          </a:lstStyle>
          <a:p>
            <a:pPr>
              <a:defRPr/>
            </a:pPr>
            <a:r>
              <a:rPr lang="de-DE"/>
              <a:t>Überschrift</a:t>
            </a:r>
            <a:endParaRPr/>
          </a:p>
        </p:txBody>
      </p:sp>
      <p:sp>
        <p:nvSpPr>
          <p:cNvPr id="3" name="Inhaltsplatzhalter 2"/>
          <p:cNvSpPr>
            <a:spLocks noGrp="1"/>
          </p:cNvSpPr>
          <p:nvPr>
            <p:ph idx="1"/>
          </p:nvPr>
        </p:nvSpPr>
        <p:spPr bwMode="auto">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22"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23"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24"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25" name="Freeform 6"/>
          <p:cNvSpPr/>
          <p:nvPr userDrawn="1"/>
        </p:nvSpPr>
        <p:spPr bwMode="auto">
          <a:xfrm rot="7860677">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26"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27"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sz="700"/>
          </a:p>
        </p:txBody>
      </p:sp>
      <p:sp>
        <p:nvSpPr>
          <p:cNvPr id="28"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sz="700"/>
          </a:p>
        </p:txBody>
      </p:sp>
      <p:sp>
        <p:nvSpPr>
          <p:cNvPr id="29"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sz="700"/>
          </a:p>
        </p:txBody>
      </p:sp>
      <p:sp>
        <p:nvSpPr>
          <p:cNvPr id="30"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31"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32" name="Freeform 7"/>
          <p:cNvSpPr/>
          <p:nvPr userDrawn="1"/>
        </p:nvSpPr>
        <p:spPr bwMode="auto">
          <a:xfrm rot="7860677">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pPr>
              <a:defRPr/>
            </a:pPr>
            <a:endParaRPr lang="de-DE"/>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9"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7">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4"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5"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6"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8"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Titel 1"/>
          <p:cNvSpPr txBox="1"/>
          <p:nvPr userDrawn="1"/>
        </p:nvSpPr>
        <p:spPr bwMode="auto">
          <a:xfrm>
            <a:off x="972000" y="740569"/>
            <a:ext cx="2617783" cy="630000"/>
          </a:xfrm>
          <a:prstGeom prst="rect">
            <a:avLst/>
          </a:prstGeom>
        </p:spPr>
        <p:txBody>
          <a:bodyPr vert="horz" lIns="45720" tIns="22860" rIns="45720" bIns="2286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sz="1600"/>
              <a:t>Überschrift</a:t>
            </a:r>
            <a:endParaRPr/>
          </a:p>
        </p:txBody>
      </p:sp>
      <p:sp>
        <p:nvSpPr>
          <p:cNvPr id="22" name="Textplatzhalter 3"/>
          <p:cNvSpPr>
            <a:spLocks noGrp="1"/>
          </p:cNvSpPr>
          <p:nvPr>
            <p:ph type="body" sz="half" idx="11"/>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24"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3" name="Freeform 7"/>
          <p:cNvSpPr/>
          <p:nvPr userDrawn="1"/>
        </p:nvSpPr>
        <p:spPr bwMode="auto">
          <a:xfrm rot="7860677">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5147"/>
          </a:xfrm>
        </p:spPr>
        <p:txBody>
          <a:bodyPr anchor="ctr"/>
          <a:lstStyle>
            <a:lvl1pPr algn="ctr">
              <a:defRPr sz="3000"/>
            </a:lvl1pPr>
          </a:lstStyle>
          <a:p>
            <a:pPr>
              <a:defRPr/>
            </a:pPr>
            <a:r>
              <a:rPr lang="de-DE"/>
              <a:t>Gibt es offene Fragen?</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1102822"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0692"/>
          </a:xfrm>
        </p:spPr>
        <p:txBody>
          <a:bodyPr anchor="ctr"/>
          <a:lstStyle>
            <a:lvl1pPr algn="ctr">
              <a:defRPr sz="3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7">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7">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5">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7938453" y="2403662"/>
            <a:ext cx="1186907" cy="796382"/>
          </a:xfrm>
          <a:prstGeom prst="rect">
            <a:avLst/>
          </a:prstGeom>
        </p:spPr>
      </p:pic>
      <p:pic>
        <p:nvPicPr>
          <p:cNvPr id="18" name="Grafik 17"/>
          <p:cNvPicPr>
            <a:picLocks noChangeAspect="1"/>
          </p:cNvPicPr>
          <p:nvPr userDrawn="1"/>
        </p:nvPicPr>
        <p:blipFill>
          <a:blip r:embed="rId3"/>
          <a:stretch/>
        </p:blipFill>
        <p:spPr bwMode="auto">
          <a:xfrm>
            <a:off x="6010783" y="3445901"/>
            <a:ext cx="751320" cy="796382"/>
          </a:xfrm>
          <a:prstGeom prst="rect">
            <a:avLst/>
          </a:prstGeom>
        </p:spPr>
      </p:pic>
      <p:pic>
        <p:nvPicPr>
          <p:cNvPr id="19" name="Grafik 18"/>
          <p:cNvPicPr>
            <a:picLocks noChangeAspect="1"/>
          </p:cNvPicPr>
          <p:nvPr userDrawn="1"/>
        </p:nvPicPr>
        <p:blipFill>
          <a:blip r:embed="rId4"/>
          <a:stretch/>
        </p:blipFill>
        <p:spPr bwMode="auto">
          <a:xfrm>
            <a:off x="6819900" y="3319345"/>
            <a:ext cx="974652" cy="796382"/>
          </a:xfrm>
          <a:prstGeom prst="rect">
            <a:avLst/>
          </a:prstGeom>
        </p:spPr>
      </p:pic>
      <p:pic>
        <p:nvPicPr>
          <p:cNvPr id="20" name="Grafik 19"/>
          <p:cNvPicPr>
            <a:picLocks noChangeAspect="1"/>
          </p:cNvPicPr>
          <p:nvPr userDrawn="1"/>
        </p:nvPicPr>
        <p:blipFill>
          <a:blip r:embed="rId5"/>
          <a:stretch/>
        </p:blipFill>
        <p:spPr bwMode="auto">
          <a:xfrm>
            <a:off x="4838862" y="3461046"/>
            <a:ext cx="1129342" cy="796382"/>
          </a:xfrm>
          <a:prstGeom prst="rect">
            <a:avLst/>
          </a:prstGeom>
        </p:spPr>
      </p:pic>
      <p:pic>
        <p:nvPicPr>
          <p:cNvPr id="21" name="Grafik 20"/>
          <p:cNvPicPr>
            <a:picLocks noChangeAspect="1"/>
          </p:cNvPicPr>
          <p:nvPr userDrawn="1"/>
        </p:nvPicPr>
        <p:blipFill>
          <a:blip r:embed="rId6"/>
          <a:stretch/>
        </p:blipFill>
        <p:spPr bwMode="auto">
          <a:xfrm>
            <a:off x="5663452" y="2532242"/>
            <a:ext cx="1016933" cy="796382"/>
          </a:xfrm>
          <a:prstGeom prst="rect">
            <a:avLst/>
          </a:prstGeom>
        </p:spPr>
      </p:pic>
      <p:pic>
        <p:nvPicPr>
          <p:cNvPr id="22" name="Grafik 21"/>
          <p:cNvPicPr>
            <a:picLocks noChangeAspect="1"/>
          </p:cNvPicPr>
          <p:nvPr userDrawn="1"/>
        </p:nvPicPr>
        <p:blipFill>
          <a:blip r:embed="rId7"/>
          <a:stretch/>
        </p:blipFill>
        <p:spPr bwMode="auto">
          <a:xfrm>
            <a:off x="7242634" y="1610492"/>
            <a:ext cx="887671" cy="796382"/>
          </a:xfrm>
          <a:prstGeom prst="rect">
            <a:avLst/>
          </a:prstGeom>
        </p:spPr>
      </p:pic>
      <p:pic>
        <p:nvPicPr>
          <p:cNvPr id="23" name="Grafik 22"/>
          <p:cNvPicPr>
            <a:picLocks noChangeAspect="1"/>
          </p:cNvPicPr>
          <p:nvPr userDrawn="1"/>
        </p:nvPicPr>
        <p:blipFill>
          <a:blip r:embed="rId8"/>
          <a:stretch/>
        </p:blipFill>
        <p:spPr bwMode="auto">
          <a:xfrm>
            <a:off x="8110215" y="4263375"/>
            <a:ext cx="1040121" cy="796382"/>
          </a:xfrm>
          <a:prstGeom prst="rect">
            <a:avLst/>
          </a:prstGeom>
        </p:spPr>
      </p:pic>
      <p:pic>
        <p:nvPicPr>
          <p:cNvPr id="24" name="Grafik 23"/>
          <p:cNvPicPr>
            <a:picLocks noChangeAspect="1"/>
          </p:cNvPicPr>
          <p:nvPr userDrawn="1"/>
        </p:nvPicPr>
        <p:blipFill>
          <a:blip r:embed="rId9"/>
          <a:stretch/>
        </p:blipFill>
        <p:spPr bwMode="auto">
          <a:xfrm>
            <a:off x="1174630" y="2400004"/>
            <a:ext cx="1096610" cy="796382"/>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8046601" y="1573302"/>
            <a:ext cx="1078758" cy="796382"/>
          </a:xfrm>
          <a:prstGeom prst="rect">
            <a:avLst/>
          </a:prstGeom>
        </p:spPr>
      </p:pic>
      <p:grpSp>
        <p:nvGrpSpPr>
          <p:cNvPr id="27" name="Google Shape;418;p40"/>
          <p:cNvGrpSpPr>
            <a:grpSpLocks noChangeAspect="1"/>
          </p:cNvGrpSpPr>
          <p:nvPr userDrawn="1"/>
        </p:nvGrpSpPr>
        <p:grpSpPr bwMode="auto">
          <a:xfrm>
            <a:off x="1485260" y="1915657"/>
            <a:ext cx="598450" cy="419877"/>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0" name="Google Shape;421;p40"/>
          <p:cNvGrpSpPr>
            <a:grpSpLocks noChangeAspect="1"/>
          </p:cNvGrpSpPr>
          <p:nvPr userDrawn="1"/>
        </p:nvGrpSpPr>
        <p:grpSpPr bwMode="auto">
          <a:xfrm>
            <a:off x="455258" y="371497"/>
            <a:ext cx="602899" cy="590266"/>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5" name="Google Shape;426;p40"/>
          <p:cNvGrpSpPr>
            <a:grpSpLocks noChangeAspect="1"/>
          </p:cNvGrpSpPr>
          <p:nvPr userDrawn="1"/>
        </p:nvGrpSpPr>
        <p:grpSpPr bwMode="auto">
          <a:xfrm>
            <a:off x="3044197" y="1787344"/>
            <a:ext cx="487469" cy="487469"/>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8" name="Google Shape;429;p40"/>
          <p:cNvGrpSpPr>
            <a:grpSpLocks noChangeAspect="1"/>
          </p:cNvGrpSpPr>
          <p:nvPr userDrawn="1"/>
        </p:nvGrpSpPr>
        <p:grpSpPr bwMode="auto">
          <a:xfrm>
            <a:off x="2257175" y="1768498"/>
            <a:ext cx="502567" cy="502567"/>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sp>
        <p:nvSpPr>
          <p:cNvPr id="42" name="Google Shape;488;p40"/>
          <p:cNvSpPr>
            <a:spLocks noChangeAspect="1"/>
          </p:cNvSpPr>
          <p:nvPr userDrawn="1"/>
        </p:nvSpPr>
        <p:spPr bwMode="auto">
          <a:xfrm>
            <a:off x="3112532" y="862396"/>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sp>
        <p:nvSpPr>
          <p:cNvPr id="43" name="Google Shape;489;p40"/>
          <p:cNvSpPr>
            <a:spLocks noChangeAspect="1"/>
          </p:cNvSpPr>
          <p:nvPr userDrawn="1"/>
        </p:nvSpPr>
        <p:spPr bwMode="auto">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grpSp>
        <p:nvGrpSpPr>
          <p:cNvPr id="44" name="Google Shape;490;p40"/>
          <p:cNvGrpSpPr>
            <a:grpSpLocks noChangeAspect="1"/>
          </p:cNvGrpSpPr>
          <p:nvPr userDrawn="1"/>
        </p:nvGrpSpPr>
        <p:grpSpPr bwMode="auto">
          <a:xfrm>
            <a:off x="3953034" y="875127"/>
            <a:ext cx="811428" cy="781450"/>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pic>
        <p:nvPicPr>
          <p:cNvPr id="58" name="Grafik 57"/>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p:cNvPicPr>
            <a:picLocks noChangeAspect="1" noChangeArrowheads="1"/>
          </p:cNvPicPr>
          <p:nvPr userDrawn="1"/>
        </p:nvPicPr>
        <p:blipFill>
          <a:blip r:embed="rId12"/>
          <a:stretch/>
        </p:blipFill>
        <p:spPr bwMode="auto">
          <a:xfrm>
            <a:off x="5850062" y="445288"/>
            <a:ext cx="1460500" cy="1054100"/>
          </a:xfrm>
          <a:prstGeom prst="rect">
            <a:avLst/>
          </a:prstGeom>
          <a:noFill/>
        </p:spPr>
      </p:pic>
      <p:pic>
        <p:nvPicPr>
          <p:cNvPr id="1028" name="Picture 4"/>
          <p:cNvPicPr>
            <a:picLocks noChangeAspect="1" noChangeArrowheads="1"/>
          </p:cNvPicPr>
          <p:nvPr userDrawn="1"/>
        </p:nvPicPr>
        <p:blipFill>
          <a:blip r:embed="rId13"/>
          <a:stretch/>
        </p:blipFill>
        <p:spPr bwMode="auto">
          <a:xfrm>
            <a:off x="7264809" y="608962"/>
            <a:ext cx="1860550" cy="1041400"/>
          </a:xfrm>
          <a:prstGeom prst="rect">
            <a:avLst/>
          </a:prstGeom>
          <a:noFill/>
        </p:spPr>
      </p:pic>
      <p:pic>
        <p:nvPicPr>
          <p:cNvPr id="1030" name="Picture 6"/>
          <p:cNvPicPr>
            <a:picLocks noChangeAspect="1" noChangeArrowheads="1"/>
          </p:cNvPicPr>
          <p:nvPr userDrawn="1"/>
        </p:nvPicPr>
        <p:blipFill>
          <a:blip r:embed="rId14"/>
          <a:stretch/>
        </p:blipFill>
        <p:spPr bwMode="auto">
          <a:xfrm>
            <a:off x="6877905" y="2425108"/>
            <a:ext cx="863029" cy="726761"/>
          </a:xfrm>
          <a:prstGeom prst="rect">
            <a:avLst/>
          </a:prstGeom>
          <a:noFill/>
        </p:spPr>
      </p:pic>
      <p:pic>
        <p:nvPicPr>
          <p:cNvPr id="1032" name="Picture 8"/>
          <p:cNvPicPr>
            <a:picLocks noChangeAspect="1" noChangeArrowheads="1"/>
          </p:cNvPicPr>
          <p:nvPr userDrawn="1"/>
        </p:nvPicPr>
        <p:blipFill>
          <a:blip r:embed="rId15"/>
          <a:stretch/>
        </p:blipFill>
        <p:spPr bwMode="auto">
          <a:xfrm>
            <a:off x="6116484" y="1547700"/>
            <a:ext cx="943808" cy="877409"/>
          </a:xfrm>
          <a:prstGeom prst="rect">
            <a:avLst/>
          </a:prstGeom>
          <a:noFill/>
        </p:spPr>
      </p:pic>
      <p:pic>
        <p:nvPicPr>
          <p:cNvPr id="1034" name="Picture 10"/>
          <p:cNvPicPr>
            <a:picLocks noChangeAspect="1" noChangeArrowheads="1"/>
          </p:cNvPicPr>
          <p:nvPr userDrawn="1"/>
        </p:nvPicPr>
        <p:blipFill>
          <a:blip r:embed="rId16"/>
          <a:stretch/>
        </p:blipFill>
        <p:spPr bwMode="auto">
          <a:xfrm>
            <a:off x="4337980" y="2706391"/>
            <a:ext cx="1310095" cy="537406"/>
          </a:xfrm>
          <a:prstGeom prst="rect">
            <a:avLst/>
          </a:prstGeom>
          <a:noFill/>
        </p:spPr>
      </p:pic>
      <p:pic>
        <p:nvPicPr>
          <p:cNvPr id="1036" name="Picture 12"/>
          <p:cNvPicPr>
            <a:picLocks noChangeAspect="1" noChangeArrowheads="1"/>
          </p:cNvPicPr>
          <p:nvPr userDrawn="1"/>
        </p:nvPicPr>
        <p:blipFill>
          <a:blip r:embed="rId17"/>
          <a:stretch/>
        </p:blipFill>
        <p:spPr bwMode="auto">
          <a:xfrm>
            <a:off x="5708567" y="4450677"/>
            <a:ext cx="1195255" cy="578612"/>
          </a:xfrm>
          <a:prstGeom prst="rect">
            <a:avLst/>
          </a:prstGeom>
          <a:noFill/>
        </p:spPr>
      </p:pic>
      <p:pic>
        <p:nvPicPr>
          <p:cNvPr id="1038" name="Picture 14"/>
          <p:cNvPicPr>
            <a:picLocks noChangeAspect="1" noChangeArrowheads="1"/>
          </p:cNvPicPr>
          <p:nvPr userDrawn="1"/>
        </p:nvPicPr>
        <p:blipFill>
          <a:blip r:embed="rId18"/>
          <a:stretch/>
        </p:blipFill>
        <p:spPr bwMode="auto">
          <a:xfrm>
            <a:off x="3651866" y="3468365"/>
            <a:ext cx="1144417" cy="793875"/>
          </a:xfrm>
          <a:prstGeom prst="rect">
            <a:avLst/>
          </a:prstGeom>
          <a:noFill/>
        </p:spPr>
      </p:pic>
      <p:pic>
        <p:nvPicPr>
          <p:cNvPr id="1039" name="Picture 15"/>
          <p:cNvPicPr>
            <a:picLocks noChangeAspect="1" noChangeArrowheads="1"/>
          </p:cNvPicPr>
          <p:nvPr userDrawn="1"/>
        </p:nvPicPr>
        <p:blipFill>
          <a:blip r:embed="rId19"/>
          <a:stretch/>
        </p:blipFill>
        <p:spPr bwMode="auto">
          <a:xfrm>
            <a:off x="8092365" y="3339198"/>
            <a:ext cx="974652" cy="759729"/>
          </a:xfrm>
          <a:prstGeom prst="rect">
            <a:avLst/>
          </a:prstGeom>
          <a:noFill/>
        </p:spPr>
      </p:pic>
      <p:pic>
        <p:nvPicPr>
          <p:cNvPr id="1040" name="Picture 16"/>
          <p:cNvPicPr>
            <a:picLocks noChangeAspect="1" noChangeArrowheads="1"/>
          </p:cNvPicPr>
          <p:nvPr userDrawn="1"/>
        </p:nvPicPr>
        <p:blipFill>
          <a:blip r:embed="rId20"/>
          <a:stretch/>
        </p:blipFill>
        <p:spPr bwMode="auto">
          <a:xfrm>
            <a:off x="2762724" y="3423649"/>
            <a:ext cx="781191" cy="788702"/>
          </a:xfrm>
          <a:prstGeom prst="rect">
            <a:avLst/>
          </a:prstGeom>
          <a:noFill/>
        </p:spPr>
      </p:pic>
      <p:pic>
        <p:nvPicPr>
          <p:cNvPr id="1045" name="Picture 21"/>
          <p:cNvPicPr>
            <a:picLocks noChangeAspect="1" noChangeArrowheads="1"/>
          </p:cNvPicPr>
          <p:nvPr userDrawn="1"/>
        </p:nvPicPr>
        <p:blipFill>
          <a:blip r:embed="rId21"/>
          <a:stretch/>
        </p:blipFill>
        <p:spPr bwMode="auto">
          <a:xfrm>
            <a:off x="4721573" y="4543052"/>
            <a:ext cx="823451" cy="489558"/>
          </a:xfrm>
          <a:prstGeom prst="rect">
            <a:avLst/>
          </a:prstGeom>
          <a:noFill/>
        </p:spPr>
      </p:pic>
      <p:pic>
        <p:nvPicPr>
          <p:cNvPr id="1047" name="Picture 23"/>
          <p:cNvPicPr>
            <a:picLocks noChangeAspect="1" noChangeArrowheads="1"/>
          </p:cNvPicPr>
          <p:nvPr userDrawn="1"/>
        </p:nvPicPr>
        <p:blipFill>
          <a:blip r:embed="rId22"/>
          <a:stretch/>
        </p:blipFill>
        <p:spPr bwMode="auto">
          <a:xfrm>
            <a:off x="2479165" y="4320618"/>
            <a:ext cx="969969" cy="681896"/>
          </a:xfrm>
          <a:prstGeom prst="rect">
            <a:avLst/>
          </a:prstGeom>
          <a:noFill/>
        </p:spPr>
      </p:pic>
      <p:pic>
        <p:nvPicPr>
          <p:cNvPr id="1048" name="Picture 24"/>
          <p:cNvPicPr>
            <a:picLocks noChangeAspect="1" noChangeArrowheads="1"/>
          </p:cNvPicPr>
          <p:nvPr userDrawn="1"/>
        </p:nvPicPr>
        <p:blipFill>
          <a:blip r:embed="rId23"/>
          <a:stretch/>
        </p:blipFill>
        <p:spPr bwMode="auto">
          <a:xfrm>
            <a:off x="3627971" y="4462442"/>
            <a:ext cx="853281" cy="568855"/>
          </a:xfrm>
          <a:prstGeom prst="rect">
            <a:avLst/>
          </a:prstGeom>
          <a:noFill/>
        </p:spPr>
      </p:pic>
      <p:pic>
        <p:nvPicPr>
          <p:cNvPr id="1050" name="Picture 26"/>
          <p:cNvPicPr>
            <a:picLocks noChangeAspect="1" noChangeArrowheads="1"/>
          </p:cNvPicPr>
          <p:nvPr userDrawn="1"/>
        </p:nvPicPr>
        <p:blipFill>
          <a:blip r:embed="rId24"/>
          <a:stretch/>
        </p:blipFill>
        <p:spPr bwMode="auto">
          <a:xfrm>
            <a:off x="7029668" y="4212351"/>
            <a:ext cx="1016933" cy="769332"/>
          </a:xfrm>
          <a:prstGeom prst="rect">
            <a:avLst/>
          </a:prstGeom>
          <a:noFill/>
        </p:spPr>
      </p:pic>
      <p:pic>
        <p:nvPicPr>
          <p:cNvPr id="1052" name="Picture 28"/>
          <p:cNvPicPr>
            <a:picLocks noChangeAspect="1" noChangeArrowheads="1"/>
          </p:cNvPicPr>
          <p:nvPr userDrawn="1"/>
        </p:nvPicPr>
        <p:blipFill>
          <a:blip r:embed="rId25"/>
          <a:stretch/>
        </p:blipFill>
        <p:spPr bwMode="auto">
          <a:xfrm>
            <a:off x="2346799" y="2400151"/>
            <a:ext cx="831850" cy="762000"/>
          </a:xfrm>
          <a:prstGeom prst="rect">
            <a:avLst/>
          </a:prstGeom>
          <a:noFill/>
        </p:spPr>
      </p:pic>
      <p:pic>
        <p:nvPicPr>
          <p:cNvPr id="1053" name="Picture 29"/>
          <p:cNvPicPr>
            <a:picLocks noChangeAspect="1" noChangeArrowheads="1"/>
          </p:cNvPicPr>
          <p:nvPr userDrawn="1"/>
        </p:nvPicPr>
        <p:blipFill>
          <a:blip r:embed="rId26"/>
          <a:stretch/>
        </p:blipFill>
        <p:spPr bwMode="auto">
          <a:xfrm>
            <a:off x="3247154" y="2524678"/>
            <a:ext cx="901700" cy="781050"/>
          </a:xfrm>
          <a:prstGeom prst="rect">
            <a:avLst/>
          </a:prstGeom>
          <a:noFill/>
        </p:spPr>
      </p:pic>
      <p:pic>
        <p:nvPicPr>
          <p:cNvPr id="1055" name="Picture 31"/>
          <p:cNvPicPr>
            <a:picLocks noChangeAspect="1" noChangeArrowheads="1"/>
          </p:cNvPicPr>
          <p:nvPr userDrawn="1"/>
        </p:nvPicPr>
        <p:blipFill>
          <a:blip r:embed="rId27"/>
          <a:stretch/>
        </p:blipFill>
        <p:spPr bwMode="auto">
          <a:xfrm>
            <a:off x="1191182" y="4234357"/>
            <a:ext cx="829270" cy="747326"/>
          </a:xfrm>
          <a:prstGeom prst="rect">
            <a:avLst/>
          </a:prstGeom>
          <a:noFill/>
        </p:spPr>
      </p:pic>
      <p:pic>
        <p:nvPicPr>
          <p:cNvPr id="1057" name="Picture 33"/>
          <p:cNvPicPr>
            <a:picLocks noChangeAspect="1" noChangeArrowheads="1"/>
          </p:cNvPicPr>
          <p:nvPr userDrawn="1"/>
        </p:nvPicPr>
        <p:blipFill>
          <a:blip r:embed="rId28"/>
          <a:stretch/>
        </p:blipFill>
        <p:spPr bwMode="auto">
          <a:xfrm>
            <a:off x="1387706" y="3291089"/>
            <a:ext cx="1282700" cy="806450"/>
          </a:xfrm>
          <a:prstGeom prst="rect">
            <a:avLst/>
          </a:prstGeom>
          <a:noFill/>
        </p:spPr>
      </p:pic>
      <p:pic>
        <p:nvPicPr>
          <p:cNvPr id="1059" name="Picture 35"/>
          <p:cNvPicPr>
            <a:picLocks noChangeAspect="1" noChangeArrowheads="1"/>
          </p:cNvPicPr>
          <p:nvPr userDrawn="1"/>
        </p:nvPicPr>
        <p:blipFill>
          <a:blip r:embed="rId29"/>
          <a:stretch/>
        </p:blipFill>
        <p:spPr bwMode="auto">
          <a:xfrm>
            <a:off x="4915631" y="1000385"/>
            <a:ext cx="934431" cy="605512"/>
          </a:xfrm>
          <a:prstGeom prst="rect">
            <a:avLst/>
          </a:prstGeom>
          <a:noFill/>
        </p:spPr>
      </p:pic>
      <p:pic>
        <p:nvPicPr>
          <p:cNvPr id="1061" name="Picture 37"/>
          <p:cNvPicPr>
            <a:picLocks noChangeAspect="1" noChangeArrowheads="1"/>
          </p:cNvPicPr>
          <p:nvPr userDrawn="1"/>
        </p:nvPicPr>
        <p:blipFill>
          <a:blip r:embed="rId30"/>
          <a:stretch/>
        </p:blipFill>
        <p:spPr bwMode="auto">
          <a:xfrm>
            <a:off x="3679869" y="1770274"/>
            <a:ext cx="1188887" cy="659911"/>
          </a:xfrm>
          <a:prstGeom prst="rect">
            <a:avLst/>
          </a:prstGeom>
          <a:noFill/>
        </p:spPr>
      </p:pic>
      <p:pic>
        <p:nvPicPr>
          <p:cNvPr id="1063" name="Picture 39"/>
          <p:cNvPicPr>
            <a:picLocks noChangeAspect="1" noChangeArrowheads="1"/>
          </p:cNvPicPr>
          <p:nvPr userDrawn="1"/>
        </p:nvPicPr>
        <p:blipFill>
          <a:blip r:embed="rId31"/>
          <a:stretch/>
        </p:blipFill>
        <p:spPr bwMode="auto">
          <a:xfrm>
            <a:off x="98519" y="3483555"/>
            <a:ext cx="1049499" cy="773873"/>
          </a:xfrm>
          <a:prstGeom prst="rect">
            <a:avLst/>
          </a:prstGeom>
          <a:noFill/>
        </p:spPr>
      </p:pic>
      <p:pic>
        <p:nvPicPr>
          <p:cNvPr id="1065" name="Picture 41"/>
          <p:cNvPicPr>
            <a:picLocks noChangeAspect="1" noChangeArrowheads="1"/>
          </p:cNvPicPr>
          <p:nvPr userDrawn="1"/>
        </p:nvPicPr>
        <p:blipFill>
          <a:blip r:embed="rId32"/>
          <a:stretch/>
        </p:blipFill>
        <p:spPr bwMode="auto">
          <a:xfrm>
            <a:off x="13765" y="4356037"/>
            <a:ext cx="1083635" cy="714738"/>
          </a:xfrm>
          <a:prstGeom prst="rect">
            <a:avLst/>
          </a:prstGeom>
          <a:noFill/>
        </p:spPr>
      </p:pic>
      <p:sp>
        <p:nvSpPr>
          <p:cNvPr id="60" name="Textfeld 59"/>
          <p:cNvSpPr txBox="1"/>
          <p:nvPr userDrawn="1"/>
        </p:nvSpPr>
        <p:spPr bwMode="auto">
          <a:xfrm>
            <a:off x="152696" y="1112985"/>
            <a:ext cx="1056700" cy="200055"/>
          </a:xfrm>
          <a:prstGeom prst="rect">
            <a:avLst/>
          </a:prstGeom>
          <a:noFill/>
        </p:spPr>
        <p:txBody>
          <a:bodyPr wrap="none" rtlCol="0">
            <a:spAutoFit/>
          </a:bodyPr>
          <a:lstStyle/>
          <a:p>
            <a:pPr>
              <a:defRPr/>
            </a:pPr>
            <a:r>
              <a:rPr lang="de-DE" sz="700"/>
              <a:t>Icon für extra Material</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3662423" y="126722"/>
            <a:ext cx="1819154" cy="660379"/>
          </a:xfrm>
          <a:prstGeom prst="rect">
            <a:avLst/>
          </a:prstGeom>
        </p:spPr>
      </p:pic>
      <p:pic>
        <p:nvPicPr>
          <p:cNvPr id="6" name="Grafik 5"/>
          <p:cNvPicPr/>
          <p:nvPr userDrawn="1"/>
        </p:nvPicPr>
        <p:blipFill>
          <a:blip r:embed="rId3"/>
          <a:srcRect t="228"/>
          <a:stretch/>
        </p:blipFill>
        <p:spPr bwMode="auto">
          <a:xfrm>
            <a:off x="7104296" y="977112"/>
            <a:ext cx="2053664" cy="4180348"/>
          </a:xfrm>
          <a:prstGeom prst="rect">
            <a:avLst/>
          </a:prstGeom>
          <a:ln w="6350" cmpd="sng">
            <a:noFill/>
          </a:ln>
        </p:spPr>
      </p:pic>
      <p:pic>
        <p:nvPicPr>
          <p:cNvPr id="7" name="Grafik 6"/>
          <p:cNvPicPr/>
          <p:nvPr userDrawn="1"/>
        </p:nvPicPr>
        <p:blipFill>
          <a:blip r:embed="rId4"/>
          <a:stretch/>
        </p:blipFill>
        <p:spPr bwMode="auto">
          <a:xfrm>
            <a:off x="0" y="977112"/>
            <a:ext cx="629199" cy="4189907"/>
          </a:xfrm>
          <a:prstGeom prst="rect">
            <a:avLst/>
          </a:prstGeom>
          <a:ln w="6350" cmpd="sng">
            <a:noFill/>
          </a:ln>
        </p:spPr>
      </p:pic>
      <p:sp>
        <p:nvSpPr>
          <p:cNvPr id="12" name="Google Shape;121;p19"/>
          <p:cNvSpPr txBox="1">
            <a:spLocks noGrp="1"/>
          </p:cNvSpPr>
          <p:nvPr>
            <p:ph type="ctrTitle"/>
          </p:nvPr>
        </p:nvSpPr>
        <p:spPr bwMode="auto">
          <a:xfrm>
            <a:off x="1214545" y="1248156"/>
            <a:ext cx="5666877" cy="649259"/>
          </a:xfrm>
          <a:prstGeom prst="rect">
            <a:avLst/>
          </a:prstGeom>
        </p:spPr>
        <p:txBody>
          <a:bodyPr spcFirstLastPara="1" wrap="square" lIns="91425" tIns="91425" rIns="91425" bIns="91425" anchor="b" anchorCtr="0">
            <a:noAutofit/>
          </a:bodyPr>
          <a:lstStyle>
            <a:lvl1pPr>
              <a:defRPr>
                <a:cs typeface="Arial"/>
              </a:defRPr>
            </a:lvl1pPr>
          </a:lstStyle>
          <a:p>
            <a:pPr algn="ctr">
              <a:defRPr/>
            </a:pPr>
            <a:endParaRPr lang="de-DE" sz="2000">
              <a:solidFill>
                <a:schemeClr val="tx1"/>
              </a:solidFill>
              <a:latin typeface="+mj-lt"/>
            </a:endParaRPr>
          </a:p>
        </p:txBody>
      </p:sp>
      <p:cxnSp>
        <p:nvCxnSpPr>
          <p:cNvPr id="13" name="Google Shape;84;p13"/>
          <p:cNvCxnSpPr>
            <a:cxnSpLocks/>
          </p:cNvCxnSpPr>
          <p:nvPr userDrawn="1"/>
        </p:nvCxnSpPr>
        <p:spPr bwMode="auto">
          <a:xfrm>
            <a:off x="-9000" y="1775736"/>
            <a:ext cx="9162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solidFill>
                  <a:srgbClr val="C00000"/>
                </a:solidFill>
                <a:latin typeface="Arial Narrow"/>
              </a:rPr>
              <a:t>Titel</a:t>
            </a:r>
            <a:endParaRPr lang="de-DE" sz="1000">
              <a:solidFill>
                <a:srgbClr val="C00000"/>
              </a:solidFill>
              <a:latin typeface="Arial Narrow"/>
            </a:endParaRPr>
          </a:p>
          <a:p>
            <a:pPr algn="l">
              <a:defRPr/>
            </a:pPr>
            <a:r>
              <a:rPr lang="de-DE" sz="1000">
                <a:solidFill>
                  <a:srgbClr val="C00000"/>
                </a:solidFill>
                <a:latin typeface="Arial Narrow"/>
              </a:rPr>
              <a:t>Tutorname</a:t>
            </a:r>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solidFill>
                  <a:srgbClr val="C00000"/>
                </a:solidFill>
                <a:latin typeface="Arial Narrow"/>
              </a:rPr>
              <a:t>Datum: XXX</a:t>
            </a:r>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972000" y="661070"/>
            <a:ext cx="7200000" cy="63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972000" y="1384556"/>
            <a:ext cx="7200000" cy="324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0"/>
            <a:stretch/>
          </a:blipFill>
        </p:spPr>
        <p:txBody>
          <a:bodyPr/>
          <a:lstStyle/>
          <a:p>
            <a:pPr>
              <a:defRPr/>
            </a:pPr>
            <a:endParaRPr lang="de-DE" sz="7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sz="2400">
                <a:latin typeface="Lora"/>
              </a:rPr>
              <a:t>1.2 The modules and examinations in the </a:t>
            </a:r>
            <a:br>
              <a:rPr lang="de-DE" sz="2400">
                <a:latin typeface="Lora"/>
              </a:rPr>
            </a:br>
            <a:r>
              <a:rPr lang="de-DE" sz="2400">
                <a:latin typeface="Lora"/>
              </a:rPr>
              <a:t>LS semester</a:t>
            </a:r>
            <a:endParaRPr/>
          </a:p>
        </p:txBody>
      </p:sp>
      <p:sp>
        <p:nvSpPr>
          <p:cNvPr id="3" name="Untertitel 2"/>
          <p:cNvSpPr>
            <a:spLocks noGrp="1"/>
          </p:cNvSpPr>
          <p:nvPr>
            <p:ph type="subTitle" idx="1"/>
          </p:nvPr>
        </p:nvSpPr>
        <p:spPr bwMode="auto"/>
        <p:txBody>
          <a:bodyPr/>
          <a:lstStyle/>
          <a:p>
            <a:pPr>
              <a:defRPr/>
            </a:pPr>
            <a:r>
              <a:rPr lang="de-DE"/>
              <a:t>Tutor:</a:t>
            </a:r>
            <a:endParaRPr/>
          </a:p>
          <a:p>
            <a:pPr>
              <a:defRPr/>
            </a:pPr>
            <a:r>
              <a:rPr lang="de-DE"/>
              <a:t>Date: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Agenda</a:t>
            </a:r>
            <a:endParaRPr/>
          </a:p>
        </p:txBody>
      </p:sp>
      <p:sp>
        <p:nvSpPr>
          <p:cNvPr id="3" name="Textplatzhalter 2"/>
          <p:cNvSpPr>
            <a:spLocks noGrp="1"/>
          </p:cNvSpPr>
          <p:nvPr>
            <p:ph idx="1"/>
          </p:nvPr>
        </p:nvSpPr>
        <p:spPr bwMode="auto"/>
        <p:txBody>
          <a:bodyPr/>
          <a:lstStyle/>
          <a:p>
            <a:pPr marL="342900" indent="-342900">
              <a:lnSpc>
                <a:spcPct val="150000"/>
              </a:lnSpc>
              <a:buFont typeface="+mj-lt"/>
              <a:buAutoNum type="arabicPeriod"/>
              <a:defRPr/>
            </a:pPr>
            <a:r>
              <a:rPr lang="de-DE" sz="1600">
                <a:latin typeface="+mn-lt"/>
              </a:rPr>
              <a:t>Check-In</a:t>
            </a:r>
            <a:endParaRPr/>
          </a:p>
          <a:p>
            <a:pPr marL="342900" indent="-342900">
              <a:lnSpc>
                <a:spcPct val="150000"/>
              </a:lnSpc>
              <a:buFont typeface="+mj-lt"/>
              <a:buAutoNum type="arabicPeriod"/>
              <a:defRPr/>
            </a:pPr>
            <a:r>
              <a:rPr lang="de-DE" sz="1600">
                <a:latin typeface="+mn-lt"/>
              </a:rPr>
              <a:t>Science transformed: responsible action</a:t>
            </a:r>
            <a:endParaRPr/>
          </a:p>
          <a:p>
            <a:pPr marL="342900" indent="-342900">
              <a:lnSpc>
                <a:spcPct val="150000"/>
              </a:lnSpc>
              <a:buFont typeface="+mj-lt"/>
              <a:buAutoNum type="arabicPeriod"/>
              <a:defRPr/>
            </a:pPr>
            <a:r>
              <a:rPr lang="de-DE" sz="1600">
                <a:latin typeface="+mn-lt"/>
              </a:rPr>
              <a:t>Science produces: methodical knowledge</a:t>
            </a:r>
            <a:endParaRPr/>
          </a:p>
          <a:p>
            <a:pPr marL="342900" indent="-342900">
              <a:lnSpc>
                <a:spcPct val="150000"/>
              </a:lnSpc>
              <a:buFont typeface="+mj-lt"/>
              <a:buAutoNum type="arabicPeriod"/>
              <a:defRPr/>
            </a:pPr>
            <a:r>
              <a:rPr lang="de-DE" sz="1600">
                <a:latin typeface="+mn-lt"/>
              </a:rPr>
              <a:t>Science problematized: critical thinking</a:t>
            </a:r>
            <a:endParaRPr/>
          </a:p>
          <a:p>
            <a:pPr marL="342900" indent="-342900">
              <a:lnSpc>
                <a:spcPct val="150000"/>
              </a:lnSpc>
              <a:buFont typeface="+mj-lt"/>
              <a:buAutoNum type="arabicPeriod"/>
              <a:defRPr/>
            </a:pPr>
            <a:r>
              <a:rPr lang="de-DE" sz="1600">
                <a:latin typeface="Arial"/>
              </a:rPr>
              <a:t>Exam registration at myCampus</a:t>
            </a:r>
            <a:endParaRPr/>
          </a:p>
          <a:p>
            <a:pPr marL="342900" indent="-342900">
              <a:lnSpc>
                <a:spcPct val="150000"/>
              </a:lnSpc>
              <a:buFont typeface="+mj-lt"/>
              <a:buAutoNum type="arabicPeriod"/>
              <a:defRPr/>
            </a:pPr>
            <a:r>
              <a:rPr lang="de-DE" sz="1600">
                <a:latin typeface="+mn-lt"/>
              </a:rPr>
              <a:t>Questions</a:t>
            </a:r>
            <a:endParaRPr lang="de-DE" sz="1600">
              <a:latin typeface="Arial"/>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Titel 3"/>
          <p:cNvSpPr>
            <a:spLocks noGrp="1"/>
          </p:cNvSpPr>
          <p:nvPr>
            <p:ph type="title"/>
          </p:nvPr>
        </p:nvSpPr>
        <p:spPr bwMode="auto"/>
        <p:txBody>
          <a:bodyPr/>
          <a:lstStyle/>
          <a:p>
            <a:pPr>
              <a:defRPr/>
            </a:pPr>
            <a:r>
              <a:rPr lang="de-DE"/>
              <a:t>CHECK-IN</a:t>
            </a:r>
            <a:endParaRPr/>
          </a:p>
        </p:txBody>
      </p:sp>
      <p:sp>
        <p:nvSpPr>
          <p:cNvPr id="3" name="Foliennummernplatzhalter 2"/>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3</a:t>
            </a:fld>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Transforming knowledge: responsible action</a:t>
            </a:r>
            <a:endParaRPr/>
          </a:p>
        </p:txBody>
      </p:sp>
      <p:sp>
        <p:nvSpPr>
          <p:cNvPr id="3" name="Textplatzhalter 2"/>
          <p:cNvSpPr>
            <a:spLocks noGrp="1"/>
          </p:cNvSpPr>
          <p:nvPr>
            <p:ph type="body" idx="4294967295"/>
          </p:nvPr>
        </p:nvSpPr>
        <p:spPr bwMode="auto">
          <a:xfrm>
            <a:off x="1213596" y="1803400"/>
            <a:ext cx="7063841" cy="1663700"/>
          </a:xfrm>
        </p:spPr>
        <p:txBody>
          <a:bodyPr numCol="1"/>
          <a:lstStyle/>
          <a:p>
            <a:pPr marL="0" indent="0">
              <a:lnSpc>
                <a:spcPct val="150000"/>
              </a:lnSpc>
              <a:buNone/>
              <a:defRPr/>
            </a:pPr>
            <a:r>
              <a:rPr lang="de-DE" sz="1600" b="1" dirty="0" err="1">
                <a:latin typeface="+mn-lt"/>
              </a:rPr>
              <a:t>Lecture</a:t>
            </a:r>
            <a:r>
              <a:rPr lang="de-DE" sz="1600" b="1" dirty="0">
                <a:latin typeface="+mn-lt"/>
              </a:rPr>
              <a:t>: </a:t>
            </a:r>
            <a:r>
              <a:rPr lang="de-DE" sz="1600" i="0" dirty="0">
                <a:latin typeface="+mn-lt"/>
              </a:rPr>
              <a:t>Monday </a:t>
            </a:r>
            <a:r>
              <a:rPr lang="de-DE" sz="1600" dirty="0"/>
              <a:t>12:15 - 13:45</a:t>
            </a:r>
            <a:r>
              <a:rPr lang="de-DE" sz="1600" dirty="0">
                <a:latin typeface="+mn-lt"/>
              </a:rPr>
              <a:t>, Auditorium</a:t>
            </a:r>
            <a:br>
              <a:rPr lang="de-DE" sz="1600" dirty="0">
                <a:latin typeface="+mn-lt"/>
              </a:rPr>
            </a:br>
            <a:r>
              <a:rPr lang="de-DE" sz="1600" dirty="0">
                <a:latin typeface="+mn-lt"/>
              </a:rPr>
              <a:t>				Project </a:t>
            </a:r>
            <a:r>
              <a:rPr lang="de-DE" sz="1600" dirty="0" err="1">
                <a:latin typeface="+mn-lt"/>
              </a:rPr>
              <a:t>seminar</a:t>
            </a:r>
            <a:r>
              <a:rPr lang="de-DE" sz="1600" dirty="0">
                <a:latin typeface="+mn-lt"/>
              </a:rPr>
              <a:t> of </a:t>
            </a:r>
            <a:r>
              <a:rPr lang="de-DE" sz="1600" dirty="0" err="1">
                <a:latin typeface="+mn-lt"/>
              </a:rPr>
              <a:t>your</a:t>
            </a:r>
            <a:r>
              <a:rPr lang="de-DE" sz="1600" dirty="0">
                <a:latin typeface="+mn-lt"/>
              </a:rPr>
              <a:t> </a:t>
            </a:r>
            <a:r>
              <a:rPr lang="de-DE" sz="1600" dirty="0" err="1">
                <a:latin typeface="+mn-lt"/>
              </a:rPr>
              <a:t>choice</a:t>
            </a:r>
            <a:br>
              <a:rPr lang="de-DE" sz="1600" dirty="0">
                <a:latin typeface="+mn-lt"/>
              </a:rPr>
            </a:br>
            <a:r>
              <a:rPr lang="de-DE" sz="1600" dirty="0">
                <a:latin typeface="+mn-lt"/>
              </a:rPr>
              <a:t>				</a:t>
            </a:r>
            <a:r>
              <a:rPr lang="de-DE" sz="1600" dirty="0" err="1">
                <a:latin typeface="+mn-lt"/>
              </a:rPr>
              <a:t>Exercise</a:t>
            </a:r>
            <a:br>
              <a:rPr lang="de-DE" sz="1600" dirty="0">
                <a:latin typeface="+mn-lt"/>
              </a:rPr>
            </a:br>
            <a:r>
              <a:rPr lang="de-DE" sz="1600" i="0" dirty="0">
                <a:latin typeface="+mn-lt"/>
              </a:rPr>
              <a:t>				Conference </a:t>
            </a:r>
            <a:r>
              <a:rPr lang="de-DE" sz="1600" i="0" dirty="0" err="1">
                <a:latin typeface="+mn-lt"/>
              </a:rPr>
              <a:t>week</a:t>
            </a:r>
            <a:r>
              <a:rPr lang="de-DE" sz="1600" i="0" dirty="0">
                <a:latin typeface="+mn-lt"/>
              </a:rPr>
              <a:t>, </a:t>
            </a:r>
            <a:r>
              <a:rPr lang="de-DE" sz="1600" i="0" dirty="0">
                <a:latin typeface="Arial"/>
              </a:rPr>
              <a:t>26 - 28 Feb 2025</a:t>
            </a:r>
            <a:endParaRPr dirty="0"/>
          </a:p>
          <a:p>
            <a:pPr marL="0" indent="0">
              <a:lnSpc>
                <a:spcPct val="150000"/>
              </a:lnSpc>
              <a:buNone/>
              <a:defRPr/>
            </a:pPr>
            <a:endParaRPr lang="de-DE" sz="1600" b="1" dirty="0">
              <a:latin typeface="+mn-lt"/>
            </a:endParaRPr>
          </a:p>
          <a:p>
            <a:pPr marL="0" indent="0">
              <a:lnSpc>
                <a:spcPct val="150000"/>
              </a:lnSpc>
              <a:buNone/>
              <a:defRPr/>
            </a:pPr>
            <a:endParaRPr lang="de-DE" sz="1600" b="1" dirty="0">
              <a:latin typeface="+mn-lt"/>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4</a:t>
            </a:fld>
            <a:endParaRPr lang="de-DE"/>
          </a:p>
        </p:txBody>
      </p:sp>
      <p:sp>
        <p:nvSpPr>
          <p:cNvPr id="7" name="Textplatzhalter 2"/>
          <p:cNvSpPr txBox="1"/>
          <p:nvPr/>
        </p:nvSpPr>
        <p:spPr bwMode="auto">
          <a:xfrm>
            <a:off x="1187624" y="3255442"/>
            <a:ext cx="6585757" cy="1304521"/>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buNone/>
              <a:defRPr/>
            </a:pPr>
            <a:r>
              <a:rPr lang="de-DE" sz="1600" b="1" dirty="0">
                <a:latin typeface="+mn-lt"/>
              </a:rPr>
              <a:t>Examination: 	</a:t>
            </a:r>
            <a:r>
              <a:rPr lang="de-DE" sz="1600" dirty="0" err="1">
                <a:latin typeface="+mn-lt"/>
              </a:rPr>
              <a:t>Presentation</a:t>
            </a:r>
            <a:r>
              <a:rPr lang="de-DE" sz="1600" dirty="0">
                <a:latin typeface="+mn-lt"/>
              </a:rPr>
              <a:t> in Conference Week </a:t>
            </a:r>
            <a:r>
              <a:rPr lang="de-DE" sz="1600" dirty="0">
                <a:latin typeface="Arial"/>
              </a:rPr>
              <a:t>(35%)</a:t>
            </a:r>
            <a:br>
              <a:rPr lang="de-DE" sz="1600" dirty="0">
                <a:latin typeface="Arial"/>
              </a:rPr>
            </a:br>
            <a:r>
              <a:rPr lang="de-DE" sz="1600" dirty="0">
                <a:latin typeface="Arial"/>
              </a:rPr>
              <a:t>		</a:t>
            </a:r>
            <a:r>
              <a:rPr lang="de-DE" sz="1600" dirty="0" err="1">
                <a:latin typeface="Arial"/>
              </a:rPr>
              <a:t>Written</a:t>
            </a:r>
            <a:r>
              <a:rPr lang="de-DE" sz="1600" dirty="0">
                <a:latin typeface="Arial"/>
              </a:rPr>
              <a:t> </a:t>
            </a:r>
            <a:r>
              <a:rPr lang="de-DE" sz="1600" dirty="0" err="1">
                <a:latin typeface="Arial"/>
              </a:rPr>
              <a:t>project</a:t>
            </a:r>
            <a:r>
              <a:rPr lang="de-DE" sz="1600" dirty="0">
                <a:latin typeface="Arial"/>
              </a:rPr>
              <a:t> </a:t>
            </a:r>
            <a:r>
              <a:rPr lang="de-DE" sz="1600" dirty="0" err="1">
                <a:latin typeface="Arial"/>
              </a:rPr>
              <a:t>report</a:t>
            </a:r>
            <a:r>
              <a:rPr lang="de-DE" sz="1600" dirty="0">
                <a:latin typeface="Arial"/>
              </a:rPr>
              <a:t> (40%)</a:t>
            </a:r>
            <a:br>
              <a:rPr lang="de-DE" sz="1600" dirty="0">
                <a:latin typeface="Arial"/>
              </a:rPr>
            </a:br>
            <a:r>
              <a:rPr lang="de-DE" sz="1600" dirty="0">
                <a:latin typeface="Arial"/>
              </a:rPr>
              <a:t>		</a:t>
            </a:r>
            <a:r>
              <a:rPr lang="de-DE" sz="1600" dirty="0" err="1">
                <a:latin typeface="Arial"/>
              </a:rPr>
              <a:t>Practical</a:t>
            </a:r>
            <a:r>
              <a:rPr lang="de-DE" sz="1600" dirty="0">
                <a:latin typeface="Arial"/>
              </a:rPr>
              <a:t> </a:t>
            </a:r>
            <a:r>
              <a:rPr lang="de-DE" sz="1600" dirty="0" err="1">
                <a:latin typeface="Arial"/>
              </a:rPr>
              <a:t>assignments</a:t>
            </a:r>
            <a:r>
              <a:rPr lang="de-DE" sz="1600" dirty="0">
                <a:latin typeface="Arial"/>
              </a:rPr>
              <a:t> (25%)</a:t>
            </a:r>
            <a:endParaRPr dirty="0"/>
          </a:p>
          <a:p>
            <a:pPr marL="0" indent="0">
              <a:lnSpc>
                <a:spcPct val="150000"/>
              </a:lnSpc>
              <a:buNone/>
              <a:defRPr/>
            </a:pPr>
            <a:endParaRPr lang="de-DE" sz="1600" dirty="0">
              <a:highlight>
                <a:srgbClr val="FFFF00"/>
              </a:highlight>
              <a:latin typeface="Arial"/>
            </a:endParaRPr>
          </a:p>
          <a:p>
            <a:pPr marL="0" indent="0">
              <a:lnSpc>
                <a:spcPct val="150000"/>
              </a:lnSpc>
              <a:buFont typeface="+mj-lt"/>
              <a:buNone/>
              <a:defRPr/>
            </a:pPr>
            <a:r>
              <a:rPr lang="de-DE" sz="1600" b="1" dirty="0">
                <a:latin typeface="+mn-lt"/>
              </a:rPr>
              <a:t>	</a:t>
            </a:r>
            <a:endParaRPr dirty="0"/>
          </a:p>
          <a:p>
            <a:pPr marL="0" indent="0">
              <a:lnSpc>
                <a:spcPct val="150000"/>
              </a:lnSpc>
              <a:buFont typeface="+mj-lt"/>
              <a:buNone/>
              <a:defRPr/>
            </a:pPr>
            <a:endParaRPr lang="de-DE" sz="1600" b="1" dirty="0">
              <a:latin typeface="+mn-lt"/>
            </a:endParaRPr>
          </a:p>
        </p:txBody>
      </p:sp>
      <p:sp>
        <p:nvSpPr>
          <p:cNvPr id="8" name="Textplatzhalter 2"/>
          <p:cNvSpPr txBox="1"/>
          <p:nvPr/>
        </p:nvSpPr>
        <p:spPr bwMode="auto">
          <a:xfrm>
            <a:off x="1220161" y="1059667"/>
            <a:ext cx="7057276" cy="622537"/>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buNone/>
              <a:defRPr/>
            </a:pPr>
            <a:r>
              <a:rPr lang="de-DE" sz="1600" b="1" dirty="0">
                <a:latin typeface="+mn-lt"/>
              </a:rPr>
              <a:t>Topics: </a:t>
            </a:r>
            <a:r>
              <a:rPr lang="de-DE" sz="1600" dirty="0" err="1">
                <a:latin typeface="+mn-lt"/>
              </a:rPr>
              <a:t>sustainability</a:t>
            </a:r>
            <a:r>
              <a:rPr lang="de-DE" sz="1600" dirty="0">
                <a:latin typeface="+mn-lt"/>
              </a:rPr>
              <a:t>, </a:t>
            </a:r>
            <a:r>
              <a:rPr lang="de-DE" sz="1600" dirty="0" err="1">
                <a:latin typeface="+mn-lt"/>
              </a:rPr>
              <a:t>transformation</a:t>
            </a:r>
            <a:r>
              <a:rPr lang="de-DE" sz="1600" dirty="0">
                <a:latin typeface="+mn-lt"/>
              </a:rPr>
              <a:t>, </a:t>
            </a:r>
            <a:r>
              <a:rPr lang="de-DE" sz="1600" dirty="0" err="1">
                <a:latin typeface="+mn-lt"/>
              </a:rPr>
              <a:t>responsibility</a:t>
            </a:r>
            <a:r>
              <a:rPr lang="de-DE" sz="1600" dirty="0">
                <a:latin typeface="+mn-lt"/>
              </a:rPr>
              <a:t>, </a:t>
            </a:r>
            <a:r>
              <a:rPr lang="de-DE" sz="1600" dirty="0" err="1">
                <a:latin typeface="+mn-lt"/>
              </a:rPr>
              <a:t>societal</a:t>
            </a:r>
            <a:r>
              <a:rPr lang="de-DE" sz="1600" dirty="0">
                <a:latin typeface="+mn-lt"/>
              </a:rPr>
              <a:t> </a:t>
            </a:r>
            <a:r>
              <a:rPr lang="de-DE" sz="1600" dirty="0" err="1">
                <a:latin typeface="+mn-lt"/>
              </a:rPr>
              <a:t>change</a:t>
            </a:r>
            <a:endParaRPr lang="de-DE" sz="1600" b="1" dirty="0">
              <a:highlight>
                <a:srgbClr val="FFFF00"/>
              </a:highlight>
              <a:latin typeface="+mn-lt"/>
            </a:endParaRPr>
          </a:p>
          <a:p>
            <a:pPr marL="0" indent="0">
              <a:lnSpc>
                <a:spcPct val="150000"/>
              </a:lnSpc>
              <a:buFont typeface="+mj-lt"/>
              <a:buNone/>
              <a:defRPr/>
            </a:pPr>
            <a:endParaRPr lang="de-DE" sz="1600" b="1"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dirty="0"/>
              <a:t>Science </a:t>
            </a:r>
            <a:r>
              <a:rPr lang="de-DE" dirty="0" err="1"/>
              <a:t>transformed</a:t>
            </a:r>
            <a:r>
              <a:rPr lang="de-DE" dirty="0"/>
              <a:t>: </a:t>
            </a:r>
            <a:r>
              <a:rPr lang="de-DE" dirty="0" err="1"/>
              <a:t>responsible</a:t>
            </a:r>
            <a:r>
              <a:rPr lang="de-DE" dirty="0"/>
              <a:t> </a:t>
            </a:r>
            <a:r>
              <a:rPr lang="de-DE" dirty="0" err="1"/>
              <a:t>action</a:t>
            </a:r>
            <a:endParaRPr dirty="0"/>
          </a:p>
        </p:txBody>
      </p:sp>
      <p:sp>
        <p:nvSpPr>
          <p:cNvPr id="3" name="Textplatzhalter 2"/>
          <p:cNvSpPr>
            <a:spLocks noGrp="1"/>
          </p:cNvSpPr>
          <p:nvPr>
            <p:ph type="body" idx="4294967295"/>
          </p:nvPr>
        </p:nvSpPr>
        <p:spPr bwMode="auto">
          <a:xfrm>
            <a:off x="1220161" y="1954177"/>
            <a:ext cx="7063841" cy="912365"/>
          </a:xfrm>
        </p:spPr>
        <p:txBody>
          <a:bodyPr numCol="1">
            <a:normAutofit/>
          </a:bodyPr>
          <a:lstStyle/>
          <a:p>
            <a:pPr marL="0" indent="0">
              <a:lnSpc>
                <a:spcPct val="150000"/>
              </a:lnSpc>
              <a:buNone/>
              <a:defRPr/>
            </a:pPr>
            <a:r>
              <a:rPr lang="de-DE" sz="1600" b="1" dirty="0" err="1"/>
              <a:t>Lecture</a:t>
            </a:r>
            <a:r>
              <a:rPr lang="de-DE" sz="1600" b="1" dirty="0"/>
              <a:t>: </a:t>
            </a:r>
            <a:r>
              <a:rPr lang="de-DE" sz="1600" dirty="0"/>
              <a:t>Tuesday 14:15 - 15:45, Auditorium</a:t>
            </a:r>
            <a:br>
              <a:rPr lang="de-DE" sz="1600" dirty="0"/>
            </a:br>
            <a:r>
              <a:rPr lang="de-DE" sz="1600" dirty="0"/>
              <a:t>				Seminar of </a:t>
            </a:r>
            <a:r>
              <a:rPr lang="de-DE" sz="1600" dirty="0" err="1"/>
              <a:t>your</a:t>
            </a:r>
            <a:r>
              <a:rPr lang="de-DE" sz="1600" dirty="0"/>
              <a:t> </a:t>
            </a:r>
            <a:r>
              <a:rPr lang="de-DE" sz="1600" dirty="0" err="1"/>
              <a:t>choice</a:t>
            </a:r>
            <a:endParaRPr lang="de-DE" sz="1600" b="1" dirty="0">
              <a:latin typeface="+mn-lt"/>
            </a:endParaRPr>
          </a:p>
          <a:p>
            <a:pPr marL="0" indent="0">
              <a:lnSpc>
                <a:spcPct val="150000"/>
              </a:lnSpc>
              <a:buNone/>
              <a:defRPr/>
            </a:pPr>
            <a:endParaRPr lang="de-DE" sz="1600" b="1" dirty="0">
              <a:latin typeface="+mn-lt"/>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5</a:t>
            </a:fld>
            <a:endParaRPr lang="de-DE"/>
          </a:p>
        </p:txBody>
      </p:sp>
      <p:sp>
        <p:nvSpPr>
          <p:cNvPr id="7" name="Textplatzhalter 2"/>
          <p:cNvSpPr txBox="1"/>
          <p:nvPr/>
        </p:nvSpPr>
        <p:spPr bwMode="auto">
          <a:xfrm>
            <a:off x="1220161" y="2902360"/>
            <a:ext cx="6585757" cy="1304521"/>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lvl="0" indent="0">
              <a:lnSpc>
                <a:spcPct val="150000"/>
              </a:lnSpc>
              <a:spcBef>
                <a:spcPts val="0"/>
              </a:spcBef>
              <a:buClr>
                <a:srgbClr val="000000"/>
              </a:buClr>
              <a:buSzTx/>
              <a:buNone/>
              <a:defRPr/>
            </a:pPr>
            <a:r>
              <a:rPr lang="de-DE" sz="1600" b="1" dirty="0">
                <a:solidFill>
                  <a:srgbClr val="000000"/>
                </a:solidFill>
                <a:latin typeface="Arial"/>
                <a:cs typeface="Arial"/>
              </a:rPr>
              <a:t>Examination:	</a:t>
            </a:r>
            <a:r>
              <a:rPr lang="de-DE" sz="1600" dirty="0" err="1">
                <a:solidFill>
                  <a:srgbClr val="000000"/>
                </a:solidFill>
                <a:latin typeface="Arial"/>
                <a:cs typeface="Arial"/>
              </a:rPr>
              <a:t>Presentation</a:t>
            </a:r>
            <a:r>
              <a:rPr lang="de-DE" sz="1600" dirty="0">
                <a:solidFill>
                  <a:srgbClr val="000000"/>
                </a:solidFill>
                <a:latin typeface="Arial"/>
                <a:cs typeface="Arial"/>
              </a:rPr>
              <a:t> in </a:t>
            </a:r>
            <a:r>
              <a:rPr lang="de-DE" sz="1600" dirty="0" err="1">
                <a:solidFill>
                  <a:srgbClr val="000000"/>
                </a:solidFill>
                <a:latin typeface="Arial"/>
                <a:cs typeface="Arial"/>
              </a:rPr>
              <a:t>the</a:t>
            </a:r>
            <a:r>
              <a:rPr lang="de-DE" sz="1600" dirty="0">
                <a:solidFill>
                  <a:srgbClr val="000000"/>
                </a:solidFill>
                <a:latin typeface="Arial"/>
                <a:cs typeface="Arial"/>
              </a:rPr>
              <a:t> </a:t>
            </a:r>
            <a:r>
              <a:rPr lang="de-DE" sz="1600" dirty="0" err="1">
                <a:solidFill>
                  <a:srgbClr val="000000"/>
                </a:solidFill>
                <a:latin typeface="Arial"/>
                <a:cs typeface="Arial"/>
              </a:rPr>
              <a:t>seminar</a:t>
            </a:r>
            <a:br>
              <a:rPr lang="de-DE" sz="1600" dirty="0">
                <a:solidFill>
                  <a:srgbClr val="000000"/>
                </a:solidFill>
                <a:latin typeface="Arial"/>
                <a:cs typeface="Arial"/>
              </a:rPr>
            </a:br>
            <a:r>
              <a:rPr lang="de-DE" sz="1600" dirty="0">
                <a:solidFill>
                  <a:srgbClr val="000000"/>
                </a:solidFill>
                <a:latin typeface="Arial"/>
                <a:cs typeface="Arial"/>
              </a:rPr>
              <a:t>	      	</a:t>
            </a:r>
            <a:r>
              <a:rPr lang="de-DE" sz="1600" dirty="0" err="1">
                <a:solidFill>
                  <a:srgbClr val="000000"/>
                </a:solidFill>
                <a:latin typeface="Arial"/>
                <a:cs typeface="Arial"/>
              </a:rPr>
              <a:t>Written</a:t>
            </a:r>
            <a:r>
              <a:rPr lang="de-DE" sz="1600" dirty="0">
                <a:solidFill>
                  <a:srgbClr val="000000"/>
                </a:solidFill>
                <a:latin typeface="Arial"/>
                <a:cs typeface="Arial"/>
              </a:rPr>
              <a:t> </a:t>
            </a:r>
            <a:r>
              <a:rPr lang="de-DE" sz="1600" dirty="0" err="1">
                <a:solidFill>
                  <a:srgbClr val="000000"/>
                </a:solidFill>
                <a:latin typeface="Arial"/>
                <a:cs typeface="Arial"/>
              </a:rPr>
              <a:t>test</a:t>
            </a:r>
            <a:r>
              <a:rPr lang="de-DE" sz="1600" dirty="0">
                <a:solidFill>
                  <a:srgbClr val="000000"/>
                </a:solidFill>
                <a:latin typeface="Arial"/>
                <a:cs typeface="Arial"/>
              </a:rPr>
              <a:t> in </a:t>
            </a:r>
            <a:r>
              <a:rPr lang="de-DE" sz="1600" dirty="0" err="1">
                <a:solidFill>
                  <a:srgbClr val="000000"/>
                </a:solidFill>
                <a:latin typeface="Arial"/>
                <a:cs typeface="Arial"/>
              </a:rPr>
              <a:t>lecture</a:t>
            </a:r>
            <a:r>
              <a:rPr lang="de-DE" sz="1600" dirty="0">
                <a:solidFill>
                  <a:srgbClr val="000000"/>
                </a:solidFill>
                <a:latin typeface="Arial"/>
                <a:cs typeface="Arial"/>
              </a:rPr>
              <a:t> (15.02.25)</a:t>
            </a:r>
            <a:endParaRPr lang="de-DE" sz="1400" dirty="0">
              <a:solidFill>
                <a:srgbClr val="000000"/>
              </a:solidFill>
              <a:latin typeface="Arial"/>
              <a:cs typeface="Arial"/>
            </a:endParaRPr>
          </a:p>
          <a:p>
            <a:pPr marL="0" indent="0">
              <a:lnSpc>
                <a:spcPct val="150000"/>
              </a:lnSpc>
              <a:buFont typeface="+mj-lt"/>
              <a:buNone/>
              <a:defRPr/>
            </a:pPr>
            <a:r>
              <a:rPr lang="de-DE" sz="1600" b="1" dirty="0">
                <a:latin typeface="+mn-lt"/>
              </a:rPr>
              <a:t>	</a:t>
            </a:r>
            <a:endParaRPr dirty="0"/>
          </a:p>
          <a:p>
            <a:pPr marL="0" indent="0">
              <a:lnSpc>
                <a:spcPct val="150000"/>
              </a:lnSpc>
              <a:buFont typeface="+mj-lt"/>
              <a:buNone/>
              <a:defRPr/>
            </a:pPr>
            <a:endParaRPr lang="de-DE" sz="1600" b="1" dirty="0">
              <a:latin typeface="+mn-lt"/>
            </a:endParaRPr>
          </a:p>
        </p:txBody>
      </p:sp>
      <p:sp>
        <p:nvSpPr>
          <p:cNvPr id="8" name="Textplatzhalter 2"/>
          <p:cNvSpPr txBox="1"/>
          <p:nvPr/>
        </p:nvSpPr>
        <p:spPr bwMode="auto">
          <a:xfrm>
            <a:off x="1220161" y="1295822"/>
            <a:ext cx="7057276" cy="622537"/>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lvl="0" indent="0">
              <a:lnSpc>
                <a:spcPct val="150000"/>
              </a:lnSpc>
              <a:spcBef>
                <a:spcPts val="0"/>
              </a:spcBef>
              <a:buClr>
                <a:srgbClr val="000000"/>
              </a:buClr>
              <a:buSzTx/>
              <a:buNone/>
              <a:defRPr/>
            </a:pPr>
            <a:r>
              <a:rPr lang="de-DE" sz="1600" b="1" dirty="0">
                <a:solidFill>
                  <a:srgbClr val="000000"/>
                </a:solidFill>
                <a:latin typeface="Arial"/>
                <a:cs typeface="Arial"/>
              </a:rPr>
              <a:t>Topics: </a:t>
            </a:r>
            <a:r>
              <a:rPr lang="de-DE" sz="1600" dirty="0" err="1">
                <a:solidFill>
                  <a:srgbClr val="000000"/>
                </a:solidFill>
                <a:latin typeface="Arial"/>
                <a:cs typeface="Arial"/>
              </a:rPr>
              <a:t>scientific</a:t>
            </a:r>
            <a:r>
              <a:rPr lang="de-DE" sz="1600" dirty="0">
                <a:solidFill>
                  <a:srgbClr val="000000"/>
                </a:solidFill>
                <a:latin typeface="Arial"/>
                <a:cs typeface="Arial"/>
              </a:rPr>
              <a:t> </a:t>
            </a:r>
            <a:r>
              <a:rPr lang="de-DE" sz="1600" dirty="0" err="1">
                <a:solidFill>
                  <a:srgbClr val="000000"/>
                </a:solidFill>
                <a:latin typeface="Arial"/>
                <a:cs typeface="Arial"/>
              </a:rPr>
              <a:t>methods</a:t>
            </a:r>
            <a:endParaRPr lang="de-DE" sz="1600" b="1" dirty="0">
              <a:solidFill>
                <a:srgbClr val="000000"/>
              </a:solidFill>
              <a:latin typeface="Arial"/>
              <a:cs typeface="Arial"/>
            </a:endParaRPr>
          </a:p>
          <a:p>
            <a:pPr marL="0" indent="0">
              <a:lnSpc>
                <a:spcPct val="150000"/>
              </a:lnSpc>
              <a:buFont typeface="+mj-lt"/>
              <a:buNone/>
              <a:defRPr/>
            </a:pPr>
            <a:endParaRPr lang="de-DE" sz="1600" b="1"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b="0" i="0" u="none" strike="noStrike" dirty="0" err="1">
                <a:solidFill>
                  <a:srgbClr val="000000"/>
                </a:solidFill>
              </a:rPr>
              <a:t>Problematizing</a:t>
            </a:r>
            <a:r>
              <a:rPr lang="de-DE" b="0" i="0" u="none" strike="noStrike" dirty="0">
                <a:solidFill>
                  <a:srgbClr val="000000"/>
                </a:solidFill>
              </a:rPr>
              <a:t> </a:t>
            </a:r>
            <a:r>
              <a:rPr lang="de-DE" b="0" i="0" u="none" strike="noStrike" dirty="0" err="1">
                <a:solidFill>
                  <a:srgbClr val="000000"/>
                </a:solidFill>
              </a:rPr>
              <a:t>knowledge</a:t>
            </a:r>
            <a:r>
              <a:rPr lang="de-DE" b="0" i="0" u="none" strike="noStrike" dirty="0">
                <a:solidFill>
                  <a:srgbClr val="000000"/>
                </a:solidFill>
              </a:rPr>
              <a:t>: </a:t>
            </a:r>
            <a:r>
              <a:rPr lang="de-DE" b="0" i="0" u="none" strike="noStrike" dirty="0" err="1">
                <a:solidFill>
                  <a:srgbClr val="000000"/>
                </a:solidFill>
              </a:rPr>
              <a:t>critical</a:t>
            </a:r>
            <a:r>
              <a:rPr lang="de-DE" b="0" i="0" u="none" strike="noStrike" dirty="0">
                <a:solidFill>
                  <a:srgbClr val="000000"/>
                </a:solidFill>
              </a:rPr>
              <a:t> </a:t>
            </a:r>
            <a:r>
              <a:rPr lang="de-DE" b="0" i="0" u="none" strike="noStrike" dirty="0" err="1">
                <a:solidFill>
                  <a:srgbClr val="000000"/>
                </a:solidFill>
              </a:rPr>
              <a:t>thinking</a:t>
            </a:r>
            <a:endParaRPr dirty="0"/>
          </a:p>
        </p:txBody>
      </p:sp>
      <p:sp>
        <p:nvSpPr>
          <p:cNvPr id="3" name="Textplatzhalter 2"/>
          <p:cNvSpPr>
            <a:spLocks noGrp="1"/>
          </p:cNvSpPr>
          <p:nvPr>
            <p:ph type="body" idx="4294967295"/>
          </p:nvPr>
        </p:nvSpPr>
        <p:spPr bwMode="auto">
          <a:xfrm>
            <a:off x="1220161" y="1954177"/>
            <a:ext cx="7063841" cy="912365"/>
          </a:xfrm>
        </p:spPr>
        <p:txBody>
          <a:bodyPr numCol="1">
            <a:normAutofit/>
          </a:bodyPr>
          <a:lstStyle/>
          <a:p>
            <a:pPr marL="0" indent="0">
              <a:lnSpc>
                <a:spcPct val="150000"/>
              </a:lnSpc>
              <a:buNone/>
              <a:defRPr/>
            </a:pPr>
            <a:r>
              <a:rPr lang="de-DE" sz="1600" b="1" dirty="0" err="1">
                <a:latin typeface="+mn-lt"/>
              </a:rPr>
              <a:t>Lecture</a:t>
            </a:r>
            <a:r>
              <a:rPr lang="de-DE" sz="1600" b="1" dirty="0"/>
              <a:t>:</a:t>
            </a:r>
            <a:r>
              <a:rPr lang="de-DE" sz="1600" dirty="0">
                <a:latin typeface="+mn-lt"/>
              </a:rPr>
              <a:t> Tuesday 12:15 - 13:45, Auditorium</a:t>
            </a:r>
            <a:br>
              <a:rPr lang="de-DE" sz="1600" dirty="0"/>
            </a:br>
            <a:r>
              <a:rPr lang="de-DE" sz="1600" dirty="0"/>
              <a:t>	     			</a:t>
            </a:r>
            <a:r>
              <a:rPr lang="de-DE" sz="1600" dirty="0">
                <a:latin typeface="+mn-lt"/>
              </a:rPr>
              <a:t>a </a:t>
            </a:r>
            <a:r>
              <a:rPr lang="de-DE" sz="1600" dirty="0" err="1">
                <a:latin typeface="+mn-lt"/>
              </a:rPr>
              <a:t>seminar</a:t>
            </a:r>
            <a:r>
              <a:rPr lang="de-DE" sz="1600" dirty="0">
                <a:latin typeface="+mn-lt"/>
              </a:rPr>
              <a:t> of </a:t>
            </a:r>
            <a:r>
              <a:rPr lang="de-DE" sz="1600" dirty="0" err="1">
                <a:latin typeface="+mn-lt"/>
              </a:rPr>
              <a:t>your</a:t>
            </a:r>
            <a:r>
              <a:rPr lang="de-DE" sz="1600" dirty="0">
                <a:latin typeface="+mn-lt"/>
              </a:rPr>
              <a:t> </a:t>
            </a:r>
            <a:r>
              <a:rPr lang="de-DE" sz="1600" dirty="0" err="1">
                <a:latin typeface="+mn-lt"/>
              </a:rPr>
              <a:t>choice</a:t>
            </a:r>
            <a:endParaRPr lang="de-DE" sz="1600" b="1" dirty="0">
              <a:latin typeface="+mn-lt"/>
            </a:endParaRPr>
          </a:p>
          <a:p>
            <a:pPr marL="0" indent="0">
              <a:lnSpc>
                <a:spcPct val="150000"/>
              </a:lnSpc>
              <a:buNone/>
              <a:defRPr/>
            </a:pPr>
            <a:endParaRPr lang="de-DE" sz="1600" b="1" dirty="0">
              <a:latin typeface="+mn-lt"/>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6</a:t>
            </a:fld>
            <a:endParaRPr lang="de-DE"/>
          </a:p>
        </p:txBody>
      </p:sp>
      <p:sp>
        <p:nvSpPr>
          <p:cNvPr id="7" name="Textplatzhalter 2"/>
          <p:cNvSpPr txBox="1"/>
          <p:nvPr/>
        </p:nvSpPr>
        <p:spPr bwMode="auto">
          <a:xfrm>
            <a:off x="1220161" y="2902360"/>
            <a:ext cx="6585757" cy="1304521"/>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lvl="0" indent="0">
              <a:lnSpc>
                <a:spcPct val="150000"/>
              </a:lnSpc>
              <a:spcBef>
                <a:spcPts val="0"/>
              </a:spcBef>
              <a:buClr>
                <a:srgbClr val="000000"/>
              </a:buClr>
              <a:buSzTx/>
              <a:buNone/>
              <a:defRPr/>
            </a:pPr>
            <a:r>
              <a:rPr lang="de-DE" sz="1600" b="1" dirty="0" err="1">
                <a:latin typeface="+mn-lt"/>
              </a:rPr>
              <a:t>Eximaination</a:t>
            </a:r>
            <a:r>
              <a:rPr lang="de-DE" sz="1600" b="1" dirty="0">
                <a:latin typeface="+mn-lt"/>
              </a:rPr>
              <a:t>: 	</a:t>
            </a:r>
            <a:r>
              <a:rPr lang="de-DE" sz="1600" dirty="0">
                <a:latin typeface="+mn-lt"/>
              </a:rPr>
              <a:t>Portfoli</a:t>
            </a:r>
            <a:r>
              <a:rPr lang="de-DE" sz="1600" dirty="0">
                <a:latin typeface="Arial"/>
              </a:rPr>
              <a:t>o, </a:t>
            </a:r>
            <a:r>
              <a:rPr lang="de-DE" sz="1600" dirty="0">
                <a:latin typeface="+mn-lt"/>
              </a:rPr>
              <a:t>12-17 </a:t>
            </a:r>
            <a:r>
              <a:rPr lang="de-DE" sz="1600" dirty="0" err="1">
                <a:latin typeface="+mn-lt"/>
              </a:rPr>
              <a:t>p</a:t>
            </a:r>
            <a:r>
              <a:rPr lang="de-DE" sz="1600" dirty="0" err="1">
                <a:latin typeface="Arial"/>
              </a:rPr>
              <a:t>ages</a:t>
            </a:r>
            <a:r>
              <a:rPr lang="de-DE" sz="1600" dirty="0">
                <a:latin typeface="Arial"/>
              </a:rPr>
              <a:t> (</a:t>
            </a:r>
            <a:r>
              <a:rPr lang="de-DE" sz="1600" dirty="0" err="1">
                <a:latin typeface="Arial"/>
              </a:rPr>
              <a:t>submission</a:t>
            </a:r>
            <a:r>
              <a:rPr lang="de-DE" sz="1600" dirty="0">
                <a:latin typeface="Arial"/>
              </a:rPr>
              <a:t> 15.3.25</a:t>
            </a:r>
            <a:r>
              <a:rPr lang="de-DE" sz="1600" dirty="0">
                <a:latin typeface="+mn-lt"/>
              </a:rPr>
              <a:t>)</a:t>
            </a:r>
            <a:endParaRPr dirty="0"/>
          </a:p>
          <a:p>
            <a:pPr marL="0" indent="0">
              <a:lnSpc>
                <a:spcPct val="150000"/>
              </a:lnSpc>
              <a:buFont typeface="+mj-lt"/>
              <a:buNone/>
              <a:defRPr/>
            </a:pPr>
            <a:endParaRPr lang="de-DE" sz="1600" b="1" dirty="0">
              <a:latin typeface="+mn-lt"/>
            </a:endParaRPr>
          </a:p>
        </p:txBody>
      </p:sp>
      <p:sp>
        <p:nvSpPr>
          <p:cNvPr id="8" name="Textplatzhalter 2"/>
          <p:cNvSpPr txBox="1"/>
          <p:nvPr/>
        </p:nvSpPr>
        <p:spPr bwMode="auto">
          <a:xfrm>
            <a:off x="1220161" y="1295822"/>
            <a:ext cx="7057276" cy="622537"/>
          </a:xfrm>
          <a:prstGeom prst="rect">
            <a:avLst/>
          </a:prstGeom>
          <a:noFill/>
          <a:ln>
            <a:noFill/>
          </a:ln>
        </p:spPr>
        <p:txBody>
          <a:bodyPr spcFirstLastPara="1" wrap="square" lIns="91425" tIns="91425" rIns="91425" bIns="91425" numCol="1" anchor="t" anchorCtr="0">
            <a:noAutofit/>
          </a:bodyPr>
          <a:lstStyle>
            <a:defPPr marR="0" lvl="0" algn="l">
              <a:lnSpc>
                <a:spcPct val="100000"/>
              </a:lnSpc>
              <a:spcBef>
                <a:spcPts val="0"/>
              </a:spcBef>
              <a:spcAft>
                <a:spcPts val="0"/>
              </a:spcAft>
            </a:defPPr>
            <a:lvl1pPr marL="342900" marR="0" lvl="0" indent="-342900" algn="l">
              <a:lnSpc>
                <a:spcPct val="114999"/>
              </a:lnSpc>
              <a:spcBef>
                <a:spcPts val="600"/>
              </a:spcBef>
              <a:spcAft>
                <a:spcPts val="0"/>
              </a:spcAft>
              <a:buClr>
                <a:schemeClr val="accent5">
                  <a:lumMod val="60000"/>
                  <a:lumOff val="40000"/>
                </a:schemeClr>
              </a:buClr>
              <a:buSzPct val="80000"/>
              <a:buFont typeface="+mj-lt"/>
              <a:buAutoNum type="arabicPeriod"/>
              <a:defRPr sz="1800" b="0" i="0" u="none" strike="noStrike" cap="none">
                <a:solidFill>
                  <a:schemeClr val="tx1"/>
                </a:solidFill>
                <a:latin typeface="Arial Narrow"/>
                <a:ea typeface="Arial Narrow"/>
                <a:cs typeface="Arial Narrow"/>
              </a:defRPr>
            </a:lvl1pPr>
            <a:lvl2pPr marL="914400" marR="0" lvl="1" indent="-355600" algn="l">
              <a:lnSpc>
                <a:spcPct val="114999"/>
              </a:lnSpc>
              <a:spcBef>
                <a:spcPts val="600"/>
              </a:spcBef>
              <a:spcAft>
                <a:spcPts val="0"/>
              </a:spcAft>
              <a:buClr>
                <a:schemeClr val="accent5"/>
              </a:buClr>
              <a:buSzPts val="2000"/>
              <a:buFont typeface="Arial"/>
              <a:buChar char="•"/>
              <a:defRPr sz="1600" b="0" i="0" u="none" strike="noStrike" cap="none">
                <a:solidFill>
                  <a:schemeClr val="tx1"/>
                </a:solidFill>
                <a:latin typeface="Arial Narrow"/>
                <a:ea typeface="Arial Narrow"/>
                <a:cs typeface="Quattrocento Sans"/>
              </a:defRPr>
            </a:lvl2pPr>
            <a:lvl3pPr marL="1371600" marR="0" lvl="2" indent="-355600" algn="l">
              <a:lnSpc>
                <a:spcPct val="114999"/>
              </a:lnSpc>
              <a:spcBef>
                <a:spcPts val="1600"/>
              </a:spcBef>
              <a:spcAft>
                <a:spcPts val="0"/>
              </a:spcAft>
              <a:buClr>
                <a:srgbClr val="FFCD00"/>
              </a:buClr>
              <a:buSzPts val="2000"/>
              <a:buFont typeface="Quattrocento Sans"/>
              <a:buChar char="■"/>
              <a:defRPr sz="2000" b="0" i="0" u="none" strike="noStrike" cap="none">
                <a:solidFill>
                  <a:schemeClr val="accent1"/>
                </a:solidFill>
                <a:latin typeface="Quattrocento Sans"/>
                <a:ea typeface="Quattrocento Sans"/>
                <a:cs typeface="Quattrocento Sans"/>
              </a:defRPr>
            </a:lvl3pPr>
            <a:lvl4pPr marL="1828800" marR="0" lvl="3"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4pPr>
            <a:lvl5pPr marL="2286000" marR="0" lvl="4"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5pPr>
            <a:lvl6pPr marL="2743200" marR="0" lvl="5"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6pPr>
            <a:lvl7pPr marL="3200400" marR="0" lvl="6"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7pPr>
            <a:lvl8pPr marL="3657600" marR="0" lvl="7" indent="-342900" algn="l">
              <a:lnSpc>
                <a:spcPct val="114999"/>
              </a:lnSpc>
              <a:spcBef>
                <a:spcPts val="1600"/>
              </a:spcBef>
              <a:spcAft>
                <a:spcPts val="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8pPr>
            <a:lvl9pPr marL="4114800" marR="0" lvl="8" indent="-342900" algn="l">
              <a:lnSpc>
                <a:spcPct val="114999"/>
              </a:lnSpc>
              <a:spcBef>
                <a:spcPts val="1600"/>
              </a:spcBef>
              <a:spcAft>
                <a:spcPts val="1600"/>
              </a:spcAft>
              <a:buClr>
                <a:srgbClr val="FFCD00"/>
              </a:buClr>
              <a:buSzPts val="1800"/>
              <a:buFont typeface="Quattrocento Sans"/>
              <a:buChar char="■"/>
              <a:defRPr sz="1800" b="0" i="0" u="none" strike="noStrike" cap="none">
                <a:solidFill>
                  <a:schemeClr val="accent1"/>
                </a:solidFill>
                <a:latin typeface="Quattrocento Sans"/>
                <a:ea typeface="Quattrocento Sans"/>
                <a:cs typeface="Quattrocento Sans"/>
              </a:defRPr>
            </a:lvl9pPr>
          </a:lstStyle>
          <a:p>
            <a:pPr marL="0" indent="0">
              <a:lnSpc>
                <a:spcPct val="150000"/>
              </a:lnSpc>
              <a:spcBef>
                <a:spcPts val="0"/>
              </a:spcBef>
              <a:buClr>
                <a:srgbClr val="000000"/>
              </a:buClr>
              <a:buSzTx/>
              <a:buNone/>
              <a:defRPr/>
            </a:pPr>
            <a:r>
              <a:rPr lang="de-DE" sz="1600" b="1" dirty="0">
                <a:solidFill>
                  <a:srgbClr val="000000"/>
                </a:solidFill>
                <a:latin typeface="Arial"/>
                <a:cs typeface="Arial"/>
              </a:rPr>
              <a:t>Topics: </a:t>
            </a:r>
            <a:r>
              <a:rPr lang="de-DE" sz="1600" b="0" dirty="0">
                <a:solidFill>
                  <a:srgbClr val="000000"/>
                </a:solidFill>
                <a:latin typeface="Arial"/>
                <a:cs typeface="Arial"/>
              </a:rPr>
              <a:t>social </a:t>
            </a:r>
            <a:r>
              <a:rPr lang="de-DE" sz="1600" b="0" dirty="0" err="1">
                <a:solidFill>
                  <a:srgbClr val="000000"/>
                </a:solidFill>
                <a:latin typeface="Arial"/>
                <a:cs typeface="Arial"/>
              </a:rPr>
              <a:t>coexistence</a:t>
            </a:r>
            <a:r>
              <a:rPr lang="de-DE" sz="1600" b="0" dirty="0">
                <a:solidFill>
                  <a:srgbClr val="000000"/>
                </a:solidFill>
                <a:latin typeface="Arial"/>
                <a:cs typeface="Arial"/>
              </a:rPr>
              <a:t>, </a:t>
            </a:r>
            <a:r>
              <a:rPr lang="de-DE" sz="1600" b="0" dirty="0" err="1">
                <a:solidFill>
                  <a:srgbClr val="000000"/>
                </a:solidFill>
                <a:latin typeface="Arial"/>
                <a:cs typeface="Arial"/>
              </a:rPr>
              <a:t>reflection</a:t>
            </a:r>
            <a:r>
              <a:rPr lang="de-DE" sz="1600" b="0" dirty="0">
                <a:solidFill>
                  <a:srgbClr val="000000"/>
                </a:solidFill>
                <a:latin typeface="Arial"/>
                <a:cs typeface="Arial"/>
              </a:rPr>
              <a:t>, </a:t>
            </a:r>
            <a:r>
              <a:rPr lang="de-DE" sz="1600" b="0" dirty="0" err="1">
                <a:solidFill>
                  <a:srgbClr val="000000"/>
                </a:solidFill>
                <a:latin typeface="Arial"/>
                <a:cs typeface="Arial"/>
              </a:rPr>
              <a:t>critical</a:t>
            </a:r>
            <a:r>
              <a:rPr lang="de-DE" sz="1600" b="0" dirty="0">
                <a:solidFill>
                  <a:srgbClr val="000000"/>
                </a:solidFill>
                <a:latin typeface="Arial"/>
                <a:cs typeface="Arial"/>
              </a:rPr>
              <a:t> </a:t>
            </a:r>
            <a:r>
              <a:rPr lang="de-DE" sz="1600" b="0" dirty="0" err="1">
                <a:solidFill>
                  <a:srgbClr val="000000"/>
                </a:solidFill>
                <a:latin typeface="Arial"/>
                <a:cs typeface="Arial"/>
              </a:rPr>
              <a:t>thinking</a:t>
            </a:r>
            <a:endParaRPr lang="de-DE" sz="1600" b="1" dirty="0">
              <a:solidFill>
                <a:srgbClr val="000000"/>
              </a:solidFill>
              <a:highlight>
                <a:srgbClr val="FFFF00"/>
              </a:highlight>
              <a:latin typeface="Arial"/>
              <a:cs typeface="Arial"/>
            </a:endParaRPr>
          </a:p>
          <a:p>
            <a:pPr marL="0" indent="0">
              <a:lnSpc>
                <a:spcPct val="150000"/>
              </a:lnSpc>
              <a:buFont typeface="+mj-lt"/>
              <a:buNone/>
              <a:defRPr/>
            </a:pPr>
            <a:endParaRPr lang="de-DE" sz="1600" b="1"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03571294" name="Google Shape;104;p17"/>
          <p:cNvSpPr txBox="1">
            <a:spLocks noGrp="1"/>
          </p:cNvSpPr>
          <p:nvPr>
            <p:ph type="title"/>
          </p:nvPr>
        </p:nvSpPr>
        <p:spPr bwMode="auto">
          <a:prstGeom prst="rect">
            <a:avLst/>
          </a:prstGeom>
          <a:solidFill>
            <a:schemeClr val="bg1"/>
          </a:solidFill>
        </p:spPr>
        <p:txBody>
          <a:bodyPr spcFirstLastPara="1" wrap="square" lIns="91423" tIns="91423" rIns="91423" bIns="91423"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lgn="ctr">
              <a:defRPr/>
            </a:pPr>
            <a:r>
              <a:rPr sz="2200" b="0" dirty="0">
                <a:latin typeface="+mj-lt"/>
              </a:rPr>
              <a:t>Exam registration </a:t>
            </a:r>
            <a:r>
              <a:rPr sz="2200" b="0" dirty="0" err="1">
                <a:latin typeface="+mj-lt"/>
              </a:rPr>
              <a:t>myCampus</a:t>
            </a:r>
            <a:endParaRPr sz="2200" b="0" dirty="0">
              <a:latin typeface="+mj-lt"/>
            </a:endParaRPr>
          </a:p>
        </p:txBody>
      </p:sp>
      <p:sp>
        <p:nvSpPr>
          <p:cNvPr id="2" name="Inhaltsplatzhalter 1"/>
          <p:cNvSpPr>
            <a:spLocks noGrp="1"/>
          </p:cNvSpPr>
          <p:nvPr>
            <p:ph idx="1"/>
          </p:nvPr>
        </p:nvSpPr>
        <p:spPr bwMode="auto"/>
        <p:txBody>
          <a:bodyPr>
            <a:normAutofit fontScale="92500"/>
          </a:bodyPr>
          <a:lstStyle/>
          <a:p>
            <a:pPr marL="0" indent="0">
              <a:lnSpc>
                <a:spcPct val="150000"/>
              </a:lnSpc>
              <a:buNone/>
              <a:defRPr/>
            </a:pPr>
            <a:r>
              <a:rPr lang="de-DE" sz="1600" b="1" dirty="0" err="1"/>
              <a:t>Important</a:t>
            </a:r>
            <a:r>
              <a:rPr lang="de-DE" sz="1600" b="1" dirty="0"/>
              <a:t>: </a:t>
            </a:r>
            <a:br>
              <a:rPr lang="de-DE" sz="1600" b="1" dirty="0"/>
            </a:br>
            <a:r>
              <a:rPr lang="de-DE" sz="1600" b="1" dirty="0" err="1"/>
              <a:t>Exam</a:t>
            </a:r>
            <a:r>
              <a:rPr lang="de-DE" sz="1600" b="1" dirty="0"/>
              <a:t> </a:t>
            </a:r>
            <a:r>
              <a:rPr lang="de-DE" sz="1600" b="1" dirty="0" err="1"/>
              <a:t>registration</a:t>
            </a:r>
            <a:r>
              <a:rPr lang="de-DE" sz="1600" b="1" dirty="0"/>
              <a:t> </a:t>
            </a:r>
            <a:r>
              <a:rPr lang="de-DE" sz="1600" b="1" dirty="0" err="1"/>
              <a:t>only</a:t>
            </a:r>
            <a:r>
              <a:rPr lang="de-DE" sz="1600" b="1" dirty="0"/>
              <a:t> possible </a:t>
            </a:r>
            <a:r>
              <a:rPr lang="de-DE" sz="1600" b="1" dirty="0" err="1"/>
              <a:t>from</a:t>
            </a:r>
            <a:r>
              <a:rPr lang="de-DE" sz="1600" b="1" dirty="0"/>
              <a:t> </a:t>
            </a:r>
            <a:r>
              <a:rPr lang="de-DE" sz="1600" b="1" dirty="0" err="1"/>
              <a:t>October</a:t>
            </a:r>
            <a:r>
              <a:rPr lang="de-DE" sz="1600" b="1" dirty="0"/>
              <a:t> 14, 2024 </a:t>
            </a:r>
            <a:r>
              <a:rPr lang="de-DE" sz="1600" b="1" dirty="0" err="1"/>
              <a:t>to</a:t>
            </a:r>
            <a:r>
              <a:rPr lang="de-DE" sz="1600" b="1" dirty="0"/>
              <a:t> November 15, 2024</a:t>
            </a:r>
            <a:r>
              <a:rPr lang="de-DE" sz="1600" b="0" dirty="0"/>
              <a:t>! </a:t>
            </a:r>
            <a:endParaRPr dirty="0"/>
          </a:p>
          <a:p>
            <a:pPr marL="0" indent="0">
              <a:lnSpc>
                <a:spcPct val="150000"/>
              </a:lnSpc>
              <a:buNone/>
              <a:defRPr/>
            </a:pPr>
            <a:r>
              <a:rPr lang="de-DE" sz="1600" b="0" dirty="0"/>
              <a:t>Subsequent </a:t>
            </a:r>
            <a:r>
              <a:rPr lang="de-DE" sz="1600" b="0" dirty="0" err="1"/>
              <a:t>registration</a:t>
            </a:r>
            <a:r>
              <a:rPr lang="de-DE" sz="1600" b="0" dirty="0"/>
              <a:t> </a:t>
            </a:r>
            <a:r>
              <a:rPr lang="de-DE" sz="1600" b="0" dirty="0" err="1"/>
              <a:t>is</a:t>
            </a:r>
            <a:r>
              <a:rPr lang="de-DE" sz="1600" b="0" dirty="0"/>
              <a:t> </a:t>
            </a:r>
            <a:r>
              <a:rPr lang="de-DE" sz="1600" b="0" dirty="0" err="1"/>
              <a:t>no</a:t>
            </a:r>
            <a:r>
              <a:rPr lang="de-DE" sz="1600" b="0" dirty="0"/>
              <a:t> </a:t>
            </a:r>
            <a:r>
              <a:rPr lang="de-DE" sz="1600" b="0" dirty="0" err="1"/>
              <a:t>longer</a:t>
            </a:r>
            <a:r>
              <a:rPr lang="de-DE" sz="1600" b="0" dirty="0"/>
              <a:t> possible.</a:t>
            </a:r>
            <a:endParaRPr lang="de-DE" sz="1600" b="1" dirty="0"/>
          </a:p>
          <a:p>
            <a:pPr>
              <a:lnSpc>
                <a:spcPct val="150000"/>
              </a:lnSpc>
              <a:defRPr/>
            </a:pPr>
            <a:endParaRPr lang="de-DE" sz="1600" b="1" dirty="0"/>
          </a:p>
          <a:p>
            <a:pPr marL="0" indent="0">
              <a:lnSpc>
                <a:spcPct val="150000"/>
              </a:lnSpc>
              <a:buNone/>
              <a:defRPr/>
            </a:pPr>
            <a:r>
              <a:rPr lang="de-DE" sz="1600" b="0" dirty="0" err="1"/>
              <a:t>Resignations</a:t>
            </a:r>
            <a:r>
              <a:rPr lang="de-DE" sz="1600" b="0" dirty="0"/>
              <a:t> </a:t>
            </a:r>
            <a:r>
              <a:rPr lang="de-DE" sz="1600" b="0" dirty="0" err="1"/>
              <a:t>until</a:t>
            </a:r>
            <a:r>
              <a:rPr lang="de-DE" sz="1600" b="0" dirty="0"/>
              <a:t> </a:t>
            </a:r>
            <a:r>
              <a:rPr lang="de-DE" sz="1600" b="0" dirty="0" err="1"/>
              <a:t>three</a:t>
            </a:r>
            <a:r>
              <a:rPr lang="de-DE" sz="1600" b="0" dirty="0"/>
              <a:t> </a:t>
            </a:r>
            <a:r>
              <a:rPr lang="de-DE" sz="1600" b="0" dirty="0" err="1"/>
              <a:t>days</a:t>
            </a:r>
            <a:r>
              <a:rPr lang="de-DE" sz="1600" b="0" dirty="0"/>
              <a:t> </a:t>
            </a:r>
            <a:r>
              <a:rPr lang="de-DE" sz="1600" b="0" dirty="0" err="1"/>
              <a:t>before</a:t>
            </a:r>
            <a:r>
              <a:rPr lang="de-DE" sz="1600" b="0" dirty="0"/>
              <a:t> </a:t>
            </a:r>
            <a:r>
              <a:rPr lang="de-DE" sz="1600" b="0" dirty="0" err="1"/>
              <a:t>the</a:t>
            </a:r>
            <a:r>
              <a:rPr lang="de-DE" sz="1600" b="0" dirty="0"/>
              <a:t> </a:t>
            </a:r>
            <a:r>
              <a:rPr lang="de-DE" sz="1600" b="0" dirty="0" err="1"/>
              <a:t>exam</a:t>
            </a:r>
            <a:endParaRPr dirty="0"/>
          </a:p>
          <a:p>
            <a:pPr>
              <a:lnSpc>
                <a:spcPct val="150000"/>
              </a:lnSpc>
              <a:defRPr/>
            </a:pPr>
            <a:endParaRPr lang="de-DE" sz="1600" b="1" dirty="0"/>
          </a:p>
          <a:p>
            <a:pPr marL="0" indent="0">
              <a:lnSpc>
                <a:spcPct val="150000"/>
              </a:lnSpc>
              <a:buNone/>
              <a:defRPr/>
            </a:pPr>
            <a:r>
              <a:rPr lang="de-DE" sz="1600" b="0" dirty="0" err="1"/>
              <a:t>If</a:t>
            </a:r>
            <a:r>
              <a:rPr lang="de-DE" sz="1600" b="0" dirty="0"/>
              <a:t> </a:t>
            </a:r>
            <a:r>
              <a:rPr lang="de-DE" sz="1600" b="0" dirty="0" err="1"/>
              <a:t>you</a:t>
            </a:r>
            <a:r>
              <a:rPr lang="de-DE" sz="1600" b="0" dirty="0"/>
              <a:t> </a:t>
            </a:r>
            <a:r>
              <a:rPr lang="de-DE" sz="1600" b="0" dirty="0" err="1"/>
              <a:t>withdraw</a:t>
            </a:r>
            <a:r>
              <a:rPr lang="de-DE" sz="1600" b="0" dirty="0"/>
              <a:t> </a:t>
            </a:r>
            <a:r>
              <a:rPr lang="de-DE" sz="1600" b="0" dirty="0" err="1"/>
              <a:t>from</a:t>
            </a:r>
            <a:r>
              <a:rPr lang="de-DE" sz="1600" b="0" dirty="0"/>
              <a:t> an </a:t>
            </a:r>
            <a:r>
              <a:rPr lang="de-DE" sz="1600" b="0" dirty="0" err="1"/>
              <a:t>examination</a:t>
            </a:r>
            <a:r>
              <a:rPr lang="de-DE" sz="1600" b="0" dirty="0"/>
              <a:t>, </a:t>
            </a:r>
            <a:r>
              <a:rPr lang="de-DE" sz="1600" b="0" dirty="0" err="1"/>
              <a:t>you</a:t>
            </a:r>
            <a:r>
              <a:rPr lang="de-DE" sz="1600" b="0" dirty="0"/>
              <a:t> </a:t>
            </a:r>
            <a:r>
              <a:rPr lang="de-DE" sz="1600" b="0" dirty="0" err="1"/>
              <a:t>must</a:t>
            </a:r>
            <a:r>
              <a:rPr lang="de-DE" sz="1600" b="0" dirty="0"/>
              <a:t> </a:t>
            </a:r>
            <a:r>
              <a:rPr lang="de-DE" sz="1600" b="0" dirty="0" err="1"/>
              <a:t>repeat</a:t>
            </a:r>
            <a:r>
              <a:rPr lang="de-DE" sz="1600" b="0" dirty="0"/>
              <a:t> </a:t>
            </a:r>
            <a:r>
              <a:rPr lang="de-DE" sz="1600" b="0" dirty="0" err="1"/>
              <a:t>the</a:t>
            </a:r>
            <a:r>
              <a:rPr lang="de-DE" sz="1600" b="0" dirty="0"/>
              <a:t> Leuphana </a:t>
            </a:r>
            <a:r>
              <a:rPr lang="de-DE" sz="1600" b="0" dirty="0" err="1"/>
              <a:t>semester</a:t>
            </a:r>
            <a:r>
              <a:rPr lang="de-DE" sz="1600" b="0" dirty="0"/>
              <a:t> </a:t>
            </a:r>
            <a:r>
              <a:rPr lang="de-DE" sz="1600" b="0" dirty="0" err="1"/>
              <a:t>module</a:t>
            </a:r>
            <a:r>
              <a:rPr lang="de-DE" sz="1600" b="0" dirty="0"/>
              <a:t> </a:t>
            </a:r>
            <a:r>
              <a:rPr lang="de-DE" sz="1600" b="0" dirty="0" err="1"/>
              <a:t>one</a:t>
            </a:r>
            <a:r>
              <a:rPr lang="de-DE" sz="1600" b="0" dirty="0"/>
              <a:t> </a:t>
            </a:r>
            <a:r>
              <a:rPr lang="de-DE" sz="1600" b="0" dirty="0" err="1"/>
              <a:t>year</a:t>
            </a:r>
            <a:r>
              <a:rPr lang="de-DE" sz="1600" b="0" dirty="0"/>
              <a:t> </a:t>
            </a:r>
            <a:r>
              <a:rPr lang="de-DE" sz="1600" b="0" dirty="0" err="1"/>
              <a:t>later</a:t>
            </a:r>
            <a:r>
              <a:rPr lang="de-DE" sz="1600" b="0" dirty="0"/>
              <a:t>.</a:t>
            </a:r>
            <a:endParaRPr dirty="0"/>
          </a:p>
          <a:p>
            <a:pPr marL="0" indent="0">
              <a:lnSpc>
                <a:spcPct val="150000"/>
              </a:lnSpc>
              <a:buNone/>
              <a:defRPr/>
            </a:pPr>
            <a:endParaRPr lang="de-DE" sz="1600" b="1" dirty="0"/>
          </a:p>
          <a:p>
            <a:pPr>
              <a:defRPr/>
            </a:pPr>
            <a:endParaRPr lang="de-DE" dirty="0"/>
          </a:p>
        </p:txBody>
      </p:sp>
      <p:sp>
        <p:nvSpPr>
          <p:cNvPr id="1940331821" name="Google Shape;107;p17"/>
          <p:cNvSpPr txBox="1">
            <a:spLocks noGrp="1"/>
          </p:cNvSpPr>
          <p:nvPr>
            <p:ph type="sldNum" idx="4294967295"/>
          </p:nvPr>
        </p:nvSpPr>
        <p:spPr bwMode="auto">
          <a:xfrm>
            <a:off x="8594725" y="4822825"/>
            <a:ext cx="549275" cy="393700"/>
          </a:xfrm>
          <a:prstGeom prst="rect">
            <a:avLst/>
          </a:prstGeom>
        </p:spPr>
        <p:txBody>
          <a:bodyPr spcFirstLastPara="1" wrap="square" lIns="91423" tIns="91423" rIns="91423" bIns="91423"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E0DB949B-5C29-C578-13FB-BFF7547FC39B}" type="slidenum">
              <a:rPr lang="de-DE"/>
              <a:t>7</a:t>
            </a:fld>
            <a:endParaRPr lang="de-D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a:t>Any open questions?</a:t>
            </a:r>
            <a:endParaRPr/>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121ca8b4f73cbe944e7199c5b3e1bc5f">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802490220f3b9edf7b7bba1fdb31b629"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5E6F7C2-C804-4DD3-B574-ED6E78E7479F}"/>
</file>

<file path=customXml/itemProps2.xml><?xml version="1.0" encoding="utf-8"?>
<ds:datastoreItem xmlns:ds="http://schemas.openxmlformats.org/officeDocument/2006/customXml" ds:itemID="{F43DDF38-F98B-4314-A711-7D1858AD7630}"/>
</file>

<file path=customXml/itemProps3.xml><?xml version="1.0" encoding="utf-8"?>
<ds:datastoreItem xmlns:ds="http://schemas.openxmlformats.org/officeDocument/2006/customXml" ds:itemID="{4AE0EB69-E86B-46EE-9A3F-CB0839872999}"/>
</file>

<file path=docProps/app.xml><?xml version="1.0" encoding="utf-8"?>
<Properties xmlns="http://schemas.openxmlformats.org/officeDocument/2006/extended-properties" xmlns:vt="http://schemas.openxmlformats.org/officeDocument/2006/docPropsVTypes">
  <Template/>
  <TotalTime>0</TotalTime>
  <Words>392</Words>
  <Application>Microsoft Macintosh PowerPoint</Application>
  <DocSecurity>0</DocSecurity>
  <PresentationFormat>Bildschirmpräsentation (16:9)</PresentationFormat>
  <Paragraphs>52</Paragraphs>
  <Slides>8</Slides>
  <Notes>8</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8</vt:i4>
      </vt:variant>
    </vt:vector>
  </HeadingPairs>
  <TitlesOfParts>
    <vt:vector size="13" baseType="lpstr">
      <vt:lpstr>Quattrocento Sans</vt:lpstr>
      <vt:lpstr>Lora</vt:lpstr>
      <vt:lpstr>Arial</vt:lpstr>
      <vt:lpstr>Arial Narrow</vt:lpstr>
      <vt:lpstr>Benutzerdefiniertes Design</vt:lpstr>
      <vt:lpstr>1.2 The modules and examinations in the  LS semester</vt:lpstr>
      <vt:lpstr>Agenda</vt:lpstr>
      <vt:lpstr>CHECK-IN</vt:lpstr>
      <vt:lpstr>Transforming knowledge: responsible action</vt:lpstr>
      <vt:lpstr>Science transformed: responsible action</vt:lpstr>
      <vt:lpstr>Problematizing knowledge: critical thinking</vt:lpstr>
      <vt:lpstr>Exam registration myCampus</vt:lpstr>
      <vt:lpstr>Any open questions?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docId:00279FAA0EC8FD1EB0E55E86C4ECA360</cp:keywords>
  <dc:description/>
  <cp:lastModifiedBy>Lina Bücher</cp:lastModifiedBy>
  <cp:revision>361</cp:revision>
  <dcterms:modified xsi:type="dcterms:W3CDTF">2024-11-15T12:44:39Z</dcterms:modified>
  <cp:category/>
  <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