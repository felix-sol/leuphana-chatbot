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65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‹Nr.›</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20828e9436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g220828e943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Present a strategy for dealing with large texts</a:t>
            </a:r>
            <a:endParaRPr sz="1100"/>
          </a:p>
        </p:txBody>
      </p:sp>
      <p:sp>
        <p:nvSpPr>
          <p:cNvPr id="301" name="Google Shape;301;g220828e943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fb2802f970_0_3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g2fb2802f970_0_3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Present a strategy for dealing with large texts</a:t>
            </a:r>
            <a:endParaRPr sz="1100"/>
          </a:p>
        </p:txBody>
      </p:sp>
      <p:sp>
        <p:nvSpPr>
          <p:cNvPr id="309" name="Google Shape;309;g2fb2802f970_0_3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fb2802f970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g2fb2802f970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Present a strategy for dealing with large texts</a:t>
            </a:r>
            <a:endParaRPr sz="1100"/>
          </a:p>
        </p:txBody>
      </p:sp>
      <p:sp>
        <p:nvSpPr>
          <p:cNvPr id="316" name="Google Shape;316;g2fb2802f970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fb2802f970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2fb2802f970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g2fb2802f970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fb2802f970_0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2fb2802f970_0_1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g2fb2802f970_0_1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fb2802f970_0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g2fb2802f970_0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g2fb2802f970_0_1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fb2802f970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2fb2802f97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Present a strategy for dealing with large texts</a:t>
            </a:r>
            <a:endParaRPr sz="1100"/>
          </a:p>
        </p:txBody>
      </p:sp>
      <p:sp>
        <p:nvSpPr>
          <p:cNvPr id="344" name="Google Shape;344;g2fb2802f970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20828e9436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g220828e9436_1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Präsentation einer Strategie mit schwierigen Texten umzugehen</a:t>
            </a:r>
            <a:endParaRPr sz="1100"/>
          </a:p>
        </p:txBody>
      </p:sp>
      <p:sp>
        <p:nvSpPr>
          <p:cNvPr id="351" name="Google Shape;351;g220828e9436_1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20828e9436_1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g220828e9436_1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Präsentation einer Strategie mit schwierigen Texten umzugehen</a:t>
            </a:r>
            <a:endParaRPr sz="1100"/>
          </a:p>
        </p:txBody>
      </p:sp>
      <p:sp>
        <p:nvSpPr>
          <p:cNvPr id="358" name="Google Shape;358;g220828e9436_1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20828e9436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g220828e9436_1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Präsentation einer Strategie mit schwierigen Texten umzugehen</a:t>
            </a:r>
            <a:endParaRPr sz="1100"/>
          </a:p>
        </p:txBody>
      </p:sp>
      <p:sp>
        <p:nvSpPr>
          <p:cNvPr id="365" name="Google Shape;365;g220828e9436_1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fb20564c36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g2fb20564c36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Präsentation einer Strategie mit schwierigen Texten umzugehen</a:t>
            </a:r>
            <a:endParaRPr sz="1100"/>
          </a:p>
        </p:txBody>
      </p:sp>
      <p:sp>
        <p:nvSpPr>
          <p:cNvPr id="372" name="Google Shape;372;g2fb20564c36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20828e9436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220828e9436_1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marL="0" lvl="0" indent="0" algn="l" rtl="0">
              <a:spcBef>
                <a:spcPts val="0"/>
              </a:spcBef>
              <a:spcAft>
                <a:spcPts val="0"/>
              </a:spcAft>
              <a:buNone/>
            </a:pPr>
            <a:endParaRPr sz="1100"/>
          </a:p>
        </p:txBody>
      </p:sp>
      <p:sp>
        <p:nvSpPr>
          <p:cNvPr id="379" name="Google Shape;379;g220828e9436_1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20828e9436_1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g220828e9436_1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marL="0" lvl="0" indent="0" algn="l" rtl="0">
              <a:spcBef>
                <a:spcPts val="0"/>
              </a:spcBef>
              <a:spcAft>
                <a:spcPts val="0"/>
              </a:spcAft>
              <a:buNone/>
            </a:pPr>
            <a:endParaRPr sz="1100"/>
          </a:p>
        </p:txBody>
      </p:sp>
      <p:sp>
        <p:nvSpPr>
          <p:cNvPr id="386" name="Google Shape;386;g220828e9436_1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20828e9436_1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220828e9436_1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marL="0" lvl="0" indent="0" algn="l" rtl="0">
              <a:spcBef>
                <a:spcPts val="0"/>
              </a:spcBef>
              <a:spcAft>
                <a:spcPts val="0"/>
              </a:spcAft>
              <a:buNone/>
            </a:pPr>
            <a:endParaRPr sz="1100"/>
          </a:p>
        </p:txBody>
      </p:sp>
      <p:sp>
        <p:nvSpPr>
          <p:cNvPr id="393" name="Google Shape;393;g220828e9436_1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2205643" y="2410767"/>
            <a:ext cx="13716000" cy="35814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subTitle" idx="1"/>
          </p:nvPr>
        </p:nvSpPr>
        <p:spPr>
          <a:xfrm>
            <a:off x="2205643" y="6130279"/>
            <a:ext cx="13716000" cy="248285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3"/>
          <p:cNvSpPr/>
          <p:nvPr/>
        </p:nvSpPr>
        <p:spPr>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1" name="Google Shape;31;p3"/>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 name="Google Shape;32;p3"/>
          <p:cNvSpPr/>
          <p:nvPr/>
        </p:nvSpPr>
        <p:spPr>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 name="Google Shape;33;p3"/>
          <p:cNvSpPr/>
          <p:nvPr/>
        </p:nvSpPr>
        <p:spPr>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 name="Google Shape;34;p3"/>
          <p:cNvSpPr/>
          <p:nvPr/>
        </p:nvSpPr>
        <p:spPr>
          <a:xfrm rot="7860677">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 name="Google Shape;35;p3"/>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 name="Google Shape;36;p3"/>
          <p:cNvSpPr/>
          <p:nvPr/>
        </p:nvSpPr>
        <p:spPr>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 name="Google Shape;37;p3"/>
          <p:cNvSpPr/>
          <p:nvPr/>
        </p:nvSpPr>
        <p:spPr>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 name="Google Shape;38;p3"/>
          <p:cNvSpPr/>
          <p:nvPr/>
        </p:nvSpPr>
        <p:spPr>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 name="Google Shape;39;p3"/>
          <p:cNvSpPr/>
          <p:nvPr/>
        </p:nvSpPr>
        <p:spPr>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0" name="Google Shape;40;p3"/>
          <p:cNvSpPr/>
          <p:nvPr/>
        </p:nvSpPr>
        <p:spPr>
          <a:xfrm rot="7628195">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41"/>
        <p:cNvGrpSpPr/>
        <p:nvPr/>
      </p:nvGrpSpPr>
      <p:grpSpPr>
        <a:xfrm>
          <a:off x="0" y="0"/>
          <a:ext cx="0" cy="0"/>
          <a:chOff x="0" y="0"/>
          <a:chExt cx="0" cy="0"/>
        </a:xfrm>
      </p:grpSpPr>
      <p:sp>
        <p:nvSpPr>
          <p:cNvPr id="42" name="Google Shape;42;p4"/>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
          <p:cNvSpPr/>
          <p:nvPr/>
        </p:nvSpPr>
        <p:spPr>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a:off x="1906800" y="2171700"/>
            <a:ext cx="14400000" cy="3955611"/>
          </a:xfrm>
          <a:prstGeom prst="rect">
            <a:avLst/>
          </a:prstGeom>
          <a:noFill/>
          <a:ln>
            <a:noFill/>
          </a:ln>
        </p:spPr>
        <p:txBody>
          <a:bodyPr spcFirstLastPara="1" wrap="square" lIns="90000"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
          <p:cNvSpPr txBox="1">
            <a:spLocks noGrp="1"/>
          </p:cNvSpPr>
          <p:nvPr>
            <p:ph type="body" idx="1"/>
          </p:nvPr>
        </p:nvSpPr>
        <p:spPr>
          <a:xfrm>
            <a:off x="1906800" y="6491289"/>
            <a:ext cx="14400000" cy="2079814"/>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8" name="Google Shape;58;p5"/>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ei Inhalte" type="twoObj">
  <p:cSld name="TWO_OBJECTS">
    <p:spTree>
      <p:nvGrpSpPr>
        <p:cNvPr id="1" name="Shape 70"/>
        <p:cNvGrpSpPr/>
        <p:nvPr/>
      </p:nvGrpSpPr>
      <p:grpSpPr>
        <a:xfrm>
          <a:off x="0" y="0"/>
          <a:ext cx="0" cy="0"/>
          <a:chOff x="0" y="0"/>
          <a:chExt cx="0" cy="0"/>
        </a:xfrm>
      </p:grpSpPr>
      <p:sp>
        <p:nvSpPr>
          <p:cNvPr id="71" name="Google Shape;71;p6"/>
          <p:cNvSpPr txBox="1">
            <a:spLocks noGrp="1"/>
          </p:cNvSpPr>
          <p:nvPr>
            <p:ph type="title"/>
          </p:nvPr>
        </p:nvSpPr>
        <p:spPr>
          <a:xfrm>
            <a:off x="1944000" y="1366765"/>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6"/>
          <p:cNvSpPr txBox="1">
            <a:spLocks noGrp="1"/>
          </p:cNvSpPr>
          <p:nvPr>
            <p:ph type="body" idx="1"/>
          </p:nvPr>
        </p:nvSpPr>
        <p:spPr>
          <a:xfrm>
            <a:off x="1944000" y="2738437"/>
            <a:ext cx="7123800" cy="6527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6"/>
          <p:cNvSpPr txBox="1">
            <a:spLocks noGrp="1"/>
          </p:cNvSpPr>
          <p:nvPr>
            <p:ph type="body" idx="2"/>
          </p:nvPr>
        </p:nvSpPr>
        <p:spPr>
          <a:xfrm>
            <a:off x="9220200" y="2738437"/>
            <a:ext cx="7123800" cy="6527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6"/>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1944000" y="1174623"/>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7"/>
          <p:cNvSpPr txBox="1">
            <a:spLocks noGrp="1"/>
          </p:cNvSpPr>
          <p:nvPr>
            <p:ph type="body" idx="1"/>
          </p:nvPr>
        </p:nvSpPr>
        <p:spPr>
          <a:xfrm>
            <a:off x="1944000" y="2522538"/>
            <a:ext cx="7052362" cy="123507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9" name="Google Shape;89;p7"/>
          <p:cNvSpPr txBox="1">
            <a:spLocks noGrp="1"/>
          </p:cNvSpPr>
          <p:nvPr>
            <p:ph type="body" idx="2"/>
          </p:nvPr>
        </p:nvSpPr>
        <p:spPr>
          <a:xfrm>
            <a:off x="1944000" y="3757613"/>
            <a:ext cx="7052362" cy="55276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7"/>
          <p:cNvSpPr txBox="1">
            <a:spLocks noGrp="1"/>
          </p:cNvSpPr>
          <p:nvPr>
            <p:ph type="body" idx="3"/>
          </p:nvPr>
        </p:nvSpPr>
        <p:spPr>
          <a:xfrm>
            <a:off x="9258301" y="2522538"/>
            <a:ext cx="7085700" cy="123507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1" name="Google Shape;91;p7"/>
          <p:cNvSpPr txBox="1">
            <a:spLocks noGrp="1"/>
          </p:cNvSpPr>
          <p:nvPr>
            <p:ph type="body" idx="4"/>
          </p:nvPr>
        </p:nvSpPr>
        <p:spPr>
          <a:xfrm>
            <a:off x="9258301" y="3757613"/>
            <a:ext cx="7085700" cy="55276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7"/>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104"/>
        <p:cNvGrpSpPr/>
        <p:nvPr/>
      </p:nvGrpSpPr>
      <p:grpSpPr>
        <a:xfrm>
          <a:off x="0" y="0"/>
          <a:ext cx="0" cy="0"/>
          <a:chOff x="0" y="0"/>
          <a:chExt cx="0" cy="0"/>
        </a:xfrm>
      </p:grpSpPr>
      <p:sp>
        <p:nvSpPr>
          <p:cNvPr id="105" name="Google Shape;105;p8"/>
          <p:cNvSpPr txBox="1">
            <a:spLocks noGrp="1"/>
          </p:cNvSpPr>
          <p:nvPr>
            <p:ph type="title"/>
          </p:nvPr>
        </p:nvSpPr>
        <p:spPr>
          <a:xfrm>
            <a:off x="1944000" y="1322140"/>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8"/>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1944000" y="1481138"/>
            <a:ext cx="5235566" cy="1260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9"/>
          <p:cNvSpPr txBox="1">
            <a:spLocks noGrp="1"/>
          </p:cNvSpPr>
          <p:nvPr>
            <p:ph type="body" idx="1"/>
          </p:nvPr>
        </p:nvSpPr>
        <p:spPr>
          <a:xfrm>
            <a:off x="7775574" y="1481138"/>
            <a:ext cx="8568425" cy="7310437"/>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1" name="Google Shape;121;p9"/>
          <p:cNvSpPr txBox="1">
            <a:spLocks noGrp="1"/>
          </p:cNvSpPr>
          <p:nvPr>
            <p:ph type="body" idx="2"/>
          </p:nvPr>
        </p:nvSpPr>
        <p:spPr>
          <a:xfrm>
            <a:off x="1944000" y="3086100"/>
            <a:ext cx="5214038" cy="57181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2" name="Google Shape;122;p9"/>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ld mit Überschrift">
  <p:cSld name="Bild mit Überschrift">
    <p:spTree>
      <p:nvGrpSpPr>
        <p:cNvPr id="1" name="Shape 134"/>
        <p:cNvGrpSpPr/>
        <p:nvPr/>
      </p:nvGrpSpPr>
      <p:grpSpPr>
        <a:xfrm>
          <a:off x="0" y="0"/>
          <a:ext cx="0" cy="0"/>
          <a:chOff x="0" y="0"/>
          <a:chExt cx="0" cy="0"/>
        </a:xfrm>
      </p:grpSpPr>
      <p:sp>
        <p:nvSpPr>
          <p:cNvPr id="135" name="Google Shape;135;p10"/>
          <p:cNvSpPr>
            <a:spLocks noGrp="1"/>
          </p:cNvSpPr>
          <p:nvPr>
            <p:ph type="pic" idx="2"/>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Arial"/>
              <a:buNone/>
            </a:pPr>
            <a:r>
              <a:rPr lang="de-DE" sz="3200" b="0" i="0" u="none" strike="noStrike" cap="none">
                <a:solidFill>
                  <a:schemeClr val="dk1"/>
                </a:solidFill>
                <a:latin typeface="Arial"/>
                <a:ea typeface="Arial"/>
                <a:cs typeface="Arial"/>
                <a:sym typeface="Arial"/>
              </a:rPr>
              <a:t>Mastertitelformat bearbeiten</a:t>
            </a:r>
            <a:endParaRPr sz="3200" b="0" i="0" u="none" strike="noStrike" cap="none">
              <a:solidFill>
                <a:schemeClr val="dk1"/>
              </a:solidFill>
              <a:latin typeface="Arial"/>
              <a:ea typeface="Arial"/>
              <a:cs typeface="Arial"/>
              <a:sym typeface="Arial"/>
            </a:endParaRPr>
          </a:p>
        </p:txBody>
      </p:sp>
      <p:sp>
        <p:nvSpPr>
          <p:cNvPr id="147" name="Google Shape;147;p10"/>
          <p:cNvSpPr txBox="1">
            <a:spLocks noGrp="1"/>
          </p:cNvSpPr>
          <p:nvPr>
            <p:ph type="body" idx="1"/>
          </p:nvPr>
        </p:nvSpPr>
        <p:spPr>
          <a:xfrm>
            <a:off x="1944000" y="3086100"/>
            <a:ext cx="5214038" cy="57181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10"/>
          <p:cNvSpPr/>
          <p:nvPr/>
        </p:nvSpPr>
        <p:spPr>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944000" y="1322140"/>
            <a:ext cx="14400000" cy="1260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944000" y="2769110"/>
            <a:ext cx="14400000" cy="64800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1"/>
          <p:cNvSpPr txBox="1">
            <a:spLocks noGrp="1"/>
          </p:cNvSpPr>
          <p:nvPr>
            <p:ph type="title"/>
          </p:nvPr>
        </p:nvSpPr>
        <p:spPr>
          <a:xfrm>
            <a:off x="1906800" y="2171700"/>
            <a:ext cx="14400000" cy="3955611"/>
          </a:xfrm>
          <a:prstGeom prst="rect">
            <a:avLst/>
          </a:prstGeom>
          <a:noFill/>
          <a:ln>
            <a:noFill/>
          </a:ln>
        </p:spPr>
        <p:txBody>
          <a:bodyPr spcFirstLastPara="1" wrap="square" lIns="90000"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b="1"/>
              <a:t>Scientific Reading </a:t>
            </a:r>
            <a:r>
              <a:rPr lang="de-DE"/>
              <a:t>|Part 2</a:t>
            </a:r>
            <a:endParaRPr/>
          </a:p>
          <a:p>
            <a:pPr marL="0" lvl="0" indent="0" algn="l" rtl="0">
              <a:lnSpc>
                <a:spcPct val="90000"/>
              </a:lnSpc>
              <a:spcBef>
                <a:spcPts val="0"/>
              </a:spcBef>
              <a:spcAft>
                <a:spcPts val="0"/>
              </a:spcAft>
              <a:buClr>
                <a:schemeClr val="dk1"/>
              </a:buClr>
              <a:buSzPts val="6000"/>
              <a:buFont typeface="Arial"/>
              <a:buNone/>
            </a:pPr>
            <a:r>
              <a:rPr lang="de-DE"/>
              <a:t>Tools and Techniques</a:t>
            </a:r>
            <a:endParaRPr/>
          </a:p>
        </p:txBody>
      </p:sp>
      <p:sp>
        <p:nvSpPr>
          <p:cNvPr id="297" name="Google Shape;297;p21"/>
          <p:cNvSpPr txBox="1">
            <a:spLocks noGrp="1"/>
          </p:cNvSpPr>
          <p:nvPr>
            <p:ph type="body" idx="1"/>
          </p:nvPr>
        </p:nvSpPr>
        <p:spPr>
          <a:xfrm>
            <a:off x="1906800" y="6491289"/>
            <a:ext cx="14400000" cy="2079814"/>
          </a:xfrm>
          <a:prstGeom prst="rect">
            <a:avLst/>
          </a:prstGeom>
          <a:noFill/>
          <a:ln>
            <a:noFill/>
          </a:ln>
        </p:spPr>
        <p:txBody>
          <a:bodyPr spcFirstLastPara="1" wrap="square" lIns="90000" tIns="45700" rIns="91425" bIns="45700" anchor="t" anchorCtr="0">
            <a:normAutofit/>
          </a:bodyPr>
          <a:lstStyle/>
          <a:p>
            <a:pPr marL="0" lvl="0" indent="0" algn="l" rtl="0">
              <a:lnSpc>
                <a:spcPct val="90000"/>
              </a:lnSpc>
              <a:spcBef>
                <a:spcPts val="0"/>
              </a:spcBef>
              <a:spcAft>
                <a:spcPts val="0"/>
              </a:spcAft>
              <a:buClr>
                <a:srgbClr val="757575"/>
              </a:buClr>
              <a:buSzPts val="2400"/>
              <a:buNone/>
            </a:pPr>
            <a:r>
              <a:rPr lang="de-DE"/>
              <a:t>Tutor:</a:t>
            </a:r>
            <a:endParaRPr/>
          </a:p>
          <a:p>
            <a:pPr marL="0" lvl="0" indent="0" algn="l" rtl="0">
              <a:lnSpc>
                <a:spcPct val="90000"/>
              </a:lnSpc>
              <a:spcBef>
                <a:spcPts val="0"/>
              </a:spcBef>
              <a:spcAft>
                <a:spcPts val="0"/>
              </a:spcAft>
              <a:buClr>
                <a:srgbClr val="757575"/>
              </a:buClr>
              <a:buSzPts val="2400"/>
              <a:buNone/>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2"/>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Dealing with Academic Texts</a:t>
            </a:r>
            <a:endParaRPr b="1"/>
          </a:p>
        </p:txBody>
      </p:sp>
      <p:sp>
        <p:nvSpPr>
          <p:cNvPr id="304" name="Google Shape;304;p22"/>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457200" lvl="0" indent="-419100" algn="l" rtl="0">
              <a:lnSpc>
                <a:spcPct val="100000"/>
              </a:lnSpc>
              <a:spcBef>
                <a:spcPts val="0"/>
              </a:spcBef>
              <a:spcAft>
                <a:spcPts val="0"/>
              </a:spcAft>
              <a:buSzPts val="3000"/>
              <a:buAutoNum type="arabicPeriod"/>
            </a:pPr>
            <a:r>
              <a:rPr lang="de-DE" sz="3000" b="1"/>
              <a:t>Determine your reading goals:</a:t>
            </a:r>
            <a:endParaRPr sz="3000" b="1"/>
          </a:p>
          <a:p>
            <a:pPr marL="914400" lvl="0" indent="-419100" algn="l" rtl="0">
              <a:lnSpc>
                <a:spcPct val="100000"/>
              </a:lnSpc>
              <a:spcBef>
                <a:spcPts val="0"/>
              </a:spcBef>
              <a:spcAft>
                <a:spcPts val="0"/>
              </a:spcAft>
              <a:buSzPts val="3000"/>
              <a:buChar char="•"/>
            </a:pPr>
            <a:r>
              <a:rPr lang="de-DE" sz="3000"/>
              <a:t>What do I already know? </a:t>
            </a:r>
            <a:endParaRPr sz="3000"/>
          </a:p>
          <a:p>
            <a:pPr marL="914400" lvl="0" indent="-419100" algn="l" rtl="0">
              <a:lnSpc>
                <a:spcPct val="100000"/>
              </a:lnSpc>
              <a:spcBef>
                <a:spcPts val="0"/>
              </a:spcBef>
              <a:spcAft>
                <a:spcPts val="0"/>
              </a:spcAft>
              <a:buSzPts val="3000"/>
              <a:buChar char="•"/>
            </a:pPr>
            <a:r>
              <a:rPr lang="de-DE" sz="3000"/>
              <a:t>What do I want to know? </a:t>
            </a:r>
            <a:endParaRPr sz="3000"/>
          </a:p>
          <a:p>
            <a:pPr marL="914400" lvl="0" indent="-419100" algn="l" rtl="0">
              <a:lnSpc>
                <a:spcPct val="100000"/>
              </a:lnSpc>
              <a:spcBef>
                <a:spcPts val="0"/>
              </a:spcBef>
              <a:spcAft>
                <a:spcPts val="0"/>
              </a:spcAft>
              <a:buSzPts val="3000"/>
              <a:buChar char="•"/>
            </a:pPr>
            <a:r>
              <a:rPr lang="de-DE" sz="3000"/>
              <a:t>What do I have to know? </a:t>
            </a:r>
            <a:endParaRPr sz="3000"/>
          </a:p>
          <a:p>
            <a:pPr marL="914400" lvl="0" indent="-419100" algn="l" rtl="0">
              <a:lnSpc>
                <a:spcPct val="100000"/>
              </a:lnSpc>
              <a:spcBef>
                <a:spcPts val="0"/>
              </a:spcBef>
              <a:spcAft>
                <a:spcPts val="0"/>
              </a:spcAft>
              <a:buSzPts val="3000"/>
              <a:buChar char="•"/>
            </a:pPr>
            <a:r>
              <a:rPr lang="de-DE" sz="3000"/>
              <a:t>What should I understand? </a:t>
            </a:r>
            <a:endParaRPr sz="3000"/>
          </a:p>
          <a:p>
            <a:pPr marL="914400" lvl="0" indent="-419100" algn="l" rtl="0">
              <a:lnSpc>
                <a:spcPct val="100000"/>
              </a:lnSpc>
              <a:spcBef>
                <a:spcPts val="0"/>
              </a:spcBef>
              <a:spcAft>
                <a:spcPts val="0"/>
              </a:spcAft>
              <a:buSzPts val="3000"/>
              <a:buChar char="•"/>
            </a:pPr>
            <a:r>
              <a:rPr lang="de-DE" sz="3000"/>
              <a:t>What do the instructors expect from me?</a:t>
            </a:r>
            <a:endParaRPr sz="3000"/>
          </a:p>
          <a:p>
            <a:pPr marL="0" lvl="0" indent="0" algn="l" rtl="0">
              <a:lnSpc>
                <a:spcPct val="100000"/>
              </a:lnSpc>
              <a:spcBef>
                <a:spcPts val="0"/>
              </a:spcBef>
              <a:spcAft>
                <a:spcPts val="0"/>
              </a:spcAft>
              <a:buNone/>
            </a:pPr>
            <a:endParaRPr sz="3000"/>
          </a:p>
          <a:p>
            <a:pPr marL="457200" lvl="0" indent="-419100" algn="l" rtl="0">
              <a:lnSpc>
                <a:spcPct val="100000"/>
              </a:lnSpc>
              <a:spcBef>
                <a:spcPts val="0"/>
              </a:spcBef>
              <a:spcAft>
                <a:spcPts val="0"/>
              </a:spcAft>
              <a:buSzPts val="3000"/>
              <a:buAutoNum type="arabicPeriod"/>
            </a:pPr>
            <a:r>
              <a:rPr lang="de-DE" sz="3000" b="1"/>
              <a:t>Time management:</a:t>
            </a:r>
            <a:endParaRPr sz="3000" b="1"/>
          </a:p>
          <a:p>
            <a:pPr marL="914400" lvl="1" indent="-419100" algn="l" rtl="0">
              <a:lnSpc>
                <a:spcPct val="100000"/>
              </a:lnSpc>
              <a:spcBef>
                <a:spcPts val="0"/>
              </a:spcBef>
              <a:spcAft>
                <a:spcPts val="0"/>
              </a:spcAft>
              <a:buSzPts val="3000"/>
              <a:buChar char="•"/>
            </a:pPr>
            <a:r>
              <a:rPr lang="de-DE" sz="3000"/>
              <a:t>How much time do I have to read until the text will be discussed in the seminar? </a:t>
            </a:r>
            <a:endParaRPr sz="3000"/>
          </a:p>
          <a:p>
            <a:pPr marL="914400" lvl="1" indent="-419100" algn="l" rtl="0">
              <a:lnSpc>
                <a:spcPct val="100000"/>
              </a:lnSpc>
              <a:spcBef>
                <a:spcPts val="0"/>
              </a:spcBef>
              <a:spcAft>
                <a:spcPts val="0"/>
              </a:spcAft>
              <a:buSzPts val="3000"/>
              <a:buChar char="•"/>
            </a:pPr>
            <a:r>
              <a:rPr lang="de-DE" sz="3000"/>
              <a:t>How much time do I plan to read?</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3000" b="1"/>
              <a:t>3.) Reflection:</a:t>
            </a:r>
            <a:endParaRPr sz="3000" b="1"/>
          </a:p>
          <a:p>
            <a:pPr marL="457200" lvl="0" indent="-419100" algn="l" rtl="0">
              <a:lnSpc>
                <a:spcPct val="100000"/>
              </a:lnSpc>
              <a:spcBef>
                <a:spcPts val="0"/>
              </a:spcBef>
              <a:spcAft>
                <a:spcPts val="0"/>
              </a:spcAft>
              <a:buSzPts val="3000"/>
              <a:buChar char="•"/>
            </a:pPr>
            <a:r>
              <a:rPr lang="de-DE" sz="3000"/>
              <a:t>What is the relationship between my reading goals and my time adjustments?</a:t>
            </a:r>
            <a:endParaRPr sz="3000"/>
          </a:p>
          <a:p>
            <a:pPr marL="457200" lvl="0" indent="-419100" algn="l" rtl="0">
              <a:lnSpc>
                <a:spcPct val="100000"/>
              </a:lnSpc>
              <a:spcBef>
                <a:spcPts val="0"/>
              </a:spcBef>
              <a:spcAft>
                <a:spcPts val="0"/>
              </a:spcAft>
              <a:buSzPts val="3000"/>
              <a:buChar char="•"/>
            </a:pPr>
            <a:r>
              <a:rPr lang="de-DE" sz="3000"/>
              <a:t>How do I want to deal with reading difficulties?</a:t>
            </a:r>
            <a:endParaRPr sz="3000"/>
          </a:p>
        </p:txBody>
      </p:sp>
      <p:sp>
        <p:nvSpPr>
          <p:cNvPr id="305" name="Google Shape;305;p22"/>
          <p:cNvSpPr/>
          <p:nvPr/>
        </p:nvSpPr>
        <p:spPr>
          <a:xfrm>
            <a:off x="10956275" y="1946475"/>
            <a:ext cx="5049054" cy="3978072"/>
          </a:xfrm>
          <a:prstGeom prst="irregularSeal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sz="2200">
              <a:solidFill>
                <a:schemeClr val="dk1"/>
              </a:solidFill>
            </a:endParaRPr>
          </a:p>
          <a:p>
            <a:pPr marL="0" lvl="0" indent="0" algn="ctr" rtl="0">
              <a:spcBef>
                <a:spcPts val="0"/>
              </a:spcBef>
              <a:spcAft>
                <a:spcPts val="0"/>
              </a:spcAft>
              <a:buClr>
                <a:schemeClr val="dk1"/>
              </a:buClr>
              <a:buSzPts val="1100"/>
              <a:buFont typeface="Arial"/>
              <a:buNone/>
            </a:pPr>
            <a:r>
              <a:rPr lang="de-DE" sz="2200">
                <a:solidFill>
                  <a:schemeClr val="dk1"/>
                </a:solidFill>
              </a:rPr>
              <a:t>Please take a look at the </a:t>
            </a:r>
            <a:r>
              <a:rPr lang="de-DE" sz="2200" b="1">
                <a:solidFill>
                  <a:schemeClr val="dk1"/>
                </a:solidFill>
              </a:rPr>
              <a:t>flowchart </a:t>
            </a:r>
            <a:r>
              <a:rPr lang="de-DE" sz="2200">
                <a:solidFill>
                  <a:schemeClr val="dk1"/>
                </a:solidFill>
              </a:rPr>
              <a:t>to further improve your reading experience</a:t>
            </a:r>
            <a:endParaRPr sz="2200">
              <a:solidFill>
                <a:schemeClr val="dk1"/>
              </a:solidFill>
            </a:endParaRPr>
          </a:p>
          <a:p>
            <a:pPr marL="0" lvl="0" indent="0" algn="ctr" rtl="0">
              <a:spcBef>
                <a:spcPts val="0"/>
              </a:spcBef>
              <a:spcAft>
                <a:spcPts val="0"/>
              </a:spcAft>
              <a:buClr>
                <a:schemeClr val="dk1"/>
              </a:buClr>
              <a:buSzPts val="1100"/>
              <a:buFont typeface="Arial"/>
              <a:buNone/>
            </a:pPr>
            <a:endParaRPr sz="600">
              <a:solidFill>
                <a:schemeClr val="dk1"/>
              </a:solidFill>
            </a:endParaRPr>
          </a:p>
          <a:p>
            <a:pPr marL="0" lvl="0" indent="0" algn="ctr" rtl="0">
              <a:spcBef>
                <a:spcPts val="0"/>
              </a:spcBef>
              <a:spcAft>
                <a:spcPts val="0"/>
              </a:spcAft>
              <a:buNone/>
            </a:pPr>
            <a:endParaRPr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3"/>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(Pre)Reading Strategies and Techniques</a:t>
            </a:r>
            <a:endParaRPr b="1"/>
          </a:p>
        </p:txBody>
      </p:sp>
      <p:sp>
        <p:nvSpPr>
          <p:cNvPr id="312" name="Google Shape;312;p23"/>
          <p:cNvSpPr txBox="1">
            <a:spLocks noGrp="1"/>
          </p:cNvSpPr>
          <p:nvPr>
            <p:ph type="body" idx="1"/>
          </p:nvPr>
        </p:nvSpPr>
        <p:spPr>
          <a:xfrm>
            <a:off x="1944000" y="2561853"/>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40"/>
              <a:buNone/>
            </a:pPr>
            <a:r>
              <a:rPr lang="de-DE" sz="3000"/>
              <a:t>Here is an overview of techniques that you may want to add to your repertoire. Consider the purpose and contextual factors (length of text, time available, medium, and so on) and then choose a technique that suits your purposes</a:t>
            </a:r>
            <a:endParaRPr sz="3000"/>
          </a:p>
          <a:p>
            <a:pPr marL="0" lvl="0" indent="0" algn="l" rtl="0">
              <a:lnSpc>
                <a:spcPct val="100000"/>
              </a:lnSpc>
              <a:spcBef>
                <a:spcPts val="0"/>
              </a:spcBef>
              <a:spcAft>
                <a:spcPts val="0"/>
              </a:spcAft>
              <a:buClr>
                <a:schemeClr val="dk1"/>
              </a:buClr>
              <a:buSzPts val="1440"/>
              <a:buNone/>
            </a:pPr>
            <a:endParaRPr sz="3000"/>
          </a:p>
          <a:p>
            <a:pPr marL="457200" lvl="0" indent="-419100" algn="l" rtl="0">
              <a:lnSpc>
                <a:spcPct val="100000"/>
              </a:lnSpc>
              <a:spcBef>
                <a:spcPts val="0"/>
              </a:spcBef>
              <a:spcAft>
                <a:spcPts val="0"/>
              </a:spcAft>
              <a:buSzPts val="3000"/>
              <a:buChar char="•"/>
            </a:pPr>
            <a:r>
              <a:rPr lang="de-DE" sz="3000"/>
              <a:t>previewing, skimming (preliminary analysis of meta-textual and textual aspects such as structure or genre) </a:t>
            </a:r>
            <a:endParaRPr sz="3000"/>
          </a:p>
          <a:p>
            <a:pPr marL="457200" lvl="0" indent="-419100" algn="l" rtl="0">
              <a:lnSpc>
                <a:spcPct val="100000"/>
              </a:lnSpc>
              <a:spcBef>
                <a:spcPts val="0"/>
              </a:spcBef>
              <a:spcAft>
                <a:spcPts val="0"/>
              </a:spcAft>
              <a:buSzPts val="3000"/>
              <a:buChar char="•"/>
            </a:pPr>
            <a:r>
              <a:rPr lang="de-DE" sz="3000"/>
              <a:t>annotations (as opposed to merely underlining and highlighting) and marginal notes </a:t>
            </a:r>
            <a:endParaRPr sz="3000"/>
          </a:p>
          <a:p>
            <a:pPr marL="457200" lvl="0" indent="-419100" algn="l" rtl="0">
              <a:lnSpc>
                <a:spcPct val="100000"/>
              </a:lnSpc>
              <a:spcBef>
                <a:spcPts val="0"/>
              </a:spcBef>
              <a:spcAft>
                <a:spcPts val="0"/>
              </a:spcAft>
              <a:buSzPts val="3000"/>
              <a:buChar char="•"/>
            </a:pPr>
            <a:r>
              <a:rPr lang="de-DE" sz="3000"/>
              <a:t>note-taking (separate document) </a:t>
            </a:r>
            <a:endParaRPr sz="3000"/>
          </a:p>
          <a:p>
            <a:pPr marL="457200" lvl="0" indent="-419100" algn="l" rtl="0">
              <a:lnSpc>
                <a:spcPct val="100000"/>
              </a:lnSpc>
              <a:spcBef>
                <a:spcPts val="0"/>
              </a:spcBef>
              <a:spcAft>
                <a:spcPts val="0"/>
              </a:spcAft>
              <a:buSzPts val="3000"/>
              <a:buChar char="•"/>
            </a:pPr>
            <a:r>
              <a:rPr lang="de-DE" sz="3000"/>
              <a:t>reading aloud, paraphrasing, summarizing, synthesizing</a:t>
            </a:r>
            <a:endParaRPr sz="3000"/>
          </a:p>
          <a:p>
            <a:pPr marL="457200" lvl="0" indent="-419100" algn="l" rtl="0">
              <a:lnSpc>
                <a:spcPct val="100000"/>
              </a:lnSpc>
              <a:spcBef>
                <a:spcPts val="0"/>
              </a:spcBef>
              <a:spcAft>
                <a:spcPts val="0"/>
              </a:spcAft>
              <a:buSzPts val="3000"/>
              <a:buChar char="•"/>
            </a:pPr>
            <a:r>
              <a:rPr lang="de-DE" sz="3000"/>
              <a:t>mapping, graphic organizer</a:t>
            </a:r>
            <a:endParaRPr sz="3000"/>
          </a:p>
          <a:p>
            <a:pPr marL="457200" lvl="0" indent="-419100" algn="l" rtl="0">
              <a:lnSpc>
                <a:spcPct val="100000"/>
              </a:lnSpc>
              <a:spcBef>
                <a:spcPts val="0"/>
              </a:spcBef>
              <a:spcAft>
                <a:spcPts val="0"/>
              </a:spcAft>
              <a:buSzPts val="3000"/>
              <a:buChar char="•"/>
            </a:pPr>
            <a:r>
              <a:rPr lang="de-DE" sz="3000"/>
              <a:t>rhetorical reading (focus on purpose, audience, claims/evidence, and appeals</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3000"/>
              <a:t>Other activities and practices:</a:t>
            </a:r>
            <a:endParaRPr sz="3000"/>
          </a:p>
          <a:p>
            <a:pPr marL="457200" lvl="0" indent="-419100" algn="l" rtl="0">
              <a:lnSpc>
                <a:spcPct val="100000"/>
              </a:lnSpc>
              <a:spcBef>
                <a:spcPts val="0"/>
              </a:spcBef>
              <a:spcAft>
                <a:spcPts val="0"/>
              </a:spcAft>
              <a:buSzPts val="3000"/>
              <a:buChar char="•"/>
            </a:pPr>
            <a:r>
              <a:rPr lang="de-DE" sz="3000"/>
              <a:t>reading logs and journals</a:t>
            </a:r>
            <a:endParaRPr sz="3000"/>
          </a:p>
          <a:p>
            <a:pPr marL="457200" lvl="0" indent="-419100" algn="l" rtl="0">
              <a:lnSpc>
                <a:spcPct val="100000"/>
              </a:lnSpc>
              <a:spcBef>
                <a:spcPts val="0"/>
              </a:spcBef>
              <a:spcAft>
                <a:spcPts val="0"/>
              </a:spcAft>
              <a:buSzPts val="3000"/>
              <a:buChar char="•"/>
            </a:pPr>
            <a:r>
              <a:rPr lang="de-DE" sz="3000"/>
              <a:t>imagined interviews with authors </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4"/>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Application: Testing the Tools</a:t>
            </a:r>
            <a:endParaRPr b="1"/>
          </a:p>
        </p:txBody>
      </p:sp>
      <p:sp>
        <p:nvSpPr>
          <p:cNvPr id="319" name="Google Shape;319;p24"/>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de-DE" sz="3000"/>
              <a:t>For the next 10 minutes, please - choose one of the strategies, technique, or activities listed and apply it to one of the readings you have been assigned </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3000"/>
              <a:t>Then discuss this experience with a partner </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3000"/>
              <a:t>We will conclude this activity by sharing results with the entire group</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5"/>
          <p:cNvSpPr txBox="1">
            <a:spLocks noGrp="1"/>
          </p:cNvSpPr>
          <p:nvPr>
            <p:ph type="ctrTitle"/>
          </p:nvPr>
        </p:nvSpPr>
        <p:spPr>
          <a:xfrm>
            <a:off x="2205643" y="2410767"/>
            <a:ext cx="13716000" cy="358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b="1"/>
              <a:t>Reading Time</a:t>
            </a:r>
            <a:endParaRPr b="1"/>
          </a:p>
        </p:txBody>
      </p:sp>
      <p:sp>
        <p:nvSpPr>
          <p:cNvPr id="326" name="Google Shape;326;p25"/>
          <p:cNvSpPr txBox="1">
            <a:spLocks noGrp="1"/>
          </p:cNvSpPr>
          <p:nvPr>
            <p:ph type="subTitle" idx="1"/>
          </p:nvPr>
        </p:nvSpPr>
        <p:spPr>
          <a:xfrm>
            <a:off x="2205643" y="6130279"/>
            <a:ext cx="13716000" cy="2482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de-DE" sz="3500"/>
              <a:t>10 Minutes</a:t>
            </a:r>
            <a:endParaRPr sz="3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6"/>
          <p:cNvSpPr txBox="1">
            <a:spLocks noGrp="1"/>
          </p:cNvSpPr>
          <p:nvPr>
            <p:ph type="ctrTitle"/>
          </p:nvPr>
        </p:nvSpPr>
        <p:spPr>
          <a:xfrm>
            <a:off x="2205643" y="2410767"/>
            <a:ext cx="13716000" cy="358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b="1"/>
              <a:t>Discuss Experience with a Partner</a:t>
            </a:r>
            <a:endParaRPr b="1"/>
          </a:p>
        </p:txBody>
      </p:sp>
      <p:sp>
        <p:nvSpPr>
          <p:cNvPr id="333" name="Google Shape;333;p26"/>
          <p:cNvSpPr txBox="1">
            <a:spLocks noGrp="1"/>
          </p:cNvSpPr>
          <p:nvPr>
            <p:ph type="subTitle" idx="1"/>
          </p:nvPr>
        </p:nvSpPr>
        <p:spPr>
          <a:xfrm>
            <a:off x="2205643" y="6130279"/>
            <a:ext cx="13716000" cy="2482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de-DE" sz="3500"/>
              <a:t>5 Minutes</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7"/>
          <p:cNvSpPr txBox="1">
            <a:spLocks noGrp="1"/>
          </p:cNvSpPr>
          <p:nvPr>
            <p:ph type="ctrTitle"/>
          </p:nvPr>
        </p:nvSpPr>
        <p:spPr>
          <a:xfrm>
            <a:off x="2205643" y="2410767"/>
            <a:ext cx="13716000" cy="358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b="1"/>
              <a:t>Plenary</a:t>
            </a:r>
            <a:endParaRPr b="1"/>
          </a:p>
        </p:txBody>
      </p:sp>
      <p:sp>
        <p:nvSpPr>
          <p:cNvPr id="340" name="Google Shape;340;p27"/>
          <p:cNvSpPr txBox="1">
            <a:spLocks noGrp="1"/>
          </p:cNvSpPr>
          <p:nvPr>
            <p:ph type="subTitle" idx="1"/>
          </p:nvPr>
        </p:nvSpPr>
        <p:spPr>
          <a:xfrm>
            <a:off x="2205643" y="6130279"/>
            <a:ext cx="13716000" cy="2482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de-DE" sz="3500"/>
              <a:t>Let’s collect in the plenary</a:t>
            </a:r>
            <a:endParaRPr sz="3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8"/>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Reading Tips</a:t>
            </a:r>
            <a:endParaRPr b="1"/>
          </a:p>
        </p:txBody>
      </p:sp>
      <p:sp>
        <p:nvSpPr>
          <p:cNvPr id="347" name="Google Shape;347;p28"/>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40"/>
              <a:buFont typeface="Arial"/>
              <a:buNone/>
            </a:pPr>
            <a:r>
              <a:rPr lang="de-DE" sz="3000" b="1"/>
              <a:t>A. Reading an extensive text </a:t>
            </a:r>
            <a:r>
              <a:rPr lang="de-DE" sz="3000"/>
              <a:t>(Tropp and Uluğ, 2020)</a:t>
            </a:r>
            <a:endParaRPr sz="3000"/>
          </a:p>
          <a:p>
            <a:pPr marL="457200" lvl="0" indent="-419100" algn="l" rtl="0">
              <a:lnSpc>
                <a:spcPct val="100000"/>
              </a:lnSpc>
              <a:spcBef>
                <a:spcPts val="0"/>
              </a:spcBef>
              <a:spcAft>
                <a:spcPts val="0"/>
              </a:spcAft>
              <a:buSzPts val="3000"/>
              <a:buAutoNum type="arabicPeriod"/>
            </a:pPr>
            <a:r>
              <a:rPr lang="de-DE" sz="3000"/>
              <a:t>Set reading goal: What do I want to know? Why am I reading the text?</a:t>
            </a:r>
            <a:endParaRPr sz="3000"/>
          </a:p>
          <a:p>
            <a:pPr marL="457200" lvl="0" indent="-419100" algn="l" rtl="0">
              <a:lnSpc>
                <a:spcPct val="100000"/>
              </a:lnSpc>
              <a:spcBef>
                <a:spcPts val="0"/>
              </a:spcBef>
              <a:spcAft>
                <a:spcPts val="0"/>
              </a:spcAft>
              <a:buSzPts val="3000"/>
              <a:buAutoNum type="arabicPeriod"/>
            </a:pPr>
            <a:r>
              <a:rPr lang="de-DE" sz="3000"/>
              <a:t>Step 2 depends on the reading goal </a:t>
            </a:r>
            <a:endParaRPr sz="3000"/>
          </a:p>
          <a:p>
            <a:pPr marL="457200" lvl="0" indent="457200" algn="l" rtl="0">
              <a:lnSpc>
                <a:spcPct val="100000"/>
              </a:lnSpc>
              <a:spcBef>
                <a:spcPts val="0"/>
              </a:spcBef>
              <a:spcAft>
                <a:spcPts val="0"/>
              </a:spcAft>
              <a:buNone/>
            </a:pPr>
            <a:r>
              <a:rPr lang="de-DE" sz="3000" b="1"/>
              <a:t>Reading Goal 1:</a:t>
            </a:r>
            <a:r>
              <a:rPr lang="de-DE" sz="3000"/>
              <a:t> How do I get an initial overview of the text?</a:t>
            </a:r>
            <a:endParaRPr sz="3000"/>
          </a:p>
          <a:p>
            <a:pPr marL="914400" lvl="0" indent="0" algn="l" rtl="0">
              <a:lnSpc>
                <a:spcPct val="100000"/>
              </a:lnSpc>
              <a:spcBef>
                <a:spcPts val="0"/>
              </a:spcBef>
              <a:spcAft>
                <a:spcPts val="0"/>
              </a:spcAft>
              <a:buClr>
                <a:schemeClr val="dk1"/>
              </a:buClr>
              <a:buSzPts val="1440"/>
              <a:buNone/>
            </a:pPr>
            <a:r>
              <a:rPr lang="de-DE" sz="3000"/>
              <a:t>Reading strategy: Consult the table of contents, introduction/conclusion or summary</a:t>
            </a:r>
            <a:endParaRPr sz="3000"/>
          </a:p>
          <a:p>
            <a:pPr marL="914400" lvl="0" indent="0" algn="l" rtl="0">
              <a:lnSpc>
                <a:spcPct val="100000"/>
              </a:lnSpc>
              <a:spcBef>
                <a:spcPts val="0"/>
              </a:spcBef>
              <a:spcAft>
                <a:spcPts val="0"/>
              </a:spcAft>
              <a:buClr>
                <a:schemeClr val="dk1"/>
              </a:buClr>
              <a:buSzPts val="1440"/>
              <a:buFont typeface="Arial"/>
              <a:buNone/>
            </a:pPr>
            <a:r>
              <a:rPr lang="de-DE" sz="3000" b="1"/>
              <a:t>Reading Goal 2:</a:t>
            </a:r>
            <a:r>
              <a:rPr lang="de-DE" sz="3000"/>
              <a:t> What is the main message of the text?</a:t>
            </a:r>
            <a:endParaRPr sz="3000"/>
          </a:p>
          <a:p>
            <a:pPr marL="457200" lvl="0" indent="457200" algn="l" rtl="0">
              <a:lnSpc>
                <a:spcPct val="100000"/>
              </a:lnSpc>
              <a:spcBef>
                <a:spcPts val="0"/>
              </a:spcBef>
              <a:spcAft>
                <a:spcPts val="0"/>
              </a:spcAft>
              <a:buClr>
                <a:schemeClr val="dk1"/>
              </a:buClr>
              <a:buSzPts val="1440"/>
              <a:buFont typeface="Arial"/>
              <a:buNone/>
            </a:pPr>
            <a:r>
              <a:rPr lang="de-DE" sz="3000"/>
              <a:t>Reading strategy: In this case: read summary/abstract.</a:t>
            </a:r>
            <a:endParaRPr sz="3000"/>
          </a:p>
          <a:p>
            <a:pPr marL="457200" lvl="0" indent="457200" algn="l" rtl="0">
              <a:lnSpc>
                <a:spcPct val="100000"/>
              </a:lnSpc>
              <a:spcBef>
                <a:spcPts val="0"/>
              </a:spcBef>
              <a:spcAft>
                <a:spcPts val="0"/>
              </a:spcAft>
              <a:buClr>
                <a:schemeClr val="dk1"/>
              </a:buClr>
              <a:buSzPts val="1440"/>
              <a:buNone/>
            </a:pPr>
            <a:r>
              <a:rPr lang="de-DE" sz="3000"/>
              <a:t>Indicators: Search for keywords/phrases (e.g. </a:t>
            </a:r>
            <a:r>
              <a:rPr lang="de-DE" sz="3000" i="1"/>
              <a:t>To sum up…</a:t>
            </a:r>
            <a:r>
              <a:rPr lang="de-DE" sz="3000"/>
              <a:t>, etc.)</a:t>
            </a:r>
            <a:endParaRPr sz="30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9"/>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Reading Tips</a:t>
            </a:r>
            <a:endParaRPr b="1"/>
          </a:p>
        </p:txBody>
      </p:sp>
      <p:sp>
        <p:nvSpPr>
          <p:cNvPr id="354" name="Google Shape;354;p29"/>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de-DE" sz="3000" b="1"/>
              <a:t>B. Reading a complex, difficult text </a:t>
            </a:r>
            <a:r>
              <a:rPr lang="de-DE" sz="3000"/>
              <a:t>(Wielowiejski, 2020)</a:t>
            </a:r>
            <a:endParaRPr sz="3000"/>
          </a:p>
          <a:p>
            <a:pPr marL="0" lvl="0" indent="0" algn="l" rtl="0">
              <a:lnSpc>
                <a:spcPct val="115000"/>
              </a:lnSpc>
              <a:spcBef>
                <a:spcPts val="1200"/>
              </a:spcBef>
              <a:spcAft>
                <a:spcPts val="0"/>
              </a:spcAft>
              <a:buNone/>
            </a:pPr>
            <a:r>
              <a:rPr lang="de-DE" sz="3000" i="1"/>
              <a:t>Reading objective: Understanding the text</a:t>
            </a:r>
            <a:endParaRPr sz="3000" i="1"/>
          </a:p>
          <a:p>
            <a:pPr marL="457200" lvl="0" indent="-419100" algn="l" rtl="0">
              <a:lnSpc>
                <a:spcPct val="115000"/>
              </a:lnSpc>
              <a:spcBef>
                <a:spcPts val="1200"/>
              </a:spcBef>
              <a:spcAft>
                <a:spcPts val="0"/>
              </a:spcAft>
              <a:buSzPts val="3000"/>
              <a:buAutoNum type="arabicPeriod"/>
            </a:pPr>
            <a:r>
              <a:rPr lang="de-DE" sz="3000" b="1"/>
              <a:t>Gaining an overview of the text structure</a:t>
            </a:r>
            <a:endParaRPr sz="3000" b="1"/>
          </a:p>
          <a:p>
            <a:pPr marL="457200" lvl="0" indent="-419100" algn="l" rtl="0">
              <a:lnSpc>
                <a:spcPct val="115000"/>
              </a:lnSpc>
              <a:spcBef>
                <a:spcPts val="1200"/>
              </a:spcBef>
              <a:spcAft>
                <a:spcPts val="0"/>
              </a:spcAft>
              <a:buSzPts val="3000"/>
              <a:buChar char="●"/>
            </a:pPr>
            <a:r>
              <a:rPr lang="de-DE" sz="3000"/>
              <a:t>Headings as indicators</a:t>
            </a:r>
            <a:endParaRPr sz="3000"/>
          </a:p>
          <a:p>
            <a:pPr marL="457200" lvl="0" indent="-419100" algn="l" rtl="0">
              <a:lnSpc>
                <a:spcPct val="115000"/>
              </a:lnSpc>
              <a:spcBef>
                <a:spcPts val="0"/>
              </a:spcBef>
              <a:spcAft>
                <a:spcPts val="0"/>
              </a:spcAft>
              <a:buSzPts val="3000"/>
              <a:buChar char="●"/>
            </a:pPr>
            <a:r>
              <a:rPr lang="de-DE" sz="3000"/>
              <a:t>Identify text-commenting sections</a:t>
            </a:r>
            <a:endParaRPr sz="3000"/>
          </a:p>
          <a:p>
            <a:pPr marL="457200" lvl="0" indent="-419100" algn="l" rtl="0">
              <a:lnSpc>
                <a:spcPct val="115000"/>
              </a:lnSpc>
              <a:spcBef>
                <a:spcPts val="0"/>
              </a:spcBef>
              <a:spcAft>
                <a:spcPts val="0"/>
              </a:spcAft>
              <a:buSzPts val="3000"/>
              <a:buAutoNum type="arabicPeriod"/>
            </a:pPr>
            <a:r>
              <a:rPr lang="de-DE" sz="3000" b="1"/>
              <a:t>Recognize the aim of the article</a:t>
            </a:r>
            <a:endParaRPr sz="3000" b="1"/>
          </a:p>
          <a:p>
            <a:pPr marL="0" lvl="0" indent="0" algn="l" rtl="0">
              <a:lnSpc>
                <a:spcPct val="115000"/>
              </a:lnSpc>
              <a:spcBef>
                <a:spcPts val="1200"/>
              </a:spcBef>
              <a:spcAft>
                <a:spcPts val="0"/>
              </a:spcAft>
              <a:buNone/>
            </a:pPr>
            <a:r>
              <a:rPr lang="de-DE" sz="3000"/>
              <a:t>Reading strategy: Identify text-commenting sections. Where does the author “speak” about his text, i.e. give you as the reader hints on how to read the text?</a:t>
            </a:r>
            <a:endParaRPr sz="3000"/>
          </a:p>
          <a:p>
            <a:pPr marL="457200" lvl="0" indent="-419100" algn="l" rtl="0">
              <a:lnSpc>
                <a:spcPct val="115000"/>
              </a:lnSpc>
              <a:spcBef>
                <a:spcPts val="1200"/>
              </a:spcBef>
              <a:spcAft>
                <a:spcPts val="0"/>
              </a:spcAft>
              <a:buSzPts val="3000"/>
              <a:buChar char="●"/>
            </a:pPr>
            <a:r>
              <a:rPr lang="de-DE" sz="3000" i="1"/>
              <a:t>Linguistic indicators:</a:t>
            </a:r>
            <a:endParaRPr sz="3000" i="1"/>
          </a:p>
          <a:p>
            <a:pPr marL="914400" lvl="1" indent="-419100" algn="l" rtl="0">
              <a:lnSpc>
                <a:spcPct val="115000"/>
              </a:lnSpc>
              <a:spcBef>
                <a:spcPts val="1200"/>
              </a:spcBef>
              <a:spcAft>
                <a:spcPts val="0"/>
              </a:spcAft>
              <a:buSzPts val="3000"/>
              <a:buChar char="○"/>
            </a:pPr>
            <a:r>
              <a:rPr lang="de-DE" sz="3000"/>
              <a:t>In the following</a:t>
            </a:r>
            <a:endParaRPr sz="3000"/>
          </a:p>
          <a:p>
            <a:pPr marL="914400" lvl="1" indent="-419100" algn="l" rtl="0">
              <a:lnSpc>
                <a:spcPct val="115000"/>
              </a:lnSpc>
              <a:spcBef>
                <a:spcPts val="0"/>
              </a:spcBef>
              <a:spcAft>
                <a:spcPts val="0"/>
              </a:spcAft>
              <a:buSzPts val="3000"/>
              <a:buChar char="○"/>
            </a:pPr>
            <a:r>
              <a:rPr lang="de-DE" sz="3000"/>
              <a:t>First of all, it is about...</a:t>
            </a:r>
            <a:endParaRPr sz="3000"/>
          </a:p>
          <a:p>
            <a:pPr marL="914400" lvl="1" indent="-419100" algn="l" rtl="0">
              <a:lnSpc>
                <a:spcPct val="115000"/>
              </a:lnSpc>
              <a:spcBef>
                <a:spcPts val="0"/>
              </a:spcBef>
              <a:spcAft>
                <a:spcPts val="1200"/>
              </a:spcAft>
              <a:buSzPts val="3000"/>
              <a:buChar char="○"/>
            </a:pPr>
            <a:r>
              <a:rPr lang="de-DE" sz="3000"/>
              <a:t>Finally, should/will..</a:t>
            </a:r>
            <a:endParaRPr sz="3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0"/>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Reading Tips</a:t>
            </a:r>
            <a:endParaRPr b="1"/>
          </a:p>
        </p:txBody>
      </p:sp>
      <p:sp>
        <p:nvSpPr>
          <p:cNvPr id="361" name="Google Shape;361;p30"/>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3000" b="1"/>
              <a:t>3) Activate prior knowledge</a:t>
            </a:r>
            <a:endParaRPr sz="3000" b="1"/>
          </a:p>
          <a:p>
            <a:pPr marL="0" lvl="0" indent="0" algn="l" rtl="0">
              <a:lnSpc>
                <a:spcPct val="115000"/>
              </a:lnSpc>
              <a:spcBef>
                <a:spcPts val="1200"/>
              </a:spcBef>
              <a:spcAft>
                <a:spcPts val="0"/>
              </a:spcAft>
              <a:buClr>
                <a:schemeClr val="dk1"/>
              </a:buClr>
              <a:buSzPts val="1100"/>
              <a:buFont typeface="Arial"/>
              <a:buNone/>
            </a:pPr>
            <a:r>
              <a:rPr lang="de-DE" sz="3000"/>
              <a:t>Scientists </a:t>
            </a:r>
            <a:r>
              <a:rPr lang="de-DE" sz="3000" i="1"/>
              <a:t>always </a:t>
            </a:r>
            <a:r>
              <a:rPr lang="de-DE" sz="3000"/>
              <a:t>connect their own statements with previously published ones.</a:t>
            </a:r>
            <a:br>
              <a:rPr lang="de-DE" sz="3000"/>
            </a:br>
            <a:endParaRPr sz="3000"/>
          </a:p>
          <a:p>
            <a:pPr marL="0" lvl="0" indent="0" algn="l" rtl="0">
              <a:lnSpc>
                <a:spcPct val="115000"/>
              </a:lnSpc>
              <a:spcBef>
                <a:spcPts val="1200"/>
              </a:spcBef>
              <a:spcAft>
                <a:spcPts val="0"/>
              </a:spcAft>
              <a:buClr>
                <a:schemeClr val="dk1"/>
              </a:buClr>
              <a:buSzPts val="1100"/>
              <a:buFont typeface="Arial"/>
              <a:buNone/>
            </a:pPr>
            <a:r>
              <a:rPr lang="de-DE" sz="3000"/>
              <a:t>Reading strategy:</a:t>
            </a:r>
            <a:endParaRPr sz="3000"/>
          </a:p>
          <a:p>
            <a:pPr marL="0" lvl="0" indent="457200" algn="l" rtl="0">
              <a:lnSpc>
                <a:spcPct val="115000"/>
              </a:lnSpc>
              <a:spcBef>
                <a:spcPts val="1200"/>
              </a:spcBef>
              <a:spcAft>
                <a:spcPts val="0"/>
              </a:spcAft>
              <a:buClr>
                <a:schemeClr val="dk1"/>
              </a:buClr>
              <a:buSzPts val="1100"/>
              <a:buFont typeface="Arial"/>
              <a:buNone/>
            </a:pPr>
            <a:r>
              <a:rPr lang="de-DE" sz="3000"/>
              <a:t>a) Identify who is “speaking” in the text and when:</a:t>
            </a:r>
            <a:endParaRPr sz="3000"/>
          </a:p>
          <a:p>
            <a:pPr marL="457200" lvl="0" indent="0" algn="l" rtl="0">
              <a:lnSpc>
                <a:spcPct val="115000"/>
              </a:lnSpc>
              <a:spcBef>
                <a:spcPts val="1200"/>
              </a:spcBef>
              <a:spcAft>
                <a:spcPts val="0"/>
              </a:spcAft>
              <a:buClr>
                <a:schemeClr val="dk1"/>
              </a:buClr>
              <a:buSzPts val="1100"/>
              <a:buFont typeface="Arial"/>
              <a:buNone/>
            </a:pPr>
            <a:r>
              <a:rPr lang="de-DE" sz="3000"/>
              <a:t>Where does the author present positions of others or refer from the literature? What does he “say” himself?</a:t>
            </a:r>
            <a:endParaRPr sz="3000"/>
          </a:p>
          <a:p>
            <a:pPr marL="0" lvl="0" indent="457200" algn="l" rtl="0">
              <a:lnSpc>
                <a:spcPct val="115000"/>
              </a:lnSpc>
              <a:spcBef>
                <a:spcPts val="1200"/>
              </a:spcBef>
              <a:spcAft>
                <a:spcPts val="0"/>
              </a:spcAft>
              <a:buClr>
                <a:schemeClr val="dk1"/>
              </a:buClr>
              <a:buSzPts val="1100"/>
              <a:buFont typeface="Arial"/>
              <a:buNone/>
            </a:pPr>
            <a:r>
              <a:rPr lang="de-DE" sz="3000" i="1"/>
              <a:t>Indicators</a:t>
            </a:r>
            <a:r>
              <a:rPr lang="de-DE" sz="3000"/>
              <a:t>: Where is the subjunctive mood used? Where is quoted/referenced?</a:t>
            </a:r>
            <a:endParaRPr sz="3000"/>
          </a:p>
          <a:p>
            <a:pPr marL="457200" lvl="0" indent="0" algn="l" rtl="0">
              <a:lnSpc>
                <a:spcPct val="115000"/>
              </a:lnSpc>
              <a:spcBef>
                <a:spcPts val="1200"/>
              </a:spcBef>
              <a:spcAft>
                <a:spcPts val="0"/>
              </a:spcAft>
              <a:buClr>
                <a:schemeClr val="dk1"/>
              </a:buClr>
              <a:buSzPts val="1100"/>
              <a:buFont typeface="Arial"/>
              <a:buNone/>
            </a:pPr>
            <a:r>
              <a:rPr lang="de-DE" sz="3000"/>
              <a:t>b) Determine what role the author assigns to the positions presented (see handout on citation). What is the author's intention? Formulates hypotheses.</a:t>
            </a:r>
            <a:endParaRPr sz="3000"/>
          </a:p>
          <a:p>
            <a:pPr marL="0" lvl="0" indent="457200" algn="l" rtl="0">
              <a:lnSpc>
                <a:spcPct val="115000"/>
              </a:lnSpc>
              <a:spcBef>
                <a:spcPts val="1200"/>
              </a:spcBef>
              <a:spcAft>
                <a:spcPts val="1200"/>
              </a:spcAft>
              <a:buNone/>
            </a:pPr>
            <a:r>
              <a:rPr lang="de-DE" sz="3000" i="1"/>
              <a:t>Indicators</a:t>
            </a:r>
            <a:r>
              <a:rPr lang="de-DE" sz="3000"/>
              <a:t>: Which verbs are used?</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1"/>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Reading Tips</a:t>
            </a:r>
            <a:endParaRPr b="1"/>
          </a:p>
        </p:txBody>
      </p:sp>
      <p:sp>
        <p:nvSpPr>
          <p:cNvPr id="368" name="Google Shape;368;p31"/>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3000" b="1"/>
              <a:t>4) Identify problems with comprehension</a:t>
            </a:r>
            <a:endParaRPr sz="3000" b="1"/>
          </a:p>
          <a:p>
            <a:pPr marL="0" lvl="0" indent="0" algn="l" rtl="0">
              <a:lnSpc>
                <a:spcPct val="115000"/>
              </a:lnSpc>
              <a:spcBef>
                <a:spcPts val="1200"/>
              </a:spcBef>
              <a:spcAft>
                <a:spcPts val="0"/>
              </a:spcAft>
              <a:buClr>
                <a:schemeClr val="dk1"/>
              </a:buClr>
              <a:buSzPts val="1100"/>
              <a:buFont typeface="Arial"/>
              <a:buNone/>
            </a:pPr>
            <a:r>
              <a:rPr lang="de-DE" sz="3000"/>
              <a:t>Reading strategy: Identify unknown technical terms/concepts/... </a:t>
            </a:r>
            <a:endParaRPr sz="3000"/>
          </a:p>
          <a:p>
            <a:pPr marL="457200" lvl="0" indent="-419100" algn="l" rtl="0">
              <a:lnSpc>
                <a:spcPct val="115000"/>
              </a:lnSpc>
              <a:spcBef>
                <a:spcPts val="1200"/>
              </a:spcBef>
              <a:spcAft>
                <a:spcPts val="0"/>
              </a:spcAft>
              <a:buSzPts val="3000"/>
              <a:buChar char="●"/>
            </a:pPr>
            <a:r>
              <a:rPr lang="de-DE" sz="3000"/>
              <a:t>Which ones are essential for your understanding?</a:t>
            </a:r>
            <a:endParaRPr sz="3000"/>
          </a:p>
          <a:p>
            <a:pPr marL="457200" lvl="0" indent="-419100" algn="l" rtl="0">
              <a:lnSpc>
                <a:spcPct val="115000"/>
              </a:lnSpc>
              <a:spcBef>
                <a:spcPts val="0"/>
              </a:spcBef>
              <a:spcAft>
                <a:spcPts val="0"/>
              </a:spcAft>
              <a:buSzPts val="3000"/>
              <a:buChar char="●"/>
            </a:pPr>
            <a:r>
              <a:rPr lang="de-DE" sz="3000"/>
              <a:t>Which ones can you figure out by yourself?</a:t>
            </a:r>
            <a:endParaRPr sz="3000"/>
          </a:p>
          <a:p>
            <a:pPr marL="457200" lvl="0" indent="-419100" algn="l" rtl="0">
              <a:lnSpc>
                <a:spcPct val="115000"/>
              </a:lnSpc>
              <a:spcBef>
                <a:spcPts val="0"/>
              </a:spcBef>
              <a:spcAft>
                <a:spcPts val="0"/>
              </a:spcAft>
              <a:buSzPts val="3000"/>
              <a:buChar char="●"/>
            </a:pPr>
            <a:r>
              <a:rPr lang="de-DE" sz="3000"/>
              <a:t>Which ones do you need to ask about in the seminar (because they are too complex for you to figure out yourself)?</a:t>
            </a:r>
            <a:br>
              <a:rPr lang="de-DE" sz="3000"/>
            </a:br>
            <a:endParaRPr sz="3000"/>
          </a:p>
          <a:p>
            <a:pPr marL="0" lvl="0" indent="0" algn="l" rtl="0">
              <a:lnSpc>
                <a:spcPct val="115000"/>
              </a:lnSpc>
              <a:spcBef>
                <a:spcPts val="1200"/>
              </a:spcBef>
              <a:spcAft>
                <a:spcPts val="0"/>
              </a:spcAft>
              <a:buClr>
                <a:schemeClr val="dk1"/>
              </a:buClr>
              <a:buSzPts val="1100"/>
              <a:buFont typeface="Arial"/>
              <a:buNone/>
            </a:pPr>
            <a:r>
              <a:rPr lang="de-DE" sz="3000" b="1"/>
              <a:t>5) Reconstruct the line of argumentation</a:t>
            </a:r>
            <a:endParaRPr sz="3000" b="1"/>
          </a:p>
          <a:p>
            <a:pPr marL="457200" lvl="0" indent="-419100" algn="l" rtl="0">
              <a:lnSpc>
                <a:spcPct val="115000"/>
              </a:lnSpc>
              <a:spcBef>
                <a:spcPts val="1200"/>
              </a:spcBef>
              <a:spcAft>
                <a:spcPts val="0"/>
              </a:spcAft>
              <a:buSzPts val="3000"/>
              <a:buChar char="●"/>
            </a:pPr>
            <a:r>
              <a:rPr lang="de-DE" sz="3000"/>
              <a:t>Where does the author start from?</a:t>
            </a:r>
            <a:endParaRPr sz="3000"/>
          </a:p>
          <a:p>
            <a:pPr marL="457200" lvl="0" indent="-419100" algn="l" rtl="0">
              <a:lnSpc>
                <a:spcPct val="115000"/>
              </a:lnSpc>
              <a:spcBef>
                <a:spcPts val="0"/>
              </a:spcBef>
              <a:spcAft>
                <a:spcPts val="0"/>
              </a:spcAft>
              <a:buSzPts val="3000"/>
              <a:buChar char="●"/>
            </a:pPr>
            <a:r>
              <a:rPr lang="de-DE" sz="3000"/>
              <a:t>What is his goal?</a:t>
            </a:r>
            <a:endParaRPr sz="3000"/>
          </a:p>
          <a:p>
            <a:pPr marL="457200" lvl="0" indent="-419100" algn="l" rtl="0">
              <a:lnSpc>
                <a:spcPct val="115000"/>
              </a:lnSpc>
              <a:spcBef>
                <a:spcPts val="0"/>
              </a:spcBef>
              <a:spcAft>
                <a:spcPts val="0"/>
              </a:spcAft>
              <a:buSzPts val="3000"/>
              <a:buChar char="●"/>
            </a:pPr>
            <a:r>
              <a:rPr lang="de-DE" sz="3000"/>
              <a:t>How does he achieve it?</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Reading Tips</a:t>
            </a:r>
            <a:endParaRPr b="1"/>
          </a:p>
        </p:txBody>
      </p:sp>
      <p:sp>
        <p:nvSpPr>
          <p:cNvPr id="375" name="Google Shape;375;p32"/>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de-DE" sz="3000" b="1"/>
              <a:t>6) Reflection</a:t>
            </a:r>
            <a:endParaRPr sz="3000" b="1"/>
          </a:p>
          <a:p>
            <a:pPr marL="0" lvl="0" indent="0" algn="l" rtl="0">
              <a:lnSpc>
                <a:spcPct val="115000"/>
              </a:lnSpc>
              <a:spcBef>
                <a:spcPts val="1200"/>
              </a:spcBef>
              <a:spcAft>
                <a:spcPts val="0"/>
              </a:spcAft>
              <a:buNone/>
            </a:pPr>
            <a:r>
              <a:rPr lang="de-DE" sz="3000"/>
              <a:t>Summarize:</a:t>
            </a:r>
            <a:endParaRPr sz="3000"/>
          </a:p>
          <a:p>
            <a:pPr marL="457200" lvl="0" indent="-419100" algn="l" rtl="0">
              <a:lnSpc>
                <a:spcPct val="115000"/>
              </a:lnSpc>
              <a:spcBef>
                <a:spcPts val="1200"/>
              </a:spcBef>
              <a:spcAft>
                <a:spcPts val="0"/>
              </a:spcAft>
              <a:buSzPts val="3000"/>
              <a:buChar char="●"/>
            </a:pPr>
            <a:r>
              <a:rPr lang="de-DE" sz="3000"/>
              <a:t>What do you take away?</a:t>
            </a:r>
            <a:endParaRPr sz="3000"/>
          </a:p>
          <a:p>
            <a:pPr marL="457200" lvl="0" indent="-419100" algn="l" rtl="0">
              <a:lnSpc>
                <a:spcPct val="115000"/>
              </a:lnSpc>
              <a:spcBef>
                <a:spcPts val="0"/>
              </a:spcBef>
              <a:spcAft>
                <a:spcPts val="0"/>
              </a:spcAft>
              <a:buSzPts val="3000"/>
              <a:buChar char="●"/>
            </a:pPr>
            <a:r>
              <a:rPr lang="de-DE" sz="3000"/>
              <a:t>What has been left unresolved?</a:t>
            </a:r>
            <a:endParaRPr sz="3000"/>
          </a:p>
          <a:p>
            <a:pPr marL="457200" lvl="0" indent="-419100" algn="l" rtl="0">
              <a:lnSpc>
                <a:spcPct val="115000"/>
              </a:lnSpc>
              <a:spcBef>
                <a:spcPts val="0"/>
              </a:spcBef>
              <a:spcAft>
                <a:spcPts val="0"/>
              </a:spcAft>
              <a:buSzPts val="3000"/>
              <a:buChar char="●"/>
            </a:pPr>
            <a:r>
              <a:rPr lang="de-DE" sz="3000"/>
              <a:t>What would you like to develop further?</a:t>
            </a:r>
            <a:br>
              <a:rPr lang="de-DE" sz="3000"/>
            </a:br>
            <a:endParaRPr sz="30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3"/>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English Academic Texts</a:t>
            </a:r>
            <a:endParaRPr b="1"/>
          </a:p>
        </p:txBody>
      </p:sp>
      <p:sp>
        <p:nvSpPr>
          <p:cNvPr id="382" name="Google Shape;382;p33"/>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de-DE" sz="3000"/>
              <a:t>The text by Miller and Walsh (2015) is a </a:t>
            </a:r>
            <a:r>
              <a:rPr lang="de-DE" sz="3000" b="1"/>
              <a:t>typical academic text in English </a:t>
            </a:r>
            <a:r>
              <a:rPr lang="de-DE" sz="3000"/>
              <a:t>and therefore another “text genre” that you will probably come across from time to time. There are also strategies for these types of texts with particularly promising results:</a:t>
            </a:r>
            <a:endParaRPr sz="3000"/>
          </a:p>
          <a:p>
            <a:pPr marL="457200" lvl="0" indent="-419100" algn="l" rtl="0">
              <a:lnSpc>
                <a:spcPct val="115000"/>
              </a:lnSpc>
              <a:spcBef>
                <a:spcPts val="1200"/>
              </a:spcBef>
              <a:spcAft>
                <a:spcPts val="0"/>
              </a:spcAft>
              <a:buSzPts val="3000"/>
              <a:buChar char="●"/>
            </a:pPr>
            <a:r>
              <a:rPr lang="de-DE" sz="3000"/>
              <a:t>Skimming</a:t>
            </a:r>
            <a:endParaRPr sz="3000"/>
          </a:p>
          <a:p>
            <a:pPr marL="457200" lvl="0" indent="-419100" algn="l" rtl="0">
              <a:lnSpc>
                <a:spcPct val="115000"/>
              </a:lnSpc>
              <a:spcBef>
                <a:spcPts val="0"/>
              </a:spcBef>
              <a:spcAft>
                <a:spcPts val="0"/>
              </a:spcAft>
              <a:buSzPts val="3000"/>
              <a:buChar char="●"/>
            </a:pPr>
            <a:r>
              <a:rPr lang="de-DE" sz="3000"/>
              <a:t>Close reading</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4"/>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sz="4850" b="1"/>
              <a:t>Strategies for English Texts</a:t>
            </a:r>
            <a:endParaRPr sz="4850" b="1"/>
          </a:p>
          <a:p>
            <a:pPr marL="0" lvl="0" indent="0" algn="l" rtl="0">
              <a:lnSpc>
                <a:spcPct val="90000"/>
              </a:lnSpc>
              <a:spcBef>
                <a:spcPts val="0"/>
              </a:spcBef>
              <a:spcAft>
                <a:spcPts val="0"/>
              </a:spcAft>
              <a:buClr>
                <a:schemeClr val="dk1"/>
              </a:buClr>
              <a:buSzPts val="4400"/>
              <a:buFont typeface="Arial"/>
              <a:buNone/>
            </a:pPr>
            <a:r>
              <a:rPr lang="de-DE" sz="2900"/>
              <a:t>(Miller and Walsh, 2015)</a:t>
            </a:r>
            <a:endParaRPr sz="2900"/>
          </a:p>
        </p:txBody>
      </p:sp>
      <p:sp>
        <p:nvSpPr>
          <p:cNvPr id="389" name="Google Shape;389;p34"/>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2100" b="1"/>
              <a:t>Reading strategy for group 1: Skimming</a:t>
            </a:r>
            <a:endParaRPr sz="2100" b="1"/>
          </a:p>
          <a:p>
            <a:pPr marL="0" lvl="0" indent="0" algn="l" rtl="0">
              <a:lnSpc>
                <a:spcPct val="115000"/>
              </a:lnSpc>
              <a:spcBef>
                <a:spcPts val="1200"/>
              </a:spcBef>
              <a:spcAft>
                <a:spcPts val="0"/>
              </a:spcAft>
              <a:buClr>
                <a:schemeClr val="dk1"/>
              </a:buClr>
              <a:buSzPts val="1100"/>
              <a:buFont typeface="Arial"/>
              <a:buNone/>
            </a:pPr>
            <a:r>
              <a:rPr lang="de-DE" sz="2100"/>
              <a:t>Using the PDF file or a printed copy of (Miller and Walsh, 2015), quickly read the section on </a:t>
            </a:r>
            <a:r>
              <a:rPr lang="de-DE" sz="2100" i="1"/>
              <a:t>Metadata </a:t>
            </a:r>
            <a:r>
              <a:rPr lang="de-DE" sz="2100"/>
              <a:t>in its entirety (pp.7-10). </a:t>
            </a:r>
            <a:r>
              <a:rPr lang="de-DE" sz="2100" b="1"/>
              <a:t>One option is to read only the first sentence of a paragraph (</a:t>
            </a:r>
            <a:r>
              <a:rPr lang="de-DE" sz="2100" b="1" i="1"/>
              <a:t>topic sentence</a:t>
            </a:r>
            <a:r>
              <a:rPr lang="de-DE" sz="2100" b="1"/>
              <a:t>).</a:t>
            </a:r>
            <a:endParaRPr sz="2100" b="1"/>
          </a:p>
          <a:p>
            <a:pPr marL="0" lvl="0" indent="0" algn="l" rtl="0">
              <a:lnSpc>
                <a:spcPct val="115000"/>
              </a:lnSpc>
              <a:spcBef>
                <a:spcPts val="1200"/>
              </a:spcBef>
              <a:spcAft>
                <a:spcPts val="0"/>
              </a:spcAft>
              <a:buClr>
                <a:schemeClr val="dk1"/>
              </a:buClr>
              <a:buSzPts val="1100"/>
              <a:buFont typeface="Arial"/>
              <a:buNone/>
            </a:pPr>
            <a:r>
              <a:rPr lang="de-DE" sz="2100" i="1"/>
              <a:t>(Note that this approach to reading texts only works if the academic text is written in English and has not been translated from another language)</a:t>
            </a:r>
            <a:br>
              <a:rPr lang="de-DE" sz="2100" i="1"/>
            </a:br>
            <a:endParaRPr sz="2100" i="1"/>
          </a:p>
          <a:p>
            <a:pPr marL="0" lvl="0" indent="0" algn="l" rtl="0">
              <a:lnSpc>
                <a:spcPct val="115000"/>
              </a:lnSpc>
              <a:spcBef>
                <a:spcPts val="1200"/>
              </a:spcBef>
              <a:spcAft>
                <a:spcPts val="0"/>
              </a:spcAft>
              <a:buClr>
                <a:schemeClr val="dk1"/>
              </a:buClr>
              <a:buSzPts val="1100"/>
              <a:buFont typeface="Arial"/>
              <a:buNone/>
            </a:pPr>
            <a:r>
              <a:rPr lang="de-DE" sz="2100" b="1"/>
              <a:t>Reading strategy for group 2: Close reading</a:t>
            </a:r>
            <a:endParaRPr sz="2100" b="1"/>
          </a:p>
          <a:p>
            <a:pPr marL="0" lvl="0" indent="0" algn="l" rtl="0">
              <a:lnSpc>
                <a:spcPct val="115000"/>
              </a:lnSpc>
              <a:spcBef>
                <a:spcPts val="1200"/>
              </a:spcBef>
              <a:spcAft>
                <a:spcPts val="0"/>
              </a:spcAft>
              <a:buClr>
                <a:schemeClr val="dk1"/>
              </a:buClr>
              <a:buSzPts val="1100"/>
              <a:buFont typeface="Arial"/>
              <a:buNone/>
            </a:pPr>
            <a:r>
              <a:rPr lang="de-DE" sz="2100"/>
              <a:t>Focus on the first three full paragraphs of the section on </a:t>
            </a:r>
            <a:r>
              <a:rPr lang="de-DE" sz="2100" i="1"/>
              <a:t>Metadata </a:t>
            </a:r>
            <a:r>
              <a:rPr lang="de-DE" sz="2100"/>
              <a:t>(p.7f) and </a:t>
            </a:r>
            <a:r>
              <a:rPr lang="de-DE" sz="2100" b="1"/>
              <a:t>read this part as carefully as your time allows</a:t>
            </a:r>
            <a:r>
              <a:rPr lang="de-DE" sz="2100"/>
              <a:t>. For example, you can,</a:t>
            </a:r>
            <a:endParaRPr sz="2100"/>
          </a:p>
          <a:p>
            <a:pPr marL="457200" lvl="0" indent="-361950" algn="l" rtl="0">
              <a:lnSpc>
                <a:spcPct val="115000"/>
              </a:lnSpc>
              <a:spcBef>
                <a:spcPts val="1200"/>
              </a:spcBef>
              <a:spcAft>
                <a:spcPts val="0"/>
              </a:spcAft>
              <a:buSzPts val="2100"/>
              <a:buChar char="●"/>
            </a:pPr>
            <a:r>
              <a:rPr lang="de-DE" sz="2100"/>
              <a:t>highlight, underline or circle key words and phrases</a:t>
            </a:r>
            <a:endParaRPr sz="2100"/>
          </a:p>
          <a:p>
            <a:pPr marL="457200" lvl="0" indent="-361950" algn="l" rtl="0">
              <a:lnSpc>
                <a:spcPct val="115000"/>
              </a:lnSpc>
              <a:spcBef>
                <a:spcPts val="0"/>
              </a:spcBef>
              <a:spcAft>
                <a:spcPts val="0"/>
              </a:spcAft>
              <a:buSzPts val="2100"/>
              <a:buChar char="●"/>
            </a:pPr>
            <a:r>
              <a:rPr lang="de-DE" sz="2100"/>
              <a:t>add comments, short summaries or questions</a:t>
            </a:r>
            <a:endParaRPr sz="2100"/>
          </a:p>
          <a:p>
            <a:pPr marL="457200" lvl="0" indent="-361950" algn="l" rtl="0">
              <a:lnSpc>
                <a:spcPct val="115000"/>
              </a:lnSpc>
              <a:spcBef>
                <a:spcPts val="0"/>
              </a:spcBef>
              <a:spcAft>
                <a:spcPts val="0"/>
              </a:spcAft>
              <a:buSzPts val="2100"/>
              <a:buChar char="●"/>
            </a:pPr>
            <a:r>
              <a:rPr lang="de-DE" sz="2100"/>
              <a:t>Paraphrase one or more paragraphs</a:t>
            </a:r>
            <a:endParaRPr sz="2100"/>
          </a:p>
          <a:p>
            <a:pPr marL="457200" lvl="0" indent="-361950" algn="l" rtl="0">
              <a:lnSpc>
                <a:spcPct val="115000"/>
              </a:lnSpc>
              <a:spcBef>
                <a:spcPts val="0"/>
              </a:spcBef>
              <a:spcAft>
                <a:spcPts val="0"/>
              </a:spcAft>
              <a:buSzPts val="2100"/>
              <a:buChar char="●"/>
            </a:pPr>
            <a:r>
              <a:rPr lang="de-DE" sz="2100"/>
              <a:t>take notes on a separate sheet of paper or in a new file</a:t>
            </a:r>
            <a:endParaRPr sz="2100"/>
          </a:p>
          <a:p>
            <a:pPr marL="0" lvl="0" indent="0" algn="l" rtl="0">
              <a:lnSpc>
                <a:spcPct val="115000"/>
              </a:lnSpc>
              <a:spcBef>
                <a:spcPts val="1200"/>
              </a:spcBef>
              <a:spcAft>
                <a:spcPts val="1200"/>
              </a:spcAft>
              <a:buNone/>
            </a:pPr>
            <a:r>
              <a:rPr lang="de-DE" sz="2100"/>
              <a:t>and so on</a:t>
            </a:r>
            <a:endParaRPr sz="21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5"/>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b="1"/>
              <a:t>Task: Trying Out Strategies</a:t>
            </a:r>
            <a:endParaRPr b="1"/>
          </a:p>
        </p:txBody>
      </p:sp>
      <p:sp>
        <p:nvSpPr>
          <p:cNvPr id="396" name="Google Shape;396;p35"/>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de-DE" sz="3000"/>
              <a:t>Take notes on what you think are the most important points of the section you have read, as well as any other observations you think are relevant.</a:t>
            </a:r>
            <a:endParaRPr sz="3000"/>
          </a:p>
          <a:p>
            <a:pPr marL="0" lvl="0" indent="0" algn="l" rtl="0">
              <a:lnSpc>
                <a:spcPct val="115000"/>
              </a:lnSpc>
              <a:spcBef>
                <a:spcPts val="1200"/>
              </a:spcBef>
              <a:spcAft>
                <a:spcPts val="0"/>
              </a:spcAft>
              <a:buNone/>
            </a:pPr>
            <a:r>
              <a:rPr lang="de-DE" sz="3000"/>
              <a:t>Try to get a rough idea of how the authors presented their ideas: Can you recognize a strategy or internal logic?</a:t>
            </a:r>
            <a:br>
              <a:rPr lang="de-DE" sz="3000"/>
            </a:br>
            <a:endParaRPr sz="3000"/>
          </a:p>
          <a:p>
            <a:pPr marL="0" lvl="0" indent="0" algn="l" rtl="0">
              <a:lnSpc>
                <a:spcPct val="115000"/>
              </a:lnSpc>
              <a:spcBef>
                <a:spcPts val="1200"/>
              </a:spcBef>
              <a:spcAft>
                <a:spcPts val="0"/>
              </a:spcAft>
              <a:buNone/>
            </a:pPr>
            <a:r>
              <a:rPr lang="de-DE" sz="3000" b="1"/>
              <a:t>Then discuss in the plenary:</a:t>
            </a:r>
            <a:endParaRPr sz="3000" b="1"/>
          </a:p>
          <a:p>
            <a:pPr marL="457200" lvl="0" indent="-298450" algn="l" rtl="0">
              <a:lnSpc>
                <a:spcPct val="115000"/>
              </a:lnSpc>
              <a:spcBef>
                <a:spcPts val="1200"/>
              </a:spcBef>
              <a:spcAft>
                <a:spcPts val="0"/>
              </a:spcAft>
              <a:buSzPts val="1100"/>
              <a:buChar char="●"/>
            </a:pPr>
            <a:r>
              <a:rPr lang="de-DE" sz="3000"/>
              <a:t>Did both groups grasp or perceive the text differently?</a:t>
            </a:r>
            <a:endParaRPr sz="3000"/>
          </a:p>
          <a:p>
            <a:pPr marL="457200" lvl="0" indent="-298450" algn="l" rtl="0">
              <a:lnSpc>
                <a:spcPct val="115000"/>
              </a:lnSpc>
              <a:spcBef>
                <a:spcPts val="0"/>
              </a:spcBef>
              <a:spcAft>
                <a:spcPts val="0"/>
              </a:spcAft>
              <a:buSzPts val="1100"/>
              <a:buChar char="●"/>
            </a:pPr>
            <a:r>
              <a:rPr lang="de-DE" sz="3000"/>
              <a:t>To what extent do you think this could influence how you can use what you have read for your portfolio, for example?</a:t>
            </a:r>
            <a:br>
              <a:rPr lang="de-DE" sz="3000"/>
            </a:br>
            <a:endParaRPr sz="3000"/>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2F7CB0-7087-4D8B-BF88-B52820F235C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45BFFF6-D3CB-4A27-949D-87618FE7FA87}">
  <ds:schemaRefs>
    <ds:schemaRef ds:uri="http://schemas.microsoft.com/sharepoint/v3/contenttype/forms"/>
  </ds:schemaRefs>
</ds:datastoreItem>
</file>

<file path=customXml/itemProps3.xml><?xml version="1.0" encoding="utf-8"?>
<ds:datastoreItem xmlns:ds="http://schemas.openxmlformats.org/officeDocument/2006/customXml" ds:itemID="{1F5BDB7E-DC8C-4FC6-AB0C-FA88F559CF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1188</Words>
  <Application>Microsoft Office PowerPoint</Application>
  <PresentationFormat>Benutzerdefiniert</PresentationFormat>
  <Paragraphs>140</Paragraphs>
  <Slides>15</Slides>
  <Notes>15</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15</vt:i4>
      </vt:variant>
    </vt:vector>
  </HeadingPairs>
  <TitlesOfParts>
    <vt:vector size="17" baseType="lpstr">
      <vt:lpstr>Arial</vt:lpstr>
      <vt:lpstr>Benutzerdefiniertes Design</vt:lpstr>
      <vt:lpstr>Scientific Reading |Part 2 Tools and Techniques</vt:lpstr>
      <vt:lpstr>Dealing with Academic Texts</vt:lpstr>
      <vt:lpstr>(Pre)Reading Strategies and Techniques</vt:lpstr>
      <vt:lpstr>Application: Testing the Tools</vt:lpstr>
      <vt:lpstr>Reading Time</vt:lpstr>
      <vt:lpstr>Discuss Experience with a Partner</vt:lpstr>
      <vt:lpstr>Plenary</vt:lpstr>
      <vt:lpstr>Reading Tips</vt:lpstr>
      <vt:lpstr>Reading Tips</vt:lpstr>
      <vt:lpstr>Reading Tips</vt:lpstr>
      <vt:lpstr>Reading Tips</vt:lpstr>
      <vt:lpstr>Reading Tips</vt:lpstr>
      <vt:lpstr>English Academic Texts</vt:lpstr>
      <vt:lpstr>Strategies for English Texts (Miller and Walsh, 2015)</vt:lpstr>
      <vt:lpstr>Task: Trying Out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Felix Soltau</cp:lastModifiedBy>
  <cp:revision>1</cp:revision>
  <dcterms:modified xsi:type="dcterms:W3CDTF">2026-06-22T20:36:44Z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