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8" Type="http://schemas.openxmlformats.org/officeDocument/2006/relationships/slide" Target="slides/slide3.xml"/><Relationship Id="rId18" Type="http://schemas.openxmlformats.org/officeDocument/2006/relationships/customXml" Target="../customXml/item1.xml"/><Relationship Id="rId3" Type="http://schemas.openxmlformats.org/officeDocument/2006/relationships/presProps" Target="presProps.xml"/><Relationship Id="rId12" Type="http://schemas.openxmlformats.org/officeDocument/2006/relationships/slide" Target="slides/slide7.xml"/><Relationship Id="rId17" Type="http://schemas.openxmlformats.org/officeDocument/2006/relationships/slide" Target="slides/slide12.xml"/><Relationship Id="rId7" Type="http://schemas.openxmlformats.org/officeDocument/2006/relationships/slide" Target="slides/slide2.xml"/><Relationship Id="rId2" Type="http://schemas.openxmlformats.org/officeDocument/2006/relationships/viewProps" Target="viewProps.xml"/><Relationship Id="rId16" Type="http://schemas.openxmlformats.org/officeDocument/2006/relationships/slide" Target="slides/slide11.xml"/><Relationship Id="rId20" Type="http://schemas.openxmlformats.org/officeDocument/2006/relationships/customXml" Target="../customXml/item3.xml"/><Relationship Id="rId11" Type="http://schemas.openxmlformats.org/officeDocument/2006/relationships/slide" Target="slides/slide6.xml"/><Relationship Id="rId1" Type="http://schemas.openxmlformats.org/officeDocument/2006/relationships/theme" Target="theme/theme2.xml"/><Relationship Id="rId6" Type="http://schemas.openxmlformats.org/officeDocument/2006/relationships/slide" Target="slides/slide1.xml"/><Relationship Id="rId15" Type="http://schemas.openxmlformats.org/officeDocument/2006/relationships/slide" Target="slides/slide10.xml"/><Relationship Id="rId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customXml" Target="../customXml/item2.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de-DE"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3728f1013c6e98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33728f1013c6e98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g33728f1013c6e98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3728f1013c6e981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33728f1013c6e981_1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33728f1013c6e981_1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3728f1013c6e981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3728f1013c6e981_2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3728f1013c6e981_2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3728f1013c6e981_4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3728f1013c6e981_4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33728f1013c6e981_4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3728f1013c6e981_5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3728f1013c6e981_5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g33728f1013c6e981_5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3728f1013c6e981_7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33728f1013c6e981_7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33728f1013c6e981_7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3728f1013c6e981_7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33728f1013c6e981_7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g33728f1013c6e981_7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3728f1013c6e981_7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3728f1013c6e981_7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33728f1013c6e981_7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3728f1013c6e981_7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33728f1013c6e981_7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33728f1013c6e981_7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3728f1013c6e981_9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33728f1013c6e981_9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Diese Folie kann in die Präsentation eingefügt werden, falls an einer bestimmten Stelle eine Pause gemacht werden soll.</a:t>
            </a:r>
            <a:endParaRPr/>
          </a:p>
        </p:txBody>
      </p:sp>
      <p:sp>
        <p:nvSpPr>
          <p:cNvPr id="215" name="Google Shape;215;g33728f1013c6e981_9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fb542c6eed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2fb542c6eed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de-DE"/>
              <a:t>This slide can be inserted at the beginning in case you want to do a short warm-up exercise</a:t>
            </a:r>
            <a:endParaRPr/>
          </a:p>
        </p:txBody>
      </p:sp>
      <p:sp>
        <p:nvSpPr>
          <p:cNvPr id="221" name="Google Shape;221;g2fb542c6eed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3728f1013c6e981_10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3728f1013c6e981_10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Diese Folie kann an einer Stelle in die Präsentation eingefügt werden an der ein kurzes Spiel gespielt wird oder es eine andere Art von Energizer gibt.</a:t>
            </a:r>
            <a:endParaRPr/>
          </a:p>
        </p:txBody>
      </p:sp>
      <p:sp>
        <p:nvSpPr>
          <p:cNvPr id="227" name="Google Shape;227;g33728f1013c6e981_10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0.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10.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10.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10.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10.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10.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13" name="Shape 13"/>
        <p:cNvGrpSpPr/>
        <p:nvPr/>
      </p:nvGrpSpPr>
      <p:grpSpPr>
        <a:xfrm>
          <a:off x="0" y="0"/>
          <a:ext cx="0" cy="0"/>
          <a:chOff x="0" y="0"/>
          <a:chExt cx="0" cy="0"/>
        </a:xfrm>
      </p:grpSpPr>
      <p:sp>
        <p:nvSpPr>
          <p:cNvPr id="14" name="Google Shape;14;p2"/>
          <p:cNvSpPr/>
          <p:nvPr/>
        </p:nvSpPr>
        <p:spPr>
          <a:xfrm rot="-2487859">
            <a:off x="1848993" y="-392157"/>
            <a:ext cx="2100921" cy="2020412"/>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 name="Google Shape;15;p2"/>
          <p:cNvSpPr/>
          <p:nvPr/>
        </p:nvSpPr>
        <p:spPr>
          <a:xfrm>
            <a:off x="351158" y="5589207"/>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 name="Google Shape;16;p2"/>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 name="Google Shape;17;p2"/>
          <p:cNvSpPr/>
          <p:nvPr/>
        </p:nvSpPr>
        <p:spPr>
          <a:xfrm>
            <a:off x="-817599" y="-741417"/>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 name="Google Shape;18;p2"/>
          <p:cNvSpPr/>
          <p:nvPr/>
        </p:nvSpPr>
        <p:spPr>
          <a:xfrm rot="-5591590">
            <a:off x="15358696" y="2451781"/>
            <a:ext cx="2347587" cy="2305392"/>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 name="Google Shape;19;p2"/>
          <p:cNvSpPr/>
          <p:nvPr/>
        </p:nvSpPr>
        <p:spPr>
          <a:xfrm rot="7860677">
            <a:off x="702797" y="5736336"/>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 name="Google Shape;20;p2"/>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 name="Google Shape;21;p2"/>
          <p:cNvSpPr/>
          <p:nvPr/>
        </p:nvSpPr>
        <p:spPr>
          <a:xfrm rot="-458312">
            <a:off x="15741562" y="989320"/>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 name="Google Shape;22;p2"/>
          <p:cNvSpPr/>
          <p:nvPr/>
        </p:nvSpPr>
        <p:spPr>
          <a:xfrm rot="1296289">
            <a:off x="14830585" y="-257242"/>
            <a:ext cx="2531996" cy="2154648"/>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 name="Google Shape;23;p2"/>
          <p:cNvSpPr/>
          <p:nvPr/>
        </p:nvSpPr>
        <p:spPr>
          <a:xfrm rot="-2487859">
            <a:off x="17027787" y="4966511"/>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 name="Google Shape;24;p2"/>
          <p:cNvSpPr/>
          <p:nvPr/>
        </p:nvSpPr>
        <p:spPr>
          <a:xfrm rot="1296289">
            <a:off x="619918" y="6991212"/>
            <a:ext cx="3294095" cy="2754079"/>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 name="Google Shape;25;p2"/>
          <p:cNvSpPr/>
          <p:nvPr/>
        </p:nvSpPr>
        <p:spPr>
          <a:xfrm rot="2046247">
            <a:off x="16212870" y="1083509"/>
            <a:ext cx="2213171" cy="2273738"/>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 name="Google Shape;26;p2"/>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type="title">
  <p:cSld name="TITLE">
    <p:spTree>
      <p:nvGrpSpPr>
        <p:cNvPr id="27" name="Shape 27"/>
        <p:cNvGrpSpPr/>
        <p:nvPr/>
      </p:nvGrpSpPr>
      <p:grpSpPr>
        <a:xfrm>
          <a:off x="0" y="0"/>
          <a:ext cx="0" cy="0"/>
          <a:chOff x="0" y="0"/>
          <a:chExt cx="0" cy="0"/>
        </a:xfrm>
      </p:grpSpPr>
      <p:sp>
        <p:nvSpPr>
          <p:cNvPr id="28" name="Google Shape;28;p3"/>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
          <p:cNvSpPr txBox="1"/>
          <p:nvPr>
            <p:ph idx="1" type="subTitle"/>
          </p:nvPr>
        </p:nvSpPr>
        <p:spPr>
          <a:xfrm>
            <a:off x="2205643" y="6130279"/>
            <a:ext cx="13716000" cy="248285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0" name="Google Shape;30;p3"/>
          <p:cNvSpPr/>
          <p:nvPr/>
        </p:nvSpPr>
        <p:spPr>
          <a:xfrm>
            <a:off x="-1263092" y="4204093"/>
            <a:ext cx="2499164" cy="5514763"/>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1" name="Google Shape;31;p3"/>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2" name="Google Shape;32;p3"/>
          <p:cNvSpPr/>
          <p:nvPr/>
        </p:nvSpPr>
        <p:spPr>
          <a:xfrm>
            <a:off x="15433702" y="7133471"/>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3" name="Google Shape;33;p3"/>
          <p:cNvSpPr/>
          <p:nvPr/>
        </p:nvSpPr>
        <p:spPr>
          <a:xfrm>
            <a:off x="-241193" y="146185"/>
            <a:ext cx="2813227" cy="2781862"/>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4" name="Google Shape;34;p3"/>
          <p:cNvSpPr/>
          <p:nvPr/>
        </p:nvSpPr>
        <p:spPr>
          <a:xfrm rot="7860677">
            <a:off x="63301" y="315707"/>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5" name="Google Shape;35;p3"/>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6" name="Google Shape;36;p3"/>
          <p:cNvSpPr/>
          <p:nvPr/>
        </p:nvSpPr>
        <p:spPr>
          <a:xfrm rot="-458312">
            <a:off x="16269322" y="-478677"/>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7" name="Google Shape;37;p3"/>
          <p:cNvSpPr/>
          <p:nvPr/>
        </p:nvSpPr>
        <p:spPr>
          <a:xfrm rot="1296289">
            <a:off x="16320004" y="1512598"/>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8" name="Google Shape;38;p3"/>
          <p:cNvSpPr/>
          <p:nvPr/>
        </p:nvSpPr>
        <p:spPr>
          <a:xfrm rot="-2487859">
            <a:off x="1794946" y="-277491"/>
            <a:ext cx="2161751" cy="1802118"/>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9" name="Google Shape;39;p3"/>
          <p:cNvSpPr/>
          <p:nvPr/>
        </p:nvSpPr>
        <p:spPr>
          <a:xfrm rot="1296289">
            <a:off x="-369759" y="7879792"/>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0" name="Google Shape;40;p3"/>
          <p:cNvSpPr/>
          <p:nvPr/>
        </p:nvSpPr>
        <p:spPr>
          <a:xfrm rot="7628195">
            <a:off x="15300850" y="559721"/>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type="obj">
  <p:cSld name="OBJECT">
    <p:spTree>
      <p:nvGrpSpPr>
        <p:cNvPr id="41" name="Shape 41"/>
        <p:cNvGrpSpPr/>
        <p:nvPr/>
      </p:nvGrpSpPr>
      <p:grpSpPr>
        <a:xfrm>
          <a:off x="0" y="0"/>
          <a:ext cx="0" cy="0"/>
          <a:chOff x="0" y="0"/>
          <a:chExt cx="0" cy="0"/>
        </a:xfrm>
      </p:grpSpPr>
      <p:sp>
        <p:nvSpPr>
          <p:cNvPr id="42" name="Google Shape;42;p4"/>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4"/>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
          <p:cNvSpPr/>
          <p:nvPr/>
        </p:nvSpPr>
        <p:spPr>
          <a:xfrm>
            <a:off x="-806140" y="-803735"/>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5" name="Google Shape;45;p4"/>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6" name="Google Shape;46;p4"/>
          <p:cNvSpPr/>
          <p:nvPr/>
        </p:nvSpPr>
        <p:spPr>
          <a:xfrm>
            <a:off x="15433702" y="7133471"/>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7" name="Google Shape;47;p4"/>
          <p:cNvSpPr/>
          <p:nvPr/>
        </p:nvSpPr>
        <p:spPr>
          <a:xfrm>
            <a:off x="-241193" y="146185"/>
            <a:ext cx="2085371" cy="2032289"/>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8" name="Google Shape;48;p4"/>
          <p:cNvSpPr/>
          <p:nvPr/>
        </p:nvSpPr>
        <p:spPr>
          <a:xfrm rot="7860677">
            <a:off x="668732" y="930928"/>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9" name="Google Shape;49;p4"/>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0" name="Google Shape;50;p4"/>
          <p:cNvSpPr/>
          <p:nvPr/>
        </p:nvSpPr>
        <p:spPr>
          <a:xfrm rot="-458312">
            <a:off x="16771767" y="216258"/>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1" name="Google Shape;51;p4"/>
          <p:cNvSpPr/>
          <p:nvPr/>
        </p:nvSpPr>
        <p:spPr>
          <a:xfrm rot="1296289">
            <a:off x="15646620" y="-376703"/>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2" name="Google Shape;52;p4"/>
          <p:cNvSpPr/>
          <p:nvPr/>
        </p:nvSpPr>
        <p:spPr>
          <a:xfrm rot="2310651">
            <a:off x="-811537" y="3739758"/>
            <a:ext cx="2509961" cy="20955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3" name="Google Shape;53;p4"/>
          <p:cNvSpPr/>
          <p:nvPr/>
        </p:nvSpPr>
        <p:spPr>
          <a:xfrm rot="7628195">
            <a:off x="17318415" y="2283638"/>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4" name="Google Shape;54;p4"/>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schnitts-&#10;überschrift" type="secHead">
  <p:cSld name="SECTION_HEADER">
    <p:spTree>
      <p:nvGrpSpPr>
        <p:cNvPr id="55" name="Shape 55"/>
        <p:cNvGrpSpPr/>
        <p:nvPr/>
      </p:nvGrpSpPr>
      <p:grpSpPr>
        <a:xfrm>
          <a:off x="0" y="0"/>
          <a:ext cx="0" cy="0"/>
          <a:chOff x="0" y="0"/>
          <a:chExt cx="0" cy="0"/>
        </a:xfrm>
      </p:grpSpPr>
      <p:sp>
        <p:nvSpPr>
          <p:cNvPr id="56" name="Google Shape;56;p5"/>
          <p:cNvSpPr txBox="1"/>
          <p:nvPr>
            <p:ph type="title"/>
          </p:nvPr>
        </p:nvSpPr>
        <p:spPr>
          <a:xfrm>
            <a:off x="1906800" y="2171700"/>
            <a:ext cx="14400000" cy="3955611"/>
          </a:xfrm>
          <a:prstGeom prst="rect">
            <a:avLst/>
          </a:prstGeom>
          <a:noFill/>
          <a:ln>
            <a:noFill/>
          </a:ln>
        </p:spPr>
        <p:txBody>
          <a:bodyPr anchorCtr="0" anchor="b" bIns="45700" lIns="90000"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5"/>
          <p:cNvSpPr txBox="1"/>
          <p:nvPr>
            <p:ph idx="1" type="body"/>
          </p:nvPr>
        </p:nvSpPr>
        <p:spPr>
          <a:xfrm>
            <a:off x="1906800" y="6491289"/>
            <a:ext cx="14400000" cy="2079814"/>
          </a:xfrm>
          <a:prstGeom prst="rect">
            <a:avLst/>
          </a:prstGeom>
          <a:noFill/>
          <a:ln>
            <a:noFill/>
          </a:ln>
        </p:spPr>
        <p:txBody>
          <a:bodyPr anchorCtr="0" anchor="t" bIns="45700" lIns="90000"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58" name="Google Shape;58;p5"/>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9" name="Google Shape;59;p5"/>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0" name="Google Shape;60;p5"/>
          <p:cNvSpPr/>
          <p:nvPr/>
        </p:nvSpPr>
        <p:spPr>
          <a:xfrm>
            <a:off x="15433702" y="7133471"/>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1" name="Google Shape;61;p5"/>
          <p:cNvSpPr/>
          <p:nvPr/>
        </p:nvSpPr>
        <p:spPr>
          <a:xfrm>
            <a:off x="-844430" y="-193109"/>
            <a:ext cx="2311228" cy="2962220"/>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2" name="Google Shape;62;p5"/>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3" name="Google Shape;63;p5"/>
          <p:cNvSpPr/>
          <p:nvPr/>
        </p:nvSpPr>
        <p:spPr>
          <a:xfrm rot="-458312">
            <a:off x="16209917" y="184642"/>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4" name="Google Shape;64;p5"/>
          <p:cNvSpPr/>
          <p:nvPr/>
        </p:nvSpPr>
        <p:spPr>
          <a:xfrm rot="1296289">
            <a:off x="15248400" y="253720"/>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5" name="Google Shape;65;p5"/>
          <p:cNvSpPr/>
          <p:nvPr/>
        </p:nvSpPr>
        <p:spPr>
          <a:xfrm rot="-2487859">
            <a:off x="1040125" y="-83341"/>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6" name="Google Shape;66;p5"/>
          <p:cNvSpPr/>
          <p:nvPr/>
        </p:nvSpPr>
        <p:spPr>
          <a:xfrm rot="1296289">
            <a:off x="554481" y="8677791"/>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7" name="Google Shape;67;p5"/>
          <p:cNvSpPr/>
          <p:nvPr/>
        </p:nvSpPr>
        <p:spPr>
          <a:xfrm rot="7628195">
            <a:off x="15096766" y="-48757"/>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8" name="Google Shape;68;p5"/>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9" name="Google Shape;69;p5"/>
          <p:cNvSpPr/>
          <p:nvPr/>
        </p:nvSpPr>
        <p:spPr>
          <a:xfrm rot="7860677">
            <a:off x="668732" y="930928"/>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type="twoObj">
  <p:cSld name="TWO_OBJECTS">
    <p:spTree>
      <p:nvGrpSpPr>
        <p:cNvPr id="70" name="Shape 70"/>
        <p:cNvGrpSpPr/>
        <p:nvPr/>
      </p:nvGrpSpPr>
      <p:grpSpPr>
        <a:xfrm>
          <a:off x="0" y="0"/>
          <a:ext cx="0" cy="0"/>
          <a:chOff x="0" y="0"/>
          <a:chExt cx="0" cy="0"/>
        </a:xfrm>
      </p:grpSpPr>
      <p:sp>
        <p:nvSpPr>
          <p:cNvPr id="71" name="Google Shape;71;p6"/>
          <p:cNvSpPr txBox="1"/>
          <p:nvPr>
            <p:ph type="title"/>
          </p:nvPr>
        </p:nvSpPr>
        <p:spPr>
          <a:xfrm>
            <a:off x="1944000" y="1366765"/>
            <a:ext cx="14400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6"/>
          <p:cNvSpPr txBox="1"/>
          <p:nvPr>
            <p:ph idx="1" type="body"/>
          </p:nvPr>
        </p:nvSpPr>
        <p:spPr>
          <a:xfrm>
            <a:off x="1944000" y="2738437"/>
            <a:ext cx="7123800" cy="6527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6"/>
          <p:cNvSpPr txBox="1"/>
          <p:nvPr>
            <p:ph idx="2" type="body"/>
          </p:nvPr>
        </p:nvSpPr>
        <p:spPr>
          <a:xfrm>
            <a:off x="9220200" y="2738437"/>
            <a:ext cx="7123800" cy="6527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6"/>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5" name="Google Shape;75;p6"/>
          <p:cNvSpPr/>
          <p:nvPr/>
        </p:nvSpPr>
        <p:spPr>
          <a:xfrm>
            <a:off x="-241193" y="146185"/>
            <a:ext cx="2085371" cy="2032289"/>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6" name="Google Shape;76;p6"/>
          <p:cNvSpPr/>
          <p:nvPr/>
        </p:nvSpPr>
        <p:spPr>
          <a:xfrm rot="7860677">
            <a:off x="668732" y="930928"/>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7" name="Google Shape;77;p6"/>
          <p:cNvSpPr/>
          <p:nvPr/>
        </p:nvSpPr>
        <p:spPr>
          <a:xfrm rot="-2487859">
            <a:off x="1653257" y="-539706"/>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8" name="Google Shape;78;p6"/>
          <p:cNvSpPr/>
          <p:nvPr/>
        </p:nvSpPr>
        <p:spPr>
          <a:xfrm rot="1296289">
            <a:off x="-407556" y="8504231"/>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9" name="Google Shape;79;p6"/>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0" name="Google Shape;80;p6"/>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1" name="Google Shape;81;p6"/>
          <p:cNvSpPr/>
          <p:nvPr/>
        </p:nvSpPr>
        <p:spPr>
          <a:xfrm rot="-5591590">
            <a:off x="16401541" y="714471"/>
            <a:ext cx="2347587" cy="2305392"/>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2" name="Google Shape;82;p6"/>
          <p:cNvSpPr/>
          <p:nvPr/>
        </p:nvSpPr>
        <p:spPr>
          <a:xfrm rot="7860677">
            <a:off x="16917043" y="6687679"/>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3" name="Google Shape;83;p6"/>
          <p:cNvSpPr/>
          <p:nvPr/>
        </p:nvSpPr>
        <p:spPr>
          <a:xfrm rot="1296289">
            <a:off x="15384349" y="-545919"/>
            <a:ext cx="2531996" cy="2154648"/>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4" name="Google Shape;84;p6"/>
          <p:cNvSpPr/>
          <p:nvPr/>
        </p:nvSpPr>
        <p:spPr>
          <a:xfrm rot="-2487859">
            <a:off x="16952453" y="4767483"/>
            <a:ext cx="2033723" cy="1619753"/>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5" name="Google Shape;85;p6"/>
          <p:cNvSpPr/>
          <p:nvPr/>
        </p:nvSpPr>
        <p:spPr>
          <a:xfrm rot="2046247">
            <a:off x="17723193" y="-357480"/>
            <a:ext cx="1707091" cy="1936262"/>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gleich" type="twoTxTwoObj">
  <p:cSld name="TWO_OBJECTS_WITH_TEXT">
    <p:spTree>
      <p:nvGrpSpPr>
        <p:cNvPr id="86" name="Shape 86"/>
        <p:cNvGrpSpPr/>
        <p:nvPr/>
      </p:nvGrpSpPr>
      <p:grpSpPr>
        <a:xfrm>
          <a:off x="0" y="0"/>
          <a:ext cx="0" cy="0"/>
          <a:chOff x="0" y="0"/>
          <a:chExt cx="0" cy="0"/>
        </a:xfrm>
      </p:grpSpPr>
      <p:sp>
        <p:nvSpPr>
          <p:cNvPr id="87" name="Google Shape;87;p7"/>
          <p:cNvSpPr txBox="1"/>
          <p:nvPr>
            <p:ph type="title"/>
          </p:nvPr>
        </p:nvSpPr>
        <p:spPr>
          <a:xfrm>
            <a:off x="1944000" y="1174623"/>
            <a:ext cx="14400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7"/>
          <p:cNvSpPr txBox="1"/>
          <p:nvPr>
            <p:ph idx="1" type="body"/>
          </p:nvPr>
        </p:nvSpPr>
        <p:spPr>
          <a:xfrm>
            <a:off x="1944000" y="2522538"/>
            <a:ext cx="7052362" cy="123507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9" name="Google Shape;89;p7"/>
          <p:cNvSpPr txBox="1"/>
          <p:nvPr>
            <p:ph idx="2" type="body"/>
          </p:nvPr>
        </p:nvSpPr>
        <p:spPr>
          <a:xfrm>
            <a:off x="1944000" y="3757613"/>
            <a:ext cx="7052362" cy="552767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7"/>
          <p:cNvSpPr txBox="1"/>
          <p:nvPr>
            <p:ph idx="3" type="body"/>
          </p:nvPr>
        </p:nvSpPr>
        <p:spPr>
          <a:xfrm>
            <a:off x="9258301" y="2522538"/>
            <a:ext cx="7085700" cy="123507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1" name="Google Shape;91;p7"/>
          <p:cNvSpPr txBox="1"/>
          <p:nvPr>
            <p:ph idx="4" type="body"/>
          </p:nvPr>
        </p:nvSpPr>
        <p:spPr>
          <a:xfrm>
            <a:off x="9258301" y="3757613"/>
            <a:ext cx="7085700" cy="552767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7"/>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3" name="Google Shape;93;p7"/>
          <p:cNvSpPr/>
          <p:nvPr/>
        </p:nvSpPr>
        <p:spPr>
          <a:xfrm>
            <a:off x="16605940" y="6291738"/>
            <a:ext cx="3505909" cy="341666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4" name="Google Shape;94;p7"/>
          <p:cNvSpPr/>
          <p:nvPr/>
        </p:nvSpPr>
        <p:spPr>
          <a:xfrm rot="7860677">
            <a:off x="16672693" y="5865697"/>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5" name="Google Shape;95;p7"/>
          <p:cNvSpPr/>
          <p:nvPr/>
        </p:nvSpPr>
        <p:spPr>
          <a:xfrm rot="-458312">
            <a:off x="16710104" y="1053145"/>
            <a:ext cx="3155791" cy="3023821"/>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6" name="Google Shape;96;p7"/>
          <p:cNvSpPr/>
          <p:nvPr/>
        </p:nvSpPr>
        <p:spPr>
          <a:xfrm rot="1296289">
            <a:off x="15390336" y="-527401"/>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7" name="Google Shape;97;p7"/>
          <p:cNvSpPr/>
          <p:nvPr/>
        </p:nvSpPr>
        <p:spPr>
          <a:xfrm rot="7628195">
            <a:off x="17157286" y="1319324"/>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8" name="Google Shape;98;p7"/>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99" name="Google Shape;99;p7"/>
          <p:cNvSpPr/>
          <p:nvPr/>
        </p:nvSpPr>
        <p:spPr>
          <a:xfrm>
            <a:off x="-1249582" y="4137531"/>
            <a:ext cx="2499164" cy="5514763"/>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0" name="Google Shape;100;p7"/>
          <p:cNvSpPr/>
          <p:nvPr/>
        </p:nvSpPr>
        <p:spPr>
          <a:xfrm rot="1296289">
            <a:off x="-369759" y="7879792"/>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1" name="Google Shape;101;p7"/>
          <p:cNvSpPr/>
          <p:nvPr/>
        </p:nvSpPr>
        <p:spPr>
          <a:xfrm rot="7860677">
            <a:off x="-755376" y="4673141"/>
            <a:ext cx="1600955" cy="1645696"/>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2" name="Google Shape;102;p7"/>
          <p:cNvSpPr/>
          <p:nvPr/>
        </p:nvSpPr>
        <p:spPr>
          <a:xfrm rot="-2487859">
            <a:off x="754582" y="-207773"/>
            <a:ext cx="1882775" cy="1684956"/>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3" name="Google Shape;103;p7"/>
          <p:cNvSpPr/>
          <p:nvPr/>
        </p:nvSpPr>
        <p:spPr>
          <a:xfrm>
            <a:off x="-613526" y="-932654"/>
            <a:ext cx="2609805" cy="2593397"/>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type="titleOnly">
  <p:cSld name="TITLE_ONLY">
    <p:spTree>
      <p:nvGrpSpPr>
        <p:cNvPr id="104" name="Shape 104"/>
        <p:cNvGrpSpPr/>
        <p:nvPr/>
      </p:nvGrpSpPr>
      <p:grpSpPr>
        <a:xfrm>
          <a:off x="0" y="0"/>
          <a:ext cx="0" cy="0"/>
          <a:chOff x="0" y="0"/>
          <a:chExt cx="0" cy="0"/>
        </a:xfrm>
      </p:grpSpPr>
      <p:sp>
        <p:nvSpPr>
          <p:cNvPr id="105" name="Google Shape;105;p8"/>
          <p:cNvSpPr txBox="1"/>
          <p:nvPr>
            <p:ph type="title"/>
          </p:nvPr>
        </p:nvSpPr>
        <p:spPr>
          <a:xfrm>
            <a:off x="1944000" y="1322140"/>
            <a:ext cx="14400000" cy="1260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8"/>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7" name="Google Shape;107;p8"/>
          <p:cNvSpPr/>
          <p:nvPr/>
        </p:nvSpPr>
        <p:spPr>
          <a:xfrm rot="-2487859">
            <a:off x="634233" y="-130796"/>
            <a:ext cx="2100921" cy="2020412"/>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8" name="Google Shape;108;p8"/>
          <p:cNvSpPr/>
          <p:nvPr/>
        </p:nvSpPr>
        <p:spPr>
          <a:xfrm>
            <a:off x="92944" y="603209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9" name="Google Shape;109;p8"/>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0" name="Google Shape;110;p8"/>
          <p:cNvSpPr/>
          <p:nvPr/>
        </p:nvSpPr>
        <p:spPr>
          <a:xfrm>
            <a:off x="-817599" y="-741416"/>
            <a:ext cx="2912187" cy="3109714"/>
          </a:xfrm>
          <a:custGeom>
            <a:rect b="b" l="l" r="r" t="t"/>
            <a:pathLst>
              <a:path extrusionOk="0" h="3416667" w="3505909">
                <a:moveTo>
                  <a:pt x="0" y="0"/>
                </a:moveTo>
                <a:lnTo>
                  <a:pt x="3505909" y="0"/>
                </a:lnTo>
                <a:lnTo>
                  <a:pt x="3505909" y="3416668"/>
                </a:lnTo>
                <a:lnTo>
                  <a:pt x="0" y="3416668"/>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1" name="Google Shape;111;p8"/>
          <p:cNvSpPr/>
          <p:nvPr/>
        </p:nvSpPr>
        <p:spPr>
          <a:xfrm rot="-5591590">
            <a:off x="15833994" y="712804"/>
            <a:ext cx="2347587" cy="2305392"/>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2" name="Google Shape;112;p8"/>
          <p:cNvSpPr/>
          <p:nvPr/>
        </p:nvSpPr>
        <p:spPr>
          <a:xfrm rot="7860677">
            <a:off x="126546" y="7226320"/>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3" name="Google Shape;113;p8"/>
          <p:cNvSpPr/>
          <p:nvPr/>
        </p:nvSpPr>
        <p:spPr>
          <a:xfrm rot="7860677">
            <a:off x="15930678" y="7382404"/>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4" name="Google Shape;114;p8"/>
          <p:cNvSpPr/>
          <p:nvPr/>
        </p:nvSpPr>
        <p:spPr>
          <a:xfrm rot="1296289">
            <a:off x="15384349" y="-545919"/>
            <a:ext cx="2531996" cy="2154648"/>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5" name="Google Shape;115;p8"/>
          <p:cNvSpPr/>
          <p:nvPr/>
        </p:nvSpPr>
        <p:spPr>
          <a:xfrm rot="-2487859">
            <a:off x="16952453" y="4767483"/>
            <a:ext cx="2033723" cy="1619753"/>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6" name="Google Shape;116;p8"/>
          <p:cNvSpPr/>
          <p:nvPr/>
        </p:nvSpPr>
        <p:spPr>
          <a:xfrm rot="1296289">
            <a:off x="296953" y="7886423"/>
            <a:ext cx="3294095" cy="2754079"/>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7" name="Google Shape;117;p8"/>
          <p:cNvSpPr/>
          <p:nvPr/>
        </p:nvSpPr>
        <p:spPr>
          <a:xfrm rot="2046247">
            <a:off x="17723193" y="-357480"/>
            <a:ext cx="1707091" cy="1936262"/>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mit Überschrift" type="objTx">
  <p:cSld name="OBJECT_WITH_CAPTION_TEXT">
    <p:spTree>
      <p:nvGrpSpPr>
        <p:cNvPr id="118" name="Shape 118"/>
        <p:cNvGrpSpPr/>
        <p:nvPr/>
      </p:nvGrpSpPr>
      <p:grpSpPr>
        <a:xfrm>
          <a:off x="0" y="0"/>
          <a:ext cx="0" cy="0"/>
          <a:chOff x="0" y="0"/>
          <a:chExt cx="0" cy="0"/>
        </a:xfrm>
      </p:grpSpPr>
      <p:sp>
        <p:nvSpPr>
          <p:cNvPr id="119" name="Google Shape;119;p9"/>
          <p:cNvSpPr txBox="1"/>
          <p:nvPr>
            <p:ph type="title"/>
          </p:nvPr>
        </p:nvSpPr>
        <p:spPr>
          <a:xfrm>
            <a:off x="1944000" y="1481138"/>
            <a:ext cx="5235566" cy="1260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9"/>
          <p:cNvSpPr txBox="1"/>
          <p:nvPr>
            <p:ph idx="1" type="body"/>
          </p:nvPr>
        </p:nvSpPr>
        <p:spPr>
          <a:xfrm>
            <a:off x="7775574" y="1481138"/>
            <a:ext cx="8568425" cy="7310437"/>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21" name="Google Shape;121;p9"/>
          <p:cNvSpPr txBox="1"/>
          <p:nvPr>
            <p:ph idx="2" type="body"/>
          </p:nvPr>
        </p:nvSpPr>
        <p:spPr>
          <a:xfrm>
            <a:off x="1944000" y="3086100"/>
            <a:ext cx="5214038" cy="57181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2" name="Google Shape;122;p9"/>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3" name="Google Shape;123;p9"/>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4" name="Google Shape;124;p9"/>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5" name="Google Shape;125;p9"/>
          <p:cNvSpPr/>
          <p:nvPr/>
        </p:nvSpPr>
        <p:spPr>
          <a:xfrm>
            <a:off x="-344695" y="-103733"/>
            <a:ext cx="2797974" cy="2535765"/>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6" name="Google Shape;126;p9"/>
          <p:cNvSpPr/>
          <p:nvPr/>
        </p:nvSpPr>
        <p:spPr>
          <a:xfrm rot="7860677">
            <a:off x="184890" y="170766"/>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7" name="Google Shape;127;p9"/>
          <p:cNvSpPr/>
          <p:nvPr/>
        </p:nvSpPr>
        <p:spPr>
          <a:xfrm rot="-458312">
            <a:off x="16929227" y="-285243"/>
            <a:ext cx="3155791" cy="3843267"/>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8" name="Google Shape;128;p9"/>
          <p:cNvSpPr/>
          <p:nvPr/>
        </p:nvSpPr>
        <p:spPr>
          <a:xfrm rot="1296289">
            <a:off x="15429160" y="-255544"/>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9" name="Google Shape;129;p9"/>
          <p:cNvSpPr/>
          <p:nvPr/>
        </p:nvSpPr>
        <p:spPr>
          <a:xfrm rot="-2487859">
            <a:off x="1742939" y="-107165"/>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0" name="Google Shape;130;p9"/>
          <p:cNvSpPr/>
          <p:nvPr/>
        </p:nvSpPr>
        <p:spPr>
          <a:xfrm rot="1296289">
            <a:off x="-1078000" y="5865358"/>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1" name="Google Shape;131;p9"/>
          <p:cNvSpPr/>
          <p:nvPr/>
        </p:nvSpPr>
        <p:spPr>
          <a:xfrm rot="1597264">
            <a:off x="17342788" y="1208544"/>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2" name="Google Shape;132;p9"/>
          <p:cNvSpPr/>
          <p:nvPr/>
        </p:nvSpPr>
        <p:spPr>
          <a:xfrm rot="7999432">
            <a:off x="17045216" y="6735395"/>
            <a:ext cx="2797974" cy="2535765"/>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3" name="Google Shape;133;p9"/>
          <p:cNvSpPr/>
          <p:nvPr/>
        </p:nvSpPr>
        <p:spPr>
          <a:xfrm rot="7860677">
            <a:off x="16251956" y="8185607"/>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it Überschrift">
  <p:cSld name="Bild mit Überschrift">
    <p:spTree>
      <p:nvGrpSpPr>
        <p:cNvPr id="134" name="Shape 134"/>
        <p:cNvGrpSpPr/>
        <p:nvPr/>
      </p:nvGrpSpPr>
      <p:grpSpPr>
        <a:xfrm>
          <a:off x="0" y="0"/>
          <a:ext cx="0" cy="0"/>
          <a:chOff x="0" y="0"/>
          <a:chExt cx="0" cy="0"/>
        </a:xfrm>
      </p:grpSpPr>
      <p:sp>
        <p:nvSpPr>
          <p:cNvPr id="135" name="Google Shape;135;p10"/>
          <p:cNvSpPr/>
          <p:nvPr>
            <p:ph idx="2" type="pic"/>
          </p:nvPr>
        </p:nvSpPr>
        <p:spPr>
          <a:xfrm>
            <a:off x="7775575" y="1481138"/>
            <a:ext cx="8568424" cy="7310437"/>
          </a:xfrm>
          <a:prstGeom prst="rect">
            <a:avLst/>
          </a:prstGeom>
          <a:noFill/>
          <a:ln>
            <a:noFill/>
          </a:ln>
        </p:spPr>
      </p:sp>
      <p:sp>
        <p:nvSpPr>
          <p:cNvPr id="136" name="Google Shape;136;p10"/>
          <p:cNvSpPr/>
          <p:nvPr/>
        </p:nvSpPr>
        <p:spPr>
          <a:xfrm>
            <a:off x="-988817" y="7307032"/>
            <a:ext cx="2499164" cy="2394654"/>
          </a:xfrm>
          <a:custGeom>
            <a:rect b="b" l="l" r="r" t="t"/>
            <a:pathLst>
              <a:path extrusionOk="0" h="2394654" w="2499164">
                <a:moveTo>
                  <a:pt x="0" y="0"/>
                </a:moveTo>
                <a:lnTo>
                  <a:pt x="2499165" y="0"/>
                </a:lnTo>
                <a:lnTo>
                  <a:pt x="2499165" y="2394654"/>
                </a:lnTo>
                <a:lnTo>
                  <a:pt x="0" y="2394654"/>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7" name="Google Shape;137;p10"/>
          <p:cNvSpPr/>
          <p:nvPr/>
        </p:nvSpPr>
        <p:spPr>
          <a:xfrm rot="4680788">
            <a:off x="16257418" y="8270982"/>
            <a:ext cx="2635834" cy="2525609"/>
          </a:xfrm>
          <a:custGeom>
            <a:rect b="b" l="l" r="r" t="t"/>
            <a:pathLst>
              <a:path extrusionOk="0" h="2525609" w="2635834">
                <a:moveTo>
                  <a:pt x="0" y="0"/>
                </a:moveTo>
                <a:lnTo>
                  <a:pt x="2635835" y="0"/>
                </a:lnTo>
                <a:lnTo>
                  <a:pt x="2635835" y="2525608"/>
                </a:lnTo>
                <a:lnTo>
                  <a:pt x="0" y="2525608"/>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8" name="Google Shape;138;p10"/>
          <p:cNvSpPr/>
          <p:nvPr/>
        </p:nvSpPr>
        <p:spPr>
          <a:xfrm>
            <a:off x="-344695" y="-103733"/>
            <a:ext cx="2797974" cy="2535765"/>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39" name="Google Shape;139;p10"/>
          <p:cNvSpPr/>
          <p:nvPr/>
        </p:nvSpPr>
        <p:spPr>
          <a:xfrm rot="7860677">
            <a:off x="184890" y="170766"/>
            <a:ext cx="1600955" cy="1490343"/>
          </a:xfrm>
          <a:custGeom>
            <a:rect b="b" l="l" r="r" t="t"/>
            <a:pathLst>
              <a:path extrusionOk="0" h="1490343" w="1600955">
                <a:moveTo>
                  <a:pt x="0" y="0"/>
                </a:moveTo>
                <a:lnTo>
                  <a:pt x="1600954" y="0"/>
                </a:lnTo>
                <a:lnTo>
                  <a:pt x="1600954" y="1490343"/>
                </a:lnTo>
                <a:lnTo>
                  <a:pt x="0" y="149034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0" name="Google Shape;140;p10"/>
          <p:cNvSpPr/>
          <p:nvPr/>
        </p:nvSpPr>
        <p:spPr>
          <a:xfrm rot="-458312">
            <a:off x="16929227" y="-285243"/>
            <a:ext cx="3155791" cy="3843267"/>
          </a:xfrm>
          <a:custGeom>
            <a:rect b="b" l="l" r="r" t="t"/>
            <a:pathLst>
              <a:path extrusionOk="0" h="3023821" w="3155791">
                <a:moveTo>
                  <a:pt x="0" y="0"/>
                </a:moveTo>
                <a:lnTo>
                  <a:pt x="3155790" y="0"/>
                </a:lnTo>
                <a:lnTo>
                  <a:pt x="3155790" y="3023821"/>
                </a:lnTo>
                <a:lnTo>
                  <a:pt x="0" y="302382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1" name="Google Shape;141;p10"/>
          <p:cNvSpPr/>
          <p:nvPr/>
        </p:nvSpPr>
        <p:spPr>
          <a:xfrm rot="1296289">
            <a:off x="15429160" y="-255544"/>
            <a:ext cx="2265599" cy="1919581"/>
          </a:xfrm>
          <a:custGeom>
            <a:rect b="b" l="l" r="r" t="t"/>
            <a:pathLst>
              <a:path extrusionOk="0" h="1919581" w="2265599">
                <a:moveTo>
                  <a:pt x="0" y="0"/>
                </a:moveTo>
                <a:lnTo>
                  <a:pt x="2265600" y="0"/>
                </a:lnTo>
                <a:lnTo>
                  <a:pt x="2265600" y="1919581"/>
                </a:lnTo>
                <a:lnTo>
                  <a:pt x="0" y="191958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2" name="Google Shape;142;p10"/>
          <p:cNvSpPr/>
          <p:nvPr/>
        </p:nvSpPr>
        <p:spPr>
          <a:xfrm rot="-2487859">
            <a:off x="1742939" y="-107165"/>
            <a:ext cx="1763767" cy="1494391"/>
          </a:xfrm>
          <a:custGeom>
            <a:rect b="b" l="l" r="r" t="t"/>
            <a:pathLst>
              <a:path extrusionOk="0" h="1494392" w="1763767">
                <a:moveTo>
                  <a:pt x="0" y="0"/>
                </a:moveTo>
                <a:lnTo>
                  <a:pt x="1763767" y="0"/>
                </a:lnTo>
                <a:lnTo>
                  <a:pt x="1763767" y="1494392"/>
                </a:lnTo>
                <a:lnTo>
                  <a:pt x="0" y="149439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3" name="Google Shape;143;p10"/>
          <p:cNvSpPr/>
          <p:nvPr/>
        </p:nvSpPr>
        <p:spPr>
          <a:xfrm rot="1296289">
            <a:off x="-1078000" y="5865358"/>
            <a:ext cx="2430280" cy="2059110"/>
          </a:xfrm>
          <a:custGeom>
            <a:rect b="b" l="l" r="r" t="t"/>
            <a:pathLst>
              <a:path extrusionOk="0" h="2059110" w="2430280">
                <a:moveTo>
                  <a:pt x="0" y="0"/>
                </a:moveTo>
                <a:lnTo>
                  <a:pt x="2430281" y="0"/>
                </a:lnTo>
                <a:lnTo>
                  <a:pt x="2430281" y="2059110"/>
                </a:lnTo>
                <a:lnTo>
                  <a:pt x="0" y="20591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4" name="Google Shape;144;p10"/>
          <p:cNvSpPr/>
          <p:nvPr/>
        </p:nvSpPr>
        <p:spPr>
          <a:xfrm rot="1597264">
            <a:off x="17342788" y="1208544"/>
            <a:ext cx="1939168" cy="1805189"/>
          </a:xfrm>
          <a:custGeom>
            <a:rect b="b" l="l" r="r" t="t"/>
            <a:pathLst>
              <a:path extrusionOk="0" h="1805189" w="1939168">
                <a:moveTo>
                  <a:pt x="0" y="0"/>
                </a:moveTo>
                <a:lnTo>
                  <a:pt x="1939169" y="0"/>
                </a:lnTo>
                <a:lnTo>
                  <a:pt x="1939169" y="1805189"/>
                </a:lnTo>
                <a:lnTo>
                  <a:pt x="0" y="180518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5" name="Google Shape;145;p10"/>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6" name="Google Shape;146;p10"/>
          <p:cNvSpPr txBox="1"/>
          <p:nvPr/>
        </p:nvSpPr>
        <p:spPr>
          <a:xfrm>
            <a:off x="1944000" y="1481138"/>
            <a:ext cx="5235566" cy="1260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Arial"/>
              <a:buNone/>
            </a:pPr>
            <a:r>
              <a:rPr b="0" i="0" lang="de-DE" sz="3200" u="none" cap="none" strike="noStrike">
                <a:solidFill>
                  <a:schemeClr val="dk1"/>
                </a:solidFill>
                <a:latin typeface="Arial"/>
                <a:ea typeface="Arial"/>
                <a:cs typeface="Arial"/>
                <a:sym typeface="Arial"/>
              </a:rPr>
              <a:t>Mastertitelformat bearbeiten</a:t>
            </a:r>
            <a:endParaRPr b="0" i="0" sz="3200" u="none" cap="none" strike="noStrike">
              <a:solidFill>
                <a:schemeClr val="dk1"/>
              </a:solidFill>
              <a:latin typeface="Arial"/>
              <a:ea typeface="Arial"/>
              <a:cs typeface="Arial"/>
              <a:sym typeface="Arial"/>
            </a:endParaRPr>
          </a:p>
        </p:txBody>
      </p:sp>
      <p:sp>
        <p:nvSpPr>
          <p:cNvPr id="147" name="Google Shape;147;p10"/>
          <p:cNvSpPr txBox="1"/>
          <p:nvPr>
            <p:ph idx="1" type="body"/>
          </p:nvPr>
        </p:nvSpPr>
        <p:spPr>
          <a:xfrm>
            <a:off x="1944000" y="3086100"/>
            <a:ext cx="5214038" cy="57181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8" name="Google Shape;148;p10"/>
          <p:cNvSpPr/>
          <p:nvPr/>
        </p:nvSpPr>
        <p:spPr>
          <a:xfrm rot="7999432">
            <a:off x="17045216" y="6735395"/>
            <a:ext cx="2797974" cy="2535765"/>
          </a:xfrm>
          <a:custGeom>
            <a:rect b="b" l="l" r="r" t="t"/>
            <a:pathLst>
              <a:path extrusionOk="0" h="2032289" w="2085371">
                <a:moveTo>
                  <a:pt x="0" y="0"/>
                </a:moveTo>
                <a:lnTo>
                  <a:pt x="2085371" y="0"/>
                </a:lnTo>
                <a:lnTo>
                  <a:pt x="2085371" y="2032289"/>
                </a:lnTo>
                <a:lnTo>
                  <a:pt x="0" y="203228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9" name="Google Shape;149;p10"/>
          <p:cNvSpPr/>
          <p:nvPr/>
        </p:nvSpPr>
        <p:spPr>
          <a:xfrm rot="7860677">
            <a:off x="16251956" y="8185607"/>
            <a:ext cx="2243704" cy="2088684"/>
          </a:xfrm>
          <a:custGeom>
            <a:rect b="b" l="l" r="r" t="t"/>
            <a:pathLst>
              <a:path extrusionOk="0" h="2088684" w="2243704">
                <a:moveTo>
                  <a:pt x="0" y="0"/>
                </a:moveTo>
                <a:lnTo>
                  <a:pt x="2243704" y="0"/>
                </a:lnTo>
                <a:lnTo>
                  <a:pt x="2243704" y="2088684"/>
                </a:lnTo>
                <a:lnTo>
                  <a:pt x="0" y="208868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0.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944000" y="1322140"/>
            <a:ext cx="14400000" cy="12600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1944000" y="2769110"/>
            <a:ext cx="14400000" cy="64800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p:nvPr/>
        </p:nvSpPr>
        <p:spPr>
          <a:xfrm>
            <a:off x="7687907" y="30602"/>
            <a:ext cx="2912186" cy="1012162"/>
          </a:xfrm>
          <a:custGeom>
            <a:rect b="b" l="l" r="r" t="t"/>
            <a:pathLst>
              <a:path extrusionOk="0" h="1012162" w="2912186">
                <a:moveTo>
                  <a:pt x="0" y="0"/>
                </a:moveTo>
                <a:lnTo>
                  <a:pt x="2912186" y="0"/>
                </a:lnTo>
                <a:lnTo>
                  <a:pt x="2912186" y="1012162"/>
                </a:lnTo>
                <a:lnTo>
                  <a:pt x="0" y="1012162"/>
                </a:lnTo>
                <a:lnTo>
                  <a:pt x="0" y="0"/>
                </a:lnTo>
                <a:close/>
              </a:path>
            </a:pathLst>
          </a:custGeom>
          <a:blipFill rotWithShape="1">
            <a:blip r:embed="rId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1906800" y="2171700"/>
            <a:ext cx="14400000" cy="3955500"/>
          </a:xfrm>
          <a:prstGeom prst="rect">
            <a:avLst/>
          </a:prstGeom>
          <a:noFill/>
          <a:ln>
            <a:noFill/>
          </a:ln>
        </p:spPr>
        <p:txBody>
          <a:bodyPr anchorCtr="0" anchor="b" bIns="45700" lIns="90000"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Scientific </a:t>
            </a:r>
            <a:r>
              <a:rPr b="1" lang="de-DE"/>
              <a:t>Reading </a:t>
            </a:r>
            <a:r>
              <a:rPr lang="de-DE"/>
              <a:t>|Part 3</a:t>
            </a:r>
            <a:endParaRPr/>
          </a:p>
          <a:p>
            <a:pPr indent="0" lvl="0" marL="0" rtl="0" algn="l">
              <a:lnSpc>
                <a:spcPct val="90000"/>
              </a:lnSpc>
              <a:spcBef>
                <a:spcPts val="0"/>
              </a:spcBef>
              <a:spcAft>
                <a:spcPts val="0"/>
              </a:spcAft>
              <a:buClr>
                <a:schemeClr val="dk1"/>
              </a:buClr>
              <a:buSzPts val="6000"/>
              <a:buFont typeface="Arial"/>
              <a:buNone/>
            </a:pPr>
            <a:r>
              <a:rPr lang="de-DE"/>
              <a:t>Reading Like a Writer</a:t>
            </a:r>
            <a:endParaRPr/>
          </a:p>
        </p:txBody>
      </p:sp>
      <p:sp>
        <p:nvSpPr>
          <p:cNvPr id="156" name="Google Shape;156;p11"/>
          <p:cNvSpPr txBox="1"/>
          <p:nvPr>
            <p:ph idx="1" type="body"/>
          </p:nvPr>
        </p:nvSpPr>
        <p:spPr>
          <a:xfrm>
            <a:off x="1906800" y="6491289"/>
            <a:ext cx="14400000" cy="2079900"/>
          </a:xfrm>
          <a:prstGeom prst="rect">
            <a:avLst/>
          </a:prstGeom>
          <a:noFill/>
          <a:ln>
            <a:noFill/>
          </a:ln>
        </p:spPr>
        <p:txBody>
          <a:bodyPr anchorCtr="0" anchor="t" bIns="45700" lIns="90000" spcFirstLastPara="1" rIns="91425" wrap="square" tIns="45700">
            <a:normAutofit/>
          </a:bodyPr>
          <a:lstStyle/>
          <a:p>
            <a:pPr indent="0" lvl="0" marL="0" rtl="0" algn="l">
              <a:lnSpc>
                <a:spcPct val="90000"/>
              </a:lnSpc>
              <a:spcBef>
                <a:spcPts val="0"/>
              </a:spcBef>
              <a:spcAft>
                <a:spcPts val="0"/>
              </a:spcAft>
              <a:buClr>
                <a:srgbClr val="757575"/>
              </a:buClr>
              <a:buSzPts val="2400"/>
              <a:buNone/>
            </a:pPr>
            <a:r>
              <a:rPr lang="de-DE"/>
              <a:t>Tutor:</a:t>
            </a:r>
            <a:endParaRPr/>
          </a:p>
          <a:p>
            <a:pPr indent="0" lvl="0" marL="0" rtl="0" algn="l">
              <a:lnSpc>
                <a:spcPct val="90000"/>
              </a:lnSpc>
              <a:spcBef>
                <a:spcPts val="0"/>
              </a:spcBef>
              <a:spcAft>
                <a:spcPts val="0"/>
              </a:spcAft>
              <a:buClr>
                <a:srgbClr val="757575"/>
              </a:buClr>
              <a:buSzPts val="2400"/>
              <a:buNone/>
            </a:pPr>
            <a:r>
              <a:rPr lang="de-DE"/>
              <a:t>Date: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Arial"/>
              <a:buNone/>
            </a:pPr>
            <a:r>
              <a:rPr b="1" lang="de-DE"/>
              <a:t>Reading Exercise</a:t>
            </a:r>
            <a:endParaRPr b="1"/>
          </a:p>
        </p:txBody>
      </p:sp>
      <p:sp>
        <p:nvSpPr>
          <p:cNvPr id="163" name="Google Shape;163;p12"/>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rmAutofit/>
          </a:bodyPr>
          <a:lstStyle/>
          <a:p>
            <a:pPr indent="0" lvl="0" marL="0" rtl="0" algn="l">
              <a:lnSpc>
                <a:spcPct val="114999"/>
              </a:lnSpc>
              <a:spcBef>
                <a:spcPts val="600"/>
              </a:spcBef>
              <a:spcAft>
                <a:spcPts val="0"/>
              </a:spcAft>
              <a:buNone/>
            </a:pPr>
            <a:r>
              <a:rPr lang="de-DE" sz="3500"/>
              <a:t>Please read the first three paragraphs of Tung-Hui Hu’s A Prehistory of the Cloud (MIT P, 2015). As you do so, please also consider the following questions (can also be found on the bottom of the page).</a:t>
            </a:r>
            <a:endParaRPr sz="3500"/>
          </a:p>
          <a:p>
            <a:pPr indent="0" lvl="0" marL="0" rtl="0" algn="l">
              <a:lnSpc>
                <a:spcPct val="114999"/>
              </a:lnSpc>
              <a:spcBef>
                <a:spcPts val="600"/>
              </a:spcBef>
              <a:spcAft>
                <a:spcPts val="0"/>
              </a:spcAft>
              <a:buNone/>
            </a:pPr>
            <a:r>
              <a:t/>
            </a:r>
            <a:endParaRPr sz="3500"/>
          </a:p>
          <a:p>
            <a:pPr indent="0" lvl="0" marL="0" rtl="0" algn="l">
              <a:lnSpc>
                <a:spcPct val="114999"/>
              </a:lnSpc>
              <a:spcBef>
                <a:spcPts val="600"/>
              </a:spcBef>
              <a:spcAft>
                <a:spcPts val="0"/>
              </a:spcAft>
              <a:buNone/>
            </a:pPr>
            <a:r>
              <a:rPr lang="de-DE" sz="3500"/>
              <a:t>How do these questions affect your reading experience?</a:t>
            </a:r>
            <a:endParaRPr sz="3500"/>
          </a:p>
          <a:p>
            <a:pPr indent="0" lvl="0" marL="0" rtl="0" algn="l">
              <a:lnSpc>
                <a:spcPct val="114999"/>
              </a:lnSpc>
              <a:spcBef>
                <a:spcPts val="600"/>
              </a:spcBef>
              <a:spcAft>
                <a:spcPts val="0"/>
              </a:spcAft>
              <a:buNone/>
            </a:pPr>
            <a:r>
              <a:t/>
            </a:r>
            <a:endParaRPr sz="3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3"/>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Arial"/>
              <a:buNone/>
            </a:pPr>
            <a:r>
              <a:rPr b="1" lang="de-DE"/>
              <a:t>Reading Exercise (10 Minutes)</a:t>
            </a:r>
            <a:endParaRPr b="1"/>
          </a:p>
        </p:txBody>
      </p:sp>
      <p:sp>
        <p:nvSpPr>
          <p:cNvPr id="170" name="Google Shape;170;p13"/>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419893" lvl="0" marL="457200" rtl="0" algn="l">
              <a:lnSpc>
                <a:spcPct val="94999"/>
              </a:lnSpc>
              <a:spcBef>
                <a:spcPts val="600"/>
              </a:spcBef>
              <a:spcAft>
                <a:spcPts val="0"/>
              </a:spcAft>
              <a:buSzPts val="3013"/>
              <a:buChar char="•"/>
            </a:pPr>
            <a:r>
              <a:rPr lang="de-DE" sz="3012"/>
              <a:t>How does Hu structure the first three paragraphs of this monograph? </a:t>
            </a:r>
            <a:endParaRPr sz="3012"/>
          </a:p>
          <a:p>
            <a:pPr indent="-419893" lvl="0" marL="457200" rtl="0" algn="l">
              <a:lnSpc>
                <a:spcPct val="94999"/>
              </a:lnSpc>
              <a:spcBef>
                <a:spcPts val="0"/>
              </a:spcBef>
              <a:spcAft>
                <a:spcPts val="0"/>
              </a:spcAft>
              <a:buSzPts val="3013"/>
              <a:buChar char="•"/>
            </a:pPr>
            <a:r>
              <a:rPr lang="de-DE" sz="3012"/>
              <a:t>Is this the most effective way to organize it? </a:t>
            </a:r>
            <a:endParaRPr sz="3012"/>
          </a:p>
          <a:p>
            <a:pPr indent="-419893" lvl="0" marL="457200" rtl="0" algn="l">
              <a:lnSpc>
                <a:spcPct val="94999"/>
              </a:lnSpc>
              <a:spcBef>
                <a:spcPts val="0"/>
              </a:spcBef>
              <a:spcAft>
                <a:spcPts val="0"/>
              </a:spcAft>
              <a:buSzPts val="3013"/>
              <a:buChar char="•"/>
            </a:pPr>
            <a:r>
              <a:rPr lang="de-DE" sz="3012"/>
              <a:t>If not, which structure could have been used instead? </a:t>
            </a:r>
            <a:endParaRPr sz="3012"/>
          </a:p>
          <a:p>
            <a:pPr indent="-419893" lvl="0" marL="457200" rtl="0" algn="l">
              <a:lnSpc>
                <a:spcPct val="94999"/>
              </a:lnSpc>
              <a:spcBef>
                <a:spcPts val="0"/>
              </a:spcBef>
              <a:spcAft>
                <a:spcPts val="0"/>
              </a:spcAft>
              <a:buSzPts val="3013"/>
              <a:buChar char="•"/>
            </a:pPr>
            <a:r>
              <a:rPr lang="de-DE" sz="3012"/>
              <a:t>Which examples does Hu use, for example in the second paragraph, and why? </a:t>
            </a:r>
            <a:endParaRPr sz="3012"/>
          </a:p>
          <a:p>
            <a:pPr indent="-419893" lvl="0" marL="457200" rtl="0" algn="l">
              <a:lnSpc>
                <a:spcPct val="94999"/>
              </a:lnSpc>
              <a:spcBef>
                <a:spcPts val="0"/>
              </a:spcBef>
              <a:spcAft>
                <a:spcPts val="0"/>
              </a:spcAft>
              <a:buSzPts val="3013"/>
              <a:buChar char="•"/>
            </a:pPr>
            <a:r>
              <a:rPr lang="de-DE" sz="3012"/>
              <a:t>Would you have included the same examples? </a:t>
            </a:r>
            <a:endParaRPr sz="3012"/>
          </a:p>
          <a:p>
            <a:pPr indent="-419893" lvl="0" marL="457200" rtl="0" algn="l">
              <a:lnSpc>
                <a:spcPct val="94999"/>
              </a:lnSpc>
              <a:spcBef>
                <a:spcPts val="0"/>
              </a:spcBef>
              <a:spcAft>
                <a:spcPts val="0"/>
              </a:spcAft>
              <a:buSzPts val="3013"/>
              <a:buChar char="•"/>
            </a:pPr>
            <a:r>
              <a:rPr lang="de-DE" sz="3012"/>
              <a:t>Please consider the sentence structure in the second paragraph. What is the pattern adopted by Hu? </a:t>
            </a:r>
            <a:endParaRPr sz="3012"/>
          </a:p>
          <a:p>
            <a:pPr indent="-419893" lvl="0" marL="457200" rtl="0" algn="l">
              <a:lnSpc>
                <a:spcPct val="94999"/>
              </a:lnSpc>
              <a:spcBef>
                <a:spcPts val="0"/>
              </a:spcBef>
              <a:spcAft>
                <a:spcPts val="0"/>
              </a:spcAft>
              <a:buSzPts val="3013"/>
              <a:buChar char="•"/>
            </a:pPr>
            <a:r>
              <a:rPr lang="de-DE" sz="3012"/>
              <a:t>Do you think that the decision to use it makes sense? </a:t>
            </a:r>
            <a:endParaRPr sz="3012"/>
          </a:p>
          <a:p>
            <a:pPr indent="-419893" lvl="0" marL="457200" rtl="0" algn="l">
              <a:lnSpc>
                <a:spcPct val="94999"/>
              </a:lnSpc>
              <a:spcBef>
                <a:spcPts val="0"/>
              </a:spcBef>
              <a:spcAft>
                <a:spcPts val="0"/>
              </a:spcAft>
              <a:buSzPts val="3013"/>
              <a:buChar char="•"/>
            </a:pPr>
            <a:r>
              <a:rPr lang="de-DE" sz="3012"/>
              <a:t>What other options could be used here? </a:t>
            </a:r>
            <a:endParaRPr sz="3012"/>
          </a:p>
          <a:p>
            <a:pPr indent="-419893" lvl="0" marL="457200" rtl="0" algn="l">
              <a:lnSpc>
                <a:spcPct val="94999"/>
              </a:lnSpc>
              <a:spcBef>
                <a:spcPts val="0"/>
              </a:spcBef>
              <a:spcAft>
                <a:spcPts val="0"/>
              </a:spcAft>
              <a:buSzPts val="3013"/>
              <a:buChar char="•"/>
            </a:pPr>
            <a:r>
              <a:rPr lang="de-DE" sz="3012"/>
              <a:t>Toward the end of the first paragraph, Hu uses adjectives such as mute and atmospheric. Why do you think Hu chose these instead of, let’s say, noiseless or invisible, respectively? Which word choices also might be useful here? </a:t>
            </a:r>
            <a:endParaRPr sz="3012"/>
          </a:p>
          <a:p>
            <a:pPr indent="-419893" lvl="0" marL="457200" rtl="0" algn="l">
              <a:lnSpc>
                <a:spcPct val="94999"/>
              </a:lnSpc>
              <a:spcBef>
                <a:spcPts val="0"/>
              </a:spcBef>
              <a:spcAft>
                <a:spcPts val="0"/>
              </a:spcAft>
              <a:buSzPts val="3013"/>
              <a:buChar char="•"/>
            </a:pPr>
            <a:r>
              <a:rPr lang="de-DE" sz="3012"/>
              <a:t>Having analyzed the text and considered the decision-making displayed </a:t>
            </a:r>
            <a:endParaRPr sz="3012"/>
          </a:p>
          <a:p>
            <a:pPr indent="0" lvl="0" marL="457200" rtl="0" algn="l">
              <a:lnSpc>
                <a:spcPct val="94999"/>
              </a:lnSpc>
              <a:spcBef>
                <a:spcPts val="0"/>
              </a:spcBef>
              <a:spcAft>
                <a:spcPts val="0"/>
              </a:spcAft>
              <a:buNone/>
            </a:pPr>
            <a:r>
              <a:rPr lang="de-DE" sz="3012"/>
              <a:t>here, do you think that the excerpt from the texts includes anything that </a:t>
            </a:r>
            <a:endParaRPr sz="3012"/>
          </a:p>
          <a:p>
            <a:pPr indent="457200" lvl="0" marL="0" rtl="0" algn="l">
              <a:lnSpc>
                <a:spcPct val="94999"/>
              </a:lnSpc>
              <a:spcBef>
                <a:spcPts val="0"/>
              </a:spcBef>
              <a:spcAft>
                <a:spcPts val="0"/>
              </a:spcAft>
              <a:buNone/>
            </a:pPr>
            <a:r>
              <a:rPr lang="de-DE" sz="3012"/>
              <a:t>might be relevant for one of your writing projects?</a:t>
            </a:r>
            <a:endParaRPr sz="3012"/>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4"/>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Discuss Experience with a Partner</a:t>
            </a:r>
            <a:endParaRPr b="1"/>
          </a:p>
        </p:txBody>
      </p:sp>
      <p:sp>
        <p:nvSpPr>
          <p:cNvPr id="177" name="Google Shape;177;p14"/>
          <p:cNvSpPr txBox="1"/>
          <p:nvPr>
            <p:ph idx="1" type="subTitle"/>
          </p:nvPr>
        </p:nvSpPr>
        <p:spPr>
          <a:xfrm>
            <a:off x="2205643" y="6130279"/>
            <a:ext cx="13716000" cy="2482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de-DE" sz="3500"/>
              <a:t>5 Minutes</a:t>
            </a:r>
            <a:endParaRPr sz="3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5"/>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Plenary</a:t>
            </a:r>
            <a:endParaRPr b="1"/>
          </a:p>
        </p:txBody>
      </p:sp>
      <p:sp>
        <p:nvSpPr>
          <p:cNvPr id="184" name="Google Shape;184;p15"/>
          <p:cNvSpPr txBox="1"/>
          <p:nvPr>
            <p:ph idx="1" type="subTitle"/>
          </p:nvPr>
        </p:nvSpPr>
        <p:spPr>
          <a:xfrm>
            <a:off x="2205643" y="6130279"/>
            <a:ext cx="13716000" cy="2482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de-DE" sz="3500"/>
              <a:t>Let’s collect in the plenary</a:t>
            </a:r>
            <a:endParaRPr sz="3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6"/>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Arial"/>
              <a:buNone/>
            </a:pPr>
            <a:r>
              <a:rPr b="1" lang="de-DE"/>
              <a:t>Reading Like a Writer</a:t>
            </a:r>
            <a:endParaRPr b="1"/>
          </a:p>
        </p:txBody>
      </p:sp>
      <p:sp>
        <p:nvSpPr>
          <p:cNvPr id="191" name="Google Shape;191;p16"/>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419893" lvl="0" marL="457200" rtl="0" algn="l">
              <a:lnSpc>
                <a:spcPct val="94999"/>
              </a:lnSpc>
              <a:spcBef>
                <a:spcPts val="0"/>
              </a:spcBef>
              <a:spcAft>
                <a:spcPts val="0"/>
              </a:spcAft>
              <a:buSzPts val="3013"/>
              <a:buChar char="•"/>
            </a:pPr>
            <a:r>
              <a:rPr lang="de-DE" sz="3012"/>
              <a:t>analytical reading as a means not only to understand what the argument is or how and why authentic models or examples of good writing (in a given context) work (see Bunn, “Motivation”) but also to expand one’s toolbox as a writer by, for example, adopting (and adapting) techniques and rhetorical moves, big or small</a:t>
            </a:r>
            <a:endParaRPr sz="3012"/>
          </a:p>
          <a:p>
            <a:pPr indent="-419893" lvl="0" marL="457200" rtl="0" algn="l">
              <a:lnSpc>
                <a:spcPct val="94999"/>
              </a:lnSpc>
              <a:spcBef>
                <a:spcPts val="0"/>
              </a:spcBef>
              <a:spcAft>
                <a:spcPts val="0"/>
              </a:spcAft>
              <a:buSzPts val="3013"/>
              <a:buChar char="•"/>
            </a:pPr>
            <a:r>
              <a:rPr lang="de-DE" sz="3012"/>
              <a:t>decisions in the text and other possible moves, alternatives, and their potential effects on readers </a:t>
            </a:r>
            <a:endParaRPr sz="3012"/>
          </a:p>
          <a:p>
            <a:pPr indent="-419893" lvl="0" marL="457200" rtl="0" algn="l">
              <a:lnSpc>
                <a:spcPct val="94999"/>
              </a:lnSpc>
              <a:spcBef>
                <a:spcPts val="0"/>
              </a:spcBef>
              <a:spcAft>
                <a:spcPts val="0"/>
              </a:spcAft>
              <a:buSzPts val="3013"/>
              <a:buChar char="•"/>
            </a:pPr>
            <a:r>
              <a:rPr lang="de-DE" sz="3012"/>
              <a:t>evaluation of decisions identified and subsequent adoption </a:t>
            </a:r>
            <a:endParaRPr sz="3012"/>
          </a:p>
          <a:p>
            <a:pPr indent="-419893" lvl="0" marL="457200" rtl="0" algn="l">
              <a:lnSpc>
                <a:spcPct val="94999"/>
              </a:lnSpc>
              <a:spcBef>
                <a:spcPts val="0"/>
              </a:spcBef>
              <a:spcAft>
                <a:spcPts val="0"/>
              </a:spcAft>
              <a:buSzPts val="3013"/>
              <a:buChar char="•"/>
            </a:pPr>
            <a:r>
              <a:rPr lang="de-DE" sz="3012"/>
              <a:t>“You are reading to see how something was constructed so that you can construct something similar yourself”</a:t>
            </a:r>
            <a:endParaRPr sz="3012"/>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7"/>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Arial"/>
              <a:buNone/>
            </a:pPr>
            <a:r>
              <a:rPr b="1" lang="de-DE"/>
              <a:t>Reading Like a Writer</a:t>
            </a:r>
            <a:endParaRPr b="1"/>
          </a:p>
        </p:txBody>
      </p:sp>
      <p:sp>
        <p:nvSpPr>
          <p:cNvPr id="198" name="Google Shape;198;p17"/>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0" lvl="0" marL="0" rtl="0" algn="l">
              <a:lnSpc>
                <a:spcPct val="94999"/>
              </a:lnSpc>
              <a:spcBef>
                <a:spcPts val="0"/>
              </a:spcBef>
              <a:spcAft>
                <a:spcPts val="0"/>
              </a:spcAft>
              <a:buNone/>
            </a:pPr>
            <a:r>
              <a:rPr lang="de-DE" sz="3012"/>
              <a:t>Some of the questions that could be asked before, while, and after RLW: </a:t>
            </a:r>
            <a:endParaRPr sz="3012"/>
          </a:p>
          <a:p>
            <a:pPr indent="-419893" lvl="0" marL="457200" rtl="0" algn="l">
              <a:lnSpc>
                <a:spcPct val="94999"/>
              </a:lnSpc>
              <a:spcBef>
                <a:spcPts val="0"/>
              </a:spcBef>
              <a:spcAft>
                <a:spcPts val="0"/>
              </a:spcAft>
              <a:buSzPts val="3013"/>
              <a:buChar char="•"/>
            </a:pPr>
            <a:r>
              <a:rPr lang="de-DE" sz="3012"/>
              <a:t>What is the author’s purpose for this piece of writing? </a:t>
            </a:r>
            <a:endParaRPr sz="3012"/>
          </a:p>
          <a:p>
            <a:pPr indent="-419893" lvl="0" marL="457200" rtl="0" algn="l">
              <a:lnSpc>
                <a:spcPct val="94999"/>
              </a:lnSpc>
              <a:spcBef>
                <a:spcPts val="0"/>
              </a:spcBef>
              <a:spcAft>
                <a:spcPts val="0"/>
              </a:spcAft>
              <a:buSzPts val="3013"/>
              <a:buChar char="•"/>
            </a:pPr>
            <a:r>
              <a:rPr lang="de-DE" sz="3012"/>
              <a:t>Who is the intended audience? </a:t>
            </a:r>
            <a:endParaRPr sz="3012"/>
          </a:p>
          <a:p>
            <a:pPr indent="-419893" lvl="0" marL="457200" rtl="0" algn="l">
              <a:lnSpc>
                <a:spcPct val="94999"/>
              </a:lnSpc>
              <a:spcBef>
                <a:spcPts val="0"/>
              </a:spcBef>
              <a:spcAft>
                <a:spcPts val="0"/>
              </a:spcAft>
              <a:buSzPts val="3013"/>
              <a:buChar char="•"/>
            </a:pPr>
            <a:r>
              <a:rPr lang="de-DE" sz="3012"/>
              <a:t>How effective is the language the author uses? Is it too formal? Too informal? Perfectly appropriate? </a:t>
            </a:r>
            <a:endParaRPr sz="3012"/>
          </a:p>
          <a:p>
            <a:pPr indent="-419893" lvl="0" marL="457200" rtl="0" algn="l">
              <a:lnSpc>
                <a:spcPct val="94999"/>
              </a:lnSpc>
              <a:spcBef>
                <a:spcPts val="0"/>
              </a:spcBef>
              <a:spcAft>
                <a:spcPts val="0"/>
              </a:spcAft>
              <a:buSzPts val="3013"/>
              <a:buChar char="•"/>
            </a:pPr>
            <a:r>
              <a:rPr lang="de-DE" sz="3012"/>
              <a:t>What kinds of evidence does the author use to support his/her claims? Does he/she use statistics? Quotes from famous people? Personal anecdotes or personal stories? Does he/she cite books or articles? </a:t>
            </a:r>
            <a:endParaRPr sz="3012"/>
          </a:p>
          <a:p>
            <a:pPr indent="-419893" lvl="0" marL="457200" rtl="0" algn="l">
              <a:lnSpc>
                <a:spcPct val="94999"/>
              </a:lnSpc>
              <a:spcBef>
                <a:spcPts val="0"/>
              </a:spcBef>
              <a:spcAft>
                <a:spcPts val="0"/>
              </a:spcAft>
              <a:buSzPts val="3013"/>
              <a:buChar char="•"/>
            </a:pPr>
            <a:r>
              <a:rPr lang="de-DE" sz="3012"/>
              <a:t>How appropriate or effective is this evidence? Would a different type of evidence, or some combination of evidence, be more effective?</a:t>
            </a:r>
            <a:endParaRPr sz="3012"/>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8"/>
          <p:cNvSpPr txBox="1"/>
          <p:nvPr>
            <p:ph type="title"/>
          </p:nvPr>
        </p:nvSpPr>
        <p:spPr>
          <a:xfrm>
            <a:off x="1944000" y="1301860"/>
            <a:ext cx="14400000" cy="1260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Arial"/>
              <a:buNone/>
            </a:pPr>
            <a:r>
              <a:rPr b="1" lang="de-DE"/>
              <a:t>Reading Like a Writer</a:t>
            </a:r>
            <a:endParaRPr b="1"/>
          </a:p>
        </p:txBody>
      </p:sp>
      <p:sp>
        <p:nvSpPr>
          <p:cNvPr id="205" name="Google Shape;205;p18"/>
          <p:cNvSpPr txBox="1"/>
          <p:nvPr>
            <p:ph idx="1" type="body"/>
          </p:nvPr>
        </p:nvSpPr>
        <p:spPr>
          <a:xfrm>
            <a:off x="1944000" y="2738828"/>
            <a:ext cx="14400000" cy="6480000"/>
          </a:xfrm>
          <a:prstGeom prst="rect">
            <a:avLst/>
          </a:prstGeom>
          <a:noFill/>
          <a:ln>
            <a:noFill/>
          </a:ln>
        </p:spPr>
        <p:txBody>
          <a:bodyPr anchorCtr="0" anchor="t" bIns="45700" lIns="91425" spcFirstLastPara="1" rIns="91425" wrap="square" tIns="45700">
            <a:noAutofit/>
          </a:bodyPr>
          <a:lstStyle/>
          <a:p>
            <a:pPr indent="0" lvl="0" marL="0" rtl="0" algn="l">
              <a:lnSpc>
                <a:spcPct val="94999"/>
              </a:lnSpc>
              <a:spcBef>
                <a:spcPts val="0"/>
              </a:spcBef>
              <a:spcAft>
                <a:spcPts val="0"/>
              </a:spcAft>
              <a:buNone/>
            </a:pPr>
            <a:r>
              <a:rPr lang="de-DE" sz="3012"/>
              <a:t>Some of the questions that could be asked before, while, and after RLW: </a:t>
            </a:r>
            <a:endParaRPr sz="3012"/>
          </a:p>
          <a:p>
            <a:pPr indent="-419893" lvl="0" marL="457200" rtl="0" algn="l">
              <a:lnSpc>
                <a:spcPct val="94999"/>
              </a:lnSpc>
              <a:spcBef>
                <a:spcPts val="0"/>
              </a:spcBef>
              <a:spcAft>
                <a:spcPts val="0"/>
              </a:spcAft>
              <a:buSzPts val="3013"/>
              <a:buChar char="•"/>
            </a:pPr>
            <a:r>
              <a:rPr lang="de-DE" sz="3012"/>
              <a:t>Are there places in the writing that you find confusing? What about the writing in those places makes it unclear or confusing? </a:t>
            </a:r>
            <a:endParaRPr sz="3012"/>
          </a:p>
          <a:p>
            <a:pPr indent="-419893" lvl="0" marL="457200" rtl="0" algn="l">
              <a:lnSpc>
                <a:spcPct val="94999"/>
              </a:lnSpc>
              <a:spcBef>
                <a:spcPts val="0"/>
              </a:spcBef>
              <a:spcAft>
                <a:spcPts val="0"/>
              </a:spcAft>
              <a:buSzPts val="3013"/>
              <a:buChar char="•"/>
            </a:pPr>
            <a:r>
              <a:rPr lang="de-DE" sz="3012"/>
              <a:t>How does the author move from one idea to another in the writing? Are the transitions between the ideas effective? How else might he/she have transitioned between ideas instead? </a:t>
            </a:r>
            <a:endParaRPr sz="3012"/>
          </a:p>
          <a:p>
            <a:pPr indent="-419893" lvl="0" marL="457200" rtl="0" algn="l">
              <a:lnSpc>
                <a:spcPct val="94999"/>
              </a:lnSpc>
              <a:spcBef>
                <a:spcPts val="0"/>
              </a:spcBef>
              <a:spcAft>
                <a:spcPts val="0"/>
              </a:spcAft>
              <a:buSzPts val="3013"/>
              <a:buChar char="•"/>
            </a:pPr>
            <a:r>
              <a:rPr lang="de-DE" sz="3012"/>
              <a:t>What is the technique the author is using here? </a:t>
            </a:r>
            <a:endParaRPr sz="3012"/>
          </a:p>
          <a:p>
            <a:pPr indent="-419893" lvl="0" marL="457200" rtl="0" algn="l">
              <a:lnSpc>
                <a:spcPct val="94999"/>
              </a:lnSpc>
              <a:spcBef>
                <a:spcPts val="0"/>
              </a:spcBef>
              <a:spcAft>
                <a:spcPts val="0"/>
              </a:spcAft>
              <a:buSzPts val="3013"/>
              <a:buChar char="•"/>
            </a:pPr>
            <a:r>
              <a:rPr lang="de-DE" sz="3012"/>
              <a:t>Is this technique effective? </a:t>
            </a:r>
            <a:endParaRPr sz="3012"/>
          </a:p>
          <a:p>
            <a:pPr indent="-419893" lvl="0" marL="457200" rtl="0" algn="l">
              <a:lnSpc>
                <a:spcPct val="94999"/>
              </a:lnSpc>
              <a:spcBef>
                <a:spcPts val="0"/>
              </a:spcBef>
              <a:spcAft>
                <a:spcPts val="0"/>
              </a:spcAft>
              <a:buSzPts val="3013"/>
              <a:buChar char="•"/>
            </a:pPr>
            <a:r>
              <a:rPr lang="de-DE" sz="3012"/>
              <a:t>What would be the advantages and disadvantages if I tried the same technique in my writing?</a:t>
            </a:r>
            <a:endParaRPr sz="3012"/>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9"/>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Any questions?</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0"/>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Break…</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1"/>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Welcome and Arrival</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2"/>
          <p:cNvSpPr txBox="1"/>
          <p:nvPr>
            <p:ph type="ctrTitle"/>
          </p:nvPr>
        </p:nvSpPr>
        <p:spPr>
          <a:xfrm>
            <a:off x="2205643" y="2410767"/>
            <a:ext cx="13716000" cy="3581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b="1" lang="de-DE"/>
              <a:t>Energizer!</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51CF560-EDCD-4B47-BE7A-968B2936B06D}"/>
</file>

<file path=customXml/itemProps2.xml><?xml version="1.0" encoding="utf-8"?>
<ds:datastoreItem xmlns:ds="http://schemas.openxmlformats.org/officeDocument/2006/customXml" ds:itemID="{A6300064-E99D-45D9-BB74-50FFDE086EDC}"/>
</file>

<file path=customXml/itemProps3.xml><?xml version="1.0" encoding="utf-8"?>
<ds:datastoreItem xmlns:ds="http://schemas.openxmlformats.org/officeDocument/2006/customXml" ds:itemID="{EF40EE1F-B5F5-40B8-AD52-223A5D5A6CE0}"/>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