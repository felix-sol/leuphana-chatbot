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22" d="100"/>
          <a:sy n="22" d="100"/>
        </p:scale>
        <p:origin x="248" y="56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theme" Target="theme/theme2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theme" Target="theme/them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customXml" Target="../customXml/item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8AB545-A7A2-C64E-BEC8-51F178C6B1AA}" type="datetimeFigureOut">
              <a:rPr lang="de-DE"/>
              <a:t>04.09.2024</a:t>
            </a:fld>
            <a:endParaRPr lang="de-DE"/>
          </a:p>
        </p:txBody>
      </p:sp>
      <p:sp>
        <p:nvSpPr>
          <p:cNvPr id="4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C7837A-BE0C-8E44-AC6E-3BD867A160FB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F92545-A449-DB66-AD86-B8829FA33A24}" type="slidenum">
              <a:rPr/>
              <a:t>1</a:t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28B066-5110-A3C5-54B0-06711937EB16}" type="slidenum">
              <a:rPr/>
              <a:t>2</a:t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The first-year students can wildly suggest / name topics that were exciting for them</a:t>
            </a:r>
            <a:endParaRPr sz="1200"/>
          </a:p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This makes the topics more present again and everyone gets ideas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3</a:t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Arial"/>
              <a:buNone/>
              <a:defRPr/>
            </a:pPr>
            <a:r>
              <a:rPr lang="en-US" sz="1200" i="0">
                <a:solidFill>
                  <a:srgbClr val="000000"/>
                </a:solidFill>
                <a:latin typeface="Arial"/>
                <a:cs typeface="Arial"/>
              </a:rPr>
              <a:t>Explain background: </a:t>
            </a:r>
            <a:endParaRPr sz="1200" i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i="0">
                <a:solidFill>
                  <a:srgbClr val="000000"/>
                </a:solidFill>
                <a:latin typeface="Arial"/>
                <a:cs typeface="Arial"/>
              </a:rPr>
              <a:t>"Getting into Writing" as important preparation for written examinations</a:t>
            </a:r>
            <a:endParaRPr sz="1200" i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i="0">
                <a:solidFill>
                  <a:srgbClr val="000000"/>
                </a:solidFill>
                <a:latin typeface="Arial"/>
                <a:cs typeface="Arial"/>
              </a:rPr>
              <a:t>everyone has different seminars and interests, thereby quite own points of reference</a:t>
            </a:r>
            <a:endParaRPr sz="1200" i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i="0">
                <a:solidFill>
                  <a:srgbClr val="000000"/>
                </a:solidFill>
                <a:latin typeface="Arial"/>
                <a:cs typeface="Arial"/>
              </a:rPr>
              <a:t>This is one way to approach a topic, other ways can be found in How To section</a:t>
            </a:r>
            <a:endParaRPr sz="1200" i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i="0">
                <a:solidFill>
                  <a:srgbClr val="000000"/>
                </a:solidFill>
                <a:latin typeface="Arial"/>
                <a:cs typeface="Arial"/>
              </a:rPr>
              <a:t>Ideally, let them write by hand, but if they do write on the computer, the font color should be set to white during the sprint so that you </a:t>
            </a:r>
            <a:r>
              <a:rPr lang="en-US" sz="1200" i="0">
                <a:solidFill>
                  <a:srgbClr val="000000"/>
                </a:solidFill>
                <a:latin typeface="Arial"/>
                <a:cs typeface="Arial"/>
              </a:rPr>
              <a:t>dont</a:t>
            </a:r>
            <a:r>
              <a:rPr lang="en-US" sz="1200" i="0">
                <a:solidFill>
                  <a:srgbClr val="000000"/>
                </a:solidFill>
                <a:latin typeface="Arial"/>
                <a:cs typeface="Arial"/>
              </a:rPr>
              <a:t> think about grammar / spelling of what you‘ve written</a:t>
            </a:r>
            <a:endParaRPr sz="1200" i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4</a:t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First-year students develop initial subject areas that may continue to be exciting for them</a:t>
            </a:r>
            <a:endParaRPr sz="1200"/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Important: Classify here that this should show the first-year students where topics can potentially come from: In the future, they should pay attention to which areas interest them in seminars and lectures, so that they can later form questions from these topic areas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5</a:t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80829-38A5-AA6C-8CC0-B536D6FA73FB}" type="slidenum">
              <a:rPr/>
              <a:t>6</a:t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29.png"/><Relationship Id="rId26" Type="http://schemas.openxmlformats.org/officeDocument/2006/relationships/image" Target="../media/image30.png"/><Relationship Id="rId27" Type="http://schemas.openxmlformats.org/officeDocument/2006/relationships/image" Target="../media/image31.png"/><Relationship Id="rId28" Type="http://schemas.openxmlformats.org/officeDocument/2006/relationships/image" Target="../media/image32.png"/><Relationship Id="rId29" Type="http://schemas.openxmlformats.org/officeDocument/2006/relationships/image" Target="../media/image33.png"/><Relationship Id="rId30" Type="http://schemas.openxmlformats.org/officeDocument/2006/relationships/image" Target="../media/image34.png"/><Relationship Id="rId31" Type="http://schemas.openxmlformats.org/officeDocument/2006/relationships/image" Target="../media/image35.png"/><Relationship Id="rId32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Tutor*in: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Untertitel 2"/>
          <p:cNvSpPr txBox="1"/>
          <p:nvPr userDrawn="1"/>
        </p:nvSpPr>
        <p:spPr bwMode="auto"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5" name="Untertitel 2"/>
          <p:cNvSpPr txBox="1"/>
          <p:nvPr userDrawn="1"/>
        </p:nvSpPr>
        <p:spPr bwMode="auto"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Datum: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7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366738" y="782145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01860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1944000" y="2738828"/>
            <a:ext cx="14400000" cy="648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811537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66765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19440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2202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653257" y="-539706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7"/>
          <p:cNvSpPr/>
          <p:nvPr userDrawn="1"/>
        </p:nvSpPr>
        <p:spPr bwMode="auto">
          <a:xfrm rot="7860677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174623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1944000" y="3757613"/>
            <a:ext cx="7052362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9258301" y="3757613"/>
            <a:ext cx="7085700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7"/>
          <p:cNvSpPr/>
          <p:nvPr userDrawn="1"/>
        </p:nvSpPr>
        <p:spPr bwMode="auto">
          <a:xfrm rot="7860677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12"/>
          <p:cNvSpPr/>
          <p:nvPr userDrawn="1"/>
        </p:nvSpPr>
        <p:spPr bwMode="auto">
          <a:xfrm rot="7628195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6"/>
          <p:cNvSpPr/>
          <p:nvPr userDrawn="1"/>
        </p:nvSpPr>
        <p:spPr bwMode="auto">
          <a:xfrm rot="7860677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7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296953" y="7886423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6"/>
          <p:cNvSpPr/>
          <p:nvPr userDrawn="1"/>
        </p:nvSpPr>
        <p:spPr bwMode="auto">
          <a:xfrm rot="7860677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17027787" y="496651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619918" y="699121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6"/>
          <p:cNvSpPr/>
          <p:nvPr userDrawn="1"/>
        </p:nvSpPr>
        <p:spPr bwMode="auto">
          <a:xfrm rot="7860677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7"/>
          <p:cNvSpPr/>
          <p:nvPr userDrawn="1"/>
        </p:nvSpPr>
        <p:spPr bwMode="auto">
          <a:xfrm rot="7860677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7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7"/>
          <p:cNvSpPr/>
          <p:nvPr userDrawn="1"/>
        </p:nvSpPr>
        <p:spPr bwMode="auto">
          <a:xfrm rot="7860677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2970519" y="3831315"/>
            <a:ext cx="1196899" cy="839754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fill="norm" stroke="1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fill="norm" stroke="1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fill="norm" stroke="1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fill="norm" stroke="1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fill="norm" stroke="1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fill="norm" stroke="1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fill="norm" stroke="1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fill="norm" stroke="1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4514349" y="3536997"/>
            <a:ext cx="1005134" cy="1005134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fill="norm" stroke="1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fill="norm" stroke="1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fill="norm" stroke="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fill="norm" stroke="1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fill="norm" stroke="1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fill="norm" stroke="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fill="norm" stroke="1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769110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How</a:t>
            </a:r>
            <a:r>
              <a:rPr lang="de-DE"/>
              <a:t> do I find </a:t>
            </a:r>
            <a:r>
              <a:rPr lang="de-DE"/>
              <a:t>my</a:t>
            </a:r>
            <a:r>
              <a:rPr lang="de-DE"/>
              <a:t> </a:t>
            </a:r>
            <a:r>
              <a:rPr lang="de-DE"/>
              <a:t>research</a:t>
            </a:r>
            <a:r>
              <a:rPr lang="de-DE"/>
              <a:t> </a:t>
            </a:r>
            <a:r>
              <a:rPr lang="de-DE"/>
              <a:t>question</a:t>
            </a:r>
            <a:r>
              <a:rPr lang="de-DE"/>
              <a:t>?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6840961" y="1322139"/>
            <a:ext cx="9503038" cy="1260000"/>
          </a:xfrm>
        </p:spPr>
        <p:txBody>
          <a:bodyPr/>
          <a:lstStyle/>
          <a:p>
            <a:pPr>
              <a:defRPr/>
            </a:pPr>
            <a:r>
              <a:rPr lang="de-DE"/>
              <a:t>Agenda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4859070" y="3467099"/>
            <a:ext cx="9742165" cy="64800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AutoNum type="arabicPeriod"/>
              <a:defRPr/>
            </a:pPr>
            <a:r>
              <a:rPr lang="de-DE" sz="4400"/>
              <a:t>Flashlight-</a:t>
            </a:r>
            <a:r>
              <a:rPr lang="de-DE" sz="4400"/>
              <a:t>Thunderstorm</a:t>
            </a:r>
            <a:endParaRPr lang="de-DE" sz="4400"/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de-DE" sz="4400"/>
              <a:t>2. Focus </a:t>
            </a:r>
            <a:r>
              <a:rPr lang="de-DE" sz="4400"/>
              <a:t>sprint</a:t>
            </a:r>
            <a:endParaRPr lang="de-DE" sz="4400"/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de-DE" sz="4400"/>
              <a:t>3. Short </a:t>
            </a:r>
            <a:r>
              <a:rPr lang="de-DE" sz="4400"/>
              <a:t>group</a:t>
            </a:r>
            <a:r>
              <a:rPr lang="de-DE" sz="4400"/>
              <a:t> </a:t>
            </a:r>
            <a:r>
              <a:rPr lang="de-DE" sz="4400"/>
              <a:t>work</a:t>
            </a:r>
            <a:endParaRPr lang="de-DE"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1944000" y="1301860"/>
            <a:ext cx="14400000" cy="178424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 sz="6000"/>
              <a:t>Flashlight-</a:t>
            </a:r>
            <a:r>
              <a:rPr lang="de-DE" sz="6000"/>
              <a:t>Thunderstorm</a:t>
            </a:r>
            <a:r>
              <a:rPr lang="de-DE" sz="6000"/>
              <a:t> </a:t>
            </a:r>
            <a:br>
              <a:rPr lang="de-DE" sz="6000"/>
            </a:br>
            <a:r>
              <a:rPr lang="de-DE"/>
              <a:t>(Blitzlichtgewitter)</a:t>
            </a:r>
            <a:endParaRPr lang="de-DE" sz="60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433875" y="3390900"/>
            <a:ext cx="11420250" cy="6099000"/>
          </a:xfrm>
        </p:spPr>
        <p:txBody>
          <a:bodyPr>
            <a:normAutofit/>
          </a:bodyPr>
          <a:lstStyle/>
          <a:p>
            <a:pPr marL="914400" indent="-9144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5400">
                <a:solidFill>
                  <a:srgbClr val="000000"/>
                </a:solidFill>
                <a:latin typeface="Trade Gothic LT Std"/>
              </a:rPr>
              <a:t>What topics from the lectures come to mind?</a:t>
            </a:r>
            <a:endParaRPr lang="en-US" sz="8800"/>
          </a:p>
          <a:p>
            <a:pPr marL="914400" indent="-9144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5400">
                <a:solidFill>
                  <a:srgbClr val="000000"/>
                </a:solidFill>
                <a:latin typeface="Trade Gothic LT Std"/>
              </a:rPr>
              <a:t>Which ones were exciting / interesting?</a:t>
            </a:r>
            <a:endParaRPr lang="de-DE" sz="11500"/>
          </a:p>
          <a:p>
            <a:pPr marL="0" indent="0">
              <a:buNone/>
              <a:defRPr/>
            </a:pPr>
            <a:endParaRPr lang="de-DE"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6669999" y="1301859"/>
            <a:ext cx="9673999" cy="1260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6000"/>
              <a:t>Focus </a:t>
            </a:r>
            <a:r>
              <a:rPr lang="de-DE" sz="6000"/>
              <a:t>sprint</a:t>
            </a:r>
            <a:endParaRPr lang="de-DE" sz="60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686500" y="2705100"/>
            <a:ext cx="12915000" cy="6480000"/>
          </a:xfrm>
        </p:spPr>
        <p:txBody>
          <a:bodyPr/>
          <a:lstStyle/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</a:rPr>
              <a:t>What topics from the first responsibility / critique lectures or seminar sessions interest you? </a:t>
            </a:r>
            <a:endParaRPr lang="en-US" sz="4000"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</a:rPr>
              <a:t>Which of these would you want to take a closer look at?</a:t>
            </a:r>
            <a:endParaRPr lang="en-US" sz="4000">
              <a:solidFill>
                <a:srgbClr val="000000"/>
              </a:solidFill>
            </a:endParaRPr>
          </a:p>
          <a:p>
            <a:pPr>
              <a:buFont typeface="Arial"/>
              <a:buChar char="•"/>
              <a:defRPr/>
            </a:pPr>
            <a:endParaRPr lang="de-DE" sz="320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de-DE" sz="3200"/>
              <a:t>Individual </a:t>
            </a:r>
            <a:r>
              <a:rPr lang="de-DE" sz="3200"/>
              <a:t>work</a:t>
            </a:r>
            <a:r>
              <a:rPr lang="de-DE" sz="3200"/>
              <a:t>: 3x3-Minutes </a:t>
            </a:r>
            <a:r>
              <a:rPr lang="de-DE" sz="3200"/>
              <a:t>focus</a:t>
            </a:r>
            <a:r>
              <a:rPr lang="de-DE" sz="3200"/>
              <a:t> </a:t>
            </a:r>
            <a:r>
              <a:rPr lang="de-DE" sz="3200"/>
              <a:t>sprint</a:t>
            </a:r>
            <a:r>
              <a:rPr lang="de-DE" sz="3200"/>
              <a:t>:</a:t>
            </a:r>
            <a:endParaRPr/>
          </a:p>
          <a:p>
            <a:pPr>
              <a:lnSpc>
                <a:spcPct val="100000"/>
              </a:lnSpc>
              <a:buFontTx/>
              <a:buChar char="-"/>
              <a:defRPr/>
            </a:pPr>
            <a:r>
              <a:rPr lang="de-DE" sz="3200"/>
              <a:t>3min: </a:t>
            </a:r>
            <a:r>
              <a:rPr lang="de-DE" sz="3200"/>
              <a:t>write</a:t>
            </a:r>
            <a:r>
              <a:rPr lang="de-DE" sz="3200"/>
              <a:t> down </a:t>
            </a:r>
            <a:r>
              <a:rPr lang="de-DE" sz="3200"/>
              <a:t>your</a:t>
            </a:r>
            <a:r>
              <a:rPr lang="de-DE" sz="3200"/>
              <a:t> </a:t>
            </a:r>
            <a:r>
              <a:rPr lang="de-DE" sz="3200"/>
              <a:t>thoughts</a:t>
            </a:r>
            <a:endParaRPr lang="de-DE" sz="3200"/>
          </a:p>
          <a:p>
            <a:pPr>
              <a:lnSpc>
                <a:spcPct val="100000"/>
              </a:lnSpc>
              <a:buFontTx/>
              <a:buChar char="-"/>
              <a:defRPr/>
            </a:pPr>
            <a:r>
              <a:rPr lang="de-DE" sz="3200"/>
              <a:t>3min: </a:t>
            </a:r>
            <a:r>
              <a:rPr lang="de-DE" sz="3200"/>
              <a:t>re-read</a:t>
            </a:r>
            <a:r>
              <a:rPr lang="de-DE" sz="3200"/>
              <a:t> </a:t>
            </a:r>
            <a:r>
              <a:rPr lang="de-DE" sz="3200"/>
              <a:t>your</a:t>
            </a:r>
            <a:r>
              <a:rPr lang="de-DE" sz="3200"/>
              <a:t> </a:t>
            </a:r>
            <a:r>
              <a:rPr lang="de-DE" sz="3200"/>
              <a:t>points</a:t>
            </a:r>
            <a:r>
              <a:rPr lang="de-DE" sz="3200"/>
              <a:t> and highlight </a:t>
            </a:r>
            <a:r>
              <a:rPr lang="de-DE" sz="3200"/>
              <a:t>important</a:t>
            </a:r>
            <a:r>
              <a:rPr lang="de-DE" sz="3200"/>
              <a:t> </a:t>
            </a:r>
            <a:r>
              <a:rPr lang="de-DE" sz="3200"/>
              <a:t>aspects</a:t>
            </a:r>
            <a:endParaRPr lang="de-DE" sz="3200"/>
          </a:p>
          <a:p>
            <a:pPr>
              <a:lnSpc>
                <a:spcPct val="100000"/>
              </a:lnSpc>
              <a:buFontTx/>
              <a:buChar char="-"/>
              <a:defRPr/>
            </a:pPr>
            <a:r>
              <a:rPr lang="de-DE" sz="3200"/>
              <a:t>Additional 3min </a:t>
            </a:r>
            <a:r>
              <a:rPr lang="de-DE" sz="3200"/>
              <a:t>to</a:t>
            </a:r>
            <a:r>
              <a:rPr lang="de-DE" sz="3200"/>
              <a:t> </a:t>
            </a:r>
            <a:r>
              <a:rPr lang="de-DE" sz="3200"/>
              <a:t>collect</a:t>
            </a:r>
            <a:r>
              <a:rPr lang="de-DE" sz="3200"/>
              <a:t> </a:t>
            </a:r>
            <a:r>
              <a:rPr lang="de-DE" sz="3200"/>
              <a:t>more</a:t>
            </a:r>
            <a:r>
              <a:rPr lang="de-DE" sz="3200"/>
              <a:t> </a:t>
            </a:r>
            <a:r>
              <a:rPr lang="de-DE" sz="3200"/>
              <a:t>ideas</a:t>
            </a:r>
            <a:endParaRPr lang="de-DE" sz="3200"/>
          </a:p>
          <a:p>
            <a:pPr marL="0" indent="0">
              <a:buNone/>
              <a:defRPr/>
            </a:pPr>
            <a:endParaRPr lang="de-DE"/>
          </a:p>
          <a:p>
            <a:pPr>
              <a:buFontTx/>
              <a:buChar char="-"/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6108269" y="1301859"/>
            <a:ext cx="10235730" cy="1260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6000"/>
              <a:t>Short </a:t>
            </a:r>
            <a:r>
              <a:rPr lang="de-DE" sz="6000"/>
              <a:t>group</a:t>
            </a:r>
            <a:r>
              <a:rPr lang="de-DE" sz="6000"/>
              <a:t> </a:t>
            </a:r>
            <a:r>
              <a:rPr lang="de-DE" sz="6000"/>
              <a:t>work</a:t>
            </a:r>
            <a:endParaRPr lang="de-DE" sz="60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191200" y="2857500"/>
            <a:ext cx="13905600" cy="553396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000000"/>
                </a:solidFill>
              </a:rPr>
              <a:t>What new insights did the "sprint" lead to? (present keywords)</a:t>
            </a:r>
            <a:endParaRPr lang="en-US" sz="4400"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000000"/>
                </a:solidFill>
              </a:rPr>
              <a:t>What was helpful? </a:t>
            </a:r>
            <a:endParaRPr lang="en-US" sz="4400"/>
          </a:p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000000"/>
                </a:solidFill>
              </a:rPr>
              <a:t>Did a topic / subject area emerge that would be suitable for the term paper or project report?</a:t>
            </a:r>
            <a:endParaRPr lang="en-US" sz="4400"/>
          </a:p>
          <a:p>
            <a:pPr marL="0" indent="0">
              <a:buNone/>
              <a:defRPr/>
            </a:pPr>
            <a:endParaRPr lang="de-DE" sz="3200"/>
          </a:p>
          <a:p>
            <a:pPr marL="0" indent="0">
              <a:buNone/>
              <a:defRPr/>
            </a:pPr>
            <a:r>
              <a:rPr lang="en-US" sz="4400">
                <a:solidFill>
                  <a:srgbClr val="000000"/>
                </a:solidFill>
              </a:rPr>
              <a:t>Try to note down the answers in keywords.</a:t>
            </a:r>
            <a:endParaRPr lang="en-US"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Are </a:t>
            </a:r>
            <a:r>
              <a:rPr lang="de-DE"/>
              <a:t>there</a:t>
            </a:r>
            <a:r>
              <a:rPr lang="de-DE"/>
              <a:t> </a:t>
            </a:r>
            <a:r>
              <a:rPr lang="de-DE"/>
              <a:t>any</a:t>
            </a:r>
            <a:r>
              <a:rPr lang="de-DE"/>
              <a:t> open </a:t>
            </a:r>
            <a:r>
              <a:rPr lang="de-DE"/>
              <a:t>questions</a:t>
            </a:r>
            <a:r>
              <a:rPr lang="de-DE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519A8E-2341-4A75-9F4F-9252129CD1ED}"/>
</file>

<file path=customXml/itemProps2.xml><?xml version="1.0" encoding="utf-8"?>
<ds:datastoreItem xmlns:ds="http://schemas.openxmlformats.org/officeDocument/2006/customXml" ds:itemID="{47FEFA06-FA16-4E61-9A98-075CA3614B3A}"/>
</file>

<file path=customXml/itemProps3.xml><?xml version="1.0" encoding="utf-8"?>
<ds:datastoreItem xmlns:ds="http://schemas.openxmlformats.org/officeDocument/2006/customXml" ds:itemID="{4180CDD3-EA40-44DA-8EBB-62196DDD705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onlyoffice/7.5.1.23</Application>
  <DocSecurity>0</DocSecurity>
  <PresentationFormat>Custom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finnja.a.voltolina@stud.leuphana.de</cp:lastModifiedBy>
  <cp:revision>7</cp:revision>
  <dcterms:created xsi:type="dcterms:W3CDTF">2006-08-16T00:00:00Z</dcterms:created>
  <dcterms:modified xsi:type="dcterms:W3CDTF">2024-09-04T15:27:33Z</dcterms:modified>
  <cp:category/>
  <dc:identifier>DAGKdR2DXUk</dc:identifier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