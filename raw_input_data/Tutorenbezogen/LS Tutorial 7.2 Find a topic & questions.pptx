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6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8AB545-A7A2-C64E-BEC8-51F178C6B1AA}" type="datetimeFigureOut">
              <a:rPr lang="de-DE"/>
              <a:t>22.06.2026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C7837A-BE0C-8E44-AC6E-3BD867A160FB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F92545-A449-DB66-AD86-B8829FA33A24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28B066-5110-A3C5-54B0-06711937EB1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First-year students are asked to think about the topic for 5 minutes; the topic is not final but serves the purpose of working in today’s session.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DE" sz="1200" b="1"/>
              <a:t>To the students: </a:t>
            </a:r>
            <a:r>
              <a:rPr lang="en-US" sz="1200">
                <a:solidFill>
                  <a:srgbClr val="000000"/>
                </a:solidFill>
                <a:latin typeface="Arial"/>
              </a:rPr>
              <a:t>Once you have chosen a topic, you can restrict it in different ways</a:t>
            </a:r>
            <a:endParaRPr sz="1200"/>
          </a:p>
          <a:p>
            <a:pPr>
              <a:defRPr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First-year students have 10 minutes to narrow down their topic through the idea pyramid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Reflect in plenary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How do you get from the topic to the question? </a:t>
            </a:r>
            <a:endParaRPr sz="1200"/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What constitutes a question?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- By presenting the different types of questions, the first-year students should get an idea of the different approaches they can take on in their term paper.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https://www.scribbr.de/anfang-abschlussarbeit/forschungsfrage-beispiele/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To you: When moderating this page, you could go into more detail about why those questions are not good </a:t>
            </a:r>
            <a:endParaRPr/>
          </a:p>
          <a:p>
            <a:pPr>
              <a:defRPr/>
            </a:pPr>
            <a:r>
              <a:rPr lang="en-US"/>
              <a:t>Find criteria using those examples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too broad, 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yes/no question is often too easy to answer and leaves little room for interpretation, biased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too imprecise, lack of context, unspecifically formulated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The first-year students are then asked to think and, after 5 minutes, collect criteria for a bad question in small groups:</a:t>
            </a:r>
            <a:endParaRPr/>
          </a:p>
          <a:p>
            <a:pPr>
              <a:defRPr/>
            </a:pPr>
            <a:r>
              <a:rPr lang="en-US"/>
              <a:t>-  of clarity, too broad, yes/no questions, lack of relevance, lack of feasibility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Finally, the first-year students can formulate further questions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Tutor*in: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Untertitel 2"/>
          <p:cNvSpPr txBox="1"/>
          <p:nvPr userDrawn="1"/>
        </p:nvSpPr>
        <p:spPr bwMode="auto"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5" name="Untertitel 2"/>
          <p:cNvSpPr txBox="1"/>
          <p:nvPr userDrawn="1"/>
        </p:nvSpPr>
        <p:spPr bwMode="auto"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Datum: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366738" y="782145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01860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1944000" y="2738828"/>
            <a:ext cx="14400000" cy="648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811537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66765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19440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2202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653257" y="-539706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7"/>
          <p:cNvSpPr/>
          <p:nvPr userDrawn="1"/>
        </p:nvSpPr>
        <p:spPr bwMode="auto">
          <a:xfrm rot="7860677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174623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1944000" y="3757613"/>
            <a:ext cx="7052362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9258301" y="3757613"/>
            <a:ext cx="7085700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7"/>
          <p:cNvSpPr/>
          <p:nvPr userDrawn="1"/>
        </p:nvSpPr>
        <p:spPr bwMode="auto">
          <a:xfrm rot="7860677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12"/>
          <p:cNvSpPr/>
          <p:nvPr userDrawn="1"/>
        </p:nvSpPr>
        <p:spPr bwMode="auto">
          <a:xfrm rot="7628195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6"/>
          <p:cNvSpPr/>
          <p:nvPr userDrawn="1"/>
        </p:nvSpPr>
        <p:spPr bwMode="auto">
          <a:xfrm rot="7860677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296953" y="7886423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6"/>
          <p:cNvSpPr/>
          <p:nvPr userDrawn="1"/>
        </p:nvSpPr>
        <p:spPr bwMode="auto">
          <a:xfrm rot="7860677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17027787" y="496651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619918" y="699121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2970519" y="3831315"/>
            <a:ext cx="1196899" cy="839754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4514349" y="3536997"/>
            <a:ext cx="1005134" cy="1005134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769110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Find a topic &amp; question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753999" y="1322139"/>
            <a:ext cx="5019076" cy="1260000"/>
          </a:xfrm>
        </p:spPr>
        <p:txBody>
          <a:bodyPr/>
          <a:lstStyle/>
          <a:p>
            <a:pPr>
              <a:defRPr/>
            </a:pPr>
            <a:r>
              <a:rPr lang="de-DE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414595" y="2933699"/>
            <a:ext cx="8191500" cy="580255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defRPr/>
            </a:pPr>
            <a:r>
              <a:rPr lang="de-DE" sz="4400"/>
              <a:t>  Find a topic</a:t>
            </a:r>
            <a:endParaRPr sz="4400"/>
          </a:p>
          <a:p>
            <a:pPr>
              <a:lnSpc>
                <a:spcPct val="150000"/>
              </a:lnSpc>
              <a:defRPr/>
            </a:pPr>
            <a:r>
              <a:rPr lang="de-DE" sz="4400"/>
              <a:t> Specify the topic </a:t>
            </a:r>
            <a:endParaRPr sz="4400"/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Idea pyramide </a:t>
            </a:r>
            <a:endParaRPr sz="4000"/>
          </a:p>
          <a:p>
            <a:pPr>
              <a:lnSpc>
                <a:spcPct val="150000"/>
              </a:lnSpc>
              <a:defRPr/>
            </a:pPr>
            <a:r>
              <a:rPr lang="de-DE" sz="4400"/>
              <a:t> Formulation of a question</a:t>
            </a:r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Different types of questions</a:t>
            </a:r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Examples for a very bad question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7109615" y="1301859"/>
            <a:ext cx="9234384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5400"/>
              <a:t>Find a topic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048000" y="3009900"/>
            <a:ext cx="12762600" cy="59752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Which topic do you want to address in your term paper?</a:t>
            </a:r>
            <a:endParaRPr lang="en-US" sz="7200"/>
          </a:p>
          <a:p>
            <a:pPr>
              <a:lnSpc>
                <a:spcPct val="16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Why are you interested in this topic?</a:t>
            </a:r>
            <a:endParaRPr lang="en-US" sz="7200"/>
          </a:p>
          <a:p>
            <a:pPr>
              <a:lnSpc>
                <a:spcPct val="16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How do you want to explore this topic?</a:t>
            </a:r>
            <a:endParaRPr lang="en-US"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6083845" y="1301859"/>
            <a:ext cx="10260153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NZ" sz="4800"/>
              <a:t>Concretize the topic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267400" y="2599960"/>
            <a:ext cx="13753200" cy="64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Topic pyramid: Narrow down your topic more and more from top to bottom</a:t>
            </a:r>
            <a:endParaRPr lang="en-US" sz="4400"/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Your topics are very individualistic:</a:t>
            </a:r>
            <a:endParaRPr lang="en-US" sz="4400"/>
          </a:p>
          <a:p>
            <a:pPr marL="1076325" indent="536575">
              <a:lnSpc>
                <a:spcPct val="100000"/>
              </a:lnSpc>
              <a:buFont typeface="Arial"/>
              <a:buChar char="►"/>
              <a:defRPr/>
            </a:pPr>
            <a:r>
              <a:rPr lang="en-US" sz="3600">
                <a:solidFill>
                  <a:srgbClr val="000000"/>
                </a:solidFill>
              </a:rPr>
              <a:t>There are no "right" steps for the restriction</a:t>
            </a:r>
            <a:endParaRPr lang="en-US" sz="4400"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For example:</a:t>
            </a:r>
            <a:endParaRPr lang="en-US" sz="4400"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1248000" y="6515100"/>
            <a:ext cx="15792000" cy="1676400"/>
            <a:chOff x="1600200" y="6972300"/>
            <a:chExt cx="12514000" cy="1260000"/>
          </a:xfrm>
        </p:grpSpPr>
        <p:sp>
          <p:nvSpPr>
            <p:cNvPr id="6" name="Rectangle 5"/>
            <p:cNvSpPr/>
            <p:nvPr/>
          </p:nvSpPr>
          <p:spPr bwMode="auto">
            <a:xfrm>
              <a:off x="16002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Time</a:t>
              </a:r>
              <a:endParaRPr lang="de-DE" sz="3200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7728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Place</a:t>
              </a:r>
              <a:endParaRPr lang="de-DE" sz="3200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9454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Person</a:t>
              </a:r>
              <a:endParaRPr lang="de-DE" sz="3200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81180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Source</a:t>
              </a:r>
              <a:endParaRPr lang="de-DE" sz="3200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102906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124378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Author</a:t>
              </a:r>
              <a:endParaRPr lang="de-DE" sz="16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" name="Content Placeholder 18" descr="A diagram of a pyramid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3"/>
          <a:srcRect b="22971"/>
          <a:stretch/>
        </p:blipFill>
        <p:spPr bwMode="auto">
          <a:xfrm>
            <a:off x="1377403" y="1319730"/>
            <a:ext cx="9877195" cy="7804147"/>
          </a:xfrm>
        </p:spPr>
      </p:pic>
      <p:grpSp>
        <p:nvGrpSpPr>
          <p:cNvPr id="4" name="Group 3"/>
          <p:cNvGrpSpPr/>
          <p:nvPr/>
        </p:nvGrpSpPr>
        <p:grpSpPr bwMode="auto">
          <a:xfrm>
            <a:off x="9897401" y="1383339"/>
            <a:ext cx="7491422" cy="3313327"/>
            <a:chOff x="1727153" y="6597007"/>
            <a:chExt cx="5933843" cy="2895293"/>
          </a:xfrm>
        </p:grpSpPr>
        <p:sp>
          <p:nvSpPr>
            <p:cNvPr id="5" name="Rectangle 4"/>
            <p:cNvSpPr/>
            <p:nvPr/>
          </p:nvSpPr>
          <p:spPr bwMode="auto">
            <a:xfrm>
              <a:off x="1727154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Time</a:t>
              </a:r>
              <a:endParaRPr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55875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Place</a:t>
              </a:r>
              <a:endParaRPr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5984596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Person</a:t>
              </a:r>
              <a:endParaRPr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727153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Source</a:t>
              </a:r>
              <a:endParaRPr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855875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984596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Author</a:t>
              </a:r>
              <a:endParaRPr lang="de-DE" sz="1600"/>
            </a:p>
          </p:txBody>
        </p:sp>
      </p:grpSp>
      <p:grpSp>
        <p:nvGrpSpPr>
          <p:cNvPr id="27" name="Group 26"/>
          <p:cNvGrpSpPr/>
          <p:nvPr/>
        </p:nvGrpSpPr>
        <p:grpSpPr bwMode="auto">
          <a:xfrm>
            <a:off x="2734602" y="1550956"/>
            <a:ext cx="7162799" cy="7363217"/>
            <a:chOff x="2867801" y="1388804"/>
            <a:chExt cx="6629400" cy="6692058"/>
          </a:xfrm>
        </p:grpSpPr>
        <p:sp>
          <p:nvSpPr>
            <p:cNvPr id="20" name="TextBox 19"/>
            <p:cNvSpPr txBox="1"/>
            <p:nvPr/>
          </p:nvSpPr>
          <p:spPr bwMode="auto">
            <a:xfrm>
              <a:off x="5596105" y="1388804"/>
              <a:ext cx="1447800" cy="335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de-DE" b="1"/>
                <a:t>7. Topic</a:t>
              </a:r>
              <a:endParaRPr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4659591" y="2266212"/>
              <a:ext cx="3124199" cy="792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de-DE" b="1"/>
                <a:t>6. Restrictions to target </a:t>
              </a:r>
              <a:endParaRPr/>
            </a:p>
            <a:p>
              <a:pPr algn="ctr">
                <a:lnSpc>
                  <a:spcPct val="150000"/>
                </a:lnSpc>
                <a:defRPr/>
              </a:pPr>
              <a:r>
                <a:rPr lang="de-DE" b="1"/>
                <a:t>group</a:t>
              </a: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4583390" y="3420385"/>
              <a:ext cx="3276600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5. Local / time </a:t>
              </a:r>
              <a:endParaRPr/>
            </a:p>
            <a:p>
              <a:pPr algn="ctr">
                <a:defRPr/>
              </a:pPr>
              <a:r>
                <a:rPr lang="de-DE" b="1"/>
                <a:t>restrictions</a:t>
              </a: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818577" y="4441124"/>
              <a:ext cx="4666260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4. Restrictions to a perspective</a:t>
              </a:r>
            </a:p>
            <a:p>
              <a:pPr algn="ctr">
                <a:defRPr/>
              </a:pPr>
              <a:r>
                <a:rPr lang="de-DE"/>
                <a:t>(i.e. significance for…)</a:t>
              </a:r>
              <a:endParaRPr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4084060" y="5414843"/>
              <a:ext cx="4135292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3. Restrictions to theory / method/ partial aspects / example</a:t>
              </a:r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3386303" y="6454143"/>
              <a:ext cx="5867399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2. Restriction to source / materials</a:t>
              </a:r>
              <a:endParaRPr lang="de-DE"/>
            </a:p>
            <a:p>
              <a:pPr algn="ctr">
                <a:defRPr/>
              </a:pPr>
              <a:r>
                <a:rPr lang="de-DE"/>
                <a:t>(i.e. in der englishen literature, according to agenda)</a:t>
              </a:r>
              <a:endParaRPr/>
            </a:p>
          </p:txBody>
        </p:sp>
        <p:sp>
          <p:nvSpPr>
            <p:cNvPr id="26" name="TextBox 25"/>
            <p:cNvSpPr txBox="1"/>
            <p:nvPr/>
          </p:nvSpPr>
          <p:spPr bwMode="auto">
            <a:xfrm>
              <a:off x="2867801" y="7493444"/>
              <a:ext cx="6629400" cy="5874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 algn="ctr">
                <a:buAutoNum type="arabicPeriod"/>
                <a:defRPr/>
              </a:pPr>
              <a:r>
                <a:rPr lang="de-DE" b="1"/>
                <a:t>Idea</a:t>
              </a:r>
            </a:p>
            <a:p>
              <a:pPr algn="ctr">
                <a:defRPr/>
              </a:pPr>
              <a:r>
                <a:rPr lang="de-DE"/>
                <a:t>(i.e. sustainability, university history, diver)</a:t>
              </a:r>
              <a:endParaRPr/>
            </a:p>
          </p:txBody>
        </p:sp>
      </p:grpSp>
      <p:cxnSp>
        <p:nvCxnSpPr>
          <p:cNvPr id="29" name="Straight Arrow Connector 28"/>
          <p:cNvCxnSpPr>
            <a:cxnSpLocks/>
          </p:cNvCxnSpPr>
          <p:nvPr/>
        </p:nvCxnSpPr>
        <p:spPr bwMode="auto">
          <a:xfrm flipV="1">
            <a:off x="1573907" y="1410090"/>
            <a:ext cx="2774499" cy="74668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1932" y="1509093"/>
            <a:ext cx="9077740" cy="76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10627305" y="5617339"/>
            <a:ext cx="5943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  <a:latin typeface="Arial"/>
              </a:rPr>
              <a:t>How did it work?</a:t>
            </a:r>
            <a:endParaRPr lang="en-US" sz="6600"/>
          </a:p>
          <a:p>
            <a:pPr marL="571500" indent="-571500"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  <a:latin typeface="Arial"/>
              </a:rPr>
              <a:t>Find solutions &amp; ideas for still vague/ open questions.</a:t>
            </a:r>
            <a:endParaRPr lang="en-US" sz="6600"/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9569085" y="1654580"/>
            <a:ext cx="7491422" cy="3313327"/>
            <a:chOff x="1727153" y="6597007"/>
            <a:chExt cx="5933843" cy="2895293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727154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Time</a:t>
              </a:r>
              <a:endParaRPr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55875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Place</a:t>
              </a:r>
              <a:endParaRPr/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984596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Person</a:t>
              </a:r>
              <a:endParaRPr/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1727153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Source</a:t>
              </a:r>
              <a:endParaRPr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3855875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5984596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Author</a:t>
              </a:r>
              <a:endParaRPr lang="de-DE" sz="16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4572000" y="1301859"/>
            <a:ext cx="11771999" cy="1260000"/>
          </a:xfrm>
        </p:spPr>
        <p:txBody>
          <a:bodyPr/>
          <a:lstStyle/>
          <a:p>
            <a:pPr>
              <a:defRPr/>
            </a:pPr>
            <a:r>
              <a:rPr lang="de-DE"/>
              <a:t>Formulating a research question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534000" y="2519275"/>
            <a:ext cx="11220000" cy="64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3200"/>
              <a:t>“?” = your question should be a question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 as precise as possible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Not influenced or biased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Open-ended and without pre-assumptions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The question can still be changed or specified during the work</a:t>
            </a:r>
            <a:endParaRPr/>
          </a:p>
          <a:p>
            <a:pPr>
              <a:lnSpc>
                <a:spcPct val="100000"/>
              </a:lnSpc>
              <a:defRPr/>
            </a:pPr>
            <a:endParaRPr lang="en-US" sz="3200"/>
          </a:p>
          <a:p>
            <a:pPr>
              <a:lnSpc>
                <a:spcPct val="100000"/>
              </a:lnSpc>
              <a:defRPr/>
            </a:pPr>
            <a:r>
              <a:rPr lang="en-US" sz="3200"/>
              <a:t>Scientific work ≠ Listing of facts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Scientific work = problem solving</a:t>
            </a:r>
            <a:endParaRPr/>
          </a:p>
          <a:p>
            <a:pPr lvl="1">
              <a:lnSpc>
                <a:spcPct val="100000"/>
              </a:lnSpc>
              <a:buFont typeface="Arial"/>
              <a:buChar char="►"/>
              <a:defRPr/>
            </a:pPr>
            <a:r>
              <a:rPr lang="en-US" sz="2800"/>
              <a:t>The answer is a new scientific contribution</a:t>
            </a:r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033653" y="1257299"/>
            <a:ext cx="11310346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Different types of questions:</a:t>
            </a:r>
            <a:endParaRPr lang="de-DE" sz="5400">
              <a:latin typeface="Arial"/>
              <a:cs typeface="Arial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457900" y="2549700"/>
            <a:ext cx="13372200" cy="6480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3600"/>
              <a:t>Descriptive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does the use of fitness content on Instagram affect girls' body image?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en-US" sz="3600"/>
              <a:t>Explaining correlations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can the accelerated energy transition in Germany in 2021 be explained using the multiple streams approach?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en-US" sz="3600"/>
              <a:t>Creative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What strategy should universities adopt to get environmental science students interested in Python?</a:t>
            </a:r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229038" y="1301859"/>
            <a:ext cx="11114961" cy="126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Different types of questions:</a:t>
            </a:r>
            <a:endParaRPr lang="de-DE" sz="48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800800" y="2705100"/>
            <a:ext cx="12686400" cy="56169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4000"/>
              <a:t>Forecasting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 sz="3600"/>
              <a:t>How will the learning behavior of students change in the next 10 years due to increasing digitalization?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4000"/>
              <a:t>Critically reflecting / evaluating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 sz="3600"/>
              <a:t>How should a quota regulation for the gender ratio on company boards be assessed with regard to the criterion of company performance?</a:t>
            </a:r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4520769" y="1301859"/>
            <a:ext cx="11823230" cy="1260000"/>
          </a:xfrm>
        </p:spPr>
        <p:txBody>
          <a:bodyPr/>
          <a:lstStyle/>
          <a:p>
            <a:pPr>
              <a:defRPr/>
            </a:pPr>
            <a:r>
              <a:rPr lang="de-DE"/>
              <a:t>Formulating a research question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724600" y="2659920"/>
            <a:ext cx="12838800" cy="576018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/>
              <a:t>What could by typical for a very bad research question?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3200"/>
              <a:t>Example</a:t>
            </a:r>
            <a:r>
              <a:rPr lang="en-US" sz="3600"/>
              <a:t>: 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has the global economy developed over the last century?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Does smoking have a negative impact on health?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does politics influence society?</a:t>
            </a:r>
            <a:endParaRPr lang="en-US" sz="3600"/>
          </a:p>
          <a:p>
            <a:pPr>
              <a:lnSpc>
                <a:spcPct val="150000"/>
              </a:lnSpc>
              <a:defRPr/>
            </a:pPr>
            <a:endParaRPr lang="en-US" sz="1000"/>
          </a:p>
          <a:p>
            <a:pPr>
              <a:lnSpc>
                <a:spcPct val="150000"/>
              </a:lnSpc>
              <a:defRPr/>
            </a:pPr>
            <a:r>
              <a:rPr lang="en-US" sz="3600"/>
              <a:t>Create a list of criteria for a bad research question.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3600"/>
              <a:t>Formulate further examples of a very bad research question!</a:t>
            </a:r>
            <a:endParaRPr/>
          </a:p>
          <a:p>
            <a:pPr marL="0" indent="0">
              <a:buNone/>
              <a:defRPr/>
            </a:pPr>
            <a:endParaRPr lang="en-US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27C046-3046-4359-8F35-4A1D7BCF50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46106F-DE47-41AF-B0AC-B8758F1520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EB706A-2F09-4080-9466-A2E0198F254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677</Words>
  <Application>Microsoft Office PowerPoint</Application>
  <DocSecurity>0</DocSecurity>
  <PresentationFormat>Benutzerdefiniert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Aptos</vt:lpstr>
      <vt:lpstr>Arial</vt:lpstr>
      <vt:lpstr>Benutzerdefiniertes Design</vt:lpstr>
      <vt:lpstr>Find a topic &amp; question</vt:lpstr>
      <vt:lpstr>Agenda</vt:lpstr>
      <vt:lpstr>Find a topic</vt:lpstr>
      <vt:lpstr>Concretize the topic</vt:lpstr>
      <vt:lpstr>PowerPoint-Präsentation</vt:lpstr>
      <vt:lpstr>PowerPoint-Präsentation</vt:lpstr>
      <vt:lpstr>Formulating a research question</vt:lpstr>
      <vt:lpstr>Different types of questions:</vt:lpstr>
      <vt:lpstr>Different types of questions:</vt:lpstr>
      <vt:lpstr>Formulating a research 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Felix Soltau</cp:lastModifiedBy>
  <cp:revision>8</cp:revision>
  <dcterms:created xsi:type="dcterms:W3CDTF">2006-08-16T00:00:00Z</dcterms:created>
  <dcterms:modified xsi:type="dcterms:W3CDTF">2026-06-22T20:37:51Z</dcterms:modified>
  <cp:category/>
  <dc:identifier>DAGKdR2DXUk</dc:identifier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