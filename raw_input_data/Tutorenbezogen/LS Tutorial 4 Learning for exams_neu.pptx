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Layouts/slideLayout17.xml" ContentType="application/vnd.openxmlformats-officedocument.presentationml.slideLayout+xml"/>
  <Override PartName="/ppt/slideLayouts/slideLayout13.xml" ContentType="application/vnd.openxmlformats-officedocument.presentationml.slideLayout+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slideLayouts/slideLayout7.xml" ContentType="application/vnd.openxmlformats-officedocument.presentationml.slideLayout+xml"/>
  <Override PartName="/ppt/slideLayouts/slideLayout15.xml" ContentType="application/vnd.openxmlformats-officedocument.presentationml.slideLayout+xml"/>
  <Override PartName="/ppt/slideLayouts/slideLayout12.xml" ContentType="application/vnd.openxmlformats-officedocument.presentationml.slideLayout+xml"/>
  <Override PartName="/ppt/slideLayouts/slideLayout19.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4.xml" ContentType="application/vnd.openxmlformats-officedocument.presentationml.slideLayout+xml"/>
  <Override PartName="/ppt/slideLayouts/slideLayout18.xml" ContentType="application/vnd.openxmlformats-officedocument.presentationml.slideLayout+xml"/>
  <Override PartName="/ppt/slideLayouts/slideLayout16.xml" ContentType="application/vnd.openxmlformats-officedocument.presentationml.slideLayout+xml"/>
  <Override PartName="/ppt/slideLayouts/slideLayout4.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slides/slide19.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8.xml" ContentType="application/vnd.openxmlformats-officedocument.presentationml.slide+xml"/>
  <Override PartName="/ppt/slides/slide18.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slides/slide9.xml" ContentType="application/vnd.openxmlformats-officedocument.presentationml.slide+xml"/>
  <Override PartName="/ppt/slides/slide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4.xml" ContentType="application/vnd.openxmlformats-officedocument.presentationml.slide+xml"/>
  <Override PartName="/ppt/slides/slide16.xml" ContentType="application/vnd.openxmlformats-officedocument.presentationml.slide+xml"/>
  <Override PartName="/ppt/slides/slide13.xml" ContentType="application/vnd.openxmlformats-officedocument.presentationml.slide+xml"/>
  <Override PartName="/ppt/slides/slide17.xml" ContentType="application/vnd.openxmlformats-officedocument.presentationml.slide+xml"/>
  <Override PartName="/ppt/slides/slide24.xml" ContentType="application/vnd.openxmlformats-officedocument.presentationml.slide+xml"/>
  <Override PartName="/ppt/slides/slide12.xml" ContentType="application/vnd.openxmlformats-officedocument.presentationml.slide+xml"/>
  <Override PartName="/ppt/slides/slide22.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1.xml" ContentType="application/vnd.openxmlformats-officedocument.presentationml.notesSlide+xml"/>
  <Override PartName="/ppt/notesSlides/notesSlide4.xml" ContentType="application/vnd.openxmlformats-officedocument.presentationml.notesSlide+xml"/>
  <Override PartName="/ppt/notesSlides/notesSlide24.xml" ContentType="application/vnd.openxmlformats-officedocument.presentationml.notesSlide+xml"/>
  <Override PartName="/ppt/notesSlides/notesSlide12.xml" ContentType="application/vnd.openxmlformats-officedocument.presentationml.notesSlide+xml"/>
  <Override PartName="/ppt/notesSlides/notesSlide10.xml" ContentType="application/vnd.openxmlformats-officedocument.presentationml.notesSlide+xml"/>
  <Override PartName="/ppt/notesSlides/notesSlide6.xml" ContentType="application/vnd.openxmlformats-officedocument.presentationml.notesSlide+xml"/>
  <Override PartName="/ppt/notesSlides/notesSlide23.xml" ContentType="application/vnd.openxmlformats-officedocument.presentationml.notesSlide+xml"/>
  <Override PartName="/ppt/notesSlides/notesSlide8.xml" ContentType="application/vnd.openxmlformats-officedocument.presentationml.notesSlide+xml"/>
  <Override PartName="/ppt/notesSlides/notesSlide13.xml" ContentType="application/vnd.openxmlformats-officedocument.presentationml.notesSlide+xml"/>
  <Override PartName="/ppt/notesSlides/notesSlide16.xml" ContentType="application/vnd.openxmlformats-officedocument.presentationml.notesSlide+xml"/>
  <Override PartName="/ppt/notesSlides/notesSlide3.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2.xml" ContentType="application/vnd.openxmlformats-officedocument.presentationml.notesSlide+xml"/>
  <Override PartName="/ppt/notesSlides/notesSlide1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7.xml" ContentType="application/vnd.openxmlformats-officedocument.presentationml.notesSlide+xml"/>
  <Override PartName="/ppt/notesSlides/notesSlide17.xml" ContentType="application/vnd.openxmlformats-officedocument.presentationml.notesSlide+xml"/>
  <Override PartName="/ppt/notesSlides/notesSlide14.xml" ContentType="application/vnd.openxmlformats-officedocument.presentationml.notesSlide+xml"/>
  <Override PartName="/ppt/notesSlides/notesSlide19.xml" ContentType="application/vnd.openxmlformats-officedocument.presentationml.notesSlide+xml"/>
  <Override PartName="/ppt/notesSlides/notesSlide22.xml" ContentType="application/vnd.openxmlformats-officedocument.presentationml.notesSlide+xml"/>
  <Override PartName="/ppt/notesSlides/notesSlide15.xml" ContentType="application/vnd.openxmlformats-officedocument.presentationml.notesSlide+xml"/>
  <Override PartName="/ppt/theme/theme1.xml" ContentType="application/vnd.openxmlformats-officedocument.theme+xml"/>
  <Override PartName="/ppt/theme/theme2.xml" ContentType="application/vnd.openxmlformats-officedocument.theme+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extended-properties" Target="docProps/app.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embedTrueTypeFonts="1" saveSubsetFonts="1">
  <p:sldMasterIdLst>
    <p:sldMasterId id="2147483648" r:id="rId1"/>
  </p:sldMasterIdLst>
  <p:notesMasterIdLst>
    <p:notesMasterId r:id="rId28"/>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8288000" cy="10287000"/>
  <p:notesSz cx="6858000" cy="9144000"/>
  <p:defaultTex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A111915-BE36-4E01-A7E5-04B1672EAD32}">
  <a:tblStyle styleId="{5A111915-BE36-4E01-A7E5-04B1672EAD32}" styleName="Light Style 2 - Accent 5">
    <a:wholeTbl>
      <a:tcTxStyle>
        <a:fontRef idx="minor">
          <a:prstClr val="black"/>
        </a:fontRef>
        <a:schemeClr val="dk1"/>
      </a:tcTxStyle>
      <a:tcStyle>
        <a:tcBdr>
          <a:left>
            <a:ln w="12700">
              <a:solidFill>
                <a:schemeClr val="accent5"/>
              </a:solidFill>
            </a:ln>
          </a:left>
          <a:right>
            <a:ln w="12700">
              <a:solidFill>
                <a:schemeClr val="accent5"/>
              </a:solidFill>
            </a:ln>
          </a:right>
          <a:top>
            <a:ln w="12700">
              <a:solidFill>
                <a:schemeClr val="accent5"/>
              </a:solidFill>
            </a:ln>
          </a:top>
          <a:bottom>
            <a:ln w="12700">
              <a:solidFill>
                <a:schemeClr val="accent5"/>
              </a:solidFill>
            </a:ln>
          </a:bottom>
          <a:insideH>
            <a:ln>
              <a:noFill/>
            </a:ln>
          </a:insideH>
          <a:insideV>
            <a:ln>
              <a:noFill/>
            </a:ln>
          </a:insideV>
        </a:tcBdr>
        <a:fill>
          <a:solidFill>
            <a:schemeClr val="lt1"/>
          </a:solidFill>
        </a:fill>
      </a:tcStyle>
    </a:wholeTbl>
    <a:band1H>
      <a:tcStyle>
        <a:tcBdr>
          <a:top>
            <a:ln w="12700">
              <a:solidFill>
                <a:schemeClr val="accent5"/>
              </a:solidFill>
            </a:ln>
          </a:top>
          <a:bottom>
            <a:ln w="12700">
              <a:solidFill>
                <a:schemeClr val="accent5"/>
              </a:solidFill>
            </a:ln>
          </a:bottom>
        </a:tcBdr>
        <a:fill>
          <a:solidFill>
            <a:schemeClr val="lt1"/>
          </a:solidFill>
        </a:fill>
      </a:tcStyle>
    </a:band1H>
    <a:band2H>
      <a:tcStyle>
        <a:tcBdr/>
      </a:tcStyle>
    </a:band2H>
    <a:band1V>
      <a:tcStyle>
        <a:tcBdr>
          <a:left>
            <a:ln w="12700">
              <a:solidFill>
                <a:schemeClr val="accent5"/>
              </a:solidFill>
            </a:ln>
          </a:left>
          <a:right>
            <a:ln w="12700">
              <a:solidFill>
                <a:schemeClr val="accent5"/>
              </a:solidFill>
            </a:ln>
          </a:right>
        </a:tcBdr>
      </a:tcStyle>
    </a:band1V>
    <a:band2V>
      <a:tcStyle>
        <a:tcBdr/>
      </a:tcStyle>
    </a:band2V>
    <a:lastCol>
      <a:tcTxStyle b="on">
        <a:fontRef idx="minor">
          <a:prstClr val="black"/>
        </a:fontRef>
        <a:schemeClr val="dk1"/>
      </a:tcTxStyle>
      <a:tcStyle>
        <a:tcBdr/>
      </a:tcStyle>
    </a:lastCol>
    <a:firstCol>
      <a:tcTxStyle b="on">
        <a:fontRef idx="minor">
          <a:prstClr val="black"/>
        </a:fontRef>
        <a:schemeClr val="dk1"/>
      </a:tcTxStyle>
      <a:tcStyle>
        <a:tcBdr/>
      </a:tcStyle>
    </a:firstCol>
    <a:lastRow>
      <a:tcTxStyle b="on">
        <a:fontRef idx="minor">
          <a:prstClr val="black"/>
        </a:fontRef>
        <a:schemeClr val="dk1"/>
      </a:tcTxStyle>
      <a:tcStyle>
        <a:tcBdr>
          <a:top>
            <a:ln w="38100">
              <a:solidFill>
                <a:schemeClr val="accent5"/>
              </a:solidFill>
            </a:ln>
          </a:top>
        </a:tcBdr>
        <a:fill>
          <a:solidFill>
            <a:schemeClr val="lt1"/>
          </a:solidFill>
        </a:fill>
      </a:tcStyle>
    </a:lastRow>
    <a:seCell>
      <a:tcStyle>
        <a:tcBdr/>
      </a:tcStyle>
    </a:seCell>
    <a:swCell>
      <a:tcStyle>
        <a:tcBdr/>
      </a:tcStyle>
    </a:swCell>
    <a:firstRow>
      <a:tcTxStyle b="on">
        <a:fontRef idx="minor">
          <a:prstClr val="black"/>
        </a:fontRef>
        <a:schemeClr val="lt1"/>
      </a:tcTxStyle>
      <a:tcStyle>
        <a:tcBdr>
          <a:bottom>
            <a:ln w="12700">
              <a:solidFill>
                <a:schemeClr val="accent5"/>
              </a:solidFill>
            </a:ln>
          </a:bottom>
        </a:tcBdr>
        <a:fill>
          <a:solidFill>
            <a:schemeClr val="accent5"/>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26" d="100"/>
          <a:sy n="26" d="100"/>
        </p:scale>
        <p:origin x="1640" y="112"/>
      </p:cViewPr>
      <p:guideLst>
        <p:guide pos="2160" orient="horz"/>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theme" Target="theme/theme2.xml"/><Relationship Id="rId21" Type="http://schemas.openxmlformats.org/officeDocument/2006/relationships/slide" Target="slides/slide18.xml"/><Relationship Id="rId34" Type="http://schemas.openxmlformats.org/officeDocument/2006/relationships/customXml" Target="../customXml/item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customXml" Target="../customXml/item2.xml"/><Relationship Id="rId2" Type="http://schemas.openxmlformats.org/officeDocument/2006/relationships/theme" Target="theme/theme1.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customXml" Target="../customXml/item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tableStyles" Target="tableStyles.xml"/><Relationship Id="rId8" Type="http://schemas.openxmlformats.org/officeDocument/2006/relationships/slide" Target="slides/slide5.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Kopfzeilenplatzhalt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de-DE"/>
          </a:p>
        </p:txBody>
      </p:sp>
      <p:sp>
        <p:nvSpPr>
          <p:cNvPr id="3" name="Datumsplatzhalt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4E8AB545-A7A2-C64E-BEC8-51F178C6B1AA}" type="datetimeFigureOut">
              <a:rPr lang="de-DE"/>
              <a:t>02.09.2024</a:t>
            </a:fld>
            <a:endParaRPr lang="de-DE"/>
          </a:p>
        </p:txBody>
      </p:sp>
      <p:sp>
        <p:nvSpPr>
          <p:cNvPr id="4" name="Folienbildplatzhalt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de-DE"/>
          </a:p>
        </p:txBody>
      </p:sp>
      <p:sp>
        <p:nvSpPr>
          <p:cNvPr id="5" name="Notizenplatzhalt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6" name="Fußzeilenplatzhalt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de-DE"/>
          </a:p>
        </p:txBody>
      </p:sp>
      <p:sp>
        <p:nvSpPr>
          <p:cNvPr id="7" name="Foliennummernplatzhalt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91C7837A-BE0C-8E44-AC6E-3BD867A160FB}" type="slidenum">
              <a:rPr lang="de-DE"/>
              <a:t>‹#›</a:t>
            </a:fld>
            <a:endParaRPr lang="de-DE"/>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 Id="rId3" Type="http://schemas.openxmlformats.org/officeDocument/2006/relationships/hyperlink" Target="https://literaryterms.net/rhyme/"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454A5C4-FC36-0FA7-4C87-BD3802D134E2}" type="slidenum">
              <a:rPr/>
              <a:t/>
            </a:fld>
            <a:endParaRPr/>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555AF9D-D029-FA14-8C87-3F11D7B00A9D}" type="slidenum">
              <a:rPr/>
              <a:t/>
            </a:fld>
            <a:endParaRPr/>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marL="0" marR="0" lvl="0" indent="0" algn="l" defTabSz="914400">
              <a:lnSpc>
                <a:spcPct val="100000"/>
              </a:lnSpc>
              <a:spcBef>
                <a:spcPts val="0"/>
              </a:spcBef>
              <a:spcAft>
                <a:spcPts val="0"/>
              </a:spcAft>
              <a:buClrTx/>
              <a:buSzTx/>
              <a:buFontTx/>
              <a:buNone/>
              <a:defRPr/>
            </a:pPr>
            <a:r>
              <a:rPr lang="de-DE" sz="1200" b="1" i="0" u="none">
                <a:solidFill>
                  <a:srgbClr val="000000"/>
                </a:solidFill>
                <a:latin typeface="Liberation Sans"/>
                <a:ea typeface="Liberation Sans"/>
                <a:cs typeface="Liberation Sans"/>
              </a:rPr>
              <a:t>To</a:t>
            </a:r>
            <a:r>
              <a:rPr lang="de-DE" sz="1200" b="1" i="0" u="none">
                <a:solidFill>
                  <a:srgbClr val="000000"/>
                </a:solidFill>
                <a:latin typeface="Liberation Sans"/>
                <a:ea typeface="Liberation Sans"/>
                <a:cs typeface="Liberation Sans"/>
              </a:rPr>
              <a:t> </a:t>
            </a:r>
            <a:r>
              <a:rPr lang="de-DE" sz="1200" b="1" i="0" u="none">
                <a:solidFill>
                  <a:srgbClr val="000000"/>
                </a:solidFill>
                <a:latin typeface="Liberation Sans"/>
                <a:ea typeface="Liberation Sans"/>
                <a:cs typeface="Liberation Sans"/>
              </a:rPr>
              <a:t>you</a:t>
            </a:r>
            <a:r>
              <a:rPr lang="de-DE" sz="1200" b="1" i="0" u="none">
                <a:solidFill>
                  <a:srgbClr val="000000"/>
                </a:solidFill>
                <a:latin typeface="Liberation Sans"/>
                <a:ea typeface="Liberation Sans"/>
                <a:cs typeface="Liberation Sans"/>
              </a:rPr>
              <a:t>: </a:t>
            </a:r>
            <a:r>
              <a:rPr lang="de-DE" sz="1200" b="0" i="0" u="none">
                <a:solidFill>
                  <a:srgbClr val="000000"/>
                </a:solidFill>
                <a:latin typeface="Liberation Sans"/>
                <a:ea typeface="Liberation Sans"/>
                <a:cs typeface="Liberation Sans"/>
              </a:rPr>
              <a:t>set</a:t>
            </a:r>
            <a:r>
              <a:rPr lang="de-DE" sz="1200" b="0" i="0" u="none">
                <a:solidFill>
                  <a:srgbClr val="000000"/>
                </a:solidFill>
                <a:latin typeface="Liberation Sans"/>
                <a:ea typeface="Liberation Sans"/>
                <a:cs typeface="Liberation Sans"/>
              </a:rPr>
              <a:t> </a:t>
            </a:r>
            <a:r>
              <a:rPr lang="de-DE" sz="1200" b="0" i="0" u="none">
                <a:solidFill>
                  <a:srgbClr val="000000"/>
                </a:solidFill>
                <a:latin typeface="Liberation Sans"/>
                <a:ea typeface="Liberation Sans"/>
                <a:cs typeface="Liberation Sans"/>
              </a:rPr>
              <a:t>goals</a:t>
            </a:r>
            <a:r>
              <a:rPr lang="de-DE" sz="1200" b="0" i="0" u="none">
                <a:solidFill>
                  <a:srgbClr val="000000"/>
                </a:solidFill>
                <a:latin typeface="Liberation Sans"/>
                <a:ea typeface="Liberation Sans"/>
                <a:cs typeface="Liberation Sans"/>
              </a:rPr>
              <a:t> / </a:t>
            </a:r>
            <a:r>
              <a:rPr lang="de-DE" sz="1200" b="0" i="0" u="none">
                <a:solidFill>
                  <a:srgbClr val="000000"/>
                </a:solidFill>
                <a:latin typeface="Liberation Sans"/>
                <a:ea typeface="Liberation Sans"/>
                <a:cs typeface="Liberation Sans"/>
              </a:rPr>
              <a:t>create</a:t>
            </a:r>
            <a:r>
              <a:rPr lang="de-DE" sz="1200" b="0" i="0" u="none">
                <a:solidFill>
                  <a:srgbClr val="000000"/>
                </a:solidFill>
                <a:latin typeface="Liberation Sans"/>
                <a:ea typeface="Liberation Sans"/>
                <a:cs typeface="Liberation Sans"/>
              </a:rPr>
              <a:t> a Common Sense</a:t>
            </a:r>
            <a:endParaRPr lang="de-DE"/>
          </a:p>
          <a:p>
            <a:pPr>
              <a:defRPr/>
            </a:pPr>
            <a:endParaRPr lang="en-GB"/>
          </a:p>
        </p:txBody>
      </p:sp>
      <p:sp>
        <p:nvSpPr>
          <p:cNvPr id="4" name="Slide Number Placeholder 3"/>
          <p:cNvSpPr>
            <a:spLocks noGrp="1"/>
          </p:cNvSpPr>
          <p:nvPr>
            <p:ph type="sldNum" sz="quarter" idx="5"/>
          </p:nvPr>
        </p:nvSpPr>
        <p:spPr bwMode="auto"/>
        <p:txBody>
          <a:bodyPr/>
          <a:lstStyle/>
          <a:p>
            <a:pPr>
              <a:defRPr/>
            </a:pPr>
            <a:fld id="{91C7837A-BE0C-8E44-AC6E-3BD867A160FB}" type="slidenum">
              <a:rPr lang="de-DE"/>
              <a:t>3</a:t>
            </a:fld>
            <a:endParaRPr lang="de-DE"/>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marL="0" marR="0" lvl="0" indent="0" algn="l" defTabSz="914400">
              <a:lnSpc>
                <a:spcPct val="100000"/>
              </a:lnSpc>
              <a:spcBef>
                <a:spcPts val="0"/>
              </a:spcBef>
              <a:spcAft>
                <a:spcPts val="0"/>
              </a:spcAft>
              <a:buClrTx/>
              <a:buSzTx/>
              <a:buFontTx/>
              <a:buNone/>
              <a:defRPr/>
            </a:pPr>
            <a:r>
              <a:rPr lang="en-GB" sz="1200" b="1"/>
              <a:t>To you: </a:t>
            </a:r>
            <a:r>
              <a:rPr lang="en-US" sz="1200">
                <a:solidFill>
                  <a:srgbClr val="000000"/>
                </a:solidFill>
                <a:latin typeface="Arial"/>
              </a:rPr>
              <a:t>Make aware of study methods that are inefficient and ineffective. The problem with these is that they don’t use the learning time to the fullest although everybody would wish that since the result would be more free time. The ultimate goal is to spend as little time as possible with learning and get better results by using that time effectively. You can easily gain an advantage over others by upgrading your methods-toolbox.</a:t>
            </a:r>
            <a:endParaRPr sz="1200"/>
          </a:p>
          <a:p>
            <a:pPr marL="0" marR="0" lvl="0" indent="0" algn="l" defTabSz="914400">
              <a:lnSpc>
                <a:spcPct val="100000"/>
              </a:lnSpc>
              <a:spcBef>
                <a:spcPts val="0"/>
              </a:spcBef>
              <a:spcAft>
                <a:spcPts val="0"/>
              </a:spcAft>
              <a:buClrTx/>
              <a:buSzTx/>
              <a:buFontTx/>
              <a:buNone/>
              <a:defRPr/>
            </a:pPr>
            <a:r>
              <a:rPr lang="en-US" sz="1200">
                <a:solidFill>
                  <a:srgbClr val="000000"/>
                </a:solidFill>
                <a:latin typeface="Arial"/>
              </a:rPr>
              <a:t>Work smart not hard... They say. This means that you can easily gain an advantage over others by upgrading your methods toolbox.</a:t>
            </a:r>
            <a:endParaRPr sz="1200"/>
          </a:p>
        </p:txBody>
      </p:sp>
      <p:sp>
        <p:nvSpPr>
          <p:cNvPr id="4" name="Slide Number Placeholder 3"/>
          <p:cNvSpPr>
            <a:spLocks noGrp="1"/>
          </p:cNvSpPr>
          <p:nvPr>
            <p:ph type="sldNum" sz="quarter" idx="5"/>
          </p:nvPr>
        </p:nvSpPr>
        <p:spPr bwMode="auto"/>
        <p:txBody>
          <a:bodyPr/>
          <a:lstStyle/>
          <a:p>
            <a:pPr>
              <a:defRPr/>
            </a:pPr>
            <a:fld id="{91C7837A-BE0C-8E44-AC6E-3BD867A160FB}" type="slidenum">
              <a:rPr lang="de-DE"/>
              <a:t>4</a:t>
            </a:fld>
            <a:endParaRPr lang="de-DE"/>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GB" b="1"/>
              <a:t>To you: </a:t>
            </a:r>
            <a:r>
              <a:rPr lang="en-GB" b="0"/>
              <a:t>start an open discussion</a:t>
            </a:r>
            <a:endParaRPr/>
          </a:p>
        </p:txBody>
      </p:sp>
      <p:sp>
        <p:nvSpPr>
          <p:cNvPr id="4" name="Slide Number Placeholder 3"/>
          <p:cNvSpPr>
            <a:spLocks noGrp="1"/>
          </p:cNvSpPr>
          <p:nvPr>
            <p:ph type="sldNum" sz="quarter" idx="5"/>
          </p:nvPr>
        </p:nvSpPr>
        <p:spPr bwMode="auto"/>
        <p:txBody>
          <a:bodyPr/>
          <a:lstStyle/>
          <a:p>
            <a:pPr>
              <a:defRPr/>
            </a:pPr>
            <a:fld id="{91C7837A-BE0C-8E44-AC6E-3BD867A160FB}" type="slidenum">
              <a:rPr lang="de-DE"/>
              <a:t>5</a:t>
            </a:fld>
            <a:endParaRPr lang="de-DE"/>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buFont typeface="Arial"/>
              <a:buChar char="•"/>
              <a:defRPr/>
            </a:pPr>
            <a:r>
              <a:rPr lang="de-DE" sz="1200" b="1" i="0" u="none">
                <a:solidFill>
                  <a:srgbClr val="000000"/>
                </a:solidFill>
                <a:latin typeface="Liberation Sans"/>
                <a:ea typeface="Liberation Sans"/>
                <a:cs typeface="Liberation Sans"/>
              </a:rPr>
              <a:t>To</a:t>
            </a:r>
            <a:r>
              <a:rPr lang="de-DE" sz="1200" b="1" i="0" u="none">
                <a:solidFill>
                  <a:srgbClr val="000000"/>
                </a:solidFill>
                <a:latin typeface="Liberation Sans"/>
                <a:ea typeface="Liberation Sans"/>
                <a:cs typeface="Liberation Sans"/>
              </a:rPr>
              <a:t> </a:t>
            </a:r>
            <a:r>
              <a:rPr lang="de-DE" sz="1200" b="1" i="0" u="none">
                <a:solidFill>
                  <a:srgbClr val="000000"/>
                </a:solidFill>
                <a:latin typeface="Liberation Sans"/>
                <a:ea typeface="Liberation Sans"/>
                <a:cs typeface="Liberation Sans"/>
              </a:rPr>
              <a:t>you</a:t>
            </a:r>
            <a:r>
              <a:rPr lang="de-DE" sz="1200" b="1" i="0" u="none">
                <a:solidFill>
                  <a:srgbClr val="000000"/>
                </a:solidFill>
                <a:latin typeface="Liberation Sans"/>
                <a:ea typeface="Liberation Sans"/>
                <a:cs typeface="Liberation Sans"/>
              </a:rPr>
              <a:t>: </a:t>
            </a:r>
            <a:r>
              <a:rPr lang="en-US" sz="1200">
                <a:solidFill>
                  <a:srgbClr val="000000"/>
                </a:solidFill>
                <a:latin typeface="Arial"/>
              </a:rPr>
              <a:t>Learning psychology suggests that these are the most important (effective and efficient) learning methods.</a:t>
            </a:r>
            <a:endParaRPr sz="1200"/>
          </a:p>
          <a:p>
            <a:pPr>
              <a:defRPr/>
            </a:pPr>
            <a:endParaRPr sz="1200"/>
          </a:p>
        </p:txBody>
      </p:sp>
      <p:sp>
        <p:nvSpPr>
          <p:cNvPr id="4" name="Slide Number Placeholder 3"/>
          <p:cNvSpPr>
            <a:spLocks noGrp="1"/>
          </p:cNvSpPr>
          <p:nvPr>
            <p:ph type="sldNum" sz="quarter" idx="5"/>
          </p:nvPr>
        </p:nvSpPr>
        <p:spPr bwMode="auto"/>
        <p:txBody>
          <a:bodyPr/>
          <a:lstStyle/>
          <a:p>
            <a:pPr>
              <a:defRPr/>
            </a:pPr>
            <a:fld id="{91C7837A-BE0C-8E44-AC6E-3BD867A160FB}" type="slidenum">
              <a:rPr lang="de-DE"/>
              <a:t>6</a:t>
            </a:fld>
            <a:endParaRPr lang="de-DE"/>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marL="0" marR="0" lvl="0" indent="0" algn="l" defTabSz="914400">
              <a:lnSpc>
                <a:spcPct val="100000"/>
              </a:lnSpc>
              <a:spcBef>
                <a:spcPts val="0"/>
              </a:spcBef>
              <a:spcAft>
                <a:spcPts val="0"/>
              </a:spcAft>
              <a:buClrTx/>
              <a:buSzTx/>
              <a:buFontTx/>
              <a:buNone/>
              <a:defRPr/>
            </a:pPr>
            <a:r>
              <a:rPr lang="de-DE" sz="1200" b="1" i="0" u="none">
                <a:solidFill>
                  <a:srgbClr val="000000"/>
                </a:solidFill>
                <a:latin typeface="Liberation Sans"/>
                <a:ea typeface="Liberation Sans"/>
                <a:cs typeface="Liberation Sans"/>
              </a:rPr>
              <a:t>To</a:t>
            </a:r>
            <a:r>
              <a:rPr lang="de-DE" sz="1200" b="1" i="0" u="none">
                <a:solidFill>
                  <a:srgbClr val="000000"/>
                </a:solidFill>
                <a:latin typeface="Liberation Sans"/>
                <a:ea typeface="Liberation Sans"/>
                <a:cs typeface="Liberation Sans"/>
              </a:rPr>
              <a:t> </a:t>
            </a:r>
            <a:r>
              <a:rPr lang="de-DE" sz="1200" b="1" i="0" u="none">
                <a:solidFill>
                  <a:srgbClr val="000000"/>
                </a:solidFill>
                <a:latin typeface="Liberation Sans"/>
                <a:ea typeface="Liberation Sans"/>
                <a:cs typeface="Liberation Sans"/>
              </a:rPr>
              <a:t>You</a:t>
            </a:r>
            <a:r>
              <a:rPr lang="de-DE" sz="1200" b="1" i="0" u="none">
                <a:solidFill>
                  <a:srgbClr val="000000"/>
                </a:solidFill>
                <a:latin typeface="Liberation Sans"/>
                <a:ea typeface="Liberation Sans"/>
                <a:cs typeface="Liberation Sans"/>
              </a:rPr>
              <a:t>: </a:t>
            </a:r>
            <a:r>
              <a:rPr lang="en-US" sz="1200" b="0" i="0" u="none">
                <a:solidFill>
                  <a:srgbClr val="000000"/>
                </a:solidFill>
                <a:latin typeface="Liberation Sans"/>
                <a:ea typeface="Liberation Sans"/>
                <a:cs typeface="Liberation Sans"/>
              </a:rPr>
              <a:t>Describe the human forgetting curve as exponential decay. To emphasize that it really applies to everyone and that forgetting is absolutely unavoidable. However, the gradient can be minimized through repetition, which means that information is remembered for longer. Repetition at steadily increasing intervals leads to long-term storage!</a:t>
            </a:r>
            <a:endParaRPr lang="en-GB"/>
          </a:p>
        </p:txBody>
      </p:sp>
      <p:sp>
        <p:nvSpPr>
          <p:cNvPr id="4" name="Slide Number Placeholder 3"/>
          <p:cNvSpPr>
            <a:spLocks noGrp="1"/>
          </p:cNvSpPr>
          <p:nvPr>
            <p:ph type="sldNum" sz="quarter" idx="5"/>
          </p:nvPr>
        </p:nvSpPr>
        <p:spPr bwMode="auto"/>
        <p:txBody>
          <a:bodyPr/>
          <a:lstStyle/>
          <a:p>
            <a:pPr>
              <a:defRPr/>
            </a:pPr>
            <a:fld id="{91C7837A-BE0C-8E44-AC6E-3BD867A160FB}" type="slidenum">
              <a:rPr lang="de-DE"/>
              <a:t>7</a:t>
            </a:fld>
            <a:endParaRPr lang="de-DE"/>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buFont typeface="Arial"/>
              <a:buNone/>
              <a:defRPr/>
            </a:pPr>
            <a:r>
              <a:rPr lang="en-US" sz="1200" b="1">
                <a:solidFill>
                  <a:srgbClr val="000000"/>
                </a:solidFill>
                <a:latin typeface="Arial"/>
              </a:rPr>
              <a:t>To the students</a:t>
            </a:r>
            <a:r>
              <a:rPr lang="en-US" sz="1200">
                <a:solidFill>
                  <a:srgbClr val="000000"/>
                </a:solidFill>
                <a:latin typeface="Arial"/>
              </a:rPr>
              <a:t>: Exercise: Create an exemplary learning plan - there is no right or wrong. The colors are to be understood as evaluations. You can/must take break days to learn effectively. Just as in competitive sports, rest days must be planned. Forgetting is essential in that when you repeat the information, it is remembered more than the last time. So give yourself enough time to forget!</a:t>
            </a:r>
            <a:endParaRPr sz="1200"/>
          </a:p>
        </p:txBody>
      </p:sp>
      <p:sp>
        <p:nvSpPr>
          <p:cNvPr id="4" name="Slide Number Placeholder 3"/>
          <p:cNvSpPr>
            <a:spLocks noGrp="1"/>
          </p:cNvSpPr>
          <p:nvPr>
            <p:ph type="sldNum" sz="quarter" idx="10"/>
          </p:nvPr>
        </p:nvSpPr>
        <p:spPr bwMode="auto"/>
        <p:txBody>
          <a:bodyPr/>
          <a:lstStyle/>
          <a:p>
            <a:pPr>
              <a:defRPr/>
            </a:pPr>
            <a:endParaRPr/>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buFontTx/>
              <a:buNone/>
              <a:defRPr/>
            </a:pPr>
            <a:r>
              <a:rPr lang="en-US" sz="1200" b="1">
                <a:solidFill>
                  <a:srgbClr val="000000"/>
                </a:solidFill>
                <a:latin typeface="Arial"/>
              </a:rPr>
              <a:t>To the students:</a:t>
            </a:r>
            <a:endParaRPr sz="1200"/>
          </a:p>
          <a:p>
            <a:pPr>
              <a:buFontTx/>
              <a:buNone/>
              <a:defRPr/>
            </a:pPr>
            <a:r>
              <a:rPr lang="en-US" sz="1200">
                <a:solidFill>
                  <a:srgbClr val="000000"/>
                </a:solidFill>
                <a:latin typeface="Arial"/>
              </a:rPr>
              <a:t>Explanation:</a:t>
            </a:r>
            <a:endParaRPr sz="1200"/>
          </a:p>
          <a:p>
            <a:pPr marL="285750" indent="-285750">
              <a:buFont typeface="Arial"/>
              <a:buChar char="•"/>
              <a:defRPr/>
            </a:pPr>
            <a:r>
              <a:rPr lang="en-US" sz="1200">
                <a:solidFill>
                  <a:srgbClr val="000000"/>
                </a:solidFill>
                <a:latin typeface="Arial"/>
              </a:rPr>
              <a:t>The areas marked in red were tackled as early as possible and repeated in comparatively short time intervals.</a:t>
            </a:r>
            <a:endParaRPr sz="1200"/>
          </a:p>
          <a:p>
            <a:pPr marL="285750" indent="-285750">
              <a:buFont typeface="Arial"/>
              <a:buChar char="•"/>
              <a:defRPr/>
            </a:pPr>
            <a:r>
              <a:rPr lang="en-US" sz="1200">
                <a:solidFill>
                  <a:srgbClr val="000000"/>
                </a:solidFill>
                <a:latin typeface="Arial"/>
              </a:rPr>
              <a:t>if a topic like Logistic Regression does not want to go into your head at all, then it might take 3 days of practice in succession for this topic. But days off are not less important!</a:t>
            </a:r>
            <a:endParaRPr sz="1200"/>
          </a:p>
          <a:p>
            <a:pPr marL="285750" indent="-285750">
              <a:buFont typeface="Arial"/>
              <a:buChar char="•"/>
              <a:defRPr/>
            </a:pPr>
            <a:r>
              <a:rPr lang="en-US" sz="1200">
                <a:solidFill>
                  <a:srgbClr val="000000"/>
                </a:solidFill>
                <a:latin typeface="Arial"/>
              </a:rPr>
              <a:t>If time is spare, memory tricks like mnemonics or other mnemonic techniques can be very efficient solutions</a:t>
            </a:r>
            <a:endParaRPr sz="1200"/>
          </a:p>
          <a:p>
            <a:pPr marL="285750" indent="-285750">
              <a:buFont typeface="Arial"/>
              <a:buChar char="•"/>
              <a:defRPr/>
            </a:pPr>
            <a:r>
              <a:rPr lang="en-US" sz="1200">
                <a:solidFill>
                  <a:srgbClr val="000000"/>
                </a:solidFill>
                <a:latin typeface="Arial"/>
              </a:rPr>
              <a:t>so that everything is "fresh" for the exam, it was planned that all areas are practiced in the last 3 days</a:t>
            </a:r>
            <a:endParaRPr sz="1200"/>
          </a:p>
          <a:p>
            <a:pPr marL="285750" indent="-285750">
              <a:buFont typeface="Arial"/>
              <a:buChar char="•"/>
              <a:defRPr/>
            </a:pPr>
            <a:r>
              <a:rPr lang="en-US" sz="1200">
                <a:solidFill>
                  <a:srgbClr val="000000"/>
                </a:solidFill>
                <a:latin typeface="Arial"/>
              </a:rPr>
              <a:t>It is noticeable that the second week is more relaxed. If you are looking for an even more relaxed study schedule, then you just need to start earlier. </a:t>
            </a:r>
            <a:endParaRPr sz="1200"/>
          </a:p>
          <a:p>
            <a:pPr marL="285750" indent="-285750">
              <a:buFont typeface="Arial"/>
              <a:buChar char="•"/>
              <a:defRPr/>
            </a:pPr>
            <a:r>
              <a:rPr lang="en-US" sz="1200">
                <a:solidFill>
                  <a:srgbClr val="000000"/>
                </a:solidFill>
                <a:latin typeface="Arial"/>
              </a:rPr>
              <a:t>We all need to keep our resources in mind. Not everyone can devote an additional 4 hours on workdays to exam preparation. Often, study periods for multiple exams overlap. It can be helpful to make these learning plans among ourselves in Excel to coordinate learning planning with all events and exam performances. In the end, we all have to look at what we can and want to invest. At this point, it should only be emphasized that consistency in learning is key.</a:t>
            </a:r>
            <a:endParaRPr sz="1200"/>
          </a:p>
        </p:txBody>
      </p:sp>
      <p:sp>
        <p:nvSpPr>
          <p:cNvPr id="4" name="Slide Number Placeholder 3"/>
          <p:cNvSpPr>
            <a:spLocks noGrp="1"/>
          </p:cNvSpPr>
          <p:nvPr>
            <p:ph type="sldNum" sz="quarter" idx="10"/>
          </p:nvPr>
        </p:nvSpPr>
        <p:spPr bwMode="auto"/>
        <p:txBody>
          <a:bodyPr/>
          <a:lstStyle/>
          <a:p>
            <a:pPr>
              <a:defRPr/>
            </a:pPr>
            <a:endParaRPr/>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de-DE"/>
              <a:t>The </a:t>
            </a:r>
            <a:r>
              <a:rPr lang="de-DE"/>
              <a:t>learning</a:t>
            </a:r>
            <a:r>
              <a:rPr lang="de-DE"/>
              <a:t> </a:t>
            </a:r>
            <a:r>
              <a:rPr lang="de-DE"/>
              <a:t>schedule</a:t>
            </a:r>
            <a:r>
              <a:rPr lang="de-DE"/>
              <a:t> </a:t>
            </a:r>
            <a:r>
              <a:rPr lang="de-DE"/>
              <a:t>could</a:t>
            </a:r>
            <a:r>
              <a:rPr lang="de-DE"/>
              <a:t> also </a:t>
            </a:r>
            <a:r>
              <a:rPr lang="de-DE"/>
              <a:t>look</a:t>
            </a:r>
            <a:r>
              <a:rPr lang="de-DE"/>
              <a:t> like </a:t>
            </a:r>
            <a:r>
              <a:rPr lang="de-DE"/>
              <a:t>this</a:t>
            </a:r>
            <a:endParaRPr/>
          </a:p>
        </p:txBody>
      </p:sp>
      <p:sp>
        <p:nvSpPr>
          <p:cNvPr id="4" name="Slide Number Placeholder 3"/>
          <p:cNvSpPr>
            <a:spLocks noGrp="1"/>
          </p:cNvSpPr>
          <p:nvPr>
            <p:ph type="sldNum" sz="quarter" idx="10"/>
          </p:nvPr>
        </p:nvSpPr>
        <p:spPr bwMode="auto"/>
        <p:txBody>
          <a:bodyPr/>
          <a:lstStyle/>
          <a:p>
            <a:pPr>
              <a:defRPr/>
            </a:pPr>
            <a:endParaRPr/>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buFont typeface="Arial"/>
              <a:buChar char="•"/>
              <a:defRPr/>
            </a:pPr>
            <a:r>
              <a:rPr lang="de-DE" sz="1200" b="1" i="0" u="none">
                <a:solidFill>
                  <a:srgbClr val="000000"/>
                </a:solidFill>
                <a:latin typeface="Liberation Sans"/>
                <a:ea typeface="Liberation Sans"/>
                <a:cs typeface="Liberation Sans"/>
              </a:rPr>
              <a:t>To</a:t>
            </a:r>
            <a:r>
              <a:rPr lang="de-DE" sz="1200" b="1" i="0" u="none">
                <a:solidFill>
                  <a:srgbClr val="000000"/>
                </a:solidFill>
                <a:latin typeface="Liberation Sans"/>
                <a:ea typeface="Liberation Sans"/>
                <a:cs typeface="Liberation Sans"/>
              </a:rPr>
              <a:t> </a:t>
            </a:r>
            <a:r>
              <a:rPr lang="de-DE" sz="1200" b="1" i="0" u="none">
                <a:solidFill>
                  <a:srgbClr val="000000"/>
                </a:solidFill>
                <a:latin typeface="Liberation Sans"/>
                <a:ea typeface="Liberation Sans"/>
                <a:cs typeface="Liberation Sans"/>
              </a:rPr>
              <a:t>the</a:t>
            </a:r>
            <a:r>
              <a:rPr lang="de-DE" sz="1200" b="1" i="0" u="none">
                <a:solidFill>
                  <a:srgbClr val="000000"/>
                </a:solidFill>
                <a:latin typeface="Liberation Sans"/>
                <a:ea typeface="Liberation Sans"/>
                <a:cs typeface="Liberation Sans"/>
              </a:rPr>
              <a:t> </a:t>
            </a:r>
            <a:r>
              <a:rPr lang="de-DE" sz="1200" b="1" i="0" u="none">
                <a:solidFill>
                  <a:srgbClr val="000000"/>
                </a:solidFill>
                <a:latin typeface="Liberation Sans"/>
                <a:ea typeface="Liberation Sans"/>
                <a:cs typeface="Liberation Sans"/>
              </a:rPr>
              <a:t>students</a:t>
            </a:r>
            <a:r>
              <a:rPr lang="de-DE" sz="1200" b="1" i="0" u="none">
                <a:solidFill>
                  <a:srgbClr val="000000"/>
                </a:solidFill>
                <a:latin typeface="Liberation Sans"/>
                <a:ea typeface="Liberation Sans"/>
                <a:cs typeface="Liberation Sans"/>
              </a:rPr>
              <a:t>: </a:t>
            </a:r>
            <a:r>
              <a:rPr lang="en-US" sz="1200">
                <a:solidFill>
                  <a:srgbClr val="000000"/>
                </a:solidFill>
                <a:latin typeface="Arial"/>
              </a:rPr>
              <a:t>There are plenty of mnemonic techniques (memory aids). There are very complex techniques but you can get really far with the classical mnemonic already. If you want to learn sequences, a funny mnemonic will stay in your head for sure while dull steps won’t.</a:t>
            </a:r>
            <a:r>
              <a:rPr lang="en-US" sz="1200">
                <a:solidFill>
                  <a:srgbClr val="000000"/>
                </a:solidFill>
                <a:latin typeface="Liberation Sans"/>
              </a:rPr>
              <a:t> I have one example from my 1st semester in Psychology which is about remembering the moderator variables in the conformity experiment by Salomon Asch in the 50s. (DISC GUN). If you’re willing to put more effort into it, there are fun ways to turn numbers into images and place scenes of hilarious situation in your personal memory palace. If you’re interested in learning such techniques, you might want to read the additional information.</a:t>
            </a:r>
            <a:endParaRPr sz="1200"/>
          </a:p>
          <a:p>
            <a:pPr>
              <a:defRPr/>
            </a:pPr>
            <a:endParaRPr sz="1200" b="0" i="0" u="none">
              <a:solidFill>
                <a:srgbClr val="000000"/>
              </a:solidFill>
              <a:latin typeface="Liberation Sans"/>
              <a:ea typeface="Liberation Sans"/>
              <a:cs typeface="Liberation Sans"/>
            </a:endParaRPr>
          </a:p>
          <a:p>
            <a:pPr>
              <a:defRPr/>
            </a:pPr>
            <a:r>
              <a:rPr lang="de-DE" sz="1200" b="0" i="0" u="none">
                <a:solidFill>
                  <a:srgbClr val="000000"/>
                </a:solidFill>
                <a:latin typeface="Liberation Sans"/>
                <a:ea typeface="Liberation Sans"/>
                <a:cs typeface="Liberation Sans"/>
              </a:rPr>
              <a:t>(</a:t>
            </a:r>
            <a:r>
              <a:rPr lang="de-DE" sz="1200" b="1" i="0" u="none">
                <a:solidFill>
                  <a:srgbClr val="000000"/>
                </a:solidFill>
                <a:latin typeface="Liberation Sans"/>
                <a:ea typeface="Liberation Sans"/>
                <a:cs typeface="Liberation Sans"/>
              </a:rPr>
              <a:t>Original </a:t>
            </a:r>
            <a:r>
              <a:rPr lang="de-DE" sz="1200" b="1" i="0" u="none">
                <a:solidFill>
                  <a:srgbClr val="000000"/>
                </a:solidFill>
                <a:latin typeface="Liberation Sans"/>
                <a:ea typeface="Liberation Sans"/>
                <a:cs typeface="Liberation Sans"/>
              </a:rPr>
              <a:t>quote</a:t>
            </a:r>
            <a:r>
              <a:rPr lang="de-DE" sz="1200" b="1" i="0" u="none">
                <a:solidFill>
                  <a:srgbClr val="000000"/>
                </a:solidFill>
                <a:latin typeface="Liberation Sans"/>
                <a:ea typeface="Liberation Sans"/>
                <a:cs typeface="Liberation Sans"/>
              </a:rPr>
              <a:t>:</a:t>
            </a:r>
            <a:endParaRPr sz="1200"/>
          </a:p>
          <a:p>
            <a:pPr marL="0" marR="0" lvl="0" indent="0" algn="l" defTabSz="914400">
              <a:lnSpc>
                <a:spcPct val="100000"/>
              </a:lnSpc>
              <a:spcBef>
                <a:spcPts val="0"/>
              </a:spcBef>
              <a:spcAft>
                <a:spcPts val="0"/>
              </a:spcAft>
              <a:buClrTx/>
              <a:buSzTx/>
              <a:buFontTx/>
              <a:buNone/>
              <a:defRPr/>
            </a:pPr>
            <a:r>
              <a:rPr lang="en-US" sz="1200"/>
              <a:t>„A mnemonic, also known as a memory aid, is a tool that helps you remember an idea or phrase with a pattern of letters, numbers, or relatable associations. Mnemonic devices include special </a:t>
            </a:r>
            <a:r>
              <a:rPr lang="en-US" sz="1200" u="sng">
                <a:hlinkClick r:id="rId3" tooltip="Rhyme"/>
              </a:rPr>
              <a:t>rhymes</a:t>
            </a:r>
            <a:r>
              <a:rPr lang="en-US" sz="1200"/>
              <a:t> and poems, acronyms, images, songs, outlines, and other tools. Mnemonic (pronounced </a:t>
            </a:r>
            <a:r>
              <a:rPr lang="en-US" sz="1200"/>
              <a:t>ni-mon-ik</a:t>
            </a:r>
            <a:r>
              <a:rPr lang="en-US" sz="1200"/>
              <a:t>) is derived from the Greek phrase </a:t>
            </a:r>
            <a:r>
              <a:rPr lang="en-US" sz="1200" i="1"/>
              <a:t>mimnēskesthai</a:t>
            </a:r>
            <a:r>
              <a:rPr lang="en-US" sz="1200" i="1"/>
              <a:t> </a:t>
            </a:r>
            <a:r>
              <a:rPr lang="en-US" sz="1200"/>
              <a:t>meaning to “remember.”“)</a:t>
            </a:r>
            <a:endParaRPr sz="1200"/>
          </a:p>
          <a:p>
            <a:pPr>
              <a:defRPr/>
            </a:pPr>
            <a:endParaRPr sz="1200"/>
          </a:p>
        </p:txBody>
      </p:sp>
      <p:sp>
        <p:nvSpPr>
          <p:cNvPr id="4" name="Slide Number Placeholder 3"/>
          <p:cNvSpPr>
            <a:spLocks noGrp="1"/>
          </p:cNvSpPr>
          <p:nvPr>
            <p:ph type="sldNum" sz="quarter" idx="10"/>
          </p:nvPr>
        </p:nvSpPr>
        <p:spPr bwMode="auto"/>
        <p:txBody>
          <a:bodyPr/>
          <a:lstStyle/>
          <a:p>
            <a:pPr>
              <a:defRPr/>
            </a:pPr>
            <a:endParaRPr/>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de-DE" sz="1100" b="1" i="0" u="none">
                <a:solidFill>
                  <a:srgbClr val="000000"/>
                </a:solidFill>
                <a:latin typeface="Liberation Sans"/>
                <a:ea typeface="Liberation Sans"/>
                <a:cs typeface="Liberation Sans"/>
              </a:rPr>
              <a:t>To</a:t>
            </a:r>
            <a:r>
              <a:rPr lang="de-DE" sz="1100" b="1" i="0" u="none">
                <a:solidFill>
                  <a:srgbClr val="000000"/>
                </a:solidFill>
                <a:latin typeface="Liberation Sans"/>
                <a:ea typeface="Liberation Sans"/>
                <a:cs typeface="Liberation Sans"/>
              </a:rPr>
              <a:t> </a:t>
            </a:r>
            <a:r>
              <a:rPr lang="de-DE" sz="1100" b="1" i="0" u="none">
                <a:solidFill>
                  <a:srgbClr val="000000"/>
                </a:solidFill>
                <a:latin typeface="Liberation Sans"/>
                <a:ea typeface="Liberation Sans"/>
                <a:cs typeface="Liberation Sans"/>
              </a:rPr>
              <a:t>the</a:t>
            </a:r>
            <a:r>
              <a:rPr lang="de-DE" sz="1100" b="1" i="0" u="none">
                <a:solidFill>
                  <a:srgbClr val="000000"/>
                </a:solidFill>
                <a:latin typeface="Liberation Sans"/>
                <a:ea typeface="Liberation Sans"/>
                <a:cs typeface="Liberation Sans"/>
              </a:rPr>
              <a:t> </a:t>
            </a:r>
            <a:r>
              <a:rPr lang="de-DE" sz="1100" b="1" i="0" u="none">
                <a:solidFill>
                  <a:srgbClr val="000000"/>
                </a:solidFill>
                <a:latin typeface="Liberation Sans"/>
                <a:ea typeface="Liberation Sans"/>
                <a:cs typeface="Liberation Sans"/>
              </a:rPr>
              <a:t>students</a:t>
            </a:r>
            <a:r>
              <a:rPr lang="de-DE" sz="1100" b="1" i="0" u="none">
                <a:solidFill>
                  <a:srgbClr val="000000"/>
                </a:solidFill>
                <a:latin typeface="Liberation Sans"/>
                <a:ea typeface="Liberation Sans"/>
                <a:cs typeface="Liberation Sans"/>
              </a:rPr>
              <a:t>: </a:t>
            </a:r>
            <a:r>
              <a:rPr lang="en-US" sz="1100" b="0" i="0" u="none">
                <a:solidFill>
                  <a:srgbClr val="000000"/>
                </a:solidFill>
                <a:latin typeface="Liberation Sans"/>
                <a:ea typeface="Liberation Sans"/>
                <a:cs typeface="Liberation Sans"/>
              </a:rPr>
              <a:t>Very important method. Which is probably still familiar from learning vocabulary at school. But have you ever wondered why it is only used to learn vocabulary? Write all possible and important w-questions or content-related comprehension questions on the front, think about how to answer them perfectly and write your best solution on the back. Then it's just a matter of memorizing! And that should no longer be a problem if the explanation is your own words and formulated in simple language. </a:t>
            </a:r>
            <a:endParaRPr/>
          </a:p>
        </p:txBody>
      </p:sp>
      <p:sp>
        <p:nvSpPr>
          <p:cNvPr id="4" name="Slide Number Placeholder 3"/>
          <p:cNvSpPr>
            <a:spLocks noGrp="1"/>
          </p:cNvSpPr>
          <p:nvPr>
            <p:ph type="sldNum" sz="quarter" idx="10"/>
          </p:nvPr>
        </p:nvSpPr>
        <p:spPr bwMode="auto"/>
        <p:txBody>
          <a:bodyPr/>
          <a:lstStyle/>
          <a:p>
            <a:pPr>
              <a:defRPr/>
            </a:pPr>
            <a:endParaRPr/>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US" sz="1100" b="1" i="0" u="none">
                <a:solidFill>
                  <a:srgbClr val="000000"/>
                </a:solidFill>
                <a:latin typeface="Liberation Sans"/>
                <a:ea typeface="Liberation Sans"/>
                <a:cs typeface="Liberation Sans"/>
              </a:rPr>
              <a:t>To the students: </a:t>
            </a:r>
            <a:r>
              <a:rPr lang="en-US" sz="1100" b="0" i="0" u="none">
                <a:solidFill>
                  <a:srgbClr val="000000"/>
                </a:solidFill>
                <a:latin typeface="Liberation Sans"/>
                <a:ea typeface="Liberation Sans"/>
                <a:cs typeface="Liberation Sans"/>
              </a:rPr>
              <a:t>You know when you want to proudly talk about something you think you know a lot about, but you can't answer an obvious question afterwards? Unfortunately, this usually means that you don't yet know all the important connections. so be the person who asks you the annoying questions to understand every step. it also helps to try to explain a topic in very simple language, according to the Feynman technique, so that even a child would understand it. When you try, you often realize gaps in your knowledge that can be filled. You can count yourself lucky if you find these gaps while you are learning and not just in the exam!</a:t>
            </a:r>
            <a:endParaRPr/>
          </a:p>
          <a:p>
            <a:pPr>
              <a:defRPr/>
            </a:pPr>
            <a:endParaRPr lang="en-US" sz="1100" b="0" i="0" u="none">
              <a:solidFill>
                <a:srgbClr val="000000"/>
              </a:solidFill>
              <a:latin typeface="Liberation Sans"/>
              <a:ea typeface="Liberation Sans"/>
              <a:cs typeface="Liberation Sans"/>
            </a:endParaRPr>
          </a:p>
          <a:p>
            <a:pPr>
              <a:defRPr/>
            </a:pPr>
            <a:r>
              <a:rPr lang="en-US" sz="1100" b="0" i="0" u="none">
                <a:solidFill>
                  <a:srgbClr val="000000"/>
                </a:solidFill>
                <a:latin typeface="Liberation Sans"/>
                <a:ea typeface="Liberation Sans"/>
                <a:cs typeface="Liberation Sans"/>
              </a:rPr>
              <a:t>Tip: The advantage of a study group is that you can explain things to each other. This not only benefits the person listening/asking questions, but also the person explaining! It also keeps you accountable.</a:t>
            </a:r>
            <a:endParaRPr/>
          </a:p>
          <a:p>
            <a:pPr>
              <a:defRPr/>
            </a:pPr>
            <a:endParaRPr lang="en-US" sz="1100" b="0" i="0" u="none">
              <a:solidFill>
                <a:srgbClr val="000000"/>
              </a:solidFill>
              <a:latin typeface="Liberation Sans"/>
              <a:ea typeface="Liberation Sans"/>
              <a:cs typeface="Liberation Sans"/>
            </a:endParaRPr>
          </a:p>
          <a:p>
            <a:pPr>
              <a:defRPr/>
            </a:pPr>
            <a:r>
              <a:rPr lang="en-US" sz="1100" b="1" i="0" u="none">
                <a:solidFill>
                  <a:srgbClr val="000000"/>
                </a:solidFill>
                <a:latin typeface="Liberation Sans"/>
                <a:ea typeface="Liberation Sans"/>
                <a:cs typeface="Liberation Sans"/>
              </a:rPr>
              <a:t>To you: </a:t>
            </a:r>
            <a:r>
              <a:rPr lang="en-US" sz="1100" b="0" i="0" u="none">
                <a:solidFill>
                  <a:srgbClr val="000000"/>
                </a:solidFill>
                <a:latin typeface="Liberation Sans"/>
                <a:ea typeface="Liberation Sans"/>
                <a:cs typeface="Liberation Sans"/>
              </a:rPr>
              <a:t>At this point, initiate that the students form learning groups, e.g. for the methods test, or also for other exams depending on the composition of the students.</a:t>
            </a:r>
            <a:endParaRPr b="0"/>
          </a:p>
        </p:txBody>
      </p:sp>
      <p:sp>
        <p:nvSpPr>
          <p:cNvPr id="4" name="Slide Number Placeholder 3"/>
          <p:cNvSpPr>
            <a:spLocks noGrp="1"/>
          </p:cNvSpPr>
          <p:nvPr>
            <p:ph type="sldNum" sz="quarter" idx="10"/>
          </p:nvPr>
        </p:nvSpPr>
        <p:spPr bwMode="auto"/>
        <p:txBody>
          <a:bodyPr/>
          <a:lstStyle/>
          <a:p>
            <a:pPr>
              <a:defRPr/>
            </a:pPr>
            <a:endParaRPr/>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US" sz="1100" b="1" i="0" u="none">
                <a:solidFill>
                  <a:srgbClr val="000000"/>
                </a:solidFill>
                <a:latin typeface="Liberation Sans"/>
                <a:ea typeface="Liberation Sans"/>
                <a:cs typeface="Liberation Sans"/>
              </a:rPr>
              <a:t>To the students: </a:t>
            </a:r>
            <a:r>
              <a:rPr lang="en-US" sz="1100" b="0" i="0" u="none">
                <a:solidFill>
                  <a:srgbClr val="000000"/>
                </a:solidFill>
                <a:latin typeface="Liberation Sans"/>
                <a:ea typeface="Liberation Sans"/>
                <a:cs typeface="Liberation Sans"/>
              </a:rPr>
              <a:t>With this method, you go beyond the topic and train your ability to differentiate between other phenomena/topics. Mind maps are your best friend here. It is similar to self-explanation because you also try to present a concept or topic in its entirety. The difference here lies in the complexity. With elaboration, you may go further and draw connections to other topics in order to test your entire knowledge for retrievability. </a:t>
            </a:r>
            <a:br>
              <a:rPr sz="1100" b="0" i="0" u="none">
                <a:solidFill>
                  <a:srgbClr val="000000"/>
                </a:solidFill>
                <a:latin typeface="Liberation Sans"/>
                <a:ea typeface="Liberation Sans"/>
                <a:cs typeface="Liberation Sans"/>
              </a:rPr>
            </a:br>
            <a:endParaRPr lang="de-DE" sz="1100" b="0" i="0" u="none">
              <a:solidFill>
                <a:srgbClr val="000000"/>
              </a:solidFill>
              <a:latin typeface="Liberation Sans"/>
              <a:ea typeface="Liberation Sans"/>
              <a:cs typeface="Liberation Sans"/>
            </a:endParaRPr>
          </a:p>
          <a:p>
            <a:pPr>
              <a:defRPr/>
            </a:pPr>
            <a:r>
              <a:rPr lang="de-DE" sz="1100" b="0" i="0" u="none">
                <a:solidFill>
                  <a:srgbClr val="000000"/>
                </a:solidFill>
                <a:latin typeface="Liberation Sans"/>
                <a:ea typeface="Liberation Sans"/>
                <a:cs typeface="Liberation Sans"/>
              </a:rPr>
              <a:t>(</a:t>
            </a:r>
            <a:r>
              <a:rPr lang="de-DE" sz="1100" b="1" i="0" u="none">
                <a:solidFill>
                  <a:srgbClr val="000000"/>
                </a:solidFill>
                <a:latin typeface="Liberation Sans"/>
                <a:ea typeface="Liberation Sans"/>
                <a:cs typeface="Liberation Sans"/>
              </a:rPr>
              <a:t>Original Zitat:</a:t>
            </a:r>
            <a:endParaRPr/>
          </a:p>
          <a:p>
            <a:pPr>
              <a:defRPr/>
            </a:pPr>
            <a:r>
              <a:rPr lang="en-US"/>
              <a:t>„Elaboration is the act of </a:t>
            </a:r>
            <a:r>
              <a:rPr lang="en-US" u="sng"/>
              <a:t>thoughtfully laying out a topic</a:t>
            </a:r>
            <a:r>
              <a:rPr lang="en-US"/>
              <a:t>, talking about </a:t>
            </a:r>
            <a:r>
              <a:rPr lang="en-US" u="sng"/>
              <a:t>associations</a:t>
            </a:r>
            <a:r>
              <a:rPr lang="en-US"/>
              <a:t>, </a:t>
            </a:r>
            <a:r>
              <a:rPr lang="en-US" u="sng"/>
              <a:t>explaining concepts</a:t>
            </a:r>
            <a:r>
              <a:rPr lang="en-US"/>
              <a:t>, drawing </a:t>
            </a:r>
            <a:r>
              <a:rPr lang="en-US" u="sng"/>
              <a:t>connections to other knowledge </a:t>
            </a:r>
            <a:r>
              <a:rPr lang="en-US"/>
              <a:t>and in general being very verbose about answering a question or talking about a topic.“)</a:t>
            </a:r>
            <a:endParaRPr/>
          </a:p>
          <a:p>
            <a:pPr>
              <a:defRPr/>
            </a:pPr>
            <a:endParaRPr/>
          </a:p>
        </p:txBody>
      </p:sp>
      <p:sp>
        <p:nvSpPr>
          <p:cNvPr id="4" name="Slide Number Placeholder 3"/>
          <p:cNvSpPr>
            <a:spLocks noGrp="1"/>
          </p:cNvSpPr>
          <p:nvPr>
            <p:ph type="sldNum" sz="quarter" idx="10"/>
          </p:nvPr>
        </p:nvSpPr>
        <p:spPr bwMode="auto"/>
        <p:txBody>
          <a:bodyPr/>
          <a:lstStyle/>
          <a:p>
            <a:pPr>
              <a:defRPr/>
            </a:pPr>
            <a:endParaRPr/>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marL="0" marR="0" lvl="0" indent="0" algn="l" defTabSz="914400">
              <a:lnSpc>
                <a:spcPct val="100000"/>
              </a:lnSpc>
              <a:spcBef>
                <a:spcPts val="0"/>
              </a:spcBef>
              <a:spcAft>
                <a:spcPts val="0"/>
              </a:spcAft>
              <a:buClrTx/>
              <a:buSzTx/>
              <a:buFontTx/>
              <a:buNone/>
              <a:defRPr/>
            </a:pPr>
            <a:r>
              <a:rPr lang="de-DE" sz="1200" b="1" i="0" u="none">
                <a:solidFill>
                  <a:srgbClr val="000000"/>
                </a:solidFill>
                <a:latin typeface="Liberation Sans"/>
                <a:ea typeface="Liberation Sans"/>
                <a:cs typeface="Liberation Sans"/>
              </a:rPr>
              <a:t>To</a:t>
            </a:r>
            <a:r>
              <a:rPr lang="de-DE" sz="1200" b="1" i="0" u="none">
                <a:solidFill>
                  <a:srgbClr val="000000"/>
                </a:solidFill>
                <a:latin typeface="Liberation Sans"/>
                <a:ea typeface="Liberation Sans"/>
                <a:cs typeface="Liberation Sans"/>
              </a:rPr>
              <a:t> </a:t>
            </a:r>
            <a:r>
              <a:rPr lang="de-DE" sz="1200" b="1" i="0" u="none">
                <a:solidFill>
                  <a:srgbClr val="000000"/>
                </a:solidFill>
                <a:latin typeface="Liberation Sans"/>
                <a:ea typeface="Liberation Sans"/>
                <a:cs typeface="Liberation Sans"/>
              </a:rPr>
              <a:t>the</a:t>
            </a:r>
            <a:r>
              <a:rPr lang="de-DE" sz="1200" b="1" i="0" u="none">
                <a:solidFill>
                  <a:srgbClr val="000000"/>
                </a:solidFill>
                <a:latin typeface="Liberation Sans"/>
                <a:ea typeface="Liberation Sans"/>
                <a:cs typeface="Liberation Sans"/>
              </a:rPr>
              <a:t> </a:t>
            </a:r>
            <a:r>
              <a:rPr lang="de-DE" sz="1200" b="1" i="0" u="none">
                <a:solidFill>
                  <a:srgbClr val="000000"/>
                </a:solidFill>
                <a:latin typeface="Liberation Sans"/>
                <a:ea typeface="Liberation Sans"/>
                <a:cs typeface="Liberation Sans"/>
              </a:rPr>
              <a:t>students</a:t>
            </a:r>
            <a:r>
              <a:rPr lang="de-DE" sz="1200" b="1" i="0" u="none">
                <a:solidFill>
                  <a:srgbClr val="000000"/>
                </a:solidFill>
                <a:latin typeface="Liberation Sans"/>
                <a:ea typeface="Liberation Sans"/>
                <a:cs typeface="Liberation Sans"/>
              </a:rPr>
              <a:t>: </a:t>
            </a:r>
            <a:r>
              <a:rPr lang="en-US" sz="1200">
                <a:solidFill>
                  <a:srgbClr val="000000"/>
                </a:solidFill>
                <a:latin typeface="Liberation Sans"/>
              </a:rPr>
              <a:t>This method will be frustrating, but it easy to do and definitely effective. As a rule of thumb, every activity which is mentally exhausting has the biggest training effect. Re-reading a paragraph in your textbook is easy. No wonder you don’t get anything from that. </a:t>
            </a:r>
            <a:endParaRPr sz="1200" b="0" i="0" u="none">
              <a:solidFill>
                <a:srgbClr val="000000"/>
              </a:solidFill>
              <a:latin typeface="Liberation Sans"/>
              <a:ea typeface="Liberation Sans"/>
              <a:cs typeface="Liberation Sans"/>
            </a:endParaRPr>
          </a:p>
        </p:txBody>
      </p:sp>
      <p:sp>
        <p:nvSpPr>
          <p:cNvPr id="4" name="Slide Number Placeholder 3"/>
          <p:cNvSpPr>
            <a:spLocks noGrp="1"/>
          </p:cNvSpPr>
          <p:nvPr>
            <p:ph type="sldNum" sz="quarter" idx="10"/>
          </p:nvPr>
        </p:nvSpPr>
        <p:spPr bwMode="auto"/>
        <p:txBody>
          <a:bodyPr/>
          <a:lstStyle/>
          <a:p>
            <a:pPr>
              <a:defRPr/>
            </a:pPr>
            <a:endParaRPr/>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US" sz="1100" b="1" i="0" u="none">
                <a:solidFill>
                  <a:srgbClr val="000000"/>
                </a:solidFill>
                <a:latin typeface="Liberation Sans"/>
                <a:ea typeface="Liberation Sans"/>
                <a:cs typeface="Liberation Sans"/>
              </a:rPr>
              <a:t>To the students: </a:t>
            </a:r>
            <a:r>
              <a:rPr lang="en-US" sz="1100" b="0" i="0" u="none">
                <a:solidFill>
                  <a:srgbClr val="000000"/>
                </a:solidFill>
                <a:latin typeface="Liberation Sans"/>
                <a:ea typeface="Liberation Sans"/>
                <a:cs typeface="Liberation Sans"/>
              </a:rPr>
              <a:t>Breaks are essential. This applies to all areas, by the way. In sport, you regenerate during breaks, muscles are only built up then. It may also be reassuring to know that those who study non-stop for hours on end use their time ineffectively and that you are far ahead of them if you work less, but always with a high level of attention and receptivity.</a:t>
            </a:r>
            <a:endParaRPr/>
          </a:p>
          <a:p>
            <a:pPr>
              <a:defRPr/>
            </a:pPr>
            <a:endParaRPr lang="en-US" sz="1100" b="0" i="0" u="none">
              <a:solidFill>
                <a:srgbClr val="000000"/>
              </a:solidFill>
              <a:latin typeface="Liberation Sans"/>
              <a:ea typeface="Liberation Sans"/>
              <a:cs typeface="Liberation Sans"/>
            </a:endParaRPr>
          </a:p>
          <a:p>
            <a:pPr>
              <a:defRPr/>
            </a:pPr>
            <a:r>
              <a:rPr lang="en-US" sz="1100" b="0" i="0" u="none">
                <a:solidFill>
                  <a:srgbClr val="000000"/>
                </a:solidFill>
                <a:latin typeface="Liberation Sans"/>
                <a:ea typeface="Liberation Sans"/>
                <a:cs typeface="Liberation Sans"/>
              </a:rPr>
              <a:t>Speaking of breaks: wouldn't now be a good time to take one ?:)</a:t>
            </a:r>
            <a:endParaRPr/>
          </a:p>
        </p:txBody>
      </p:sp>
      <p:sp>
        <p:nvSpPr>
          <p:cNvPr id="4" name="Slide Number Placeholder 3"/>
          <p:cNvSpPr>
            <a:spLocks noGrp="1"/>
          </p:cNvSpPr>
          <p:nvPr>
            <p:ph type="sldNum" sz="quarter" idx="10"/>
          </p:nvPr>
        </p:nvSpPr>
        <p:spPr bwMode="auto"/>
        <p:txBody>
          <a:bodyPr/>
          <a:lstStyle/>
          <a:p>
            <a:pPr>
              <a:defRPr/>
            </a:pPr>
            <a:endParaRPr/>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US" b="1"/>
              <a:t>To you: </a:t>
            </a:r>
            <a:r>
              <a:rPr lang="en-US" b="0"/>
              <a:t>At this point, I would like to mention that everyone has to find their own learning strategy. Sticking to something because everyone else is doing it doesn't make sense if it doesn't work for you (e.g. - please replace with your own example - flashcards never worked for me because it took me far too long to write them. Instead, I implemented Active Recall by telling everything I knew about a topic ('blurting'). </a:t>
            </a:r>
            <a:endParaRPr/>
          </a:p>
          <a:p>
            <a:pPr>
              <a:defRPr/>
            </a:pPr>
            <a:endParaRPr lang="en-US" b="0"/>
          </a:p>
          <a:p>
            <a:pPr>
              <a:defRPr/>
            </a:pPr>
            <a:r>
              <a:rPr lang="en-US" b="0"/>
              <a:t>+ Encourage discussion about what implementation difficulties the students have had so far in their learning or anticipate them and consider solutions (as required).</a:t>
            </a:r>
            <a:endParaRPr lang="en-GB" b="0"/>
          </a:p>
        </p:txBody>
      </p:sp>
      <p:sp>
        <p:nvSpPr>
          <p:cNvPr id="4" name="Slide Number Placeholder 3"/>
          <p:cNvSpPr>
            <a:spLocks noGrp="1"/>
          </p:cNvSpPr>
          <p:nvPr>
            <p:ph type="sldNum" sz="quarter" idx="5"/>
          </p:nvPr>
        </p:nvSpPr>
        <p:spPr bwMode="auto"/>
        <p:txBody>
          <a:bodyPr/>
          <a:lstStyle/>
          <a:p>
            <a:pPr>
              <a:defRPr/>
            </a:pPr>
            <a:fld id="{91C7837A-BE0C-8E44-AC6E-3BD867A160FB}" type="slidenum">
              <a:rPr lang="de-DE"/>
              <a:t>17</a:t>
            </a:fld>
            <a:endParaRPr lang="de-DE"/>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lang="de-DE"/>
          </a:p>
        </p:txBody>
      </p:sp>
      <p:sp>
        <p:nvSpPr>
          <p:cNvPr id="4" name="Slide Number Placeholder 3"/>
          <p:cNvSpPr>
            <a:spLocks noGrp="1"/>
          </p:cNvSpPr>
          <p:nvPr>
            <p:ph type="sldNum" sz="quarter" idx="5"/>
          </p:nvPr>
        </p:nvSpPr>
        <p:spPr bwMode="auto"/>
        <p:txBody>
          <a:bodyPr/>
          <a:lstStyle/>
          <a:p>
            <a:pPr>
              <a:defRPr/>
            </a:pPr>
            <a:fld id="{91C7837A-BE0C-8E44-AC6E-3BD867A160FB}" type="slidenum">
              <a:rPr lang="de-DE"/>
              <a:t>18</a:t>
            </a:fld>
            <a:endParaRPr lang="de-DE"/>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US" sz="1100" b="1" i="0" u="none">
                <a:solidFill>
                  <a:srgbClr val="000000"/>
                </a:solidFill>
                <a:latin typeface="Liberation Sans"/>
                <a:ea typeface="Liberation Sans"/>
                <a:cs typeface="Liberation Sans"/>
              </a:rPr>
              <a:t>To the students: </a:t>
            </a:r>
            <a:r>
              <a:rPr lang="en-US" sz="1100" b="0" i="0" u="none">
                <a:solidFill>
                  <a:srgbClr val="000000"/>
                </a:solidFill>
                <a:latin typeface="Liberation Sans"/>
                <a:ea typeface="Liberation Sans"/>
                <a:cs typeface="Liberation Sans"/>
              </a:rPr>
              <a:t>Anki is a computer program and is also available as an app. In terms of logic, it is a simple flashcard system, like the one you may have already had in paper form. However, this flashcard system is digital and offers many integration options, automation and personalization options. And it is open source. The vast majority of methods that are effective and efficient are already automated in the code, making the program ideal even for lazy learners.</a:t>
            </a:r>
            <a:endParaRPr lang="de-DE" b="0"/>
          </a:p>
        </p:txBody>
      </p:sp>
      <p:sp>
        <p:nvSpPr>
          <p:cNvPr id="4" name="Slide Number Placeholder 3"/>
          <p:cNvSpPr>
            <a:spLocks noGrp="1"/>
          </p:cNvSpPr>
          <p:nvPr>
            <p:ph type="sldNum" sz="quarter" idx="10"/>
          </p:nvPr>
        </p:nvSpPr>
        <p:spPr bwMode="auto"/>
        <p:txBody>
          <a:bodyPr/>
          <a:lstStyle/>
          <a:p>
            <a:pPr>
              <a:defRPr/>
            </a:pPr>
            <a:endParaRPr/>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marL="0" marR="0" lvl="0" indent="0" algn="l" defTabSz="914400">
              <a:lnSpc>
                <a:spcPct val="100000"/>
              </a:lnSpc>
              <a:spcBef>
                <a:spcPts val="0"/>
              </a:spcBef>
              <a:spcAft>
                <a:spcPts val="0"/>
              </a:spcAft>
              <a:buClrTx/>
              <a:buSzTx/>
              <a:buFontTx/>
              <a:buNone/>
              <a:defRPr/>
            </a:pPr>
            <a:r>
              <a:rPr lang="de-DE" sz="1200" b="1" i="0" u="none">
                <a:solidFill>
                  <a:srgbClr val="000000"/>
                </a:solidFill>
                <a:latin typeface="Liberation Sans"/>
                <a:ea typeface="Liberation Sans"/>
                <a:cs typeface="Liberation Sans"/>
              </a:rPr>
              <a:t>To</a:t>
            </a:r>
            <a:r>
              <a:rPr lang="de-DE" sz="1200" b="1" i="0" u="none">
                <a:solidFill>
                  <a:srgbClr val="000000"/>
                </a:solidFill>
                <a:latin typeface="Liberation Sans"/>
                <a:ea typeface="Liberation Sans"/>
                <a:cs typeface="Liberation Sans"/>
              </a:rPr>
              <a:t> </a:t>
            </a:r>
            <a:r>
              <a:rPr lang="de-DE" sz="1200" b="1" i="0" u="none">
                <a:solidFill>
                  <a:srgbClr val="000000"/>
                </a:solidFill>
                <a:latin typeface="Liberation Sans"/>
                <a:ea typeface="Liberation Sans"/>
                <a:cs typeface="Liberation Sans"/>
              </a:rPr>
              <a:t>the</a:t>
            </a:r>
            <a:r>
              <a:rPr lang="de-DE" sz="1200" b="1" i="0" u="none">
                <a:solidFill>
                  <a:srgbClr val="000000"/>
                </a:solidFill>
                <a:latin typeface="Liberation Sans"/>
                <a:ea typeface="Liberation Sans"/>
                <a:cs typeface="Liberation Sans"/>
              </a:rPr>
              <a:t> </a:t>
            </a:r>
            <a:r>
              <a:rPr lang="de-DE" sz="1200" b="1" i="0" u="none">
                <a:solidFill>
                  <a:srgbClr val="000000"/>
                </a:solidFill>
                <a:latin typeface="Liberation Sans"/>
                <a:ea typeface="Liberation Sans"/>
                <a:cs typeface="Liberation Sans"/>
              </a:rPr>
              <a:t>students</a:t>
            </a:r>
            <a:r>
              <a:rPr lang="de-DE" sz="1200" b="1" i="0" u="none">
                <a:solidFill>
                  <a:srgbClr val="000000"/>
                </a:solidFill>
                <a:latin typeface="Liberation Sans"/>
                <a:ea typeface="Liberation Sans"/>
                <a:cs typeface="Liberation Sans"/>
              </a:rPr>
              <a:t>: </a:t>
            </a:r>
            <a:r>
              <a:rPr lang="en-US" sz="1200">
                <a:solidFill>
                  <a:srgbClr val="000000"/>
                </a:solidFill>
                <a:latin typeface="Arial"/>
              </a:rPr>
              <a:t>Here are some alternatives if you dislike Anki for a reason. </a:t>
            </a:r>
            <a:endParaRPr sz="1200"/>
          </a:p>
          <a:p>
            <a:pPr>
              <a:defRPr/>
            </a:pPr>
            <a:endParaRPr sz="1200"/>
          </a:p>
        </p:txBody>
      </p:sp>
      <p:sp>
        <p:nvSpPr>
          <p:cNvPr id="4" name="Slide Number Placeholder 3"/>
          <p:cNvSpPr>
            <a:spLocks noGrp="1"/>
          </p:cNvSpPr>
          <p:nvPr>
            <p:ph type="sldNum" sz="quarter" idx="10"/>
          </p:nvPr>
        </p:nvSpPr>
        <p:spPr bwMode="auto"/>
        <p:txBody>
          <a:bodyPr/>
          <a:lstStyle/>
          <a:p>
            <a:pPr>
              <a:defRPr/>
            </a:pPr>
            <a:endParaRPr/>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marL="0" marR="0" lvl="0" indent="0" algn="l" defTabSz="914400">
              <a:lnSpc>
                <a:spcPct val="100000"/>
              </a:lnSpc>
              <a:spcBef>
                <a:spcPts val="0"/>
              </a:spcBef>
              <a:spcAft>
                <a:spcPts val="0"/>
              </a:spcAft>
              <a:buClrTx/>
              <a:buSzTx/>
              <a:buFontTx/>
              <a:buNone/>
              <a:defRPr/>
            </a:pPr>
            <a:r>
              <a:rPr lang="de-DE" sz="1200" b="1" i="0" u="none">
                <a:solidFill>
                  <a:srgbClr val="000000"/>
                </a:solidFill>
                <a:latin typeface="Liberation Sans"/>
                <a:ea typeface="Liberation Sans"/>
                <a:cs typeface="Liberation Sans"/>
              </a:rPr>
              <a:t>To</a:t>
            </a:r>
            <a:r>
              <a:rPr lang="de-DE" sz="1200" b="1" i="0" u="none">
                <a:solidFill>
                  <a:srgbClr val="000000"/>
                </a:solidFill>
                <a:latin typeface="Liberation Sans"/>
                <a:ea typeface="Liberation Sans"/>
                <a:cs typeface="Liberation Sans"/>
              </a:rPr>
              <a:t> </a:t>
            </a:r>
            <a:r>
              <a:rPr lang="de-DE" sz="1200" b="1" i="0" u="none">
                <a:solidFill>
                  <a:srgbClr val="000000"/>
                </a:solidFill>
                <a:latin typeface="Liberation Sans"/>
                <a:ea typeface="Liberation Sans"/>
                <a:cs typeface="Liberation Sans"/>
              </a:rPr>
              <a:t>You</a:t>
            </a:r>
            <a:r>
              <a:rPr lang="de-DE" sz="1200" b="1" i="0" u="none">
                <a:solidFill>
                  <a:srgbClr val="000000"/>
                </a:solidFill>
                <a:latin typeface="Liberation Sans"/>
                <a:ea typeface="Liberation Sans"/>
                <a:cs typeface="Liberation Sans"/>
              </a:rPr>
              <a:t>: </a:t>
            </a:r>
            <a:r>
              <a:rPr lang="en-US" sz="1200">
                <a:solidFill>
                  <a:srgbClr val="000000"/>
                </a:solidFill>
                <a:latin typeface="Arial"/>
              </a:rPr>
              <a:t>Let the students install and test it if they want and if they want to take the time for that in class</a:t>
            </a:r>
            <a:endParaRPr sz="1200"/>
          </a:p>
          <a:p>
            <a:pPr>
              <a:defRPr/>
            </a:pPr>
            <a:endParaRPr sz="1200" b="0" i="0" u="none">
              <a:solidFill>
                <a:srgbClr val="000000"/>
              </a:solidFill>
              <a:latin typeface="Liberation Sans"/>
              <a:ea typeface="Liberation Sans"/>
              <a:cs typeface="Liberation Sans"/>
            </a:endParaRPr>
          </a:p>
          <a:p>
            <a:pPr>
              <a:defRPr/>
            </a:pPr>
            <a:endParaRPr sz="1200"/>
          </a:p>
        </p:txBody>
      </p:sp>
      <p:sp>
        <p:nvSpPr>
          <p:cNvPr id="4" name="Slide Number Placeholder 3"/>
          <p:cNvSpPr>
            <a:spLocks noGrp="1"/>
          </p:cNvSpPr>
          <p:nvPr>
            <p:ph type="sldNum" sz="quarter" idx="10"/>
          </p:nvPr>
        </p:nvSpPr>
        <p:spPr bwMode="auto"/>
        <p:txBody>
          <a:bodyPr/>
          <a:lstStyle/>
          <a:p>
            <a:pPr>
              <a:defRPr/>
            </a:pPr>
            <a:endParaRPr/>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marL="0" indent="0">
              <a:buFont typeface="Arial"/>
              <a:buNone/>
              <a:defRPr/>
            </a:pPr>
            <a:r>
              <a:rPr lang="en-US" sz="1100" b="1" i="0" u="none">
                <a:solidFill>
                  <a:srgbClr val="000000"/>
                </a:solidFill>
                <a:latin typeface="Liberation Sans"/>
                <a:ea typeface="Liberation Sans"/>
                <a:cs typeface="Liberation Sans"/>
              </a:rPr>
              <a:t>To you: </a:t>
            </a:r>
            <a:endParaRPr/>
          </a:p>
          <a:p>
            <a:pPr marL="0" indent="0">
              <a:buFont typeface="Arial"/>
              <a:buNone/>
              <a:defRPr/>
            </a:pPr>
            <a:r>
              <a:rPr lang="en-US" sz="1100" b="0" i="0" u="none">
                <a:solidFill>
                  <a:srgbClr val="000000"/>
                </a:solidFill>
                <a:latin typeface="Liberation Sans"/>
                <a:ea typeface="Liberation Sans"/>
                <a:cs typeface="Liberation Sans"/>
              </a:rPr>
              <a:t>Present tips for dealing with stress, add your own. Perhaps also open a discussion round.</a:t>
            </a:r>
            <a:endParaRPr/>
          </a:p>
          <a:p>
            <a:pPr marL="0" indent="0">
              <a:buFont typeface="Arial"/>
              <a:buNone/>
              <a:defRPr/>
            </a:pPr>
            <a:endParaRPr lang="en-US" sz="1100" b="0" i="0" u="none">
              <a:solidFill>
                <a:srgbClr val="000000"/>
              </a:solidFill>
              <a:latin typeface="Liberation Sans"/>
              <a:ea typeface="Liberation Sans"/>
              <a:cs typeface="Liberation Sans"/>
            </a:endParaRPr>
          </a:p>
          <a:p>
            <a:pPr marL="0" indent="0">
              <a:buFont typeface="Arial"/>
              <a:buNone/>
              <a:defRPr/>
            </a:pPr>
            <a:r>
              <a:rPr lang="en-US" sz="1100" b="0" i="0" u="none">
                <a:solidFill>
                  <a:srgbClr val="000000"/>
                </a:solidFill>
                <a:latin typeface="Liberation Sans"/>
                <a:ea typeface="Liberation Sans"/>
                <a:cs typeface="Liberation Sans"/>
              </a:rPr>
              <a:t>80/20 rule: 20 percent of the effort is responsible for 80 percent of the desired result.</a:t>
            </a:r>
            <a:endParaRPr/>
          </a:p>
          <a:p>
            <a:pPr marL="0" indent="0">
              <a:buFont typeface="Arial"/>
              <a:buNone/>
              <a:defRPr/>
            </a:pPr>
            <a:endParaRPr lang="en-US" sz="1100" b="0" i="0" u="none">
              <a:solidFill>
                <a:srgbClr val="000000"/>
              </a:solidFill>
              <a:latin typeface="Liberation Sans"/>
              <a:ea typeface="Liberation Sans"/>
              <a:cs typeface="Liberation Sans"/>
            </a:endParaRPr>
          </a:p>
          <a:p>
            <a:pPr marL="0" indent="0">
              <a:buFont typeface="Arial"/>
              <a:buNone/>
              <a:defRPr/>
            </a:pPr>
            <a:r>
              <a:rPr lang="en-US" sz="1100" b="0" i="0" u="none">
                <a:solidFill>
                  <a:srgbClr val="000000"/>
                </a:solidFill>
                <a:latin typeface="Liberation Sans"/>
                <a:ea typeface="Liberation Sans"/>
                <a:cs typeface="Liberation Sans"/>
              </a:rPr>
              <a:t>The YouTube video shows once again what functions stress has for us, what happens in the body and how we can use this to our advantage.</a:t>
            </a:r>
            <a:endParaRPr/>
          </a:p>
          <a:p>
            <a:pPr marL="0" indent="0">
              <a:buFont typeface="Arial"/>
              <a:buNone/>
              <a:defRPr/>
            </a:pPr>
            <a:r>
              <a:rPr lang="en-US" sz="1100" b="0" i="0" u="none">
                <a:solidFill>
                  <a:srgbClr val="000000"/>
                </a:solidFill>
                <a:latin typeface="Liberation Sans"/>
                <a:ea typeface="Liberation Sans"/>
                <a:cs typeface="Liberation Sans"/>
              </a:rPr>
              <a:t>If you feel that there is a need, feel free to mention the psychological counseling services offered by the university.</a:t>
            </a:r>
            <a:endParaRPr/>
          </a:p>
          <a:p>
            <a:pPr>
              <a:defRPr/>
            </a:pPr>
            <a:endParaRPr sz="1100" b="0" i="0" u="none">
              <a:solidFill>
                <a:srgbClr val="000000"/>
              </a:solidFill>
              <a:latin typeface="Liberation Sans"/>
              <a:ea typeface="Liberation Sans"/>
              <a:cs typeface="Liberation Sans"/>
            </a:endParaRPr>
          </a:p>
        </p:txBody>
      </p:sp>
      <p:sp>
        <p:nvSpPr>
          <p:cNvPr id="4" name="Slide Number Placeholder 3"/>
          <p:cNvSpPr>
            <a:spLocks noGrp="1"/>
          </p:cNvSpPr>
          <p:nvPr>
            <p:ph type="sldNum" sz="quarter" idx="10"/>
          </p:nvPr>
        </p:nvSpPr>
        <p:spPr bwMode="auto"/>
        <p:txBody>
          <a:bodyPr/>
          <a:lstStyle/>
          <a:p>
            <a:pPr>
              <a:defRPr/>
            </a:pPr>
            <a:endParaRPr/>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lang="en-GB" b="1"/>
              <a:t>To You</a:t>
            </a:r>
            <a:r>
              <a:rPr lang="en-GB"/>
              <a:t>: a collection of Wiki articles that are related to the topic and where the students can further inform themselves</a:t>
            </a:r>
            <a:endParaRPr/>
          </a:p>
        </p:txBody>
      </p:sp>
      <p:sp>
        <p:nvSpPr>
          <p:cNvPr id="4" name="Slide Number Placeholder 3"/>
          <p:cNvSpPr>
            <a:spLocks noGrp="1"/>
          </p:cNvSpPr>
          <p:nvPr>
            <p:ph type="sldNum" sz="quarter" idx="5"/>
          </p:nvPr>
        </p:nvSpPr>
        <p:spPr bwMode="auto"/>
        <p:txBody>
          <a:bodyPr/>
          <a:lstStyle/>
          <a:p>
            <a:pPr>
              <a:defRPr/>
            </a:pPr>
            <a:fld id="{91C7837A-BE0C-8E44-AC6E-3BD867A160FB}" type="slidenum">
              <a:rPr lang="de-DE"/>
              <a:t>23</a:t>
            </a:fld>
            <a:endParaRPr lang="de-DE"/>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3DF840C-BBC5-406E-937E-576D8A5B90DB}" type="slidenum">
              <a:rPr/>
              <a:t/>
            </a:fld>
            <a:endParaRPr/>
          </a:p>
        </p:txBody>
      </p:sp>
    </p:spTree>
  </p:cSld>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media1.svg"/><Relationship Id="rId4" Type="http://schemas.openxmlformats.org/officeDocument/2006/relationships/image" Target="../media/image3.png"/><Relationship Id="rId5" Type="http://schemas.openxmlformats.org/officeDocument/2006/relationships/image" Target="../media/media2.svg"/><Relationship Id="rId6" Type="http://schemas.openxmlformats.org/officeDocument/2006/relationships/image" Target="../media/image4.png"/><Relationship Id="rId7" Type="http://schemas.openxmlformats.org/officeDocument/2006/relationships/image" Target="../media/media3.svg"/><Relationship Id="rId8" Type="http://schemas.openxmlformats.org/officeDocument/2006/relationships/image" Target="../media/image5.png"/><Relationship Id="rId9" Type="http://schemas.openxmlformats.org/officeDocument/2006/relationships/image" Target="../media/media4.svg"/></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1.jpg"/></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1.jpg"/></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1.jpg"/></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1.jpg"/></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1.jpg"/></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1.jpg"/></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1.jpg"/></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1.jpg"/></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1.jpg"/></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Layouts/_rels/slideLayout16.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 Id="rId11" Type="http://schemas.openxmlformats.org/officeDocument/2006/relationships/image" Target="../media/image15.png"/><Relationship Id="rId12" Type="http://schemas.openxmlformats.org/officeDocument/2006/relationships/image" Target="../media/image16.png"/><Relationship Id="rId13" Type="http://schemas.openxmlformats.org/officeDocument/2006/relationships/image" Target="../media/image17.png"/><Relationship Id="rId14" Type="http://schemas.openxmlformats.org/officeDocument/2006/relationships/image" Target="../media/image18.png"/><Relationship Id="rId15" Type="http://schemas.openxmlformats.org/officeDocument/2006/relationships/image" Target="../media/image19.png"/><Relationship Id="rId16" Type="http://schemas.openxmlformats.org/officeDocument/2006/relationships/image" Target="../media/image20.png"/><Relationship Id="rId17" Type="http://schemas.openxmlformats.org/officeDocument/2006/relationships/image" Target="../media/image21.png"/><Relationship Id="rId18" Type="http://schemas.openxmlformats.org/officeDocument/2006/relationships/image" Target="../media/image22.png"/><Relationship Id="rId19" Type="http://schemas.openxmlformats.org/officeDocument/2006/relationships/image" Target="../media/image23.png"/><Relationship Id="rId20" Type="http://schemas.openxmlformats.org/officeDocument/2006/relationships/image" Target="../media/image24.png"/><Relationship Id="rId21" Type="http://schemas.openxmlformats.org/officeDocument/2006/relationships/image" Target="../media/image25.png"/><Relationship Id="rId22" Type="http://schemas.openxmlformats.org/officeDocument/2006/relationships/image" Target="../media/image26.png"/><Relationship Id="rId23" Type="http://schemas.openxmlformats.org/officeDocument/2006/relationships/image" Target="../media/image27.png"/><Relationship Id="rId24" Type="http://schemas.openxmlformats.org/officeDocument/2006/relationships/image" Target="../media/image28.png"/><Relationship Id="rId25" Type="http://schemas.openxmlformats.org/officeDocument/2006/relationships/image" Target="../media/image29.png"/><Relationship Id="rId26" Type="http://schemas.openxmlformats.org/officeDocument/2006/relationships/image" Target="../media/image30.png"/><Relationship Id="rId27" Type="http://schemas.openxmlformats.org/officeDocument/2006/relationships/image" Target="../media/image31.png"/><Relationship Id="rId28" Type="http://schemas.openxmlformats.org/officeDocument/2006/relationships/image" Target="../media/image32.png"/><Relationship Id="rId29" Type="http://schemas.openxmlformats.org/officeDocument/2006/relationships/image" Target="../media/image33.png"/><Relationship Id="rId30" Type="http://schemas.openxmlformats.org/officeDocument/2006/relationships/image" Target="../media/image34.png"/><Relationship Id="rId31" Type="http://schemas.openxmlformats.org/officeDocument/2006/relationships/image" Target="../media/image35.png"/><Relationship Id="rId32" Type="http://schemas.openxmlformats.org/officeDocument/2006/relationships/image" Target="../media/image36.png"/></Relationships>
</file>

<file path=ppt/slideLayouts/_rels/slideLayout1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s>
</file>

<file path=ppt/slideLayouts/_rels/slideLayout19.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itle" userDrawn="1">
  <p:cSld name="Titelfolie">
    <p:spTree>
      <p:nvGrpSpPr>
        <p:cNvPr id="1" name=""/>
        <p:cNvGrpSpPr/>
        <p:nvPr/>
      </p:nvGrpSpPr>
      <p:grpSpPr bwMode="auto">
        <a:xfrm>
          <a:off x="0" y="0"/>
          <a:ext cx="0" cy="0"/>
          <a:chOff x="0" y="0"/>
          <a:chExt cx="0" cy="0"/>
        </a:xfrm>
      </p:grpSpPr>
      <p:sp>
        <p:nvSpPr>
          <p:cNvPr id="2" name="Titel 1"/>
          <p:cNvSpPr>
            <a:spLocks noGrp="1"/>
          </p:cNvSpPr>
          <p:nvPr>
            <p:ph type="ctrTitle" hasCustomPrompt="1"/>
          </p:nvPr>
        </p:nvSpPr>
        <p:spPr bwMode="auto">
          <a:xfrm>
            <a:off x="2205643" y="2410767"/>
            <a:ext cx="13716000" cy="3581400"/>
          </a:xfrm>
        </p:spPr>
        <p:txBody>
          <a:bodyPr anchor="b"/>
          <a:lstStyle>
            <a:lvl1pPr algn="ctr">
              <a:defRPr sz="6000"/>
            </a:lvl1pPr>
          </a:lstStyle>
          <a:p>
            <a:pPr>
              <a:defRPr/>
            </a:pPr>
            <a:r>
              <a:rPr lang="de-DE"/>
              <a:t>Lernen für Klausuren</a:t>
            </a:r>
            <a:endParaRPr/>
          </a:p>
        </p:txBody>
      </p:sp>
      <p:sp>
        <p:nvSpPr>
          <p:cNvPr id="3" name="Untertitel 2"/>
          <p:cNvSpPr>
            <a:spLocks noGrp="1"/>
          </p:cNvSpPr>
          <p:nvPr>
            <p:ph type="subTitle" idx="1" hasCustomPrompt="1"/>
          </p:nvPr>
        </p:nvSpPr>
        <p:spPr bwMode="auto">
          <a:xfrm>
            <a:off x="2205643" y="7982337"/>
            <a:ext cx="6777643" cy="7831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de-DE"/>
              <a:t>Tutor*in:</a:t>
            </a:r>
            <a:endParaRPr/>
          </a:p>
        </p:txBody>
      </p:sp>
      <p:sp>
        <p:nvSpPr>
          <p:cNvPr id="7" name="Freeform 2"/>
          <p:cNvSpPr/>
          <p:nvPr userDrawn="1"/>
        </p:nvSpPr>
        <p:spPr bwMode="auto">
          <a:xfrm>
            <a:off x="-1263092" y="4204093"/>
            <a:ext cx="2499164" cy="5514763"/>
          </a:xfrm>
          <a:custGeom>
            <a:avLst/>
            <a:gdLst/>
            <a:ahLst/>
            <a:cxnLst/>
            <a:rect l="l" t="t" r="r" b="b"/>
            <a:pathLst>
              <a:path w="2499164" h="2394654" fill="norm" stroke="1"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fill="norm" stroke="1"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fill="norm" stroke="1" extrusionOk="0">
                <a:moveTo>
                  <a:pt x="0" y="0"/>
                </a:moveTo>
                <a:lnTo>
                  <a:pt x="3505909" y="0"/>
                </a:lnTo>
                <a:lnTo>
                  <a:pt x="3505909" y="3416668"/>
                </a:lnTo>
                <a:lnTo>
                  <a:pt x="0" y="3416668"/>
                </a:lnTo>
                <a:lnTo>
                  <a:pt x="0" y="0"/>
                </a:lnTo>
                <a:close/>
              </a:path>
            </a:pathLst>
          </a:custGeom>
          <a:blipFill>
            <a:blip r:embed="rId4"/>
            <a:stretch/>
          </a:blipFill>
        </p:spPr>
        <p:txBody>
          <a:bodyPr/>
          <a:lstStyle/>
          <a:p>
            <a:pPr>
              <a:defRPr/>
            </a:pPr>
            <a:endParaRPr lang="de-DE"/>
          </a:p>
        </p:txBody>
      </p:sp>
      <p:sp>
        <p:nvSpPr>
          <p:cNvPr id="10" name="Freeform 5"/>
          <p:cNvSpPr/>
          <p:nvPr userDrawn="1"/>
        </p:nvSpPr>
        <p:spPr bwMode="auto">
          <a:xfrm>
            <a:off x="-241193" y="146185"/>
            <a:ext cx="2813227" cy="2781862"/>
          </a:xfrm>
          <a:custGeom>
            <a:avLst/>
            <a:gdLst/>
            <a:ahLst/>
            <a:cxnLst/>
            <a:rect l="l" t="t" r="r" b="b"/>
            <a:pathLst>
              <a:path w="2085371" h="2032289" fill="norm" stroke="1"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a:p>
        </p:txBody>
      </p:sp>
      <p:sp>
        <p:nvSpPr>
          <p:cNvPr id="11" name="Freeform 6"/>
          <p:cNvSpPr/>
          <p:nvPr userDrawn="1"/>
        </p:nvSpPr>
        <p:spPr bwMode="auto">
          <a:xfrm rot="7860678">
            <a:off x="63301" y="315707"/>
            <a:ext cx="1600955" cy="1490343"/>
          </a:xfrm>
          <a:custGeom>
            <a:avLst/>
            <a:gdLst/>
            <a:ahLst/>
            <a:cxnLst/>
            <a:rect l="l" t="t" r="r" b="b"/>
            <a:pathLst>
              <a:path w="1600955" h="1490343" fill="norm" stroke="1" extrusionOk="0">
                <a:moveTo>
                  <a:pt x="0" y="0"/>
                </a:moveTo>
                <a:lnTo>
                  <a:pt x="1600954" y="0"/>
                </a:lnTo>
                <a:lnTo>
                  <a:pt x="1600954" y="1490343"/>
                </a:lnTo>
                <a:lnTo>
                  <a:pt x="0" y="1490343"/>
                </a:lnTo>
                <a:lnTo>
                  <a:pt x="0" y="0"/>
                </a:lnTo>
                <a:close/>
              </a:path>
            </a:pathLst>
          </a:custGeom>
          <a:blipFill>
            <a:blip r:embed="rId6"/>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fill="norm" stroke="1" extrusionOk="0">
                <a:moveTo>
                  <a:pt x="0" y="0"/>
                </a:moveTo>
                <a:lnTo>
                  <a:pt x="2243704" y="0"/>
                </a:lnTo>
                <a:lnTo>
                  <a:pt x="2243704" y="2088684"/>
                </a:lnTo>
                <a:lnTo>
                  <a:pt x="0" y="2088684"/>
                </a:lnTo>
                <a:lnTo>
                  <a:pt x="0" y="0"/>
                </a:lnTo>
                <a:close/>
              </a:path>
            </a:pathLst>
          </a:custGeom>
          <a:blipFill>
            <a:blip r:embed="rId6"/>
            <a:stretch/>
          </a:blipFill>
        </p:spPr>
        <p:txBody>
          <a:bodyPr/>
          <a:lstStyle/>
          <a:p>
            <a:pPr>
              <a:defRPr/>
            </a:pPr>
            <a:endParaRPr lang="de-DE"/>
          </a:p>
        </p:txBody>
      </p:sp>
      <p:sp>
        <p:nvSpPr>
          <p:cNvPr id="13" name="Freeform 8"/>
          <p:cNvSpPr/>
          <p:nvPr userDrawn="1"/>
        </p:nvSpPr>
        <p:spPr bwMode="auto">
          <a:xfrm rot="-458312">
            <a:off x="16269322" y="-478677"/>
            <a:ext cx="3155791" cy="3023821"/>
          </a:xfrm>
          <a:custGeom>
            <a:avLst/>
            <a:gdLst/>
            <a:ahLst/>
            <a:cxnLst/>
            <a:rect l="l" t="t" r="r" b="b"/>
            <a:pathLst>
              <a:path w="3155791" h="3023821" fill="norm" stroke="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6320004" y="1512598"/>
            <a:ext cx="2265599" cy="1919581"/>
          </a:xfrm>
          <a:custGeom>
            <a:avLst/>
            <a:gdLst/>
            <a:ahLst/>
            <a:cxnLst/>
            <a:rect l="l" t="t" r="r" b="b"/>
            <a:pathLst>
              <a:path w="2265599" h="1919581" fill="norm" stroke="1" extrusionOk="0">
                <a:moveTo>
                  <a:pt x="0" y="0"/>
                </a:moveTo>
                <a:lnTo>
                  <a:pt x="2265600" y="0"/>
                </a:lnTo>
                <a:lnTo>
                  <a:pt x="2265600" y="1919581"/>
                </a:lnTo>
                <a:lnTo>
                  <a:pt x="0" y="1919581"/>
                </a:lnTo>
                <a:lnTo>
                  <a:pt x="0" y="0"/>
                </a:lnTo>
                <a:close/>
              </a:path>
            </a:pathLst>
          </a:custGeom>
          <a:blipFill>
            <a:blip r:embed="rId8"/>
            <a:stretch/>
          </a:blipFill>
        </p:spPr>
        <p:txBody>
          <a:bodyPr/>
          <a:lstStyle/>
          <a:p>
            <a:pPr>
              <a:defRPr/>
            </a:pPr>
            <a:endParaRPr lang="de-DE"/>
          </a:p>
        </p:txBody>
      </p:sp>
      <p:sp>
        <p:nvSpPr>
          <p:cNvPr id="15" name="Freeform 10"/>
          <p:cNvSpPr/>
          <p:nvPr userDrawn="1"/>
        </p:nvSpPr>
        <p:spPr bwMode="auto">
          <a:xfrm rot="-2487859">
            <a:off x="1794946" y="-277491"/>
            <a:ext cx="2161751" cy="1802118"/>
          </a:xfrm>
          <a:custGeom>
            <a:avLst/>
            <a:gdLst/>
            <a:ahLst/>
            <a:cxnLst/>
            <a:rect l="l" t="t" r="r" b="b"/>
            <a:pathLst>
              <a:path w="1763767" h="1494392" fill="norm" stroke="1" extrusionOk="0">
                <a:moveTo>
                  <a:pt x="0" y="0"/>
                </a:moveTo>
                <a:lnTo>
                  <a:pt x="1763767" y="0"/>
                </a:lnTo>
                <a:lnTo>
                  <a:pt x="1763767" y="1494392"/>
                </a:lnTo>
                <a:lnTo>
                  <a:pt x="0" y="1494392"/>
                </a:lnTo>
                <a:lnTo>
                  <a:pt x="0" y="0"/>
                </a:lnTo>
                <a:close/>
              </a:path>
            </a:pathLst>
          </a:custGeom>
          <a:blipFill>
            <a:blip r:embed="rId8"/>
            <a:stretch/>
          </a:blipFill>
        </p:spPr>
        <p:txBody>
          <a:bodyPr/>
          <a:lstStyle/>
          <a:p>
            <a:pPr>
              <a:defRPr/>
            </a:pPr>
            <a:endParaRPr lang="de-DE"/>
          </a:p>
        </p:txBody>
      </p:sp>
      <p:sp>
        <p:nvSpPr>
          <p:cNvPr id="16" name="Freeform 11"/>
          <p:cNvSpPr/>
          <p:nvPr userDrawn="1"/>
        </p:nvSpPr>
        <p:spPr bwMode="auto">
          <a:xfrm rot="1296289">
            <a:off x="-369759" y="7879792"/>
            <a:ext cx="2430280" cy="2059110"/>
          </a:xfrm>
          <a:custGeom>
            <a:avLst/>
            <a:gdLst/>
            <a:ahLst/>
            <a:cxnLst/>
            <a:rect l="l" t="t" r="r" b="b"/>
            <a:pathLst>
              <a:path w="2430280" h="2059110" fill="norm" stroke="1" extrusionOk="0">
                <a:moveTo>
                  <a:pt x="0" y="0"/>
                </a:moveTo>
                <a:lnTo>
                  <a:pt x="2430281" y="0"/>
                </a:lnTo>
                <a:lnTo>
                  <a:pt x="2430281" y="2059110"/>
                </a:lnTo>
                <a:lnTo>
                  <a:pt x="0" y="2059110"/>
                </a:lnTo>
                <a:lnTo>
                  <a:pt x="0" y="0"/>
                </a:lnTo>
                <a:close/>
              </a:path>
            </a:pathLst>
          </a:custGeom>
          <a:blipFill>
            <a:blip r:embed="rId8"/>
            <a:stretch/>
          </a:blipFill>
        </p:spPr>
        <p:txBody>
          <a:bodyPr/>
          <a:lstStyle/>
          <a:p>
            <a:pPr>
              <a:defRPr/>
            </a:pPr>
            <a:endParaRPr lang="de-DE"/>
          </a:p>
        </p:txBody>
      </p:sp>
      <p:sp>
        <p:nvSpPr>
          <p:cNvPr id="17" name="Freeform 12"/>
          <p:cNvSpPr/>
          <p:nvPr userDrawn="1"/>
        </p:nvSpPr>
        <p:spPr bwMode="auto">
          <a:xfrm rot="7628196">
            <a:off x="15300850" y="559721"/>
            <a:ext cx="1939168" cy="1805189"/>
          </a:xfrm>
          <a:custGeom>
            <a:avLst/>
            <a:gdLst/>
            <a:ahLst/>
            <a:cxnLst/>
            <a:rect l="l" t="t" r="r" b="b"/>
            <a:pathLst>
              <a:path w="1939168" h="1805189" fill="norm" stroke="1" extrusionOk="0">
                <a:moveTo>
                  <a:pt x="0" y="0"/>
                </a:moveTo>
                <a:lnTo>
                  <a:pt x="1939169" y="0"/>
                </a:lnTo>
                <a:lnTo>
                  <a:pt x="1939169" y="1805189"/>
                </a:lnTo>
                <a:lnTo>
                  <a:pt x="0" y="1805189"/>
                </a:lnTo>
                <a:lnTo>
                  <a:pt x="0" y="0"/>
                </a:lnTo>
                <a:close/>
              </a:path>
            </a:pathLst>
          </a:custGeom>
          <a:blipFill>
            <a:blip r:embed="rId6"/>
            <a:stretch/>
          </a:blipFill>
        </p:spPr>
        <p:txBody>
          <a:bodyPr/>
          <a:lstStyle/>
          <a:p>
            <a:pPr>
              <a:defRPr/>
            </a:pPr>
            <a:endParaRPr lang="de-DE"/>
          </a:p>
        </p:txBody>
      </p:sp>
      <p:sp>
        <p:nvSpPr>
          <p:cNvPr id="5" name="Untertitel 2"/>
          <p:cNvSpPr txBox="1"/>
          <p:nvPr userDrawn="1"/>
        </p:nvSpPr>
        <p:spPr bwMode="auto">
          <a:xfrm>
            <a:off x="9144000" y="7982337"/>
            <a:ext cx="6777643" cy="783192"/>
          </a:xfrm>
          <a:prstGeom prst="rect">
            <a:avLst/>
          </a:prstGeom>
        </p:spPr>
        <p:txBody>
          <a:bodyPr vert="horz" lIns="91440" tIns="45720" rIns="91440" bIns="45720" rtlCol="0">
            <a:normAutofit/>
          </a:bodyPr>
          <a:lstStyle>
            <a:lvl1pPr marL="0" indent="0" algn="ctr" defTabSz="914400">
              <a:lnSpc>
                <a:spcPct val="90000"/>
              </a:lnSpc>
              <a:spcBef>
                <a:spcPts val="1000"/>
              </a:spcBef>
              <a:buFont typeface="Arial"/>
              <a:buNone/>
              <a:defRPr sz="2400">
                <a:solidFill>
                  <a:schemeClr val="tx1"/>
                </a:solidFill>
                <a:latin typeface="+mn-lt"/>
                <a:ea typeface="+mn-ea"/>
                <a:cs typeface="+mn-cs"/>
              </a:defRPr>
            </a:lvl1pPr>
            <a:lvl2pPr marL="457200" indent="0" algn="ctr" defTabSz="914400">
              <a:lnSpc>
                <a:spcPct val="90000"/>
              </a:lnSpc>
              <a:spcBef>
                <a:spcPts val="500"/>
              </a:spcBef>
              <a:buFont typeface="Arial"/>
              <a:buNone/>
              <a:defRPr sz="2000">
                <a:solidFill>
                  <a:schemeClr val="tx1"/>
                </a:solidFill>
                <a:latin typeface="+mn-lt"/>
                <a:ea typeface="+mn-ea"/>
                <a:cs typeface="+mn-cs"/>
              </a:defRPr>
            </a:lvl2pPr>
            <a:lvl3pPr marL="914400" indent="0" algn="ctr" defTabSz="914400">
              <a:lnSpc>
                <a:spcPct val="90000"/>
              </a:lnSpc>
              <a:spcBef>
                <a:spcPts val="500"/>
              </a:spcBef>
              <a:buFont typeface="Arial"/>
              <a:buNone/>
              <a:defRPr sz="1800">
                <a:solidFill>
                  <a:schemeClr val="tx1"/>
                </a:solidFill>
                <a:latin typeface="+mn-lt"/>
                <a:ea typeface="+mn-ea"/>
                <a:cs typeface="+mn-cs"/>
              </a:defRPr>
            </a:lvl3pPr>
            <a:lvl4pPr marL="1371600" indent="0" algn="ctr" defTabSz="914400">
              <a:lnSpc>
                <a:spcPct val="90000"/>
              </a:lnSpc>
              <a:spcBef>
                <a:spcPts val="500"/>
              </a:spcBef>
              <a:buFont typeface="Arial"/>
              <a:buNone/>
              <a:defRPr sz="1600">
                <a:solidFill>
                  <a:schemeClr val="tx1"/>
                </a:solidFill>
                <a:latin typeface="+mn-lt"/>
                <a:ea typeface="+mn-ea"/>
                <a:cs typeface="+mn-cs"/>
              </a:defRPr>
            </a:lvl4pPr>
            <a:lvl5pPr marL="1828800" indent="0" algn="ctr" defTabSz="914400">
              <a:lnSpc>
                <a:spcPct val="90000"/>
              </a:lnSpc>
              <a:spcBef>
                <a:spcPts val="500"/>
              </a:spcBef>
              <a:buFont typeface="Arial"/>
              <a:buNone/>
              <a:defRPr sz="1600">
                <a:solidFill>
                  <a:schemeClr val="tx1"/>
                </a:solidFill>
                <a:latin typeface="+mn-lt"/>
                <a:ea typeface="+mn-ea"/>
                <a:cs typeface="+mn-cs"/>
              </a:defRPr>
            </a:lvl5pPr>
            <a:lvl6pPr marL="2286000" indent="0" algn="ctr" defTabSz="914400">
              <a:lnSpc>
                <a:spcPct val="90000"/>
              </a:lnSpc>
              <a:spcBef>
                <a:spcPts val="500"/>
              </a:spcBef>
              <a:buFont typeface="Arial"/>
              <a:buNone/>
              <a:defRPr sz="1600">
                <a:solidFill>
                  <a:schemeClr val="tx1"/>
                </a:solidFill>
                <a:latin typeface="+mn-lt"/>
                <a:ea typeface="+mn-ea"/>
                <a:cs typeface="+mn-cs"/>
              </a:defRPr>
            </a:lvl6pPr>
            <a:lvl7pPr marL="2743200" indent="0" algn="ctr" defTabSz="914400">
              <a:lnSpc>
                <a:spcPct val="90000"/>
              </a:lnSpc>
              <a:spcBef>
                <a:spcPts val="500"/>
              </a:spcBef>
              <a:buFont typeface="Arial"/>
              <a:buNone/>
              <a:defRPr sz="1600">
                <a:solidFill>
                  <a:schemeClr val="tx1"/>
                </a:solidFill>
                <a:latin typeface="+mn-lt"/>
                <a:ea typeface="+mn-ea"/>
                <a:cs typeface="+mn-cs"/>
              </a:defRPr>
            </a:lvl7pPr>
            <a:lvl8pPr marL="3200400" indent="0" algn="ctr" defTabSz="914400">
              <a:lnSpc>
                <a:spcPct val="90000"/>
              </a:lnSpc>
              <a:spcBef>
                <a:spcPts val="500"/>
              </a:spcBef>
              <a:buFont typeface="Arial"/>
              <a:buNone/>
              <a:defRPr sz="1600">
                <a:solidFill>
                  <a:schemeClr val="tx1"/>
                </a:solidFill>
                <a:latin typeface="+mn-lt"/>
                <a:ea typeface="+mn-ea"/>
                <a:cs typeface="+mn-cs"/>
              </a:defRPr>
            </a:lvl8pPr>
            <a:lvl9pPr marL="3657600" indent="0" algn="ctr" defTabSz="914400">
              <a:lnSpc>
                <a:spcPct val="90000"/>
              </a:lnSpc>
              <a:spcBef>
                <a:spcPts val="500"/>
              </a:spcBef>
              <a:buFont typeface="Arial"/>
              <a:buNone/>
              <a:defRPr sz="1600">
                <a:solidFill>
                  <a:schemeClr val="tx1"/>
                </a:solidFill>
                <a:latin typeface="+mn-lt"/>
                <a:ea typeface="+mn-ea"/>
                <a:cs typeface="+mn-cs"/>
              </a:defRPr>
            </a:lvl9pPr>
          </a:lstStyle>
          <a:p>
            <a:pPr>
              <a:defRPr/>
            </a:pPr>
            <a:r>
              <a:rPr lang="de-DE"/>
              <a:t>Datum: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Agenda">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p:txBody>
          <a:bodyPr anchor="b"/>
          <a:lstStyle>
            <a:lvl1pPr>
              <a:defRPr sz="6000"/>
            </a:lvl1pPr>
          </a:lstStyle>
          <a:p>
            <a:pPr>
              <a:defRPr/>
            </a:pPr>
            <a:r>
              <a:rPr lang="de-DE"/>
              <a:t>Agenda</a:t>
            </a:r>
            <a:endParaRPr/>
          </a:p>
        </p:txBody>
      </p:sp>
      <p:sp>
        <p:nvSpPr>
          <p:cNvPr id="17" name="Freeform 13"/>
          <p:cNvSpPr/>
          <p:nvPr userDrawn="1"/>
        </p:nvSpPr>
        <p:spPr bwMode="auto">
          <a:xfrm>
            <a:off x="7687907" y="30602"/>
            <a:ext cx="2912186" cy="1012162"/>
          </a:xfrm>
          <a:custGeom>
            <a:avLst/>
            <a:gdLst/>
            <a:ahLst/>
            <a:cxnLst/>
            <a:rect l="l" t="t" r="r" b="b"/>
            <a:pathLst>
              <a:path w="2912186" h="1012162" fill="norm" stroke="1"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a:p>
        </p:txBody>
      </p:sp>
      <p:sp>
        <p:nvSpPr>
          <p:cNvPr id="30" name="Freeform 10"/>
          <p:cNvSpPr/>
          <p:nvPr userDrawn="1"/>
        </p:nvSpPr>
        <p:spPr bwMode="auto">
          <a:xfrm rot="-2487859">
            <a:off x="2018666" y="506518"/>
            <a:ext cx="2809405" cy="2643335"/>
          </a:xfrm>
          <a:custGeom>
            <a:avLst/>
            <a:gdLst/>
            <a:ahLst/>
            <a:cxnLst/>
            <a:rect l="l" t="t" r="r" b="b"/>
            <a:pathLst>
              <a:path w="1763767" h="1494392" fill="norm" stroke="1"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a:p>
        </p:txBody>
      </p:sp>
      <p:sp>
        <p:nvSpPr>
          <p:cNvPr id="31" name="Freeform 2"/>
          <p:cNvSpPr/>
          <p:nvPr userDrawn="1"/>
        </p:nvSpPr>
        <p:spPr bwMode="auto">
          <a:xfrm>
            <a:off x="-562784" y="4424673"/>
            <a:ext cx="2499164" cy="2394654"/>
          </a:xfrm>
          <a:custGeom>
            <a:avLst/>
            <a:gdLst/>
            <a:ahLst/>
            <a:cxnLst/>
            <a:rect l="l" t="t" r="r" b="b"/>
            <a:pathLst>
              <a:path w="2499164" h="2394654" fill="norm" stroke="1" extrusionOk="0">
                <a:moveTo>
                  <a:pt x="0" y="0"/>
                </a:moveTo>
                <a:lnTo>
                  <a:pt x="2499165" y="0"/>
                </a:lnTo>
                <a:lnTo>
                  <a:pt x="2499165" y="2394654"/>
                </a:lnTo>
                <a:lnTo>
                  <a:pt x="0" y="2394654"/>
                </a:lnTo>
                <a:lnTo>
                  <a:pt x="0" y="0"/>
                </a:lnTo>
                <a:close/>
              </a:path>
            </a:pathLst>
          </a:custGeom>
          <a:blipFill>
            <a:blip r:embed="rId4"/>
            <a:stretch/>
          </a:blipFill>
        </p:spPr>
        <p:txBody>
          <a:bodyPr/>
          <a:lstStyle/>
          <a:p>
            <a:pPr>
              <a:defRPr/>
            </a:pPr>
            <a:endParaRPr lang="de-DE"/>
          </a:p>
        </p:txBody>
      </p:sp>
      <p:sp>
        <p:nvSpPr>
          <p:cNvPr id="32" name="Freeform 3"/>
          <p:cNvSpPr/>
          <p:nvPr userDrawn="1"/>
        </p:nvSpPr>
        <p:spPr bwMode="auto">
          <a:xfrm rot="4680788">
            <a:off x="16257418" y="8270982"/>
            <a:ext cx="2635834" cy="2525609"/>
          </a:xfrm>
          <a:custGeom>
            <a:avLst/>
            <a:gdLst/>
            <a:ahLst/>
            <a:cxnLst/>
            <a:rect l="l" t="t" r="r" b="b"/>
            <a:pathLst>
              <a:path w="2635834" h="2525609" fill="norm" stroke="1" extrusionOk="0">
                <a:moveTo>
                  <a:pt x="0" y="0"/>
                </a:moveTo>
                <a:lnTo>
                  <a:pt x="2635835" y="0"/>
                </a:lnTo>
                <a:lnTo>
                  <a:pt x="2635835" y="2525608"/>
                </a:lnTo>
                <a:lnTo>
                  <a:pt x="0" y="2525608"/>
                </a:lnTo>
                <a:lnTo>
                  <a:pt x="0" y="0"/>
                </a:lnTo>
                <a:close/>
              </a:path>
            </a:pathLst>
          </a:custGeom>
          <a:blipFill>
            <a:blip r:embed="rId4"/>
            <a:stretch/>
          </a:blipFill>
        </p:spPr>
        <p:txBody>
          <a:bodyPr/>
          <a:lstStyle/>
          <a:p>
            <a:pPr>
              <a:defRPr/>
            </a:pPr>
            <a:endParaRPr lang="de-DE"/>
          </a:p>
        </p:txBody>
      </p:sp>
      <p:sp>
        <p:nvSpPr>
          <p:cNvPr id="33" name="Freeform 4"/>
          <p:cNvSpPr/>
          <p:nvPr userDrawn="1"/>
        </p:nvSpPr>
        <p:spPr bwMode="auto">
          <a:xfrm>
            <a:off x="-1766" y="-260603"/>
            <a:ext cx="3894251" cy="4068485"/>
          </a:xfrm>
          <a:custGeom>
            <a:avLst/>
            <a:gdLst/>
            <a:ahLst/>
            <a:cxnLst/>
            <a:rect l="l" t="t" r="r" b="b"/>
            <a:pathLst>
              <a:path w="3505909" h="3416667" fill="norm" stroke="1" extrusionOk="0">
                <a:moveTo>
                  <a:pt x="0" y="0"/>
                </a:moveTo>
                <a:lnTo>
                  <a:pt x="3505909" y="0"/>
                </a:lnTo>
                <a:lnTo>
                  <a:pt x="3505909" y="3416668"/>
                </a:lnTo>
                <a:lnTo>
                  <a:pt x="0" y="3416668"/>
                </a:lnTo>
                <a:lnTo>
                  <a:pt x="0" y="0"/>
                </a:lnTo>
                <a:close/>
              </a:path>
            </a:pathLst>
          </a:custGeom>
          <a:blipFill>
            <a:blip r:embed="rId5"/>
            <a:stretch/>
          </a:blipFill>
        </p:spPr>
        <p:txBody>
          <a:bodyPr/>
          <a:lstStyle/>
          <a:p>
            <a:pPr>
              <a:defRPr/>
            </a:pPr>
            <a:endParaRPr lang="de-DE"/>
          </a:p>
        </p:txBody>
      </p:sp>
      <p:sp>
        <p:nvSpPr>
          <p:cNvPr id="34" name="Freeform 5"/>
          <p:cNvSpPr/>
          <p:nvPr userDrawn="1"/>
        </p:nvSpPr>
        <p:spPr bwMode="auto">
          <a:xfrm rot="16008410">
            <a:off x="14998235" y="987245"/>
            <a:ext cx="3473526" cy="2914635"/>
          </a:xfrm>
          <a:custGeom>
            <a:avLst/>
            <a:gdLst/>
            <a:ahLst/>
            <a:cxnLst/>
            <a:rect l="l" t="t" r="r" b="b"/>
            <a:pathLst>
              <a:path w="2085371" h="2032289" fill="norm" stroke="1" extrusionOk="0">
                <a:moveTo>
                  <a:pt x="0" y="0"/>
                </a:moveTo>
                <a:lnTo>
                  <a:pt x="2085371" y="0"/>
                </a:lnTo>
                <a:lnTo>
                  <a:pt x="2085371" y="2032289"/>
                </a:lnTo>
                <a:lnTo>
                  <a:pt x="0" y="2032289"/>
                </a:lnTo>
                <a:lnTo>
                  <a:pt x="0" y="0"/>
                </a:lnTo>
                <a:close/>
              </a:path>
            </a:pathLst>
          </a:custGeom>
          <a:blipFill>
            <a:blip r:embed="rId5"/>
            <a:stretch/>
          </a:blipFill>
        </p:spPr>
        <p:txBody>
          <a:bodyPr/>
          <a:lstStyle/>
          <a:p>
            <a:pPr>
              <a:defRPr/>
            </a:pPr>
            <a:endParaRPr lang="de-DE"/>
          </a:p>
        </p:txBody>
      </p:sp>
      <p:sp>
        <p:nvSpPr>
          <p:cNvPr id="35" name="Freeform 6"/>
          <p:cNvSpPr/>
          <p:nvPr userDrawn="1"/>
        </p:nvSpPr>
        <p:spPr bwMode="auto">
          <a:xfrm rot="7860678">
            <a:off x="126546" y="7226320"/>
            <a:ext cx="1600955" cy="1490343"/>
          </a:xfrm>
          <a:custGeom>
            <a:avLst/>
            <a:gdLst/>
            <a:ahLst/>
            <a:cxnLst/>
            <a:rect l="l" t="t" r="r" b="b"/>
            <a:pathLst>
              <a:path w="1600955" h="1490343" fill="norm" stroke="1" extrusionOk="0">
                <a:moveTo>
                  <a:pt x="0" y="0"/>
                </a:moveTo>
                <a:lnTo>
                  <a:pt x="1600954" y="0"/>
                </a:lnTo>
                <a:lnTo>
                  <a:pt x="1600954" y="1490343"/>
                </a:lnTo>
                <a:lnTo>
                  <a:pt x="0" y="1490343"/>
                </a:lnTo>
                <a:lnTo>
                  <a:pt x="0" y="0"/>
                </a:lnTo>
                <a:close/>
              </a:path>
            </a:pathLst>
          </a:custGeom>
          <a:blipFill>
            <a:blip r:embed="rId6"/>
            <a:stretch/>
          </a:blipFill>
        </p:spPr>
        <p:txBody>
          <a:bodyPr/>
          <a:lstStyle/>
          <a:p>
            <a:pPr>
              <a:defRPr/>
            </a:pPr>
            <a:endParaRPr lang="de-DE"/>
          </a:p>
        </p:txBody>
      </p:sp>
      <p:sp>
        <p:nvSpPr>
          <p:cNvPr id="36" name="Freeform 7"/>
          <p:cNvSpPr/>
          <p:nvPr userDrawn="1"/>
        </p:nvSpPr>
        <p:spPr bwMode="auto">
          <a:xfrm rot="7860678">
            <a:off x="15930678" y="7382404"/>
            <a:ext cx="2243704" cy="2088684"/>
          </a:xfrm>
          <a:custGeom>
            <a:avLst/>
            <a:gdLst/>
            <a:ahLst/>
            <a:cxnLst/>
            <a:rect l="l" t="t" r="r" b="b"/>
            <a:pathLst>
              <a:path w="2243704" h="2088684" fill="norm" stroke="1" extrusionOk="0">
                <a:moveTo>
                  <a:pt x="0" y="0"/>
                </a:moveTo>
                <a:lnTo>
                  <a:pt x="2243704" y="0"/>
                </a:lnTo>
                <a:lnTo>
                  <a:pt x="2243704" y="2088684"/>
                </a:lnTo>
                <a:lnTo>
                  <a:pt x="0" y="2088684"/>
                </a:lnTo>
                <a:lnTo>
                  <a:pt x="0" y="0"/>
                </a:lnTo>
                <a:close/>
              </a:path>
            </a:pathLst>
          </a:custGeom>
          <a:blipFill>
            <a:blip r:embed="rId6"/>
            <a:stretch/>
          </a:blipFill>
        </p:spPr>
        <p:txBody>
          <a:bodyPr/>
          <a:lstStyle/>
          <a:p>
            <a:pPr>
              <a:defRPr/>
            </a:pPr>
            <a:endParaRPr lang="de-DE"/>
          </a:p>
        </p:txBody>
      </p:sp>
      <p:sp>
        <p:nvSpPr>
          <p:cNvPr id="38" name="Freeform 9"/>
          <p:cNvSpPr/>
          <p:nvPr userDrawn="1"/>
        </p:nvSpPr>
        <p:spPr bwMode="auto">
          <a:xfrm rot="1296289">
            <a:off x="14548476" y="-705407"/>
            <a:ext cx="3201123" cy="3188050"/>
          </a:xfrm>
          <a:custGeom>
            <a:avLst/>
            <a:gdLst/>
            <a:ahLst/>
            <a:cxnLst/>
            <a:rect l="l" t="t" r="r" b="b"/>
            <a:pathLst>
              <a:path w="2265599" h="1919581" fill="norm" stroke="1" extrusionOk="0">
                <a:moveTo>
                  <a:pt x="0" y="0"/>
                </a:moveTo>
                <a:lnTo>
                  <a:pt x="2265600" y="0"/>
                </a:lnTo>
                <a:lnTo>
                  <a:pt x="2265600" y="1919581"/>
                </a:lnTo>
                <a:lnTo>
                  <a:pt x="0" y="1919581"/>
                </a:lnTo>
                <a:lnTo>
                  <a:pt x="0" y="0"/>
                </a:lnTo>
                <a:close/>
              </a:path>
            </a:pathLst>
          </a:custGeom>
          <a:blipFill>
            <a:blip r:embed="rId3"/>
            <a:stretch/>
          </a:blipFill>
        </p:spPr>
        <p:txBody>
          <a:bodyPr/>
          <a:lstStyle/>
          <a:p>
            <a:pPr>
              <a:defRPr/>
            </a:pPr>
            <a:endParaRPr lang="de-DE"/>
          </a:p>
        </p:txBody>
      </p:sp>
      <p:sp>
        <p:nvSpPr>
          <p:cNvPr id="39" name="Freeform 10"/>
          <p:cNvSpPr/>
          <p:nvPr userDrawn="1"/>
        </p:nvSpPr>
        <p:spPr bwMode="auto">
          <a:xfrm rot="-2487859">
            <a:off x="16952453" y="4767483"/>
            <a:ext cx="2033723" cy="1619753"/>
          </a:xfrm>
          <a:custGeom>
            <a:avLst/>
            <a:gdLst/>
            <a:ahLst/>
            <a:cxnLst/>
            <a:rect l="l" t="t" r="r" b="b"/>
            <a:pathLst>
              <a:path w="1763767" h="1494392" fill="norm" stroke="1"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a:p>
        </p:txBody>
      </p:sp>
      <p:sp>
        <p:nvSpPr>
          <p:cNvPr id="40" name="Freeform 11"/>
          <p:cNvSpPr/>
          <p:nvPr userDrawn="1"/>
        </p:nvSpPr>
        <p:spPr bwMode="auto">
          <a:xfrm rot="1296289">
            <a:off x="-366738" y="7821452"/>
            <a:ext cx="3294095" cy="2754079"/>
          </a:xfrm>
          <a:custGeom>
            <a:avLst/>
            <a:gdLst/>
            <a:ahLst/>
            <a:cxnLst/>
            <a:rect l="l" t="t" r="r" b="b"/>
            <a:pathLst>
              <a:path w="2430280" h="2059110" fill="norm" stroke="1" extrusionOk="0">
                <a:moveTo>
                  <a:pt x="0" y="0"/>
                </a:moveTo>
                <a:lnTo>
                  <a:pt x="2430281" y="0"/>
                </a:lnTo>
                <a:lnTo>
                  <a:pt x="2430281" y="2059110"/>
                </a:lnTo>
                <a:lnTo>
                  <a:pt x="0" y="2059110"/>
                </a:lnTo>
                <a:lnTo>
                  <a:pt x="0" y="0"/>
                </a:lnTo>
                <a:close/>
              </a:path>
            </a:pathLst>
          </a:custGeom>
          <a:blipFill>
            <a:blip r:embed="rId3"/>
            <a:stretch/>
          </a:blipFill>
        </p:spPr>
        <p:txBody>
          <a:bodyPr/>
          <a:lstStyle/>
          <a:p>
            <a:pPr>
              <a:defRPr/>
            </a:pPr>
            <a:endParaRPr lang="de-DE"/>
          </a:p>
        </p:txBody>
      </p:sp>
      <p:sp>
        <p:nvSpPr>
          <p:cNvPr id="41" name="Freeform 12"/>
          <p:cNvSpPr/>
          <p:nvPr userDrawn="1"/>
        </p:nvSpPr>
        <p:spPr bwMode="auto">
          <a:xfrm rot="2046247">
            <a:off x="17050506" y="-563810"/>
            <a:ext cx="2158222" cy="2864923"/>
          </a:xfrm>
          <a:custGeom>
            <a:avLst/>
            <a:gdLst/>
            <a:ahLst/>
            <a:cxnLst/>
            <a:rect l="l" t="t" r="r" b="b"/>
            <a:pathLst>
              <a:path w="1939168" h="1805189" fill="norm" stroke="1" extrusionOk="0">
                <a:moveTo>
                  <a:pt x="0" y="0"/>
                </a:moveTo>
                <a:lnTo>
                  <a:pt x="1939169" y="0"/>
                </a:lnTo>
                <a:lnTo>
                  <a:pt x="1939169" y="1805189"/>
                </a:lnTo>
                <a:lnTo>
                  <a:pt x="0" y="1805189"/>
                </a:lnTo>
                <a:lnTo>
                  <a:pt x="0" y="0"/>
                </a:lnTo>
                <a:close/>
              </a:path>
            </a:pathLst>
          </a:custGeom>
          <a:blipFill>
            <a:blip r:embed="rId6"/>
            <a:stretch/>
          </a:blipFill>
        </p:spPr>
        <p:txBody>
          <a:bodyPr/>
          <a:lstStyle/>
          <a:p>
            <a:pPr>
              <a:defRPr/>
            </a:pPr>
            <a:endParaRPr lang="de-DE"/>
          </a:p>
        </p:txBody>
      </p:sp>
      <p:sp>
        <p:nvSpPr>
          <p:cNvPr id="3" name="Inhaltsplatzhalter 2"/>
          <p:cNvSpPr>
            <a:spLocks noGrp="1"/>
          </p:cNvSpPr>
          <p:nvPr>
            <p:ph idx="1" hasCustomPrompt="1"/>
          </p:nvPr>
        </p:nvSpPr>
        <p:spPr bwMode="auto">
          <a:xfrm>
            <a:off x="4666760" y="2718492"/>
            <a:ext cx="9742165" cy="6480000"/>
          </a:xfrm>
        </p:spPr>
        <p:txBody>
          <a:bodyPr/>
          <a:lstStyle>
            <a:lvl1pPr marL="514350" indent="-514350">
              <a:buFont typeface="+mj-lt"/>
              <a:buAutoNum type="arabicPeriod"/>
              <a:defRPr sz="3600"/>
            </a:lvl1pPr>
            <a:lvl2pPr marL="971550" indent="-514350">
              <a:buFont typeface="+mj-lt"/>
              <a:buAutoNum type="romanLcPeriod"/>
              <a:defRPr sz="3600"/>
            </a:lvl2pPr>
          </a:lstStyle>
          <a:p>
            <a:pPr lvl="0">
              <a:defRPr/>
            </a:pPr>
            <a:r>
              <a:rPr lang="de-DE"/>
              <a:t> </a:t>
            </a:r>
            <a:endParaRPr/>
          </a:p>
          <a:p>
            <a:pPr lvl="1">
              <a:defRPr/>
            </a:pPr>
            <a:r>
              <a:rPr lang="de-DE"/>
              <a:t>  </a:t>
            </a:r>
            <a:endParaRPr/>
          </a:p>
          <a:p>
            <a:pPr lvl="0">
              <a:defRPr/>
            </a:pPr>
            <a:r>
              <a:rPr lang="de-DE"/>
              <a:t>  </a:t>
            </a:r>
            <a:endParaRPr/>
          </a:p>
          <a:p>
            <a:pPr lvl="1">
              <a:defRPr/>
            </a:pPr>
            <a:r>
              <a:rPr lang="de-DE"/>
              <a:t>  </a:t>
            </a:r>
            <a:endParaRPr/>
          </a:p>
          <a:p>
            <a:pPr lvl="1">
              <a:defRPr/>
            </a:pPr>
            <a:r>
              <a:rPr lang="de-DE"/>
              <a:t> </a:t>
            </a:r>
            <a:endParaRPr/>
          </a:p>
          <a:p>
            <a:pPr lvl="0">
              <a:defRPr/>
            </a:pPr>
            <a:r>
              <a:rPr lang="de-DE"/>
              <a:t>  </a:t>
            </a:r>
            <a:endParaRPr/>
          </a:p>
          <a:p>
            <a:pPr lvl="1">
              <a:defRPr/>
            </a:pPr>
            <a:r>
              <a:rPr lang="de-DE"/>
              <a:t> </a:t>
            </a:r>
            <a:endParaRPr/>
          </a:p>
          <a:p>
            <a:pPr lvl="1">
              <a:defRPr/>
            </a:pPr>
            <a:r>
              <a:rPr lang="de-DE"/>
              <a:t> </a:t>
            </a:r>
            <a:endParaRPr/>
          </a:p>
          <a:p>
            <a:pPr lvl="1">
              <a:defRPr/>
            </a:pPr>
            <a:r>
              <a:rPr lang="de-DE"/>
              <a:t> </a:t>
            </a:r>
            <a:endParaRPr/>
          </a:p>
          <a:p>
            <a:pPr lvl="0">
              <a:defRPr/>
            </a:pPr>
            <a:r>
              <a:rPr lang="de-DE"/>
              <a:t> </a:t>
            </a:r>
            <a:endParaRPr/>
          </a:p>
          <a:p>
            <a:pPr lvl="0">
              <a:defRPr/>
            </a:pPr>
            <a:endParaRPr lang="de-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Check-In">
    <p:spTree>
      <p:nvGrpSpPr>
        <p:cNvPr id="1" name=""/>
        <p:cNvGrpSpPr/>
        <p:nvPr/>
      </p:nvGrpSpPr>
      <p:grpSpPr bwMode="auto">
        <a:xfrm>
          <a:off x="0" y="0"/>
          <a:ext cx="0" cy="0"/>
          <a:chOff x="0" y="0"/>
          <a:chExt cx="0" cy="0"/>
        </a:xfrm>
      </p:grpSpPr>
      <p:sp>
        <p:nvSpPr>
          <p:cNvPr id="4" name="Rechteck 3"/>
          <p:cNvSpPr/>
          <p:nvPr userDrawn="1"/>
        </p:nvSpPr>
        <p:spPr bwMode="auto">
          <a:xfrm>
            <a:off x="1895176" y="2183393"/>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title" hasCustomPrompt="1"/>
          </p:nvPr>
        </p:nvSpPr>
        <p:spPr bwMode="auto">
          <a:xfrm>
            <a:off x="1906800" y="2171700"/>
            <a:ext cx="14400000" cy="6483674"/>
          </a:xfrm>
        </p:spPr>
        <p:txBody>
          <a:bodyPr lIns="90000" anchor="ctr"/>
          <a:lstStyle>
            <a:lvl1pPr>
              <a:defRPr sz="6000"/>
            </a:lvl1pPr>
          </a:lstStyle>
          <a:p>
            <a:pPr>
              <a:defRPr/>
            </a:pPr>
            <a:r>
              <a:rPr lang="de-DE"/>
              <a:t>Check-In</a:t>
            </a:r>
            <a:endParaRPr/>
          </a:p>
        </p:txBody>
      </p:sp>
      <p:sp>
        <p:nvSpPr>
          <p:cNvPr id="7" name="Freeform 2"/>
          <p:cNvSpPr/>
          <p:nvPr userDrawn="1"/>
        </p:nvSpPr>
        <p:spPr bwMode="auto">
          <a:xfrm>
            <a:off x="-988817" y="7307032"/>
            <a:ext cx="2499164" cy="2394654"/>
          </a:xfrm>
          <a:custGeom>
            <a:avLst/>
            <a:gdLst/>
            <a:ahLst/>
            <a:cxnLst/>
            <a:rect l="l" t="t" r="r" b="b"/>
            <a:pathLst>
              <a:path w="2499164" h="2394654" fill="norm" stroke="1"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fill="norm" stroke="1"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fill="norm" stroke="1"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844430" y="-193109"/>
            <a:ext cx="2311228" cy="2962220"/>
          </a:xfrm>
          <a:custGeom>
            <a:avLst/>
            <a:gdLst/>
            <a:ahLst/>
            <a:cxnLst/>
            <a:rect l="l" t="t" r="r" b="b"/>
            <a:pathLst>
              <a:path w="2085371" h="2032289" fill="norm" stroke="1"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fill="norm" stroke="1"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09917" y="184642"/>
            <a:ext cx="3155791" cy="3023821"/>
          </a:xfrm>
          <a:custGeom>
            <a:avLst/>
            <a:gdLst/>
            <a:ahLst/>
            <a:cxnLst/>
            <a:rect l="l" t="t" r="r" b="b"/>
            <a:pathLst>
              <a:path w="3155791" h="3023821" fill="norm" stroke="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248400" y="253720"/>
            <a:ext cx="2265599" cy="1919581"/>
          </a:xfrm>
          <a:custGeom>
            <a:avLst/>
            <a:gdLst/>
            <a:ahLst/>
            <a:cxnLst/>
            <a:rect l="l" t="t" r="r" b="b"/>
            <a:pathLst>
              <a:path w="2265599" h="1919581" fill="norm" stroke="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040125" y="-83341"/>
            <a:ext cx="1763767" cy="1494391"/>
          </a:xfrm>
          <a:custGeom>
            <a:avLst/>
            <a:gdLst/>
            <a:ahLst/>
            <a:cxnLst/>
            <a:rect l="l" t="t" r="r" b="b"/>
            <a:pathLst>
              <a:path w="1763767" h="1494392" fill="norm" stroke="1"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554481" y="8677791"/>
            <a:ext cx="2430280" cy="2059110"/>
          </a:xfrm>
          <a:custGeom>
            <a:avLst/>
            <a:gdLst/>
            <a:ahLst/>
            <a:cxnLst/>
            <a:rect l="l" t="t" r="r" b="b"/>
            <a:pathLst>
              <a:path w="2430280" h="2059110" fill="norm" stroke="1"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096766" y="-48757"/>
            <a:ext cx="1939168" cy="1805189"/>
          </a:xfrm>
          <a:custGeom>
            <a:avLst/>
            <a:gdLst/>
            <a:ahLst/>
            <a:cxnLst/>
            <a:rect l="l" t="t" r="r" b="b"/>
            <a:pathLst>
              <a:path w="1939168" h="1805189" fill="norm" stroke="1"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fill="norm" stroke="1"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fill="norm" stroke="1"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obj" userDrawn="1">
  <p:cSld name="Textfolie">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44000" y="1301860"/>
            <a:ext cx="14400000" cy="1260000"/>
          </a:xfrm>
        </p:spPr>
        <p:txBody>
          <a:bodyPr/>
          <a:lstStyle/>
          <a:p>
            <a:pPr>
              <a:defRPr/>
            </a:pPr>
            <a:r>
              <a:rPr lang="de-DE"/>
              <a:t>Überschrift</a:t>
            </a:r>
            <a:endParaRPr/>
          </a:p>
        </p:txBody>
      </p:sp>
      <p:sp>
        <p:nvSpPr>
          <p:cNvPr id="3" name="Inhaltsplatzhalter 2"/>
          <p:cNvSpPr>
            <a:spLocks noGrp="1"/>
          </p:cNvSpPr>
          <p:nvPr>
            <p:ph idx="1"/>
          </p:nvPr>
        </p:nvSpPr>
        <p:spPr bwMode="auto">
          <a:xfrm>
            <a:off x="1944000" y="2738828"/>
            <a:ext cx="14400000" cy="64800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7" name="Freeform 2"/>
          <p:cNvSpPr/>
          <p:nvPr userDrawn="1"/>
        </p:nvSpPr>
        <p:spPr bwMode="auto">
          <a:xfrm>
            <a:off x="-806140" y="-803735"/>
            <a:ext cx="2499164" cy="2394654"/>
          </a:xfrm>
          <a:custGeom>
            <a:avLst/>
            <a:gdLst/>
            <a:ahLst/>
            <a:cxnLst/>
            <a:rect l="l" t="t" r="r" b="b"/>
            <a:pathLst>
              <a:path w="2499164" h="2394654" fill="norm" stroke="1"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fill="norm" stroke="1"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fill="norm" stroke="1"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241193" y="146185"/>
            <a:ext cx="2085371" cy="2032289"/>
          </a:xfrm>
          <a:custGeom>
            <a:avLst/>
            <a:gdLst/>
            <a:ahLst/>
            <a:cxnLst/>
            <a:rect l="l" t="t" r="r" b="b"/>
            <a:pathLst>
              <a:path w="2085371" h="2032289" fill="norm" stroke="1"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fill="norm" stroke="1"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fill="norm" stroke="1"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771767" y="216258"/>
            <a:ext cx="3155791" cy="3023821"/>
          </a:xfrm>
          <a:custGeom>
            <a:avLst/>
            <a:gdLst/>
            <a:ahLst/>
            <a:cxnLst/>
            <a:rect l="l" t="t" r="r" b="b"/>
            <a:pathLst>
              <a:path w="3155791" h="3023821" fill="norm" stroke="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646620" y="-376703"/>
            <a:ext cx="2265599" cy="1919581"/>
          </a:xfrm>
          <a:custGeom>
            <a:avLst/>
            <a:gdLst/>
            <a:ahLst/>
            <a:cxnLst/>
            <a:rect l="l" t="t" r="r" b="b"/>
            <a:pathLst>
              <a:path w="2265599" h="1919581" fill="norm" stroke="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310651">
            <a:off x="-811537" y="3739758"/>
            <a:ext cx="2509961" cy="2095591"/>
          </a:xfrm>
          <a:custGeom>
            <a:avLst/>
            <a:gdLst/>
            <a:ahLst/>
            <a:cxnLst/>
            <a:rect l="l" t="t" r="r" b="b"/>
            <a:pathLst>
              <a:path w="1763767" h="1494392" fill="norm" stroke="1"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7318415" y="2283638"/>
            <a:ext cx="1939168" cy="1805189"/>
          </a:xfrm>
          <a:custGeom>
            <a:avLst/>
            <a:gdLst/>
            <a:ahLst/>
            <a:cxnLst/>
            <a:rect l="l" t="t" r="r" b="b"/>
            <a:pathLst>
              <a:path w="1939168" h="1805189" fill="norm" stroke="1"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fill="norm" stroke="1"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secHead" userDrawn="1">
  <p:cSld name="Abschnitts-&#10;überschrift">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06800" y="2171700"/>
            <a:ext cx="14400000" cy="3955611"/>
          </a:xfrm>
        </p:spPr>
        <p:txBody>
          <a:bodyPr lIns="90000" anchor="b"/>
          <a:lstStyle>
            <a:lvl1pPr>
              <a:defRPr sz="6000"/>
            </a:lvl1pPr>
          </a:lstStyle>
          <a:p>
            <a:pPr>
              <a:defRPr/>
            </a:pPr>
            <a:r>
              <a:rPr lang="de-DE"/>
              <a:t>Überschrift</a:t>
            </a:r>
            <a:endParaRPr/>
          </a:p>
        </p:txBody>
      </p:sp>
      <p:sp>
        <p:nvSpPr>
          <p:cNvPr id="3" name="Textplatzhalter 2"/>
          <p:cNvSpPr>
            <a:spLocks noGrp="1"/>
          </p:cNvSpPr>
          <p:nvPr>
            <p:ph type="body" idx="1"/>
          </p:nvPr>
        </p:nvSpPr>
        <p:spPr bwMode="auto">
          <a:xfrm>
            <a:off x="1906800" y="6491289"/>
            <a:ext cx="14400000" cy="2079814"/>
          </a:xfrm>
        </p:spPr>
        <p:txBody>
          <a:bodyPr lIns="90000"/>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defRPr/>
            </a:pPr>
            <a:r>
              <a:rPr lang="de-DE"/>
              <a:t>Mastertextformat bearbeiten</a:t>
            </a:r>
            <a:endParaRPr/>
          </a:p>
        </p:txBody>
      </p:sp>
      <p:sp>
        <p:nvSpPr>
          <p:cNvPr id="7" name="Freeform 2"/>
          <p:cNvSpPr/>
          <p:nvPr userDrawn="1"/>
        </p:nvSpPr>
        <p:spPr bwMode="auto">
          <a:xfrm>
            <a:off x="-988817" y="7307032"/>
            <a:ext cx="2499164" cy="2394654"/>
          </a:xfrm>
          <a:custGeom>
            <a:avLst/>
            <a:gdLst/>
            <a:ahLst/>
            <a:cxnLst/>
            <a:rect l="l" t="t" r="r" b="b"/>
            <a:pathLst>
              <a:path w="2499164" h="2394654" fill="norm" stroke="1"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fill="norm" stroke="1"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fill="norm" stroke="1"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844430" y="-193109"/>
            <a:ext cx="2311228" cy="2962220"/>
          </a:xfrm>
          <a:custGeom>
            <a:avLst/>
            <a:gdLst/>
            <a:ahLst/>
            <a:cxnLst/>
            <a:rect l="l" t="t" r="r" b="b"/>
            <a:pathLst>
              <a:path w="2085371" h="2032289" fill="norm" stroke="1"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fill="norm" stroke="1"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09917" y="184642"/>
            <a:ext cx="3155791" cy="3023821"/>
          </a:xfrm>
          <a:custGeom>
            <a:avLst/>
            <a:gdLst/>
            <a:ahLst/>
            <a:cxnLst/>
            <a:rect l="l" t="t" r="r" b="b"/>
            <a:pathLst>
              <a:path w="3155791" h="3023821" fill="norm" stroke="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248400" y="253720"/>
            <a:ext cx="2265599" cy="1919581"/>
          </a:xfrm>
          <a:custGeom>
            <a:avLst/>
            <a:gdLst/>
            <a:ahLst/>
            <a:cxnLst/>
            <a:rect l="l" t="t" r="r" b="b"/>
            <a:pathLst>
              <a:path w="2265599" h="1919581" fill="norm" stroke="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040125" y="-83341"/>
            <a:ext cx="1763767" cy="1494391"/>
          </a:xfrm>
          <a:custGeom>
            <a:avLst/>
            <a:gdLst/>
            <a:ahLst/>
            <a:cxnLst/>
            <a:rect l="l" t="t" r="r" b="b"/>
            <a:pathLst>
              <a:path w="1763767" h="1494392" fill="norm" stroke="1"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554481" y="8677791"/>
            <a:ext cx="2430280" cy="2059110"/>
          </a:xfrm>
          <a:custGeom>
            <a:avLst/>
            <a:gdLst/>
            <a:ahLst/>
            <a:cxnLst/>
            <a:rect l="l" t="t" r="r" b="b"/>
            <a:pathLst>
              <a:path w="2430280" h="2059110" fill="norm" stroke="1"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096766" y="-48757"/>
            <a:ext cx="1939168" cy="1805189"/>
          </a:xfrm>
          <a:custGeom>
            <a:avLst/>
            <a:gdLst/>
            <a:ahLst/>
            <a:cxnLst/>
            <a:rect l="l" t="t" r="r" b="b"/>
            <a:pathLst>
              <a:path w="1939168" h="1805189" fill="norm" stroke="1"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fill="norm" stroke="1"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fill="norm" stroke="1"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Pause">
    <p:spTree>
      <p:nvGrpSpPr>
        <p:cNvPr id="1" name=""/>
        <p:cNvGrpSpPr/>
        <p:nvPr/>
      </p:nvGrpSpPr>
      <p:grpSpPr bwMode="auto">
        <a:xfrm>
          <a:off x="0" y="0"/>
          <a:ext cx="0" cy="0"/>
          <a:chOff x="0" y="0"/>
          <a:chExt cx="0" cy="0"/>
        </a:xfrm>
      </p:grpSpPr>
      <p:sp>
        <p:nvSpPr>
          <p:cNvPr id="6" name="Rechteck 5"/>
          <p:cNvSpPr/>
          <p:nvPr userDrawn="1"/>
        </p:nvSpPr>
        <p:spPr bwMode="auto">
          <a:xfrm>
            <a:off x="1906799" y="2171700"/>
            <a:ext cx="14399999" cy="639940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title" hasCustomPrompt="1"/>
          </p:nvPr>
        </p:nvSpPr>
        <p:spPr bwMode="auto">
          <a:xfrm>
            <a:off x="1906800" y="2171700"/>
            <a:ext cx="14400000" cy="6399403"/>
          </a:xfrm>
        </p:spPr>
        <p:txBody>
          <a:bodyPr lIns="90000" anchor="ctr"/>
          <a:lstStyle>
            <a:lvl1pPr>
              <a:defRPr sz="6000"/>
            </a:lvl1pPr>
          </a:lstStyle>
          <a:p>
            <a:pPr>
              <a:defRPr/>
            </a:pPr>
            <a:r>
              <a:rPr lang="de-DE"/>
              <a:t>PAUSE</a:t>
            </a:r>
            <a:endParaRPr/>
          </a:p>
        </p:txBody>
      </p:sp>
      <p:sp>
        <p:nvSpPr>
          <p:cNvPr id="7" name="Freeform 2"/>
          <p:cNvSpPr/>
          <p:nvPr userDrawn="1"/>
        </p:nvSpPr>
        <p:spPr bwMode="auto">
          <a:xfrm>
            <a:off x="-988817" y="7307032"/>
            <a:ext cx="2499164" cy="2394654"/>
          </a:xfrm>
          <a:custGeom>
            <a:avLst/>
            <a:gdLst/>
            <a:ahLst/>
            <a:cxnLst/>
            <a:rect l="l" t="t" r="r" b="b"/>
            <a:pathLst>
              <a:path w="2499164" h="2394654" fill="norm" stroke="1"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fill="norm" stroke="1"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fill="norm" stroke="1"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844430" y="-193109"/>
            <a:ext cx="2311228" cy="2962220"/>
          </a:xfrm>
          <a:custGeom>
            <a:avLst/>
            <a:gdLst/>
            <a:ahLst/>
            <a:cxnLst/>
            <a:rect l="l" t="t" r="r" b="b"/>
            <a:pathLst>
              <a:path w="2085371" h="2032289" fill="norm" stroke="1"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fill="norm" stroke="1"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09917" y="184642"/>
            <a:ext cx="3155791" cy="3023821"/>
          </a:xfrm>
          <a:custGeom>
            <a:avLst/>
            <a:gdLst/>
            <a:ahLst/>
            <a:cxnLst/>
            <a:rect l="l" t="t" r="r" b="b"/>
            <a:pathLst>
              <a:path w="3155791" h="3023821" fill="norm" stroke="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248400" y="253720"/>
            <a:ext cx="2265599" cy="1919581"/>
          </a:xfrm>
          <a:custGeom>
            <a:avLst/>
            <a:gdLst/>
            <a:ahLst/>
            <a:cxnLst/>
            <a:rect l="l" t="t" r="r" b="b"/>
            <a:pathLst>
              <a:path w="2265599" h="1919581" fill="norm" stroke="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040125" y="-83341"/>
            <a:ext cx="1763767" cy="1494391"/>
          </a:xfrm>
          <a:custGeom>
            <a:avLst/>
            <a:gdLst/>
            <a:ahLst/>
            <a:cxnLst/>
            <a:rect l="l" t="t" r="r" b="b"/>
            <a:pathLst>
              <a:path w="1763767" h="1494392" fill="norm" stroke="1"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554481" y="8677791"/>
            <a:ext cx="2430280" cy="2059110"/>
          </a:xfrm>
          <a:custGeom>
            <a:avLst/>
            <a:gdLst/>
            <a:ahLst/>
            <a:cxnLst/>
            <a:rect l="l" t="t" r="r" b="b"/>
            <a:pathLst>
              <a:path w="2430280" h="2059110" fill="norm" stroke="1"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096766" y="-48757"/>
            <a:ext cx="1939168" cy="1805189"/>
          </a:xfrm>
          <a:custGeom>
            <a:avLst/>
            <a:gdLst/>
            <a:ahLst/>
            <a:cxnLst/>
            <a:rect l="l" t="t" r="r" b="b"/>
            <a:pathLst>
              <a:path w="1939168" h="1805189" fill="norm" stroke="1"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fill="norm" stroke="1"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fill="norm" stroke="1"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Energizer">
    <p:spTree>
      <p:nvGrpSpPr>
        <p:cNvPr id="1" name=""/>
        <p:cNvGrpSpPr/>
        <p:nvPr/>
      </p:nvGrpSpPr>
      <p:grpSpPr bwMode="auto">
        <a:xfrm>
          <a:off x="0" y="0"/>
          <a:ext cx="0" cy="0"/>
          <a:chOff x="0" y="0"/>
          <a:chExt cx="0" cy="0"/>
        </a:xfrm>
      </p:grpSpPr>
      <p:sp>
        <p:nvSpPr>
          <p:cNvPr id="4" name="Rechteck 3"/>
          <p:cNvSpPr/>
          <p:nvPr userDrawn="1"/>
        </p:nvSpPr>
        <p:spPr bwMode="auto">
          <a:xfrm>
            <a:off x="1906799" y="2171700"/>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title" hasCustomPrompt="1"/>
          </p:nvPr>
        </p:nvSpPr>
        <p:spPr bwMode="auto">
          <a:xfrm>
            <a:off x="1906800" y="2171700"/>
            <a:ext cx="14400000" cy="6399403"/>
          </a:xfrm>
        </p:spPr>
        <p:txBody>
          <a:bodyPr lIns="90000" anchor="ctr"/>
          <a:lstStyle>
            <a:lvl1pPr>
              <a:defRPr sz="6000"/>
            </a:lvl1pPr>
          </a:lstStyle>
          <a:p>
            <a:pPr>
              <a:defRPr/>
            </a:pPr>
            <a:r>
              <a:rPr lang="de-DE"/>
              <a:t>ENERGIZER</a:t>
            </a:r>
            <a:endParaRPr/>
          </a:p>
        </p:txBody>
      </p:sp>
      <p:sp>
        <p:nvSpPr>
          <p:cNvPr id="7" name="Freeform 2"/>
          <p:cNvSpPr/>
          <p:nvPr userDrawn="1"/>
        </p:nvSpPr>
        <p:spPr bwMode="auto">
          <a:xfrm>
            <a:off x="-988817" y="7307032"/>
            <a:ext cx="2499164" cy="2394654"/>
          </a:xfrm>
          <a:custGeom>
            <a:avLst/>
            <a:gdLst/>
            <a:ahLst/>
            <a:cxnLst/>
            <a:rect l="l" t="t" r="r" b="b"/>
            <a:pathLst>
              <a:path w="2499164" h="2394654" fill="norm" stroke="1"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fill="norm" stroke="1"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fill="norm" stroke="1"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844430" y="-193109"/>
            <a:ext cx="2311228" cy="2962220"/>
          </a:xfrm>
          <a:custGeom>
            <a:avLst/>
            <a:gdLst/>
            <a:ahLst/>
            <a:cxnLst/>
            <a:rect l="l" t="t" r="r" b="b"/>
            <a:pathLst>
              <a:path w="2085371" h="2032289" fill="norm" stroke="1"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fill="norm" stroke="1"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09917" y="184642"/>
            <a:ext cx="3155791" cy="3023821"/>
          </a:xfrm>
          <a:custGeom>
            <a:avLst/>
            <a:gdLst/>
            <a:ahLst/>
            <a:cxnLst/>
            <a:rect l="l" t="t" r="r" b="b"/>
            <a:pathLst>
              <a:path w="3155791" h="3023821" fill="norm" stroke="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248400" y="253720"/>
            <a:ext cx="2265599" cy="1919581"/>
          </a:xfrm>
          <a:custGeom>
            <a:avLst/>
            <a:gdLst/>
            <a:ahLst/>
            <a:cxnLst/>
            <a:rect l="l" t="t" r="r" b="b"/>
            <a:pathLst>
              <a:path w="2265599" h="1919581" fill="norm" stroke="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040125" y="-83341"/>
            <a:ext cx="1763767" cy="1494391"/>
          </a:xfrm>
          <a:custGeom>
            <a:avLst/>
            <a:gdLst/>
            <a:ahLst/>
            <a:cxnLst/>
            <a:rect l="l" t="t" r="r" b="b"/>
            <a:pathLst>
              <a:path w="1763767" h="1494392" fill="norm" stroke="1"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554481" y="8677791"/>
            <a:ext cx="2430280" cy="2059110"/>
          </a:xfrm>
          <a:custGeom>
            <a:avLst/>
            <a:gdLst/>
            <a:ahLst/>
            <a:cxnLst/>
            <a:rect l="l" t="t" r="r" b="b"/>
            <a:pathLst>
              <a:path w="2430280" h="2059110" fill="norm" stroke="1"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096766" y="-48757"/>
            <a:ext cx="1939168" cy="1805189"/>
          </a:xfrm>
          <a:custGeom>
            <a:avLst/>
            <a:gdLst/>
            <a:ahLst/>
            <a:cxnLst/>
            <a:rect l="l" t="t" r="r" b="b"/>
            <a:pathLst>
              <a:path w="1939168" h="1805189" fill="norm" stroke="1"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fill="norm" stroke="1"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fill="norm" stroke="1"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woObj" userDrawn="1">
  <p:cSld name="Zwei Inhalte">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44000" y="1366765"/>
            <a:ext cx="14400000" cy="1260000"/>
          </a:xfrm>
        </p:spPr>
        <p:txBody>
          <a:bodyPr/>
          <a:lstStyle/>
          <a:p>
            <a:pPr>
              <a:defRPr/>
            </a:pPr>
            <a:r>
              <a:rPr lang="de-DE"/>
              <a:t>Überschrift</a:t>
            </a:r>
            <a:endParaRPr/>
          </a:p>
        </p:txBody>
      </p:sp>
      <p:sp>
        <p:nvSpPr>
          <p:cNvPr id="3" name="Inhaltsplatzhalter 2"/>
          <p:cNvSpPr>
            <a:spLocks noGrp="1"/>
          </p:cNvSpPr>
          <p:nvPr>
            <p:ph sz="half" idx="1"/>
          </p:nvPr>
        </p:nvSpPr>
        <p:spPr bwMode="auto">
          <a:xfrm>
            <a:off x="1944000" y="2738437"/>
            <a:ext cx="7123800" cy="65278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4" name="Inhaltsplatzhalter 3"/>
          <p:cNvSpPr>
            <a:spLocks noGrp="1"/>
          </p:cNvSpPr>
          <p:nvPr>
            <p:ph sz="half" idx="2"/>
          </p:nvPr>
        </p:nvSpPr>
        <p:spPr bwMode="auto">
          <a:xfrm>
            <a:off x="9220200" y="2738437"/>
            <a:ext cx="7123800" cy="65278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8" name="Freeform 2"/>
          <p:cNvSpPr/>
          <p:nvPr userDrawn="1"/>
        </p:nvSpPr>
        <p:spPr bwMode="auto">
          <a:xfrm>
            <a:off x="-988817" y="7307032"/>
            <a:ext cx="2499164" cy="2394654"/>
          </a:xfrm>
          <a:custGeom>
            <a:avLst/>
            <a:gdLst/>
            <a:ahLst/>
            <a:cxnLst/>
            <a:rect l="l" t="t" r="r" b="b"/>
            <a:pathLst>
              <a:path w="2499164" h="2394654" fill="norm" stroke="1"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11" name="Freeform 5"/>
          <p:cNvSpPr/>
          <p:nvPr userDrawn="1"/>
        </p:nvSpPr>
        <p:spPr bwMode="auto">
          <a:xfrm>
            <a:off x="-241193" y="146185"/>
            <a:ext cx="2085371" cy="2032289"/>
          </a:xfrm>
          <a:custGeom>
            <a:avLst/>
            <a:gdLst/>
            <a:ahLst/>
            <a:cxnLst/>
            <a:rect l="l" t="t" r="r" b="b"/>
            <a:pathLst>
              <a:path w="2085371" h="2032289" fill="norm" stroke="1"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6"/>
          <p:cNvSpPr/>
          <p:nvPr userDrawn="1"/>
        </p:nvSpPr>
        <p:spPr bwMode="auto">
          <a:xfrm rot="7860678">
            <a:off x="668732" y="930928"/>
            <a:ext cx="1600955" cy="1490343"/>
          </a:xfrm>
          <a:custGeom>
            <a:avLst/>
            <a:gdLst/>
            <a:ahLst/>
            <a:cxnLst/>
            <a:rect l="l" t="t" r="r" b="b"/>
            <a:pathLst>
              <a:path w="1600955" h="1490343" fill="norm" stroke="1"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6" name="Freeform 10"/>
          <p:cNvSpPr/>
          <p:nvPr userDrawn="1"/>
        </p:nvSpPr>
        <p:spPr bwMode="auto">
          <a:xfrm rot="-2487859">
            <a:off x="1653257" y="-539706"/>
            <a:ext cx="1763767" cy="1494391"/>
          </a:xfrm>
          <a:custGeom>
            <a:avLst/>
            <a:gdLst/>
            <a:ahLst/>
            <a:cxnLst/>
            <a:rect l="l" t="t" r="r" b="b"/>
            <a:pathLst>
              <a:path w="1763767" h="1494392" fill="norm" stroke="1"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7" name="Freeform 11"/>
          <p:cNvSpPr/>
          <p:nvPr userDrawn="1"/>
        </p:nvSpPr>
        <p:spPr bwMode="auto">
          <a:xfrm rot="1296289">
            <a:off x="-407556" y="8504231"/>
            <a:ext cx="2430280" cy="2059110"/>
          </a:xfrm>
          <a:custGeom>
            <a:avLst/>
            <a:gdLst/>
            <a:ahLst/>
            <a:cxnLst/>
            <a:rect l="l" t="t" r="r" b="b"/>
            <a:pathLst>
              <a:path w="2430280" h="2059110" fill="norm" stroke="1"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9" name="Freeform 13"/>
          <p:cNvSpPr/>
          <p:nvPr userDrawn="1"/>
        </p:nvSpPr>
        <p:spPr bwMode="auto">
          <a:xfrm>
            <a:off x="7687907" y="30602"/>
            <a:ext cx="2912186" cy="1012162"/>
          </a:xfrm>
          <a:custGeom>
            <a:avLst/>
            <a:gdLst/>
            <a:ahLst/>
            <a:cxnLst/>
            <a:rect l="l" t="t" r="r" b="b"/>
            <a:pathLst>
              <a:path w="2912186" h="1012162" fill="norm" stroke="1"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20" name="Freeform 3"/>
          <p:cNvSpPr/>
          <p:nvPr userDrawn="1"/>
        </p:nvSpPr>
        <p:spPr bwMode="auto">
          <a:xfrm rot="4680788">
            <a:off x="16257418" y="8270982"/>
            <a:ext cx="2635834" cy="2525609"/>
          </a:xfrm>
          <a:custGeom>
            <a:avLst/>
            <a:gdLst/>
            <a:ahLst/>
            <a:cxnLst/>
            <a:rect l="l" t="t" r="r" b="b"/>
            <a:pathLst>
              <a:path w="2635834" h="2525609" fill="norm" stroke="1"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21" name="Freeform 5"/>
          <p:cNvSpPr/>
          <p:nvPr userDrawn="1"/>
        </p:nvSpPr>
        <p:spPr bwMode="auto">
          <a:xfrm rot="16008410">
            <a:off x="16401541" y="714471"/>
            <a:ext cx="2347587" cy="2305392"/>
          </a:xfrm>
          <a:custGeom>
            <a:avLst/>
            <a:gdLst/>
            <a:ahLst/>
            <a:cxnLst/>
            <a:rect l="l" t="t" r="r" b="b"/>
            <a:pathLst>
              <a:path w="2085371" h="2032289" fill="norm" stroke="1"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22" name="Freeform 7"/>
          <p:cNvSpPr/>
          <p:nvPr userDrawn="1"/>
        </p:nvSpPr>
        <p:spPr bwMode="auto">
          <a:xfrm rot="7860678">
            <a:off x="16917043" y="6687679"/>
            <a:ext cx="2243704" cy="2088684"/>
          </a:xfrm>
          <a:custGeom>
            <a:avLst/>
            <a:gdLst/>
            <a:ahLst/>
            <a:cxnLst/>
            <a:rect l="l" t="t" r="r" b="b"/>
            <a:pathLst>
              <a:path w="2243704" h="2088684" fill="norm" stroke="1"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23" name="Freeform 9"/>
          <p:cNvSpPr/>
          <p:nvPr userDrawn="1"/>
        </p:nvSpPr>
        <p:spPr bwMode="auto">
          <a:xfrm rot="1296289">
            <a:off x="15384349" y="-545919"/>
            <a:ext cx="2531996" cy="2154648"/>
          </a:xfrm>
          <a:custGeom>
            <a:avLst/>
            <a:gdLst/>
            <a:ahLst/>
            <a:cxnLst/>
            <a:rect l="l" t="t" r="r" b="b"/>
            <a:pathLst>
              <a:path w="2265599" h="1919581" fill="norm" stroke="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24" name="Freeform 10"/>
          <p:cNvSpPr/>
          <p:nvPr userDrawn="1"/>
        </p:nvSpPr>
        <p:spPr bwMode="auto">
          <a:xfrm rot="-2487859">
            <a:off x="16952453" y="4767483"/>
            <a:ext cx="2033723" cy="1619753"/>
          </a:xfrm>
          <a:custGeom>
            <a:avLst/>
            <a:gdLst/>
            <a:ahLst/>
            <a:cxnLst/>
            <a:rect l="l" t="t" r="r" b="b"/>
            <a:pathLst>
              <a:path w="1763767" h="1494392" fill="norm" stroke="1"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25" name="Freeform 12"/>
          <p:cNvSpPr/>
          <p:nvPr userDrawn="1"/>
        </p:nvSpPr>
        <p:spPr bwMode="auto">
          <a:xfrm rot="2046247">
            <a:off x="17723193" y="-357480"/>
            <a:ext cx="1707091" cy="1936262"/>
          </a:xfrm>
          <a:custGeom>
            <a:avLst/>
            <a:gdLst/>
            <a:ahLst/>
            <a:cxnLst/>
            <a:rect l="l" t="t" r="r" b="b"/>
            <a:pathLst>
              <a:path w="1939168" h="1805189" fill="norm" stroke="1"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woTxTwoObj" userDrawn="1">
  <p:cSld name="Vergleich">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44000" y="1174623"/>
            <a:ext cx="14400000" cy="1260000"/>
          </a:xfrm>
        </p:spPr>
        <p:txBody>
          <a:bodyPr/>
          <a:lstStyle/>
          <a:p>
            <a:pPr>
              <a:defRPr/>
            </a:pPr>
            <a:r>
              <a:rPr lang="de-DE"/>
              <a:t>Überschrift</a:t>
            </a:r>
            <a:endParaRPr/>
          </a:p>
        </p:txBody>
      </p:sp>
      <p:sp>
        <p:nvSpPr>
          <p:cNvPr id="3" name="Textplatzhalter 2"/>
          <p:cNvSpPr>
            <a:spLocks noGrp="1"/>
          </p:cNvSpPr>
          <p:nvPr>
            <p:ph type="body" idx="1"/>
          </p:nvPr>
        </p:nvSpPr>
        <p:spPr bwMode="auto">
          <a:xfrm>
            <a:off x="1944000" y="2522538"/>
            <a:ext cx="7052362"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de-DE"/>
              <a:t>Mastertextformat bearbeiten</a:t>
            </a:r>
            <a:endParaRPr/>
          </a:p>
        </p:txBody>
      </p:sp>
      <p:sp>
        <p:nvSpPr>
          <p:cNvPr id="4" name="Inhaltsplatzhalter 3"/>
          <p:cNvSpPr>
            <a:spLocks noGrp="1"/>
          </p:cNvSpPr>
          <p:nvPr>
            <p:ph sz="half" idx="2"/>
          </p:nvPr>
        </p:nvSpPr>
        <p:spPr bwMode="auto">
          <a:xfrm>
            <a:off x="1944000" y="3757613"/>
            <a:ext cx="7052362" cy="5527675"/>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5" name="Textplatzhalter 4"/>
          <p:cNvSpPr>
            <a:spLocks noGrp="1"/>
          </p:cNvSpPr>
          <p:nvPr>
            <p:ph type="body" sz="quarter" idx="3"/>
          </p:nvPr>
        </p:nvSpPr>
        <p:spPr bwMode="auto">
          <a:xfrm>
            <a:off x="9258301" y="2522538"/>
            <a:ext cx="7085700"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de-DE"/>
              <a:t>Mastertextformat bearbeiten</a:t>
            </a:r>
            <a:endParaRPr/>
          </a:p>
        </p:txBody>
      </p:sp>
      <p:sp>
        <p:nvSpPr>
          <p:cNvPr id="6" name="Inhaltsplatzhalter 5"/>
          <p:cNvSpPr>
            <a:spLocks noGrp="1"/>
          </p:cNvSpPr>
          <p:nvPr>
            <p:ph sz="quarter" idx="4"/>
          </p:nvPr>
        </p:nvSpPr>
        <p:spPr bwMode="auto">
          <a:xfrm>
            <a:off x="9258301" y="3757613"/>
            <a:ext cx="7085700" cy="5527675"/>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11" name="Freeform 3"/>
          <p:cNvSpPr/>
          <p:nvPr userDrawn="1"/>
        </p:nvSpPr>
        <p:spPr bwMode="auto">
          <a:xfrm rot="4680788">
            <a:off x="16257418" y="8270982"/>
            <a:ext cx="2635834" cy="2525609"/>
          </a:xfrm>
          <a:custGeom>
            <a:avLst/>
            <a:gdLst/>
            <a:ahLst/>
            <a:cxnLst/>
            <a:rect l="l" t="t" r="r" b="b"/>
            <a:pathLst>
              <a:path w="2635834" h="2525609" fill="norm" stroke="1"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12" name="Freeform 4"/>
          <p:cNvSpPr/>
          <p:nvPr userDrawn="1"/>
        </p:nvSpPr>
        <p:spPr bwMode="auto">
          <a:xfrm>
            <a:off x="16605940" y="6291738"/>
            <a:ext cx="3505909" cy="3416667"/>
          </a:xfrm>
          <a:custGeom>
            <a:avLst/>
            <a:gdLst/>
            <a:ahLst/>
            <a:cxnLst/>
            <a:rect l="l" t="t" r="r" b="b"/>
            <a:pathLst>
              <a:path w="3505909" h="3416667" fill="norm" stroke="1"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5" name="Freeform 7"/>
          <p:cNvSpPr/>
          <p:nvPr userDrawn="1"/>
        </p:nvSpPr>
        <p:spPr bwMode="auto">
          <a:xfrm rot="7860678">
            <a:off x="16672693" y="5865697"/>
            <a:ext cx="2243704" cy="2088684"/>
          </a:xfrm>
          <a:custGeom>
            <a:avLst/>
            <a:gdLst/>
            <a:ahLst/>
            <a:cxnLst/>
            <a:rect l="l" t="t" r="r" b="b"/>
            <a:pathLst>
              <a:path w="2243704" h="2088684" fill="norm" stroke="1"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6" name="Freeform 8"/>
          <p:cNvSpPr/>
          <p:nvPr userDrawn="1"/>
        </p:nvSpPr>
        <p:spPr bwMode="auto">
          <a:xfrm rot="-458312">
            <a:off x="16710104" y="1053145"/>
            <a:ext cx="3155791" cy="3023821"/>
          </a:xfrm>
          <a:custGeom>
            <a:avLst/>
            <a:gdLst/>
            <a:ahLst/>
            <a:cxnLst/>
            <a:rect l="l" t="t" r="r" b="b"/>
            <a:pathLst>
              <a:path w="3155791" h="3023821" fill="norm" stroke="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7" name="Freeform 9"/>
          <p:cNvSpPr/>
          <p:nvPr userDrawn="1"/>
        </p:nvSpPr>
        <p:spPr bwMode="auto">
          <a:xfrm rot="1296289">
            <a:off x="15390336" y="-527401"/>
            <a:ext cx="2265599" cy="1919581"/>
          </a:xfrm>
          <a:custGeom>
            <a:avLst/>
            <a:gdLst/>
            <a:ahLst/>
            <a:cxnLst/>
            <a:rect l="l" t="t" r="r" b="b"/>
            <a:pathLst>
              <a:path w="2265599" h="1919581" fill="norm" stroke="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20" name="Freeform 12"/>
          <p:cNvSpPr/>
          <p:nvPr userDrawn="1"/>
        </p:nvSpPr>
        <p:spPr bwMode="auto">
          <a:xfrm rot="7628196">
            <a:off x="17157286" y="1319324"/>
            <a:ext cx="1939168" cy="1805189"/>
          </a:xfrm>
          <a:custGeom>
            <a:avLst/>
            <a:gdLst/>
            <a:ahLst/>
            <a:cxnLst/>
            <a:rect l="l" t="t" r="r" b="b"/>
            <a:pathLst>
              <a:path w="1939168" h="1805189" fill="norm" stroke="1"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21" name="Freeform 13"/>
          <p:cNvSpPr/>
          <p:nvPr userDrawn="1"/>
        </p:nvSpPr>
        <p:spPr bwMode="auto">
          <a:xfrm>
            <a:off x="7687907" y="30602"/>
            <a:ext cx="2912186" cy="1012162"/>
          </a:xfrm>
          <a:custGeom>
            <a:avLst/>
            <a:gdLst/>
            <a:ahLst/>
            <a:cxnLst/>
            <a:rect l="l" t="t" r="r" b="b"/>
            <a:pathLst>
              <a:path w="2912186" h="1012162" fill="norm" stroke="1"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22" name="Freeform 2"/>
          <p:cNvSpPr/>
          <p:nvPr userDrawn="1"/>
        </p:nvSpPr>
        <p:spPr bwMode="auto">
          <a:xfrm>
            <a:off x="-1249582" y="4137531"/>
            <a:ext cx="2499164" cy="5514763"/>
          </a:xfrm>
          <a:custGeom>
            <a:avLst/>
            <a:gdLst/>
            <a:ahLst/>
            <a:cxnLst/>
            <a:rect l="l" t="t" r="r" b="b"/>
            <a:pathLst>
              <a:path w="2499164" h="2394654" fill="norm" stroke="1"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23" name="Freeform 11"/>
          <p:cNvSpPr/>
          <p:nvPr userDrawn="1"/>
        </p:nvSpPr>
        <p:spPr bwMode="auto">
          <a:xfrm rot="1296289">
            <a:off x="-369759" y="7879792"/>
            <a:ext cx="2430280" cy="2059110"/>
          </a:xfrm>
          <a:custGeom>
            <a:avLst/>
            <a:gdLst/>
            <a:ahLst/>
            <a:cxnLst/>
            <a:rect l="l" t="t" r="r" b="b"/>
            <a:pathLst>
              <a:path w="2430280" h="2059110" fill="norm" stroke="1"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4" name="Freeform 6"/>
          <p:cNvSpPr/>
          <p:nvPr userDrawn="1"/>
        </p:nvSpPr>
        <p:spPr bwMode="auto">
          <a:xfrm rot="7860678">
            <a:off x="-755376" y="4673141"/>
            <a:ext cx="1600955" cy="1645696"/>
          </a:xfrm>
          <a:custGeom>
            <a:avLst/>
            <a:gdLst/>
            <a:ahLst/>
            <a:cxnLst/>
            <a:rect l="l" t="t" r="r" b="b"/>
            <a:pathLst>
              <a:path w="1600955" h="1490343" fill="norm" stroke="1"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24" name="Freeform 10"/>
          <p:cNvSpPr/>
          <p:nvPr userDrawn="1"/>
        </p:nvSpPr>
        <p:spPr bwMode="auto">
          <a:xfrm rot="-2487859">
            <a:off x="754582" y="-207773"/>
            <a:ext cx="1882775" cy="1684956"/>
          </a:xfrm>
          <a:custGeom>
            <a:avLst/>
            <a:gdLst/>
            <a:ahLst/>
            <a:cxnLst/>
            <a:rect l="l" t="t" r="r" b="b"/>
            <a:pathLst>
              <a:path w="1763767" h="1494392" fill="norm" stroke="1"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25" name="Freeform 4"/>
          <p:cNvSpPr/>
          <p:nvPr userDrawn="1"/>
        </p:nvSpPr>
        <p:spPr bwMode="auto">
          <a:xfrm>
            <a:off x="-613526" y="-932654"/>
            <a:ext cx="2609805" cy="2593397"/>
          </a:xfrm>
          <a:custGeom>
            <a:avLst/>
            <a:gdLst/>
            <a:ahLst/>
            <a:cxnLst/>
            <a:rect l="l" t="t" r="r" b="b"/>
            <a:pathLst>
              <a:path w="3505909" h="3416667" fill="norm" stroke="1"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itleOnly" userDrawn="1">
  <p:cSld name="Nur Titel">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p:txBody>
          <a:bodyPr/>
          <a:lstStyle/>
          <a:p>
            <a:pPr>
              <a:defRPr/>
            </a:pPr>
            <a:r>
              <a:rPr lang="de-DE"/>
              <a:t>Überschrift</a:t>
            </a:r>
            <a:endParaRPr/>
          </a:p>
        </p:txBody>
      </p:sp>
      <p:sp>
        <p:nvSpPr>
          <p:cNvPr id="17" name="Freeform 13"/>
          <p:cNvSpPr/>
          <p:nvPr userDrawn="1"/>
        </p:nvSpPr>
        <p:spPr bwMode="auto">
          <a:xfrm>
            <a:off x="7687907" y="30602"/>
            <a:ext cx="2912186" cy="1012162"/>
          </a:xfrm>
          <a:custGeom>
            <a:avLst/>
            <a:gdLst/>
            <a:ahLst/>
            <a:cxnLst/>
            <a:rect l="l" t="t" r="r" b="b"/>
            <a:pathLst>
              <a:path w="2912186" h="1012162" fill="norm" stroke="1"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a:p>
        </p:txBody>
      </p:sp>
      <p:sp>
        <p:nvSpPr>
          <p:cNvPr id="30" name="Freeform 10"/>
          <p:cNvSpPr/>
          <p:nvPr userDrawn="1"/>
        </p:nvSpPr>
        <p:spPr bwMode="auto">
          <a:xfrm rot="-2487859">
            <a:off x="634233" y="-130796"/>
            <a:ext cx="2100921" cy="2020412"/>
          </a:xfrm>
          <a:custGeom>
            <a:avLst/>
            <a:gdLst/>
            <a:ahLst/>
            <a:cxnLst/>
            <a:rect l="l" t="t" r="r" b="b"/>
            <a:pathLst>
              <a:path w="1763767" h="1494392" fill="norm" stroke="1"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a:p>
        </p:txBody>
      </p:sp>
      <p:sp>
        <p:nvSpPr>
          <p:cNvPr id="31" name="Freeform 2"/>
          <p:cNvSpPr/>
          <p:nvPr userDrawn="1"/>
        </p:nvSpPr>
        <p:spPr bwMode="auto">
          <a:xfrm>
            <a:off x="92944" y="6032092"/>
            <a:ext cx="2499164" cy="2394654"/>
          </a:xfrm>
          <a:custGeom>
            <a:avLst/>
            <a:gdLst/>
            <a:ahLst/>
            <a:cxnLst/>
            <a:rect l="l" t="t" r="r" b="b"/>
            <a:pathLst>
              <a:path w="2499164" h="2394654" fill="norm" stroke="1" extrusionOk="0">
                <a:moveTo>
                  <a:pt x="0" y="0"/>
                </a:moveTo>
                <a:lnTo>
                  <a:pt x="2499165" y="0"/>
                </a:lnTo>
                <a:lnTo>
                  <a:pt x="2499165" y="2394654"/>
                </a:lnTo>
                <a:lnTo>
                  <a:pt x="0" y="2394654"/>
                </a:lnTo>
                <a:lnTo>
                  <a:pt x="0" y="0"/>
                </a:lnTo>
                <a:close/>
              </a:path>
            </a:pathLst>
          </a:custGeom>
          <a:blipFill>
            <a:blip r:embed="rId4"/>
            <a:stretch/>
          </a:blipFill>
        </p:spPr>
        <p:txBody>
          <a:bodyPr/>
          <a:lstStyle/>
          <a:p>
            <a:pPr>
              <a:defRPr/>
            </a:pPr>
            <a:endParaRPr lang="de-DE"/>
          </a:p>
        </p:txBody>
      </p:sp>
      <p:sp>
        <p:nvSpPr>
          <p:cNvPr id="32" name="Freeform 3"/>
          <p:cNvSpPr/>
          <p:nvPr userDrawn="1"/>
        </p:nvSpPr>
        <p:spPr bwMode="auto">
          <a:xfrm rot="4680788">
            <a:off x="16257418" y="8270982"/>
            <a:ext cx="2635834" cy="2525609"/>
          </a:xfrm>
          <a:custGeom>
            <a:avLst/>
            <a:gdLst/>
            <a:ahLst/>
            <a:cxnLst/>
            <a:rect l="l" t="t" r="r" b="b"/>
            <a:pathLst>
              <a:path w="2635834" h="2525609" fill="norm" stroke="1" extrusionOk="0">
                <a:moveTo>
                  <a:pt x="0" y="0"/>
                </a:moveTo>
                <a:lnTo>
                  <a:pt x="2635835" y="0"/>
                </a:lnTo>
                <a:lnTo>
                  <a:pt x="2635835" y="2525608"/>
                </a:lnTo>
                <a:lnTo>
                  <a:pt x="0" y="2525608"/>
                </a:lnTo>
                <a:lnTo>
                  <a:pt x="0" y="0"/>
                </a:lnTo>
                <a:close/>
              </a:path>
            </a:pathLst>
          </a:custGeom>
          <a:blipFill>
            <a:blip r:embed="rId4"/>
            <a:stretch/>
          </a:blipFill>
        </p:spPr>
        <p:txBody>
          <a:bodyPr/>
          <a:lstStyle/>
          <a:p>
            <a:pPr>
              <a:defRPr/>
            </a:pPr>
            <a:endParaRPr lang="de-DE"/>
          </a:p>
        </p:txBody>
      </p:sp>
      <p:sp>
        <p:nvSpPr>
          <p:cNvPr id="33" name="Freeform 4"/>
          <p:cNvSpPr/>
          <p:nvPr userDrawn="1"/>
        </p:nvSpPr>
        <p:spPr bwMode="auto">
          <a:xfrm>
            <a:off x="-817599" y="-741416"/>
            <a:ext cx="2912187" cy="3109714"/>
          </a:xfrm>
          <a:custGeom>
            <a:avLst/>
            <a:gdLst/>
            <a:ahLst/>
            <a:cxnLst/>
            <a:rect l="l" t="t" r="r" b="b"/>
            <a:pathLst>
              <a:path w="3505909" h="3416667" fill="norm" stroke="1" extrusionOk="0">
                <a:moveTo>
                  <a:pt x="0" y="0"/>
                </a:moveTo>
                <a:lnTo>
                  <a:pt x="3505909" y="0"/>
                </a:lnTo>
                <a:lnTo>
                  <a:pt x="3505909" y="3416668"/>
                </a:lnTo>
                <a:lnTo>
                  <a:pt x="0" y="3416668"/>
                </a:lnTo>
                <a:lnTo>
                  <a:pt x="0" y="0"/>
                </a:lnTo>
                <a:close/>
              </a:path>
            </a:pathLst>
          </a:custGeom>
          <a:blipFill>
            <a:blip r:embed="rId5"/>
            <a:stretch/>
          </a:blipFill>
        </p:spPr>
        <p:txBody>
          <a:bodyPr/>
          <a:lstStyle/>
          <a:p>
            <a:pPr>
              <a:defRPr/>
            </a:pPr>
            <a:endParaRPr lang="de-DE"/>
          </a:p>
        </p:txBody>
      </p:sp>
      <p:sp>
        <p:nvSpPr>
          <p:cNvPr id="34" name="Freeform 5"/>
          <p:cNvSpPr/>
          <p:nvPr userDrawn="1"/>
        </p:nvSpPr>
        <p:spPr bwMode="auto">
          <a:xfrm rot="16008410">
            <a:off x="15833994" y="712804"/>
            <a:ext cx="2347587" cy="2305392"/>
          </a:xfrm>
          <a:custGeom>
            <a:avLst/>
            <a:gdLst/>
            <a:ahLst/>
            <a:cxnLst/>
            <a:rect l="l" t="t" r="r" b="b"/>
            <a:pathLst>
              <a:path w="2085371" h="2032289" fill="norm" stroke="1" extrusionOk="0">
                <a:moveTo>
                  <a:pt x="0" y="0"/>
                </a:moveTo>
                <a:lnTo>
                  <a:pt x="2085371" y="0"/>
                </a:lnTo>
                <a:lnTo>
                  <a:pt x="2085371" y="2032289"/>
                </a:lnTo>
                <a:lnTo>
                  <a:pt x="0" y="2032289"/>
                </a:lnTo>
                <a:lnTo>
                  <a:pt x="0" y="0"/>
                </a:lnTo>
                <a:close/>
              </a:path>
            </a:pathLst>
          </a:custGeom>
          <a:blipFill>
            <a:blip r:embed="rId5"/>
            <a:stretch/>
          </a:blipFill>
        </p:spPr>
        <p:txBody>
          <a:bodyPr/>
          <a:lstStyle/>
          <a:p>
            <a:pPr>
              <a:defRPr/>
            </a:pPr>
            <a:endParaRPr lang="de-DE"/>
          </a:p>
        </p:txBody>
      </p:sp>
      <p:sp>
        <p:nvSpPr>
          <p:cNvPr id="35" name="Freeform 6"/>
          <p:cNvSpPr/>
          <p:nvPr userDrawn="1"/>
        </p:nvSpPr>
        <p:spPr bwMode="auto">
          <a:xfrm rot="7860678">
            <a:off x="126546" y="7226320"/>
            <a:ext cx="1600955" cy="1490343"/>
          </a:xfrm>
          <a:custGeom>
            <a:avLst/>
            <a:gdLst/>
            <a:ahLst/>
            <a:cxnLst/>
            <a:rect l="l" t="t" r="r" b="b"/>
            <a:pathLst>
              <a:path w="1600955" h="1490343" fill="norm" stroke="1" extrusionOk="0">
                <a:moveTo>
                  <a:pt x="0" y="0"/>
                </a:moveTo>
                <a:lnTo>
                  <a:pt x="1600954" y="0"/>
                </a:lnTo>
                <a:lnTo>
                  <a:pt x="1600954" y="1490343"/>
                </a:lnTo>
                <a:lnTo>
                  <a:pt x="0" y="1490343"/>
                </a:lnTo>
                <a:lnTo>
                  <a:pt x="0" y="0"/>
                </a:lnTo>
                <a:close/>
              </a:path>
            </a:pathLst>
          </a:custGeom>
          <a:blipFill>
            <a:blip r:embed="rId6"/>
            <a:stretch/>
          </a:blipFill>
        </p:spPr>
        <p:txBody>
          <a:bodyPr/>
          <a:lstStyle/>
          <a:p>
            <a:pPr>
              <a:defRPr/>
            </a:pPr>
            <a:endParaRPr lang="de-DE"/>
          </a:p>
        </p:txBody>
      </p:sp>
      <p:sp>
        <p:nvSpPr>
          <p:cNvPr id="36" name="Freeform 7"/>
          <p:cNvSpPr/>
          <p:nvPr userDrawn="1"/>
        </p:nvSpPr>
        <p:spPr bwMode="auto">
          <a:xfrm rot="7860678">
            <a:off x="15930678" y="7382404"/>
            <a:ext cx="2243704" cy="2088684"/>
          </a:xfrm>
          <a:custGeom>
            <a:avLst/>
            <a:gdLst/>
            <a:ahLst/>
            <a:cxnLst/>
            <a:rect l="l" t="t" r="r" b="b"/>
            <a:pathLst>
              <a:path w="2243704" h="2088684" fill="norm" stroke="1" extrusionOk="0">
                <a:moveTo>
                  <a:pt x="0" y="0"/>
                </a:moveTo>
                <a:lnTo>
                  <a:pt x="2243704" y="0"/>
                </a:lnTo>
                <a:lnTo>
                  <a:pt x="2243704" y="2088684"/>
                </a:lnTo>
                <a:lnTo>
                  <a:pt x="0" y="2088684"/>
                </a:lnTo>
                <a:lnTo>
                  <a:pt x="0" y="0"/>
                </a:lnTo>
                <a:close/>
              </a:path>
            </a:pathLst>
          </a:custGeom>
          <a:blipFill>
            <a:blip r:embed="rId6"/>
            <a:stretch/>
          </a:blipFill>
        </p:spPr>
        <p:txBody>
          <a:bodyPr/>
          <a:lstStyle/>
          <a:p>
            <a:pPr>
              <a:defRPr/>
            </a:pPr>
            <a:endParaRPr lang="de-DE"/>
          </a:p>
        </p:txBody>
      </p:sp>
      <p:sp>
        <p:nvSpPr>
          <p:cNvPr id="38" name="Freeform 9"/>
          <p:cNvSpPr/>
          <p:nvPr userDrawn="1"/>
        </p:nvSpPr>
        <p:spPr bwMode="auto">
          <a:xfrm rot="1296289">
            <a:off x="15384349" y="-545919"/>
            <a:ext cx="2531996" cy="2154648"/>
          </a:xfrm>
          <a:custGeom>
            <a:avLst/>
            <a:gdLst/>
            <a:ahLst/>
            <a:cxnLst/>
            <a:rect l="l" t="t" r="r" b="b"/>
            <a:pathLst>
              <a:path w="2265599" h="1919581" fill="norm" stroke="1" extrusionOk="0">
                <a:moveTo>
                  <a:pt x="0" y="0"/>
                </a:moveTo>
                <a:lnTo>
                  <a:pt x="2265600" y="0"/>
                </a:lnTo>
                <a:lnTo>
                  <a:pt x="2265600" y="1919581"/>
                </a:lnTo>
                <a:lnTo>
                  <a:pt x="0" y="1919581"/>
                </a:lnTo>
                <a:lnTo>
                  <a:pt x="0" y="0"/>
                </a:lnTo>
                <a:close/>
              </a:path>
            </a:pathLst>
          </a:custGeom>
          <a:blipFill>
            <a:blip r:embed="rId3"/>
            <a:stretch/>
          </a:blipFill>
        </p:spPr>
        <p:txBody>
          <a:bodyPr/>
          <a:lstStyle/>
          <a:p>
            <a:pPr>
              <a:defRPr/>
            </a:pPr>
            <a:endParaRPr lang="de-DE"/>
          </a:p>
        </p:txBody>
      </p:sp>
      <p:sp>
        <p:nvSpPr>
          <p:cNvPr id="39" name="Freeform 10"/>
          <p:cNvSpPr/>
          <p:nvPr userDrawn="1"/>
        </p:nvSpPr>
        <p:spPr bwMode="auto">
          <a:xfrm rot="-2487859">
            <a:off x="16952453" y="4767483"/>
            <a:ext cx="2033723" cy="1619753"/>
          </a:xfrm>
          <a:custGeom>
            <a:avLst/>
            <a:gdLst/>
            <a:ahLst/>
            <a:cxnLst/>
            <a:rect l="l" t="t" r="r" b="b"/>
            <a:pathLst>
              <a:path w="1763767" h="1494392" fill="norm" stroke="1"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a:p>
        </p:txBody>
      </p:sp>
      <p:sp>
        <p:nvSpPr>
          <p:cNvPr id="40" name="Freeform 11"/>
          <p:cNvSpPr/>
          <p:nvPr userDrawn="1"/>
        </p:nvSpPr>
        <p:spPr bwMode="auto">
          <a:xfrm rot="1296289">
            <a:off x="296953" y="7886423"/>
            <a:ext cx="3294095" cy="2754079"/>
          </a:xfrm>
          <a:custGeom>
            <a:avLst/>
            <a:gdLst/>
            <a:ahLst/>
            <a:cxnLst/>
            <a:rect l="l" t="t" r="r" b="b"/>
            <a:pathLst>
              <a:path w="2430280" h="2059110" fill="norm" stroke="1" extrusionOk="0">
                <a:moveTo>
                  <a:pt x="0" y="0"/>
                </a:moveTo>
                <a:lnTo>
                  <a:pt x="2430281" y="0"/>
                </a:lnTo>
                <a:lnTo>
                  <a:pt x="2430281" y="2059110"/>
                </a:lnTo>
                <a:lnTo>
                  <a:pt x="0" y="2059110"/>
                </a:lnTo>
                <a:lnTo>
                  <a:pt x="0" y="0"/>
                </a:lnTo>
                <a:close/>
              </a:path>
            </a:pathLst>
          </a:custGeom>
          <a:blipFill>
            <a:blip r:embed="rId3"/>
            <a:stretch/>
          </a:blipFill>
        </p:spPr>
        <p:txBody>
          <a:bodyPr/>
          <a:lstStyle/>
          <a:p>
            <a:pPr>
              <a:defRPr/>
            </a:pPr>
            <a:endParaRPr lang="de-DE"/>
          </a:p>
        </p:txBody>
      </p:sp>
      <p:sp>
        <p:nvSpPr>
          <p:cNvPr id="41" name="Freeform 12"/>
          <p:cNvSpPr/>
          <p:nvPr userDrawn="1"/>
        </p:nvSpPr>
        <p:spPr bwMode="auto">
          <a:xfrm rot="2046247">
            <a:off x="17723193" y="-357480"/>
            <a:ext cx="1707091" cy="1936262"/>
          </a:xfrm>
          <a:custGeom>
            <a:avLst/>
            <a:gdLst/>
            <a:ahLst/>
            <a:cxnLst/>
            <a:rect l="l" t="t" r="r" b="b"/>
            <a:pathLst>
              <a:path w="1939168" h="1805189" fill="norm" stroke="1" extrusionOk="0">
                <a:moveTo>
                  <a:pt x="0" y="0"/>
                </a:moveTo>
                <a:lnTo>
                  <a:pt x="1939169" y="0"/>
                </a:lnTo>
                <a:lnTo>
                  <a:pt x="1939169" y="1805189"/>
                </a:lnTo>
                <a:lnTo>
                  <a:pt x="0" y="1805189"/>
                </a:lnTo>
                <a:lnTo>
                  <a:pt x="0" y="0"/>
                </a:lnTo>
                <a:close/>
              </a:path>
            </a:pathLst>
          </a:custGeom>
          <a:blipFill>
            <a:blip r:embed="rId6"/>
            <a:stretch/>
          </a:blipFill>
        </p:spPr>
        <p:txBody>
          <a:bodyPr/>
          <a:lstStyle/>
          <a:p>
            <a:pPr>
              <a:defRPr/>
            </a:pPr>
            <a:endParaRPr lang="de-D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blank" userDrawn="1">
  <p:cSld name="Leer">
    <p:spTree>
      <p:nvGrpSpPr>
        <p:cNvPr id="1" name=""/>
        <p:cNvGrpSpPr/>
        <p:nvPr/>
      </p:nvGrpSpPr>
      <p:grpSpPr bwMode="auto">
        <a:xfrm>
          <a:off x="0" y="0"/>
          <a:ext cx="0" cy="0"/>
          <a:chOff x="0" y="0"/>
          <a:chExt cx="0" cy="0"/>
        </a:xfrm>
      </p:grpSpPr>
      <p:sp>
        <p:nvSpPr>
          <p:cNvPr id="17" name="Freeform 10"/>
          <p:cNvSpPr/>
          <p:nvPr userDrawn="1"/>
        </p:nvSpPr>
        <p:spPr bwMode="auto">
          <a:xfrm rot="-2487859">
            <a:off x="1848993" y="-392157"/>
            <a:ext cx="2100921" cy="2020412"/>
          </a:xfrm>
          <a:custGeom>
            <a:avLst/>
            <a:gdLst/>
            <a:ahLst/>
            <a:cxnLst/>
            <a:rect l="l" t="t" r="r" b="b"/>
            <a:pathLst>
              <a:path w="1763767" h="1494392" fill="norm" stroke="1" extrusionOk="0">
                <a:moveTo>
                  <a:pt x="0" y="0"/>
                </a:moveTo>
                <a:lnTo>
                  <a:pt x="1763767" y="0"/>
                </a:lnTo>
                <a:lnTo>
                  <a:pt x="1763767" y="1494392"/>
                </a:lnTo>
                <a:lnTo>
                  <a:pt x="0" y="1494392"/>
                </a:lnTo>
                <a:lnTo>
                  <a:pt x="0" y="0"/>
                </a:lnTo>
                <a:close/>
              </a:path>
            </a:pathLst>
          </a:custGeom>
          <a:blipFill>
            <a:blip r:embed="rId2"/>
            <a:stretch/>
          </a:blipFill>
        </p:spPr>
        <p:txBody>
          <a:bodyPr/>
          <a:lstStyle/>
          <a:p>
            <a:pPr>
              <a:defRPr/>
            </a:pPr>
            <a:endParaRPr lang="de-DE"/>
          </a:p>
        </p:txBody>
      </p:sp>
      <p:sp>
        <p:nvSpPr>
          <p:cNvPr id="5" name="Freeform 2"/>
          <p:cNvSpPr/>
          <p:nvPr userDrawn="1"/>
        </p:nvSpPr>
        <p:spPr bwMode="auto">
          <a:xfrm>
            <a:off x="351158" y="5589207"/>
            <a:ext cx="2499164" cy="2394654"/>
          </a:xfrm>
          <a:custGeom>
            <a:avLst/>
            <a:gdLst/>
            <a:ahLst/>
            <a:cxnLst/>
            <a:rect l="l" t="t" r="r" b="b"/>
            <a:pathLst>
              <a:path w="2499164" h="2394654" fill="norm" stroke="1" extrusionOk="0">
                <a:moveTo>
                  <a:pt x="0" y="0"/>
                </a:moveTo>
                <a:lnTo>
                  <a:pt x="2499165" y="0"/>
                </a:lnTo>
                <a:lnTo>
                  <a:pt x="2499165" y="2394654"/>
                </a:lnTo>
                <a:lnTo>
                  <a:pt x="0" y="2394654"/>
                </a:lnTo>
                <a:lnTo>
                  <a:pt x="0" y="0"/>
                </a:lnTo>
                <a:close/>
              </a:path>
            </a:pathLst>
          </a:custGeom>
          <a:blipFill>
            <a:blip r:embed="rId3"/>
            <a:stretch/>
          </a:blipFill>
        </p:spPr>
        <p:txBody>
          <a:bodyPr/>
          <a:lstStyle/>
          <a:p>
            <a:pPr>
              <a:defRPr/>
            </a:pPr>
            <a:endParaRPr lang="de-DE"/>
          </a:p>
        </p:txBody>
      </p:sp>
      <p:sp>
        <p:nvSpPr>
          <p:cNvPr id="6" name="Freeform 3"/>
          <p:cNvSpPr/>
          <p:nvPr userDrawn="1"/>
        </p:nvSpPr>
        <p:spPr bwMode="auto">
          <a:xfrm rot="4680788">
            <a:off x="16257418" y="8270982"/>
            <a:ext cx="2635834" cy="2525609"/>
          </a:xfrm>
          <a:custGeom>
            <a:avLst/>
            <a:gdLst/>
            <a:ahLst/>
            <a:cxnLst/>
            <a:rect l="l" t="t" r="r" b="b"/>
            <a:pathLst>
              <a:path w="2635834" h="2525609" fill="norm" stroke="1" extrusionOk="0">
                <a:moveTo>
                  <a:pt x="0" y="0"/>
                </a:moveTo>
                <a:lnTo>
                  <a:pt x="2635835" y="0"/>
                </a:lnTo>
                <a:lnTo>
                  <a:pt x="2635835" y="2525608"/>
                </a:lnTo>
                <a:lnTo>
                  <a:pt x="0" y="2525608"/>
                </a:lnTo>
                <a:lnTo>
                  <a:pt x="0" y="0"/>
                </a:lnTo>
                <a:close/>
              </a:path>
            </a:pathLst>
          </a:custGeom>
          <a:blipFill>
            <a:blip r:embed="rId3"/>
            <a:stretch/>
          </a:blipFill>
        </p:spPr>
        <p:txBody>
          <a:bodyPr/>
          <a:lstStyle/>
          <a:p>
            <a:pPr>
              <a:defRPr/>
            </a:pPr>
            <a:endParaRPr lang="de-DE"/>
          </a:p>
        </p:txBody>
      </p:sp>
      <p:sp>
        <p:nvSpPr>
          <p:cNvPr id="7" name="Freeform 4"/>
          <p:cNvSpPr/>
          <p:nvPr userDrawn="1"/>
        </p:nvSpPr>
        <p:spPr bwMode="auto">
          <a:xfrm>
            <a:off x="-817599" y="-741417"/>
            <a:ext cx="3505909" cy="3416667"/>
          </a:xfrm>
          <a:custGeom>
            <a:avLst/>
            <a:gdLst/>
            <a:ahLst/>
            <a:cxnLst/>
            <a:rect l="l" t="t" r="r" b="b"/>
            <a:pathLst>
              <a:path w="3505909" h="3416667" fill="norm" stroke="1" extrusionOk="0">
                <a:moveTo>
                  <a:pt x="0" y="0"/>
                </a:moveTo>
                <a:lnTo>
                  <a:pt x="3505909" y="0"/>
                </a:lnTo>
                <a:lnTo>
                  <a:pt x="3505909" y="3416668"/>
                </a:lnTo>
                <a:lnTo>
                  <a:pt x="0" y="3416668"/>
                </a:lnTo>
                <a:lnTo>
                  <a:pt x="0" y="0"/>
                </a:lnTo>
                <a:close/>
              </a:path>
            </a:pathLst>
          </a:custGeom>
          <a:blipFill>
            <a:blip r:embed="rId4"/>
            <a:stretch/>
          </a:blipFill>
        </p:spPr>
        <p:txBody>
          <a:bodyPr/>
          <a:lstStyle/>
          <a:p>
            <a:pPr>
              <a:defRPr/>
            </a:pPr>
            <a:endParaRPr lang="de-DE"/>
          </a:p>
        </p:txBody>
      </p:sp>
      <p:sp>
        <p:nvSpPr>
          <p:cNvPr id="8" name="Freeform 5"/>
          <p:cNvSpPr/>
          <p:nvPr userDrawn="1"/>
        </p:nvSpPr>
        <p:spPr bwMode="auto">
          <a:xfrm rot="16008410">
            <a:off x="15358696" y="2451781"/>
            <a:ext cx="2347587" cy="2305392"/>
          </a:xfrm>
          <a:custGeom>
            <a:avLst/>
            <a:gdLst/>
            <a:ahLst/>
            <a:cxnLst/>
            <a:rect l="l" t="t" r="r" b="b"/>
            <a:pathLst>
              <a:path w="2085371" h="2032289" fill="norm" stroke="1"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a:p>
        </p:txBody>
      </p:sp>
      <p:sp>
        <p:nvSpPr>
          <p:cNvPr id="9" name="Freeform 6"/>
          <p:cNvSpPr/>
          <p:nvPr userDrawn="1"/>
        </p:nvSpPr>
        <p:spPr bwMode="auto">
          <a:xfrm rot="7860678">
            <a:off x="702797" y="5736336"/>
            <a:ext cx="1600955" cy="1490343"/>
          </a:xfrm>
          <a:custGeom>
            <a:avLst/>
            <a:gdLst/>
            <a:ahLst/>
            <a:cxnLst/>
            <a:rect l="l" t="t" r="r" b="b"/>
            <a:pathLst>
              <a:path w="1600955" h="1490343" fill="norm" stroke="1" extrusionOk="0">
                <a:moveTo>
                  <a:pt x="0" y="0"/>
                </a:moveTo>
                <a:lnTo>
                  <a:pt x="1600954" y="0"/>
                </a:lnTo>
                <a:lnTo>
                  <a:pt x="1600954" y="1490343"/>
                </a:lnTo>
                <a:lnTo>
                  <a:pt x="0" y="1490343"/>
                </a:lnTo>
                <a:lnTo>
                  <a:pt x="0" y="0"/>
                </a:lnTo>
                <a:close/>
              </a:path>
            </a:pathLst>
          </a:custGeom>
          <a:blipFill>
            <a:blip r:embed="rId5"/>
            <a:stretch/>
          </a:blipFill>
        </p:spPr>
        <p:txBody>
          <a:bodyPr/>
          <a:lstStyle/>
          <a:p>
            <a:pPr>
              <a:defRPr/>
            </a:pPr>
            <a:endParaRPr lang="de-DE"/>
          </a:p>
        </p:txBody>
      </p:sp>
      <p:sp>
        <p:nvSpPr>
          <p:cNvPr id="10" name="Freeform 7"/>
          <p:cNvSpPr/>
          <p:nvPr userDrawn="1"/>
        </p:nvSpPr>
        <p:spPr bwMode="auto">
          <a:xfrm rot="7860678">
            <a:off x="15930678" y="7382404"/>
            <a:ext cx="2243704" cy="2088684"/>
          </a:xfrm>
          <a:custGeom>
            <a:avLst/>
            <a:gdLst/>
            <a:ahLst/>
            <a:cxnLst/>
            <a:rect l="l" t="t" r="r" b="b"/>
            <a:pathLst>
              <a:path w="2243704" h="2088684" fill="norm" stroke="1" extrusionOk="0">
                <a:moveTo>
                  <a:pt x="0" y="0"/>
                </a:moveTo>
                <a:lnTo>
                  <a:pt x="2243704" y="0"/>
                </a:lnTo>
                <a:lnTo>
                  <a:pt x="2243704" y="2088684"/>
                </a:lnTo>
                <a:lnTo>
                  <a:pt x="0" y="2088684"/>
                </a:lnTo>
                <a:lnTo>
                  <a:pt x="0" y="0"/>
                </a:lnTo>
                <a:close/>
              </a:path>
            </a:pathLst>
          </a:custGeom>
          <a:blipFill>
            <a:blip r:embed="rId5"/>
            <a:stretch/>
          </a:blipFill>
        </p:spPr>
        <p:txBody>
          <a:bodyPr/>
          <a:lstStyle/>
          <a:p>
            <a:pPr>
              <a:defRPr/>
            </a:pPr>
            <a:endParaRPr lang="de-DE"/>
          </a:p>
        </p:txBody>
      </p:sp>
      <p:sp>
        <p:nvSpPr>
          <p:cNvPr id="11" name="Freeform 8"/>
          <p:cNvSpPr/>
          <p:nvPr userDrawn="1"/>
        </p:nvSpPr>
        <p:spPr bwMode="auto">
          <a:xfrm rot="-458312">
            <a:off x="15741562" y="989320"/>
            <a:ext cx="3155791" cy="3023821"/>
          </a:xfrm>
          <a:custGeom>
            <a:avLst/>
            <a:gdLst/>
            <a:ahLst/>
            <a:cxnLst/>
            <a:rect l="l" t="t" r="r" b="b"/>
            <a:pathLst>
              <a:path w="3155791" h="3023821" fill="norm" stroke="1" extrusionOk="0">
                <a:moveTo>
                  <a:pt x="0" y="0"/>
                </a:moveTo>
                <a:lnTo>
                  <a:pt x="3155790" y="0"/>
                </a:lnTo>
                <a:lnTo>
                  <a:pt x="3155790" y="3023821"/>
                </a:lnTo>
                <a:lnTo>
                  <a:pt x="0" y="3023821"/>
                </a:lnTo>
                <a:lnTo>
                  <a:pt x="0" y="0"/>
                </a:lnTo>
                <a:close/>
              </a:path>
            </a:pathLst>
          </a:custGeom>
          <a:blipFill>
            <a:blip r:embed="rId3"/>
            <a:stretch/>
          </a:blipFill>
        </p:spPr>
        <p:txBody>
          <a:bodyPr/>
          <a:lstStyle/>
          <a:p>
            <a:pPr>
              <a:defRPr/>
            </a:pPr>
            <a:endParaRPr lang="de-DE"/>
          </a:p>
        </p:txBody>
      </p:sp>
      <p:sp>
        <p:nvSpPr>
          <p:cNvPr id="12" name="Freeform 9"/>
          <p:cNvSpPr/>
          <p:nvPr userDrawn="1"/>
        </p:nvSpPr>
        <p:spPr bwMode="auto">
          <a:xfrm rot="1296289">
            <a:off x="14830585" y="-257242"/>
            <a:ext cx="2531996" cy="2154648"/>
          </a:xfrm>
          <a:custGeom>
            <a:avLst/>
            <a:gdLst/>
            <a:ahLst/>
            <a:cxnLst/>
            <a:rect l="l" t="t" r="r" b="b"/>
            <a:pathLst>
              <a:path w="2265599" h="1919581" fill="norm" stroke="1" extrusionOk="0">
                <a:moveTo>
                  <a:pt x="0" y="0"/>
                </a:moveTo>
                <a:lnTo>
                  <a:pt x="2265600" y="0"/>
                </a:lnTo>
                <a:lnTo>
                  <a:pt x="2265600" y="1919581"/>
                </a:lnTo>
                <a:lnTo>
                  <a:pt x="0" y="1919581"/>
                </a:lnTo>
                <a:lnTo>
                  <a:pt x="0" y="0"/>
                </a:lnTo>
                <a:close/>
              </a:path>
            </a:pathLst>
          </a:custGeom>
          <a:blipFill>
            <a:blip r:embed="rId2"/>
            <a:stretch/>
          </a:blipFill>
        </p:spPr>
        <p:txBody>
          <a:bodyPr/>
          <a:lstStyle/>
          <a:p>
            <a:pPr>
              <a:defRPr/>
            </a:pPr>
            <a:endParaRPr lang="de-DE"/>
          </a:p>
        </p:txBody>
      </p:sp>
      <p:sp>
        <p:nvSpPr>
          <p:cNvPr id="13" name="Freeform 10"/>
          <p:cNvSpPr/>
          <p:nvPr userDrawn="1"/>
        </p:nvSpPr>
        <p:spPr bwMode="auto">
          <a:xfrm rot="-2487859">
            <a:off x="17027787" y="4966511"/>
            <a:ext cx="1763767" cy="1494391"/>
          </a:xfrm>
          <a:custGeom>
            <a:avLst/>
            <a:gdLst/>
            <a:ahLst/>
            <a:cxnLst/>
            <a:rect l="l" t="t" r="r" b="b"/>
            <a:pathLst>
              <a:path w="1763767" h="1494392" fill="norm" stroke="1" extrusionOk="0">
                <a:moveTo>
                  <a:pt x="0" y="0"/>
                </a:moveTo>
                <a:lnTo>
                  <a:pt x="1763767" y="0"/>
                </a:lnTo>
                <a:lnTo>
                  <a:pt x="1763767" y="1494392"/>
                </a:lnTo>
                <a:lnTo>
                  <a:pt x="0" y="1494392"/>
                </a:lnTo>
                <a:lnTo>
                  <a:pt x="0" y="0"/>
                </a:lnTo>
                <a:close/>
              </a:path>
            </a:pathLst>
          </a:custGeom>
          <a:blipFill>
            <a:blip r:embed="rId2"/>
            <a:stretch/>
          </a:blipFill>
        </p:spPr>
        <p:txBody>
          <a:bodyPr/>
          <a:lstStyle/>
          <a:p>
            <a:pPr>
              <a:defRPr/>
            </a:pPr>
            <a:endParaRPr lang="de-DE"/>
          </a:p>
        </p:txBody>
      </p:sp>
      <p:sp>
        <p:nvSpPr>
          <p:cNvPr id="14" name="Freeform 11"/>
          <p:cNvSpPr/>
          <p:nvPr userDrawn="1"/>
        </p:nvSpPr>
        <p:spPr bwMode="auto">
          <a:xfrm rot="1296289">
            <a:off x="619918" y="6991212"/>
            <a:ext cx="3294095" cy="2754079"/>
          </a:xfrm>
          <a:custGeom>
            <a:avLst/>
            <a:gdLst/>
            <a:ahLst/>
            <a:cxnLst/>
            <a:rect l="l" t="t" r="r" b="b"/>
            <a:pathLst>
              <a:path w="2430280" h="2059110" fill="norm" stroke="1" extrusionOk="0">
                <a:moveTo>
                  <a:pt x="0" y="0"/>
                </a:moveTo>
                <a:lnTo>
                  <a:pt x="2430281" y="0"/>
                </a:lnTo>
                <a:lnTo>
                  <a:pt x="2430281" y="2059110"/>
                </a:lnTo>
                <a:lnTo>
                  <a:pt x="0" y="2059110"/>
                </a:lnTo>
                <a:lnTo>
                  <a:pt x="0" y="0"/>
                </a:lnTo>
                <a:close/>
              </a:path>
            </a:pathLst>
          </a:custGeom>
          <a:blipFill>
            <a:blip r:embed="rId2"/>
            <a:stretch/>
          </a:blipFill>
        </p:spPr>
        <p:txBody>
          <a:bodyPr/>
          <a:lstStyle/>
          <a:p>
            <a:pPr>
              <a:defRPr/>
            </a:pPr>
            <a:endParaRPr lang="de-DE"/>
          </a:p>
        </p:txBody>
      </p:sp>
      <p:sp>
        <p:nvSpPr>
          <p:cNvPr id="15" name="Freeform 12"/>
          <p:cNvSpPr/>
          <p:nvPr userDrawn="1"/>
        </p:nvSpPr>
        <p:spPr bwMode="auto">
          <a:xfrm rot="2046247">
            <a:off x="16212870" y="1083509"/>
            <a:ext cx="2213171" cy="2273738"/>
          </a:xfrm>
          <a:custGeom>
            <a:avLst/>
            <a:gdLst/>
            <a:ahLst/>
            <a:cxnLst/>
            <a:rect l="l" t="t" r="r" b="b"/>
            <a:pathLst>
              <a:path w="1939168" h="1805189" fill="norm" stroke="1" extrusionOk="0">
                <a:moveTo>
                  <a:pt x="0" y="0"/>
                </a:moveTo>
                <a:lnTo>
                  <a:pt x="1939169" y="0"/>
                </a:lnTo>
                <a:lnTo>
                  <a:pt x="1939169" y="1805189"/>
                </a:lnTo>
                <a:lnTo>
                  <a:pt x="0" y="1805189"/>
                </a:lnTo>
                <a:lnTo>
                  <a:pt x="0" y="0"/>
                </a:lnTo>
                <a:close/>
              </a:path>
            </a:pathLst>
          </a:custGeom>
          <a:blipFill>
            <a:blip r:embed="rId5"/>
            <a:stretch/>
          </a:blipFill>
        </p:spPr>
        <p:txBody>
          <a:bodyPr/>
          <a:lstStyle/>
          <a:p>
            <a:pPr>
              <a:defRPr/>
            </a:pPr>
            <a:endParaRPr lang="de-DE"/>
          </a:p>
        </p:txBody>
      </p:sp>
      <p:sp>
        <p:nvSpPr>
          <p:cNvPr id="16" name="Freeform 13"/>
          <p:cNvSpPr/>
          <p:nvPr userDrawn="1"/>
        </p:nvSpPr>
        <p:spPr bwMode="auto">
          <a:xfrm>
            <a:off x="7687907" y="30602"/>
            <a:ext cx="2912186" cy="1012162"/>
          </a:xfrm>
          <a:custGeom>
            <a:avLst/>
            <a:gdLst/>
            <a:ahLst/>
            <a:cxnLst/>
            <a:rect l="l" t="t" r="r" b="b"/>
            <a:pathLst>
              <a:path w="2912186" h="1012162" fill="norm" stroke="1"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objTx" userDrawn="1">
  <p:cSld name="Inhalt mit Überschrift">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44000" y="1481138"/>
            <a:ext cx="5235566" cy="1260000"/>
          </a:xfrm>
        </p:spPr>
        <p:txBody>
          <a:bodyPr anchor="b"/>
          <a:lstStyle>
            <a:lvl1pPr>
              <a:defRPr sz="3200"/>
            </a:lvl1pPr>
          </a:lstStyle>
          <a:p>
            <a:pPr>
              <a:defRPr/>
            </a:pPr>
            <a:r>
              <a:rPr lang="de-DE"/>
              <a:t>Überschrift</a:t>
            </a:r>
            <a:endParaRPr/>
          </a:p>
        </p:txBody>
      </p:sp>
      <p:sp>
        <p:nvSpPr>
          <p:cNvPr id="3" name="Inhaltsplatzhalter 2"/>
          <p:cNvSpPr>
            <a:spLocks noGrp="1"/>
          </p:cNvSpPr>
          <p:nvPr>
            <p:ph idx="1"/>
          </p:nvPr>
        </p:nvSpPr>
        <p:spPr bwMode="auto">
          <a:xfrm>
            <a:off x="7775574" y="1481138"/>
            <a:ext cx="8568425" cy="7310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4" name="Textplatzhalter 3"/>
          <p:cNvSpPr>
            <a:spLocks noGrp="1"/>
          </p:cNvSpPr>
          <p:nvPr>
            <p:ph type="body" sz="half" idx="2"/>
          </p:nvPr>
        </p:nvSpPr>
        <p:spPr bwMode="auto">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de-DE"/>
              <a:t>Mastertextformat bearbeiten</a:t>
            </a:r>
            <a:endParaRPr/>
          </a:p>
        </p:txBody>
      </p:sp>
      <p:sp>
        <p:nvSpPr>
          <p:cNvPr id="19" name="Freeform 13"/>
          <p:cNvSpPr/>
          <p:nvPr userDrawn="1"/>
        </p:nvSpPr>
        <p:spPr bwMode="auto">
          <a:xfrm>
            <a:off x="7687907" y="30602"/>
            <a:ext cx="2912186" cy="1012162"/>
          </a:xfrm>
          <a:custGeom>
            <a:avLst/>
            <a:gdLst/>
            <a:ahLst/>
            <a:cxnLst/>
            <a:rect l="l" t="t" r="r" b="b"/>
            <a:pathLst>
              <a:path w="2912186" h="1012162" fill="norm" stroke="1"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a:p>
        </p:txBody>
      </p:sp>
      <p:sp>
        <p:nvSpPr>
          <p:cNvPr id="22" name="Freeform 2"/>
          <p:cNvSpPr/>
          <p:nvPr userDrawn="1"/>
        </p:nvSpPr>
        <p:spPr bwMode="auto">
          <a:xfrm>
            <a:off x="-988817" y="7307032"/>
            <a:ext cx="2499164" cy="2394654"/>
          </a:xfrm>
          <a:custGeom>
            <a:avLst/>
            <a:gdLst/>
            <a:ahLst/>
            <a:cxnLst/>
            <a:rect l="l" t="t" r="r" b="b"/>
            <a:pathLst>
              <a:path w="2499164" h="2394654" fill="norm" stroke="1" extrusionOk="0">
                <a:moveTo>
                  <a:pt x="0" y="0"/>
                </a:moveTo>
                <a:lnTo>
                  <a:pt x="2499165" y="0"/>
                </a:lnTo>
                <a:lnTo>
                  <a:pt x="2499165" y="2394654"/>
                </a:lnTo>
                <a:lnTo>
                  <a:pt x="0" y="2394654"/>
                </a:lnTo>
                <a:lnTo>
                  <a:pt x="0" y="0"/>
                </a:lnTo>
                <a:close/>
              </a:path>
            </a:pathLst>
          </a:custGeom>
          <a:blipFill>
            <a:blip r:embed="rId3"/>
            <a:stretch/>
          </a:blipFill>
        </p:spPr>
        <p:txBody>
          <a:bodyPr/>
          <a:lstStyle/>
          <a:p>
            <a:pPr>
              <a:defRPr/>
            </a:pPr>
            <a:endParaRPr lang="de-DE"/>
          </a:p>
        </p:txBody>
      </p:sp>
      <p:sp>
        <p:nvSpPr>
          <p:cNvPr id="23" name="Freeform 3"/>
          <p:cNvSpPr/>
          <p:nvPr userDrawn="1"/>
        </p:nvSpPr>
        <p:spPr bwMode="auto">
          <a:xfrm rot="4680788">
            <a:off x="16257418" y="8270982"/>
            <a:ext cx="2635834" cy="2525609"/>
          </a:xfrm>
          <a:custGeom>
            <a:avLst/>
            <a:gdLst/>
            <a:ahLst/>
            <a:cxnLst/>
            <a:rect l="l" t="t" r="r" b="b"/>
            <a:pathLst>
              <a:path w="2635834" h="2525609" fill="norm" stroke="1" extrusionOk="0">
                <a:moveTo>
                  <a:pt x="0" y="0"/>
                </a:moveTo>
                <a:lnTo>
                  <a:pt x="2635835" y="0"/>
                </a:lnTo>
                <a:lnTo>
                  <a:pt x="2635835" y="2525608"/>
                </a:lnTo>
                <a:lnTo>
                  <a:pt x="0" y="2525608"/>
                </a:lnTo>
                <a:lnTo>
                  <a:pt x="0" y="0"/>
                </a:lnTo>
                <a:close/>
              </a:path>
            </a:pathLst>
          </a:custGeom>
          <a:blipFill>
            <a:blip r:embed="rId3"/>
            <a:stretch/>
          </a:blipFill>
        </p:spPr>
        <p:txBody>
          <a:bodyPr/>
          <a:lstStyle/>
          <a:p>
            <a:pPr>
              <a:defRPr/>
            </a:pPr>
            <a:endParaRPr lang="de-DE"/>
          </a:p>
        </p:txBody>
      </p:sp>
      <p:sp>
        <p:nvSpPr>
          <p:cNvPr id="24" name="Freeform 5"/>
          <p:cNvSpPr/>
          <p:nvPr userDrawn="1"/>
        </p:nvSpPr>
        <p:spPr bwMode="auto">
          <a:xfrm>
            <a:off x="-344695" y="-103733"/>
            <a:ext cx="2797974" cy="2535765"/>
          </a:xfrm>
          <a:custGeom>
            <a:avLst/>
            <a:gdLst/>
            <a:ahLst/>
            <a:cxnLst/>
            <a:rect l="l" t="t" r="r" b="b"/>
            <a:pathLst>
              <a:path w="2085371" h="2032289" fill="norm" stroke="1"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a:p>
        </p:txBody>
      </p:sp>
      <p:sp>
        <p:nvSpPr>
          <p:cNvPr id="25" name="Freeform 6"/>
          <p:cNvSpPr/>
          <p:nvPr userDrawn="1"/>
        </p:nvSpPr>
        <p:spPr bwMode="auto">
          <a:xfrm rot="7860678">
            <a:off x="184890" y="170766"/>
            <a:ext cx="1600955" cy="1490343"/>
          </a:xfrm>
          <a:custGeom>
            <a:avLst/>
            <a:gdLst/>
            <a:ahLst/>
            <a:cxnLst/>
            <a:rect l="l" t="t" r="r" b="b"/>
            <a:pathLst>
              <a:path w="1600955" h="1490343" fill="norm" stroke="1" extrusionOk="0">
                <a:moveTo>
                  <a:pt x="0" y="0"/>
                </a:moveTo>
                <a:lnTo>
                  <a:pt x="1600954" y="0"/>
                </a:lnTo>
                <a:lnTo>
                  <a:pt x="1600954" y="1490343"/>
                </a:lnTo>
                <a:lnTo>
                  <a:pt x="0" y="1490343"/>
                </a:lnTo>
                <a:lnTo>
                  <a:pt x="0" y="0"/>
                </a:lnTo>
                <a:close/>
              </a:path>
            </a:pathLst>
          </a:custGeom>
          <a:blipFill>
            <a:blip r:embed="rId5"/>
            <a:stretch/>
          </a:blipFill>
        </p:spPr>
        <p:txBody>
          <a:bodyPr/>
          <a:lstStyle/>
          <a:p>
            <a:pPr>
              <a:defRPr/>
            </a:pPr>
            <a:endParaRPr lang="de-DE"/>
          </a:p>
        </p:txBody>
      </p:sp>
      <p:sp>
        <p:nvSpPr>
          <p:cNvPr id="26" name="Freeform 8"/>
          <p:cNvSpPr/>
          <p:nvPr userDrawn="1"/>
        </p:nvSpPr>
        <p:spPr bwMode="auto">
          <a:xfrm rot="-458312">
            <a:off x="16929227" y="-285243"/>
            <a:ext cx="3155791" cy="3843267"/>
          </a:xfrm>
          <a:custGeom>
            <a:avLst/>
            <a:gdLst/>
            <a:ahLst/>
            <a:cxnLst/>
            <a:rect l="l" t="t" r="r" b="b"/>
            <a:pathLst>
              <a:path w="3155791" h="3023821" fill="norm" stroke="1" extrusionOk="0">
                <a:moveTo>
                  <a:pt x="0" y="0"/>
                </a:moveTo>
                <a:lnTo>
                  <a:pt x="3155790" y="0"/>
                </a:lnTo>
                <a:lnTo>
                  <a:pt x="3155790" y="3023821"/>
                </a:lnTo>
                <a:lnTo>
                  <a:pt x="0" y="3023821"/>
                </a:lnTo>
                <a:lnTo>
                  <a:pt x="0" y="0"/>
                </a:lnTo>
                <a:close/>
              </a:path>
            </a:pathLst>
          </a:custGeom>
          <a:blipFill>
            <a:blip r:embed="rId3"/>
            <a:stretch/>
          </a:blipFill>
        </p:spPr>
        <p:txBody>
          <a:bodyPr/>
          <a:lstStyle/>
          <a:p>
            <a:pPr>
              <a:defRPr/>
            </a:pPr>
            <a:endParaRPr lang="de-DE"/>
          </a:p>
        </p:txBody>
      </p:sp>
      <p:sp>
        <p:nvSpPr>
          <p:cNvPr id="27" name="Freeform 9"/>
          <p:cNvSpPr/>
          <p:nvPr userDrawn="1"/>
        </p:nvSpPr>
        <p:spPr bwMode="auto">
          <a:xfrm rot="1296289">
            <a:off x="15429160" y="-255544"/>
            <a:ext cx="2265599" cy="1919581"/>
          </a:xfrm>
          <a:custGeom>
            <a:avLst/>
            <a:gdLst/>
            <a:ahLst/>
            <a:cxnLst/>
            <a:rect l="l" t="t" r="r" b="b"/>
            <a:pathLst>
              <a:path w="2265599" h="1919581" fill="norm" stroke="1" extrusionOk="0">
                <a:moveTo>
                  <a:pt x="0" y="0"/>
                </a:moveTo>
                <a:lnTo>
                  <a:pt x="2265600" y="0"/>
                </a:lnTo>
                <a:lnTo>
                  <a:pt x="2265600" y="1919581"/>
                </a:lnTo>
                <a:lnTo>
                  <a:pt x="0" y="1919581"/>
                </a:lnTo>
                <a:lnTo>
                  <a:pt x="0" y="0"/>
                </a:lnTo>
                <a:close/>
              </a:path>
            </a:pathLst>
          </a:custGeom>
          <a:blipFill>
            <a:blip r:embed="rId6"/>
            <a:stretch/>
          </a:blipFill>
        </p:spPr>
        <p:txBody>
          <a:bodyPr/>
          <a:lstStyle/>
          <a:p>
            <a:pPr>
              <a:defRPr/>
            </a:pPr>
            <a:endParaRPr lang="de-DE"/>
          </a:p>
        </p:txBody>
      </p:sp>
      <p:sp>
        <p:nvSpPr>
          <p:cNvPr id="28" name="Freeform 10"/>
          <p:cNvSpPr/>
          <p:nvPr userDrawn="1"/>
        </p:nvSpPr>
        <p:spPr bwMode="auto">
          <a:xfrm rot="-2487859">
            <a:off x="1742939" y="-107165"/>
            <a:ext cx="1763767" cy="1494391"/>
          </a:xfrm>
          <a:custGeom>
            <a:avLst/>
            <a:gdLst/>
            <a:ahLst/>
            <a:cxnLst/>
            <a:rect l="l" t="t" r="r" b="b"/>
            <a:pathLst>
              <a:path w="1763767" h="1494392" fill="norm" stroke="1" extrusionOk="0">
                <a:moveTo>
                  <a:pt x="0" y="0"/>
                </a:moveTo>
                <a:lnTo>
                  <a:pt x="1763767" y="0"/>
                </a:lnTo>
                <a:lnTo>
                  <a:pt x="1763767" y="1494392"/>
                </a:lnTo>
                <a:lnTo>
                  <a:pt x="0" y="1494392"/>
                </a:lnTo>
                <a:lnTo>
                  <a:pt x="0" y="0"/>
                </a:lnTo>
                <a:close/>
              </a:path>
            </a:pathLst>
          </a:custGeom>
          <a:blipFill>
            <a:blip r:embed="rId6"/>
            <a:stretch/>
          </a:blipFill>
        </p:spPr>
        <p:txBody>
          <a:bodyPr/>
          <a:lstStyle/>
          <a:p>
            <a:pPr>
              <a:defRPr/>
            </a:pPr>
            <a:endParaRPr lang="de-DE"/>
          </a:p>
        </p:txBody>
      </p:sp>
      <p:sp>
        <p:nvSpPr>
          <p:cNvPr id="29" name="Freeform 11"/>
          <p:cNvSpPr/>
          <p:nvPr userDrawn="1"/>
        </p:nvSpPr>
        <p:spPr bwMode="auto">
          <a:xfrm rot="1296289">
            <a:off x="-1078000" y="5865358"/>
            <a:ext cx="2430280" cy="2059110"/>
          </a:xfrm>
          <a:custGeom>
            <a:avLst/>
            <a:gdLst/>
            <a:ahLst/>
            <a:cxnLst/>
            <a:rect l="l" t="t" r="r" b="b"/>
            <a:pathLst>
              <a:path w="2430280" h="2059110" fill="norm" stroke="1" extrusionOk="0">
                <a:moveTo>
                  <a:pt x="0" y="0"/>
                </a:moveTo>
                <a:lnTo>
                  <a:pt x="2430281" y="0"/>
                </a:lnTo>
                <a:lnTo>
                  <a:pt x="2430281" y="2059110"/>
                </a:lnTo>
                <a:lnTo>
                  <a:pt x="0" y="2059110"/>
                </a:lnTo>
                <a:lnTo>
                  <a:pt x="0" y="0"/>
                </a:lnTo>
                <a:close/>
              </a:path>
            </a:pathLst>
          </a:custGeom>
          <a:blipFill>
            <a:blip r:embed="rId6"/>
            <a:stretch/>
          </a:blipFill>
        </p:spPr>
        <p:txBody>
          <a:bodyPr/>
          <a:lstStyle/>
          <a:p>
            <a:pPr>
              <a:defRPr/>
            </a:pPr>
            <a:endParaRPr lang="de-DE"/>
          </a:p>
        </p:txBody>
      </p:sp>
      <p:sp>
        <p:nvSpPr>
          <p:cNvPr id="30" name="Freeform 12"/>
          <p:cNvSpPr/>
          <p:nvPr userDrawn="1"/>
        </p:nvSpPr>
        <p:spPr bwMode="auto">
          <a:xfrm rot="1597264">
            <a:off x="17342788" y="1208544"/>
            <a:ext cx="1939168" cy="1805189"/>
          </a:xfrm>
          <a:custGeom>
            <a:avLst/>
            <a:gdLst/>
            <a:ahLst/>
            <a:cxnLst/>
            <a:rect l="l" t="t" r="r" b="b"/>
            <a:pathLst>
              <a:path w="1939168" h="1805189" fill="norm" stroke="1" extrusionOk="0">
                <a:moveTo>
                  <a:pt x="0" y="0"/>
                </a:moveTo>
                <a:lnTo>
                  <a:pt x="1939169" y="0"/>
                </a:lnTo>
                <a:lnTo>
                  <a:pt x="1939169" y="1805189"/>
                </a:lnTo>
                <a:lnTo>
                  <a:pt x="0" y="1805189"/>
                </a:lnTo>
                <a:lnTo>
                  <a:pt x="0" y="0"/>
                </a:lnTo>
                <a:close/>
              </a:path>
            </a:pathLst>
          </a:custGeom>
          <a:blipFill>
            <a:blip r:embed="rId5"/>
            <a:stretch/>
          </a:blipFill>
        </p:spPr>
        <p:txBody>
          <a:bodyPr/>
          <a:lstStyle/>
          <a:p>
            <a:pPr>
              <a:defRPr/>
            </a:pPr>
            <a:endParaRPr lang="de-DE"/>
          </a:p>
        </p:txBody>
      </p:sp>
      <p:sp>
        <p:nvSpPr>
          <p:cNvPr id="31" name="Freeform 5"/>
          <p:cNvSpPr/>
          <p:nvPr userDrawn="1"/>
        </p:nvSpPr>
        <p:spPr bwMode="auto">
          <a:xfrm rot="7999432">
            <a:off x="17045216" y="6735395"/>
            <a:ext cx="2797974" cy="2535765"/>
          </a:xfrm>
          <a:custGeom>
            <a:avLst/>
            <a:gdLst/>
            <a:ahLst/>
            <a:cxnLst/>
            <a:rect l="l" t="t" r="r" b="b"/>
            <a:pathLst>
              <a:path w="2085371" h="2032289" fill="norm" stroke="1"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a:p>
        </p:txBody>
      </p:sp>
      <p:sp>
        <p:nvSpPr>
          <p:cNvPr id="32" name="Freeform 7"/>
          <p:cNvSpPr/>
          <p:nvPr userDrawn="1"/>
        </p:nvSpPr>
        <p:spPr bwMode="auto">
          <a:xfrm rot="7860678">
            <a:off x="16251956" y="8185607"/>
            <a:ext cx="2243704" cy="2088684"/>
          </a:xfrm>
          <a:custGeom>
            <a:avLst/>
            <a:gdLst/>
            <a:ahLst/>
            <a:cxnLst/>
            <a:rect l="l" t="t" r="r" b="b"/>
            <a:pathLst>
              <a:path w="2243704" h="2088684" fill="norm" stroke="1" extrusionOk="0">
                <a:moveTo>
                  <a:pt x="0" y="0"/>
                </a:moveTo>
                <a:lnTo>
                  <a:pt x="2243704" y="0"/>
                </a:lnTo>
                <a:lnTo>
                  <a:pt x="2243704" y="2088684"/>
                </a:lnTo>
                <a:lnTo>
                  <a:pt x="0" y="2088684"/>
                </a:lnTo>
                <a:lnTo>
                  <a:pt x="0" y="0"/>
                </a:lnTo>
                <a:close/>
              </a:path>
            </a:pathLst>
          </a:custGeom>
          <a:blipFill>
            <a:blip r:embed="rId5"/>
            <a:stretch/>
          </a:blipFill>
        </p:spPr>
        <p:txBody>
          <a:bodyPr/>
          <a:lstStyle/>
          <a:p>
            <a:pPr>
              <a:defRPr/>
            </a:pPr>
            <a:endParaRPr lang="de-D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Bild mit Überschrift">
    <p:spTree>
      <p:nvGrpSpPr>
        <p:cNvPr id="1" name=""/>
        <p:cNvGrpSpPr/>
        <p:nvPr/>
      </p:nvGrpSpPr>
      <p:grpSpPr bwMode="auto">
        <a:xfrm>
          <a:off x="0" y="0"/>
          <a:ext cx="0" cy="0"/>
          <a:chOff x="0" y="0"/>
          <a:chExt cx="0" cy="0"/>
        </a:xfrm>
      </p:grpSpPr>
      <p:sp>
        <p:nvSpPr>
          <p:cNvPr id="3" name="Bildplatzhalter 2"/>
          <p:cNvSpPr>
            <a:spLocks noGrp="1"/>
          </p:cNvSpPr>
          <p:nvPr>
            <p:ph type="pic" idx="1"/>
          </p:nvPr>
        </p:nvSpPr>
        <p:spPr bwMode="auto">
          <a:xfrm>
            <a:off x="7775575" y="1481138"/>
            <a:ext cx="8568424" cy="73104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de-DE"/>
          </a:p>
        </p:txBody>
      </p:sp>
      <p:sp>
        <p:nvSpPr>
          <p:cNvPr id="8" name="Freeform 2"/>
          <p:cNvSpPr/>
          <p:nvPr userDrawn="1"/>
        </p:nvSpPr>
        <p:spPr bwMode="auto">
          <a:xfrm>
            <a:off x="-988817" y="7307032"/>
            <a:ext cx="2499164" cy="2394654"/>
          </a:xfrm>
          <a:custGeom>
            <a:avLst/>
            <a:gdLst/>
            <a:ahLst/>
            <a:cxnLst/>
            <a:rect l="l" t="t" r="r" b="b"/>
            <a:pathLst>
              <a:path w="2499164" h="2394654" fill="norm" stroke="1"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9" name="Freeform 3"/>
          <p:cNvSpPr/>
          <p:nvPr userDrawn="1"/>
        </p:nvSpPr>
        <p:spPr bwMode="auto">
          <a:xfrm rot="4680788">
            <a:off x="16257418" y="8270982"/>
            <a:ext cx="2635834" cy="2525609"/>
          </a:xfrm>
          <a:custGeom>
            <a:avLst/>
            <a:gdLst/>
            <a:ahLst/>
            <a:cxnLst/>
            <a:rect l="l" t="t" r="r" b="b"/>
            <a:pathLst>
              <a:path w="2635834" h="2525609" fill="norm" stroke="1"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11" name="Freeform 5"/>
          <p:cNvSpPr/>
          <p:nvPr userDrawn="1"/>
        </p:nvSpPr>
        <p:spPr bwMode="auto">
          <a:xfrm>
            <a:off x="-344695" y="-103733"/>
            <a:ext cx="2797974" cy="2535765"/>
          </a:xfrm>
          <a:custGeom>
            <a:avLst/>
            <a:gdLst/>
            <a:ahLst/>
            <a:cxnLst/>
            <a:rect l="l" t="t" r="r" b="b"/>
            <a:pathLst>
              <a:path w="2085371" h="2032289" fill="norm" stroke="1"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6"/>
          <p:cNvSpPr/>
          <p:nvPr userDrawn="1"/>
        </p:nvSpPr>
        <p:spPr bwMode="auto">
          <a:xfrm rot="7860678">
            <a:off x="184890" y="170766"/>
            <a:ext cx="1600955" cy="1490343"/>
          </a:xfrm>
          <a:custGeom>
            <a:avLst/>
            <a:gdLst/>
            <a:ahLst/>
            <a:cxnLst/>
            <a:rect l="l" t="t" r="r" b="b"/>
            <a:pathLst>
              <a:path w="1600955" h="1490343" fill="norm" stroke="1"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4" name="Freeform 8"/>
          <p:cNvSpPr/>
          <p:nvPr userDrawn="1"/>
        </p:nvSpPr>
        <p:spPr bwMode="auto">
          <a:xfrm rot="-458312">
            <a:off x="16929227" y="-285243"/>
            <a:ext cx="3155791" cy="3843267"/>
          </a:xfrm>
          <a:custGeom>
            <a:avLst/>
            <a:gdLst/>
            <a:ahLst/>
            <a:cxnLst/>
            <a:rect l="l" t="t" r="r" b="b"/>
            <a:pathLst>
              <a:path w="3155791" h="3023821" fill="norm" stroke="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5" name="Freeform 9"/>
          <p:cNvSpPr/>
          <p:nvPr userDrawn="1"/>
        </p:nvSpPr>
        <p:spPr bwMode="auto">
          <a:xfrm rot="1296289">
            <a:off x="15429160" y="-255544"/>
            <a:ext cx="2265599" cy="1919581"/>
          </a:xfrm>
          <a:custGeom>
            <a:avLst/>
            <a:gdLst/>
            <a:ahLst/>
            <a:cxnLst/>
            <a:rect l="l" t="t" r="r" b="b"/>
            <a:pathLst>
              <a:path w="2265599" h="1919581" fill="norm" stroke="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6" name="Freeform 10"/>
          <p:cNvSpPr/>
          <p:nvPr userDrawn="1"/>
        </p:nvSpPr>
        <p:spPr bwMode="auto">
          <a:xfrm rot="-2487859">
            <a:off x="1742939" y="-107165"/>
            <a:ext cx="1763767" cy="1494391"/>
          </a:xfrm>
          <a:custGeom>
            <a:avLst/>
            <a:gdLst/>
            <a:ahLst/>
            <a:cxnLst/>
            <a:rect l="l" t="t" r="r" b="b"/>
            <a:pathLst>
              <a:path w="1763767" h="1494392" fill="norm" stroke="1"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7" name="Freeform 11"/>
          <p:cNvSpPr/>
          <p:nvPr userDrawn="1"/>
        </p:nvSpPr>
        <p:spPr bwMode="auto">
          <a:xfrm rot="1296289">
            <a:off x="-1078000" y="5865358"/>
            <a:ext cx="2430280" cy="2059110"/>
          </a:xfrm>
          <a:custGeom>
            <a:avLst/>
            <a:gdLst/>
            <a:ahLst/>
            <a:cxnLst/>
            <a:rect l="l" t="t" r="r" b="b"/>
            <a:pathLst>
              <a:path w="2430280" h="2059110" fill="norm" stroke="1"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8" name="Freeform 12"/>
          <p:cNvSpPr/>
          <p:nvPr userDrawn="1"/>
        </p:nvSpPr>
        <p:spPr bwMode="auto">
          <a:xfrm rot="1597264">
            <a:off x="17342788" y="1208544"/>
            <a:ext cx="1939168" cy="1805189"/>
          </a:xfrm>
          <a:custGeom>
            <a:avLst/>
            <a:gdLst/>
            <a:ahLst/>
            <a:cxnLst/>
            <a:rect l="l" t="t" r="r" b="b"/>
            <a:pathLst>
              <a:path w="1939168" h="1805189" fill="norm" stroke="1"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9" name="Freeform 13"/>
          <p:cNvSpPr/>
          <p:nvPr userDrawn="1"/>
        </p:nvSpPr>
        <p:spPr bwMode="auto">
          <a:xfrm>
            <a:off x="7687907" y="30602"/>
            <a:ext cx="2912186" cy="1012162"/>
          </a:xfrm>
          <a:custGeom>
            <a:avLst/>
            <a:gdLst/>
            <a:ahLst/>
            <a:cxnLst/>
            <a:rect l="l" t="t" r="r" b="b"/>
            <a:pathLst>
              <a:path w="2912186" h="1012162" fill="norm" stroke="1"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20" name="Titel 1"/>
          <p:cNvSpPr txBox="1"/>
          <p:nvPr userDrawn="1"/>
        </p:nvSpPr>
        <p:spPr bwMode="auto">
          <a:xfrm>
            <a:off x="1944000" y="1481138"/>
            <a:ext cx="5235566" cy="1260000"/>
          </a:xfrm>
          <a:prstGeom prst="rect">
            <a:avLst/>
          </a:prstGeom>
        </p:spPr>
        <p:txBody>
          <a:bodyPr vert="horz" lIns="91440" tIns="45720" rIns="91440" bIns="45720" rtlCol="0" anchor="b">
            <a:normAutofit/>
          </a:bodyPr>
          <a:lstStyle>
            <a:lvl1pPr algn="l" defTabSz="914400">
              <a:lnSpc>
                <a:spcPct val="90000"/>
              </a:lnSpc>
              <a:spcBef>
                <a:spcPts val="0"/>
              </a:spcBef>
              <a:buNone/>
              <a:defRPr sz="3200">
                <a:solidFill>
                  <a:schemeClr val="tx1"/>
                </a:solidFill>
                <a:latin typeface="+mj-lt"/>
                <a:ea typeface="+mj-ea"/>
                <a:cs typeface="+mj-cs"/>
              </a:defRPr>
            </a:lvl1pPr>
          </a:lstStyle>
          <a:p>
            <a:pPr>
              <a:defRPr/>
            </a:pPr>
            <a:r>
              <a:rPr lang="de-DE"/>
              <a:t>Überschrift</a:t>
            </a:r>
            <a:endParaRPr/>
          </a:p>
        </p:txBody>
      </p:sp>
      <p:sp>
        <p:nvSpPr>
          <p:cNvPr id="22" name="Textplatzhalter 3"/>
          <p:cNvSpPr>
            <a:spLocks noGrp="1"/>
          </p:cNvSpPr>
          <p:nvPr>
            <p:ph type="body" sz="half" idx="11"/>
          </p:nvPr>
        </p:nvSpPr>
        <p:spPr bwMode="auto">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de-DE"/>
              <a:t>Mastertextformat bearbeiten</a:t>
            </a:r>
            <a:endParaRPr/>
          </a:p>
        </p:txBody>
      </p:sp>
      <p:sp>
        <p:nvSpPr>
          <p:cNvPr id="24" name="Freeform 5"/>
          <p:cNvSpPr/>
          <p:nvPr userDrawn="1"/>
        </p:nvSpPr>
        <p:spPr bwMode="auto">
          <a:xfrm rot="7999432">
            <a:off x="17045216" y="6735395"/>
            <a:ext cx="2797974" cy="2535765"/>
          </a:xfrm>
          <a:custGeom>
            <a:avLst/>
            <a:gdLst/>
            <a:ahLst/>
            <a:cxnLst/>
            <a:rect l="l" t="t" r="r" b="b"/>
            <a:pathLst>
              <a:path w="2085371" h="2032289" fill="norm" stroke="1"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3" name="Freeform 7"/>
          <p:cNvSpPr/>
          <p:nvPr userDrawn="1"/>
        </p:nvSpPr>
        <p:spPr bwMode="auto">
          <a:xfrm rot="7860678">
            <a:off x="16251956" y="8185607"/>
            <a:ext cx="2243704" cy="2088684"/>
          </a:xfrm>
          <a:custGeom>
            <a:avLst/>
            <a:gdLst/>
            <a:ahLst/>
            <a:cxnLst/>
            <a:rect l="l" t="t" r="r" b="b"/>
            <a:pathLst>
              <a:path w="2243704" h="2088684" fill="norm" stroke="1"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Fragen">
    <p:spTree>
      <p:nvGrpSpPr>
        <p:cNvPr id="1" name=""/>
        <p:cNvGrpSpPr/>
        <p:nvPr/>
      </p:nvGrpSpPr>
      <p:grpSpPr bwMode="auto">
        <a:xfrm>
          <a:off x="0" y="0"/>
          <a:ext cx="0" cy="0"/>
          <a:chOff x="0" y="0"/>
          <a:chExt cx="0" cy="0"/>
        </a:xfrm>
      </p:grpSpPr>
      <p:sp>
        <p:nvSpPr>
          <p:cNvPr id="4" name="Rechteck 3"/>
          <p:cNvSpPr/>
          <p:nvPr userDrawn="1"/>
        </p:nvSpPr>
        <p:spPr bwMode="auto">
          <a:xfrm>
            <a:off x="2186282" y="2403128"/>
            <a:ext cx="13716000" cy="623793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ctrTitle" hasCustomPrompt="1"/>
          </p:nvPr>
        </p:nvSpPr>
        <p:spPr bwMode="auto">
          <a:xfrm>
            <a:off x="2205643" y="2410767"/>
            <a:ext cx="13716000" cy="6230294"/>
          </a:xfrm>
        </p:spPr>
        <p:txBody>
          <a:bodyPr anchor="ctr"/>
          <a:lstStyle>
            <a:lvl1pPr algn="ctr">
              <a:defRPr sz="6000"/>
            </a:lvl1pPr>
          </a:lstStyle>
          <a:p>
            <a:pPr>
              <a:defRPr/>
            </a:pPr>
            <a:r>
              <a:rPr lang="de-DE"/>
              <a:t>Gibt es offene Fragen?</a:t>
            </a:r>
            <a:endParaRPr/>
          </a:p>
        </p:txBody>
      </p:sp>
      <p:sp>
        <p:nvSpPr>
          <p:cNvPr id="7" name="Freeform 2"/>
          <p:cNvSpPr/>
          <p:nvPr userDrawn="1"/>
        </p:nvSpPr>
        <p:spPr bwMode="auto">
          <a:xfrm>
            <a:off x="-1263092" y="4204093"/>
            <a:ext cx="2499164" cy="5514763"/>
          </a:xfrm>
          <a:custGeom>
            <a:avLst/>
            <a:gdLst/>
            <a:ahLst/>
            <a:cxnLst/>
            <a:rect l="l" t="t" r="r" b="b"/>
            <a:pathLst>
              <a:path w="2499164" h="2394654" fill="norm" stroke="1"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fill="norm" stroke="1"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fill="norm" stroke="1"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241193" y="146185"/>
            <a:ext cx="2813227" cy="2781862"/>
          </a:xfrm>
          <a:custGeom>
            <a:avLst/>
            <a:gdLst/>
            <a:ahLst/>
            <a:cxnLst/>
            <a:rect l="l" t="t" r="r" b="b"/>
            <a:pathLst>
              <a:path w="2085371" h="2032289" fill="norm" stroke="1"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1" name="Freeform 6"/>
          <p:cNvSpPr/>
          <p:nvPr userDrawn="1"/>
        </p:nvSpPr>
        <p:spPr bwMode="auto">
          <a:xfrm rot="7860678">
            <a:off x="63301" y="315707"/>
            <a:ext cx="1600955" cy="1490343"/>
          </a:xfrm>
          <a:custGeom>
            <a:avLst/>
            <a:gdLst/>
            <a:ahLst/>
            <a:cxnLst/>
            <a:rect l="l" t="t" r="r" b="b"/>
            <a:pathLst>
              <a:path w="1600955" h="1490343" fill="norm" stroke="1"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fill="norm" stroke="1"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69322" y="-478677"/>
            <a:ext cx="3155791" cy="3023821"/>
          </a:xfrm>
          <a:custGeom>
            <a:avLst/>
            <a:gdLst/>
            <a:ahLst/>
            <a:cxnLst/>
            <a:rect l="l" t="t" r="r" b="b"/>
            <a:pathLst>
              <a:path w="3155791" h="3023821" fill="norm" stroke="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6320004" y="1512598"/>
            <a:ext cx="2265599" cy="1919581"/>
          </a:xfrm>
          <a:custGeom>
            <a:avLst/>
            <a:gdLst/>
            <a:ahLst/>
            <a:cxnLst/>
            <a:rect l="l" t="t" r="r" b="b"/>
            <a:pathLst>
              <a:path w="2265599" h="1919581" fill="norm" stroke="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794946" y="-277491"/>
            <a:ext cx="2161751" cy="1802118"/>
          </a:xfrm>
          <a:custGeom>
            <a:avLst/>
            <a:gdLst/>
            <a:ahLst/>
            <a:cxnLst/>
            <a:rect l="l" t="t" r="r" b="b"/>
            <a:pathLst>
              <a:path w="1763767" h="1494392" fill="norm" stroke="1"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369759" y="7879792"/>
            <a:ext cx="2430280" cy="2059110"/>
          </a:xfrm>
          <a:custGeom>
            <a:avLst/>
            <a:gdLst/>
            <a:ahLst/>
            <a:cxnLst/>
            <a:rect l="l" t="t" r="r" b="b"/>
            <a:pathLst>
              <a:path w="2430280" h="2059110" fill="norm" stroke="1"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300850" y="559721"/>
            <a:ext cx="1939168" cy="1805189"/>
          </a:xfrm>
          <a:custGeom>
            <a:avLst/>
            <a:gdLst/>
            <a:ahLst/>
            <a:cxnLst/>
            <a:rect l="l" t="t" r="r" b="b"/>
            <a:pathLst>
              <a:path w="1939168" h="1805189" fill="norm" stroke="1"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Abschied">
    <p:spTree>
      <p:nvGrpSpPr>
        <p:cNvPr id="1" name=""/>
        <p:cNvGrpSpPr/>
        <p:nvPr/>
      </p:nvGrpSpPr>
      <p:grpSpPr bwMode="auto">
        <a:xfrm>
          <a:off x="0" y="0"/>
          <a:ext cx="0" cy="0"/>
          <a:chOff x="0" y="0"/>
          <a:chExt cx="0" cy="0"/>
        </a:xfrm>
      </p:grpSpPr>
      <p:sp>
        <p:nvSpPr>
          <p:cNvPr id="4" name="Rechteck 3"/>
          <p:cNvSpPr/>
          <p:nvPr userDrawn="1"/>
        </p:nvSpPr>
        <p:spPr bwMode="auto">
          <a:xfrm>
            <a:off x="2205643" y="2394218"/>
            <a:ext cx="13716000" cy="623793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ctrTitle" hasCustomPrompt="1"/>
          </p:nvPr>
        </p:nvSpPr>
        <p:spPr bwMode="auto">
          <a:xfrm>
            <a:off x="2205643" y="2410767"/>
            <a:ext cx="13716000" cy="6221384"/>
          </a:xfrm>
        </p:spPr>
        <p:txBody>
          <a:bodyPr anchor="ctr"/>
          <a:lstStyle>
            <a:lvl1pPr algn="ctr">
              <a:defRPr sz="6000"/>
            </a:lvl1pPr>
          </a:lstStyle>
          <a:p>
            <a:pPr>
              <a:defRPr/>
            </a:pPr>
            <a:r>
              <a:rPr lang="de-DE"/>
              <a:t>Schön das Ihr da wart!</a:t>
            </a:r>
            <a:br>
              <a:rPr lang="de-DE"/>
            </a:br>
            <a:r>
              <a:rPr lang="de-DE"/>
              <a:t>Bis nächste Woche </a:t>
            </a:r>
            <a:endParaRPr/>
          </a:p>
        </p:txBody>
      </p:sp>
      <p:sp>
        <p:nvSpPr>
          <p:cNvPr id="7" name="Freeform 2"/>
          <p:cNvSpPr/>
          <p:nvPr userDrawn="1"/>
        </p:nvSpPr>
        <p:spPr bwMode="auto">
          <a:xfrm>
            <a:off x="-1263092" y="4204093"/>
            <a:ext cx="2499164" cy="5514763"/>
          </a:xfrm>
          <a:custGeom>
            <a:avLst/>
            <a:gdLst/>
            <a:ahLst/>
            <a:cxnLst/>
            <a:rect l="l" t="t" r="r" b="b"/>
            <a:pathLst>
              <a:path w="2499164" h="2394654" fill="norm" stroke="1"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fill="norm" stroke="1"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fill="norm" stroke="1"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241193" y="146185"/>
            <a:ext cx="2813227" cy="2781862"/>
          </a:xfrm>
          <a:custGeom>
            <a:avLst/>
            <a:gdLst/>
            <a:ahLst/>
            <a:cxnLst/>
            <a:rect l="l" t="t" r="r" b="b"/>
            <a:pathLst>
              <a:path w="2085371" h="2032289" fill="norm" stroke="1"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1" name="Freeform 6"/>
          <p:cNvSpPr/>
          <p:nvPr userDrawn="1"/>
        </p:nvSpPr>
        <p:spPr bwMode="auto">
          <a:xfrm rot="7860678">
            <a:off x="63301" y="315707"/>
            <a:ext cx="1600955" cy="1490343"/>
          </a:xfrm>
          <a:custGeom>
            <a:avLst/>
            <a:gdLst/>
            <a:ahLst/>
            <a:cxnLst/>
            <a:rect l="l" t="t" r="r" b="b"/>
            <a:pathLst>
              <a:path w="1600955" h="1490343" fill="norm" stroke="1"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fill="norm" stroke="1"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69322" y="-478677"/>
            <a:ext cx="3155791" cy="3023821"/>
          </a:xfrm>
          <a:custGeom>
            <a:avLst/>
            <a:gdLst/>
            <a:ahLst/>
            <a:cxnLst/>
            <a:rect l="l" t="t" r="r" b="b"/>
            <a:pathLst>
              <a:path w="3155791" h="3023821" fill="norm" stroke="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6320004" y="1512598"/>
            <a:ext cx="2265599" cy="1919581"/>
          </a:xfrm>
          <a:custGeom>
            <a:avLst/>
            <a:gdLst/>
            <a:ahLst/>
            <a:cxnLst/>
            <a:rect l="l" t="t" r="r" b="b"/>
            <a:pathLst>
              <a:path w="2265599" h="1919581" fill="norm" stroke="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794946" y="-277491"/>
            <a:ext cx="2161751" cy="1802118"/>
          </a:xfrm>
          <a:custGeom>
            <a:avLst/>
            <a:gdLst/>
            <a:ahLst/>
            <a:cxnLst/>
            <a:rect l="l" t="t" r="r" b="b"/>
            <a:pathLst>
              <a:path w="1763767" h="1494392" fill="norm" stroke="1"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369759" y="7879792"/>
            <a:ext cx="2430280" cy="2059110"/>
          </a:xfrm>
          <a:custGeom>
            <a:avLst/>
            <a:gdLst/>
            <a:ahLst/>
            <a:cxnLst/>
            <a:rect l="l" t="t" r="r" b="b"/>
            <a:pathLst>
              <a:path w="2430280" h="2059110" fill="norm" stroke="1"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300850" y="559721"/>
            <a:ext cx="1939168" cy="1805189"/>
          </a:xfrm>
          <a:custGeom>
            <a:avLst/>
            <a:gdLst/>
            <a:ahLst/>
            <a:cxnLst/>
            <a:rect l="l" t="t" r="r" b="b"/>
            <a:pathLst>
              <a:path w="1939168" h="1805189" fill="norm" stroke="1"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Icons">
    <p:spTree>
      <p:nvGrpSpPr>
        <p:cNvPr id="1" name=""/>
        <p:cNvGrpSpPr/>
        <p:nvPr/>
      </p:nvGrpSpPr>
      <p:grpSpPr bwMode="auto">
        <a:xfrm>
          <a:off x="0" y="0"/>
          <a:ext cx="0" cy="0"/>
          <a:chOff x="0" y="0"/>
          <a:chExt cx="0" cy="0"/>
        </a:xfrm>
      </p:grpSpPr>
      <p:pic>
        <p:nvPicPr>
          <p:cNvPr id="6" name="Grafik 5"/>
          <p:cNvPicPr>
            <a:picLocks noChangeAspect="1"/>
          </p:cNvPicPr>
          <p:nvPr userDrawn="1"/>
        </p:nvPicPr>
        <p:blipFill>
          <a:blip r:embed="rId2"/>
          <a:stretch/>
        </p:blipFill>
        <p:spPr bwMode="auto">
          <a:xfrm>
            <a:off x="15876905" y="4807323"/>
            <a:ext cx="2373813" cy="1592764"/>
          </a:xfrm>
          <a:prstGeom prst="rect">
            <a:avLst/>
          </a:prstGeom>
        </p:spPr>
      </p:pic>
      <p:pic>
        <p:nvPicPr>
          <p:cNvPr id="18" name="Grafik 17"/>
          <p:cNvPicPr>
            <a:picLocks noChangeAspect="1"/>
          </p:cNvPicPr>
          <p:nvPr userDrawn="1"/>
        </p:nvPicPr>
        <p:blipFill>
          <a:blip r:embed="rId3"/>
          <a:stretch/>
        </p:blipFill>
        <p:spPr bwMode="auto">
          <a:xfrm>
            <a:off x="12021566" y="6891802"/>
            <a:ext cx="1502640" cy="1592764"/>
          </a:xfrm>
          <a:prstGeom prst="rect">
            <a:avLst/>
          </a:prstGeom>
        </p:spPr>
      </p:pic>
      <p:pic>
        <p:nvPicPr>
          <p:cNvPr id="19" name="Grafik 18"/>
          <p:cNvPicPr>
            <a:picLocks noChangeAspect="1"/>
          </p:cNvPicPr>
          <p:nvPr userDrawn="1"/>
        </p:nvPicPr>
        <p:blipFill>
          <a:blip r:embed="rId4"/>
          <a:stretch/>
        </p:blipFill>
        <p:spPr bwMode="auto">
          <a:xfrm>
            <a:off x="13639800" y="6638689"/>
            <a:ext cx="1949303" cy="1592764"/>
          </a:xfrm>
          <a:prstGeom prst="rect">
            <a:avLst/>
          </a:prstGeom>
        </p:spPr>
      </p:pic>
      <p:pic>
        <p:nvPicPr>
          <p:cNvPr id="20" name="Grafik 19"/>
          <p:cNvPicPr>
            <a:picLocks noChangeAspect="1"/>
          </p:cNvPicPr>
          <p:nvPr userDrawn="1"/>
        </p:nvPicPr>
        <p:blipFill>
          <a:blip r:embed="rId5"/>
          <a:stretch/>
        </p:blipFill>
        <p:spPr bwMode="auto">
          <a:xfrm>
            <a:off x="9677723" y="6922092"/>
            <a:ext cx="2258684" cy="1592764"/>
          </a:xfrm>
          <a:prstGeom prst="rect">
            <a:avLst/>
          </a:prstGeom>
        </p:spPr>
      </p:pic>
      <p:pic>
        <p:nvPicPr>
          <p:cNvPr id="21" name="Grafik 20"/>
          <p:cNvPicPr>
            <a:picLocks noChangeAspect="1"/>
          </p:cNvPicPr>
          <p:nvPr userDrawn="1"/>
        </p:nvPicPr>
        <p:blipFill>
          <a:blip r:embed="rId6"/>
          <a:stretch/>
        </p:blipFill>
        <p:spPr bwMode="auto">
          <a:xfrm>
            <a:off x="11326904" y="5064484"/>
            <a:ext cx="2033866" cy="1592764"/>
          </a:xfrm>
          <a:prstGeom prst="rect">
            <a:avLst/>
          </a:prstGeom>
        </p:spPr>
      </p:pic>
      <p:pic>
        <p:nvPicPr>
          <p:cNvPr id="22" name="Grafik 21"/>
          <p:cNvPicPr>
            <a:picLocks noChangeAspect="1"/>
          </p:cNvPicPr>
          <p:nvPr userDrawn="1"/>
        </p:nvPicPr>
        <p:blipFill>
          <a:blip r:embed="rId7"/>
          <a:stretch/>
        </p:blipFill>
        <p:spPr bwMode="auto">
          <a:xfrm>
            <a:off x="14485268" y="3220983"/>
            <a:ext cx="1775341" cy="1592764"/>
          </a:xfrm>
          <a:prstGeom prst="rect">
            <a:avLst/>
          </a:prstGeom>
        </p:spPr>
      </p:pic>
      <p:pic>
        <p:nvPicPr>
          <p:cNvPr id="23" name="Grafik 22"/>
          <p:cNvPicPr>
            <a:picLocks noChangeAspect="1"/>
          </p:cNvPicPr>
          <p:nvPr userDrawn="1"/>
        </p:nvPicPr>
        <p:blipFill>
          <a:blip r:embed="rId8"/>
          <a:stretch/>
        </p:blipFill>
        <p:spPr bwMode="auto">
          <a:xfrm>
            <a:off x="16220430" y="8526750"/>
            <a:ext cx="2080242" cy="1592764"/>
          </a:xfrm>
          <a:prstGeom prst="rect">
            <a:avLst/>
          </a:prstGeom>
        </p:spPr>
      </p:pic>
      <p:pic>
        <p:nvPicPr>
          <p:cNvPr id="24" name="Grafik 23"/>
          <p:cNvPicPr>
            <a:picLocks noChangeAspect="1"/>
          </p:cNvPicPr>
          <p:nvPr userDrawn="1"/>
        </p:nvPicPr>
        <p:blipFill>
          <a:blip r:embed="rId9"/>
          <a:stretch/>
        </p:blipFill>
        <p:spPr bwMode="auto">
          <a:xfrm>
            <a:off x="2349260" y="4800008"/>
            <a:ext cx="2193219" cy="1592764"/>
          </a:xfrm>
          <a:prstGeom prst="rect">
            <a:avLst/>
          </a:prstGeom>
        </p:spPr>
      </p:pic>
      <p:pic>
        <p:nvPicPr>
          <p:cNvPr id="25" name="Grafik 24" descr="Ein Bild, das Mann, stehend, Schnee, haltend enthält.&#10;&#10;Automatisch generierte Beschreibung"/>
          <p:cNvPicPr>
            <a:picLocks noChangeAspect="1"/>
          </p:cNvPicPr>
          <p:nvPr userDrawn="1"/>
        </p:nvPicPr>
        <p:blipFill>
          <a:blip r:embed="rId10"/>
          <a:stretch/>
        </p:blipFill>
        <p:spPr bwMode="auto">
          <a:xfrm>
            <a:off x="16093202" y="3146603"/>
            <a:ext cx="2157516" cy="1592764"/>
          </a:xfrm>
          <a:prstGeom prst="rect">
            <a:avLst/>
          </a:prstGeom>
        </p:spPr>
      </p:pic>
      <p:grpSp>
        <p:nvGrpSpPr>
          <p:cNvPr id="27" name="Google Shape;418;p40"/>
          <p:cNvGrpSpPr>
            <a:grpSpLocks noChangeAspect="1"/>
          </p:cNvGrpSpPr>
          <p:nvPr userDrawn="1"/>
        </p:nvGrpSpPr>
        <p:grpSpPr bwMode="auto">
          <a:xfrm>
            <a:off x="2970519" y="3831315"/>
            <a:ext cx="1196899" cy="839754"/>
            <a:chOff x="559275" y="1683950"/>
            <a:chExt cx="466500" cy="327300"/>
          </a:xfrm>
        </p:grpSpPr>
        <p:sp>
          <p:nvSpPr>
            <p:cNvPr id="28" name="Google Shape;419;p40"/>
            <p:cNvSpPr/>
            <p:nvPr/>
          </p:nvSpPr>
          <p:spPr bwMode="auto">
            <a:xfrm>
              <a:off x="559275" y="1683950"/>
              <a:ext cx="466500" cy="197850"/>
            </a:xfrm>
            <a:custGeom>
              <a:avLst/>
              <a:gdLst/>
              <a:ahLst/>
              <a:cxnLst/>
              <a:rect l="l" t="t" r="r" b="b"/>
              <a:pathLst>
                <a:path w="18660" h="7914" fill="norm" stroke="1" extrusionOk="0">
                  <a:moveTo>
                    <a:pt x="391" y="1"/>
                  </a:moveTo>
                  <a:lnTo>
                    <a:pt x="293" y="50"/>
                  </a:lnTo>
                  <a:lnTo>
                    <a:pt x="220" y="74"/>
                  </a:lnTo>
                  <a:lnTo>
                    <a:pt x="147" y="147"/>
                  </a:lnTo>
                  <a:lnTo>
                    <a:pt x="74" y="221"/>
                  </a:lnTo>
                  <a:lnTo>
                    <a:pt x="49" y="294"/>
                  </a:lnTo>
                  <a:lnTo>
                    <a:pt x="0" y="392"/>
                  </a:lnTo>
                  <a:lnTo>
                    <a:pt x="0" y="489"/>
                  </a:lnTo>
                  <a:lnTo>
                    <a:pt x="0" y="1173"/>
                  </a:lnTo>
                  <a:lnTo>
                    <a:pt x="9330" y="7914"/>
                  </a:lnTo>
                  <a:lnTo>
                    <a:pt x="18659" y="1173"/>
                  </a:lnTo>
                  <a:lnTo>
                    <a:pt x="18659" y="489"/>
                  </a:lnTo>
                  <a:lnTo>
                    <a:pt x="18659" y="392"/>
                  </a:lnTo>
                  <a:lnTo>
                    <a:pt x="18611" y="294"/>
                  </a:lnTo>
                  <a:lnTo>
                    <a:pt x="18586" y="221"/>
                  </a:lnTo>
                  <a:lnTo>
                    <a:pt x="18513" y="147"/>
                  </a:lnTo>
                  <a:lnTo>
                    <a:pt x="18440" y="74"/>
                  </a:lnTo>
                  <a:lnTo>
                    <a:pt x="18366" y="50"/>
                  </a:lnTo>
                  <a:lnTo>
                    <a:pt x="1826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9" name="Google Shape;420;p40"/>
            <p:cNvSpPr/>
            <p:nvPr/>
          </p:nvSpPr>
          <p:spPr bwMode="auto">
            <a:xfrm>
              <a:off x="559275" y="1727925"/>
              <a:ext cx="466500" cy="283325"/>
            </a:xfrm>
            <a:custGeom>
              <a:avLst/>
              <a:gdLst/>
              <a:ahLst/>
              <a:cxnLst/>
              <a:rect l="l" t="t" r="r" b="b"/>
              <a:pathLst>
                <a:path w="18660" h="11333" fill="norm" stroke="1" extrusionOk="0">
                  <a:moveTo>
                    <a:pt x="0" y="0"/>
                  </a:moveTo>
                  <a:lnTo>
                    <a:pt x="0" y="10844"/>
                  </a:lnTo>
                  <a:lnTo>
                    <a:pt x="0" y="10917"/>
                  </a:lnTo>
                  <a:lnTo>
                    <a:pt x="5129" y="7230"/>
                  </a:lnTo>
                  <a:lnTo>
                    <a:pt x="5227" y="7181"/>
                  </a:lnTo>
                  <a:lnTo>
                    <a:pt x="5325" y="7181"/>
                  </a:lnTo>
                  <a:lnTo>
                    <a:pt x="5398" y="7205"/>
                  </a:lnTo>
                  <a:lnTo>
                    <a:pt x="5471" y="7278"/>
                  </a:lnTo>
                  <a:lnTo>
                    <a:pt x="5520" y="7376"/>
                  </a:lnTo>
                  <a:lnTo>
                    <a:pt x="5520" y="7474"/>
                  </a:lnTo>
                  <a:lnTo>
                    <a:pt x="5471" y="7547"/>
                  </a:lnTo>
                  <a:lnTo>
                    <a:pt x="5422" y="7620"/>
                  </a:lnTo>
                  <a:lnTo>
                    <a:pt x="318" y="11308"/>
                  </a:lnTo>
                  <a:lnTo>
                    <a:pt x="415" y="11333"/>
                  </a:lnTo>
                  <a:lnTo>
                    <a:pt x="18244" y="11333"/>
                  </a:lnTo>
                  <a:lnTo>
                    <a:pt x="18342" y="11308"/>
                  </a:lnTo>
                  <a:lnTo>
                    <a:pt x="13238" y="7620"/>
                  </a:lnTo>
                  <a:lnTo>
                    <a:pt x="13189" y="7547"/>
                  </a:lnTo>
                  <a:lnTo>
                    <a:pt x="13140" y="7474"/>
                  </a:lnTo>
                  <a:lnTo>
                    <a:pt x="13140" y="7376"/>
                  </a:lnTo>
                  <a:lnTo>
                    <a:pt x="13189" y="7278"/>
                  </a:lnTo>
                  <a:lnTo>
                    <a:pt x="13262" y="7205"/>
                  </a:lnTo>
                  <a:lnTo>
                    <a:pt x="13335" y="7181"/>
                  </a:lnTo>
                  <a:lnTo>
                    <a:pt x="13433" y="7181"/>
                  </a:lnTo>
                  <a:lnTo>
                    <a:pt x="13531" y="7230"/>
                  </a:lnTo>
                  <a:lnTo>
                    <a:pt x="18659" y="10917"/>
                  </a:lnTo>
                  <a:lnTo>
                    <a:pt x="18659" y="10844"/>
                  </a:lnTo>
                  <a:lnTo>
                    <a:pt x="18659" y="0"/>
                  </a:lnTo>
                  <a:lnTo>
                    <a:pt x="9476" y="6643"/>
                  </a:lnTo>
                  <a:lnTo>
                    <a:pt x="9403" y="6692"/>
                  </a:lnTo>
                  <a:lnTo>
                    <a:pt x="9257" y="6692"/>
                  </a:lnTo>
                  <a:lnTo>
                    <a:pt x="9183" y="6643"/>
                  </a:lnTo>
                  <a:lnTo>
                    <a:pt x="0"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grpSp>
        <p:nvGrpSpPr>
          <p:cNvPr id="30" name="Google Shape;421;p40"/>
          <p:cNvGrpSpPr>
            <a:grpSpLocks noChangeAspect="1"/>
          </p:cNvGrpSpPr>
          <p:nvPr userDrawn="1"/>
        </p:nvGrpSpPr>
        <p:grpSpPr bwMode="auto">
          <a:xfrm>
            <a:off x="910516" y="742994"/>
            <a:ext cx="1205798" cy="1180532"/>
            <a:chOff x="1233350" y="1619250"/>
            <a:chExt cx="466500" cy="456725"/>
          </a:xfrm>
        </p:grpSpPr>
        <p:sp>
          <p:nvSpPr>
            <p:cNvPr id="31" name="Google Shape;422;p40"/>
            <p:cNvSpPr/>
            <p:nvPr/>
          </p:nvSpPr>
          <p:spPr bwMode="auto">
            <a:xfrm>
              <a:off x="1233350" y="1619250"/>
              <a:ext cx="466500" cy="456725"/>
            </a:xfrm>
            <a:custGeom>
              <a:avLst/>
              <a:gdLst/>
              <a:ahLst/>
              <a:cxnLst/>
              <a:rect l="l" t="t" r="r" b="b"/>
              <a:pathLst>
                <a:path w="18660" h="18269" fill="norm" stroke="1"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2" name="Google Shape;423;p40"/>
            <p:cNvSpPr/>
            <p:nvPr/>
          </p:nvSpPr>
          <p:spPr bwMode="auto">
            <a:xfrm>
              <a:off x="1382325" y="1792025"/>
              <a:ext cx="168550" cy="12250"/>
            </a:xfrm>
            <a:custGeom>
              <a:avLst/>
              <a:gdLst/>
              <a:ahLst/>
              <a:cxnLst/>
              <a:rect l="l" t="t" r="r" b="b"/>
              <a:pathLst>
                <a:path w="6742" h="490" fill="norm" stroke="1"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3" name="Google Shape;424;p40"/>
            <p:cNvSpPr/>
            <p:nvPr/>
          </p:nvSpPr>
          <p:spPr bwMode="auto">
            <a:xfrm>
              <a:off x="1382325" y="1825000"/>
              <a:ext cx="168550" cy="12250"/>
            </a:xfrm>
            <a:custGeom>
              <a:avLst/>
              <a:gdLst/>
              <a:ahLst/>
              <a:cxnLst/>
              <a:rect l="l" t="t" r="r" b="b"/>
              <a:pathLst>
                <a:path w="6742" h="490" fill="norm" stroke="1"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4" name="Google Shape;425;p40"/>
            <p:cNvSpPr/>
            <p:nvPr/>
          </p:nvSpPr>
          <p:spPr bwMode="auto">
            <a:xfrm>
              <a:off x="1382325" y="1858575"/>
              <a:ext cx="70850" cy="12250"/>
            </a:xfrm>
            <a:custGeom>
              <a:avLst/>
              <a:gdLst/>
              <a:ahLst/>
              <a:cxnLst/>
              <a:rect l="l" t="t" r="r" b="b"/>
              <a:pathLst>
                <a:path w="2834" h="490" fill="norm" stroke="1"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grpSp>
        <p:nvGrpSpPr>
          <p:cNvPr id="35" name="Google Shape;426;p40"/>
          <p:cNvGrpSpPr>
            <a:grpSpLocks noChangeAspect="1"/>
          </p:cNvGrpSpPr>
          <p:nvPr userDrawn="1"/>
        </p:nvGrpSpPr>
        <p:grpSpPr bwMode="auto">
          <a:xfrm>
            <a:off x="6088394" y="3574688"/>
            <a:ext cx="974938" cy="974938"/>
            <a:chOff x="1922075" y="1629000"/>
            <a:chExt cx="437200" cy="437200"/>
          </a:xfrm>
        </p:grpSpPr>
        <p:sp>
          <p:nvSpPr>
            <p:cNvPr id="36" name="Google Shape;427;p40"/>
            <p:cNvSpPr/>
            <p:nvPr/>
          </p:nvSpPr>
          <p:spPr bwMode="auto">
            <a:xfrm>
              <a:off x="2208425" y="1629000"/>
              <a:ext cx="150850" cy="150850"/>
            </a:xfrm>
            <a:custGeom>
              <a:avLst/>
              <a:gdLst/>
              <a:ahLst/>
              <a:cxnLst/>
              <a:rect l="l" t="t" r="r" b="b"/>
              <a:pathLst>
                <a:path w="6034" h="6034" fill="norm" stroke="1"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7" name="Google Shape;428;p40"/>
            <p:cNvSpPr/>
            <p:nvPr/>
          </p:nvSpPr>
          <p:spPr bwMode="auto">
            <a:xfrm>
              <a:off x="1922075" y="1686400"/>
              <a:ext cx="379800" cy="379800"/>
            </a:xfrm>
            <a:custGeom>
              <a:avLst/>
              <a:gdLst/>
              <a:ahLst/>
              <a:cxnLst/>
              <a:rect l="l" t="t" r="r" b="b"/>
              <a:pathLst>
                <a:path w="15192" h="15192" fill="norm" stroke="1"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grpSp>
        <p:nvGrpSpPr>
          <p:cNvPr id="38" name="Google Shape;429;p40"/>
          <p:cNvGrpSpPr>
            <a:grpSpLocks noChangeAspect="1"/>
          </p:cNvGrpSpPr>
          <p:nvPr userDrawn="1"/>
        </p:nvGrpSpPr>
        <p:grpSpPr bwMode="auto">
          <a:xfrm>
            <a:off x="4514349" y="3536997"/>
            <a:ext cx="1005134" cy="1005134"/>
            <a:chOff x="2594325" y="1627175"/>
            <a:chExt cx="440850" cy="440850"/>
          </a:xfrm>
        </p:grpSpPr>
        <p:sp>
          <p:nvSpPr>
            <p:cNvPr id="39" name="Google Shape;430;p40"/>
            <p:cNvSpPr/>
            <p:nvPr/>
          </p:nvSpPr>
          <p:spPr bwMode="auto">
            <a:xfrm>
              <a:off x="2594325" y="1890950"/>
              <a:ext cx="177075" cy="177075"/>
            </a:xfrm>
            <a:custGeom>
              <a:avLst/>
              <a:gdLst/>
              <a:ahLst/>
              <a:cxnLst/>
              <a:rect l="l" t="t" r="r" b="b"/>
              <a:pathLst>
                <a:path w="7083" h="7083" fill="norm" stroke="1" extrusionOk="0">
                  <a:moveTo>
                    <a:pt x="5544" y="0"/>
                  </a:moveTo>
                  <a:lnTo>
                    <a:pt x="538" y="5984"/>
                  </a:lnTo>
                  <a:lnTo>
                    <a:pt x="0" y="7083"/>
                  </a:lnTo>
                  <a:lnTo>
                    <a:pt x="1099" y="6546"/>
                  </a:lnTo>
                  <a:lnTo>
                    <a:pt x="7083" y="1539"/>
                  </a:lnTo>
                  <a:lnTo>
                    <a:pt x="5544"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40" name="Google Shape;431;p40"/>
            <p:cNvSpPr/>
            <p:nvPr/>
          </p:nvSpPr>
          <p:spPr bwMode="auto">
            <a:xfrm>
              <a:off x="2858700" y="1627175"/>
              <a:ext cx="176475" cy="176475"/>
            </a:xfrm>
            <a:custGeom>
              <a:avLst/>
              <a:gdLst/>
              <a:ahLst/>
              <a:cxnLst/>
              <a:rect l="l" t="t" r="r" b="b"/>
              <a:pathLst>
                <a:path w="7059" h="7059" fill="norm" stroke="1"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41" name="Google Shape;432;p40"/>
            <p:cNvSpPr/>
            <p:nvPr/>
          </p:nvSpPr>
          <p:spPr bwMode="auto">
            <a:xfrm>
              <a:off x="2663325" y="1702275"/>
              <a:ext cx="296750" cy="296775"/>
            </a:xfrm>
            <a:custGeom>
              <a:avLst/>
              <a:gdLst/>
              <a:ahLst/>
              <a:cxnLst/>
              <a:rect l="l" t="t" r="r" b="b"/>
              <a:pathLst>
                <a:path w="11870" h="11871" fill="norm" stroke="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sp>
        <p:nvSpPr>
          <p:cNvPr id="42" name="Google Shape;488;p40"/>
          <p:cNvSpPr>
            <a:spLocks noChangeAspect="1"/>
          </p:cNvSpPr>
          <p:nvPr userDrawn="1"/>
        </p:nvSpPr>
        <p:spPr bwMode="auto">
          <a:xfrm>
            <a:off x="6225064" y="1724791"/>
            <a:ext cx="1245939" cy="1599223"/>
          </a:xfrm>
          <a:custGeom>
            <a:avLst/>
            <a:gdLst/>
            <a:ahLst/>
            <a:cxnLst/>
            <a:rect l="l" t="t" r="r" b="b"/>
            <a:pathLst>
              <a:path w="16022" h="20565" fill="norm" stroke="1"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43" name="Google Shape;489;p40"/>
          <p:cNvSpPr>
            <a:spLocks noChangeAspect="1"/>
          </p:cNvSpPr>
          <p:nvPr userDrawn="1"/>
        </p:nvSpPr>
        <p:spPr bwMode="auto">
          <a:xfrm>
            <a:off x="4980938" y="1713050"/>
            <a:ext cx="903927" cy="1566072"/>
          </a:xfrm>
          <a:custGeom>
            <a:avLst/>
            <a:gdLst/>
            <a:ahLst/>
            <a:cxnLst/>
            <a:rect l="l" t="t" r="r" b="b"/>
            <a:pathLst>
              <a:path w="11870" h="20565" fill="norm" stroke="1"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nvGrpSpPr>
          <p:cNvPr id="44" name="Google Shape;490;p40"/>
          <p:cNvGrpSpPr>
            <a:grpSpLocks noChangeAspect="1"/>
          </p:cNvGrpSpPr>
          <p:nvPr userDrawn="1"/>
        </p:nvGrpSpPr>
        <p:grpSpPr bwMode="auto">
          <a:xfrm>
            <a:off x="7906067" y="1750254"/>
            <a:ext cx="1622856" cy="1562899"/>
            <a:chOff x="2583325" y="2972875"/>
            <a:chExt cx="462850" cy="445750"/>
          </a:xfrm>
        </p:grpSpPr>
        <p:sp>
          <p:nvSpPr>
            <p:cNvPr id="45" name="Google Shape;491;p40"/>
            <p:cNvSpPr/>
            <p:nvPr/>
          </p:nvSpPr>
          <p:spPr bwMode="auto">
            <a:xfrm>
              <a:off x="2701774" y="3323350"/>
              <a:ext cx="225950" cy="95275"/>
            </a:xfrm>
            <a:custGeom>
              <a:avLst/>
              <a:gdLst/>
              <a:ahLst/>
              <a:cxnLst/>
              <a:rect l="l" t="t" r="r" b="b"/>
              <a:pathLst>
                <a:path w="9038" h="3811" fill="norm" stroke="1" extrusionOk="0">
                  <a:moveTo>
                    <a:pt x="2956" y="1"/>
                  </a:moveTo>
                  <a:lnTo>
                    <a:pt x="2956" y="2956"/>
                  </a:lnTo>
                  <a:lnTo>
                    <a:pt x="685" y="2956"/>
                  </a:lnTo>
                  <a:lnTo>
                    <a:pt x="514" y="3005"/>
                  </a:lnTo>
                  <a:lnTo>
                    <a:pt x="367" y="3103"/>
                  </a:lnTo>
                  <a:lnTo>
                    <a:pt x="245" y="3200"/>
                  </a:lnTo>
                  <a:lnTo>
                    <a:pt x="147" y="3322"/>
                  </a:lnTo>
                  <a:lnTo>
                    <a:pt x="50" y="3469"/>
                  </a:lnTo>
                  <a:lnTo>
                    <a:pt x="1" y="3640"/>
                  </a:lnTo>
                  <a:lnTo>
                    <a:pt x="1" y="3811"/>
                  </a:lnTo>
                  <a:lnTo>
                    <a:pt x="9037" y="3811"/>
                  </a:lnTo>
                  <a:lnTo>
                    <a:pt x="9037" y="3640"/>
                  </a:lnTo>
                  <a:lnTo>
                    <a:pt x="8988" y="3469"/>
                  </a:lnTo>
                  <a:lnTo>
                    <a:pt x="8891" y="3322"/>
                  </a:lnTo>
                  <a:lnTo>
                    <a:pt x="8793" y="3200"/>
                  </a:lnTo>
                  <a:lnTo>
                    <a:pt x="8671" y="3103"/>
                  </a:lnTo>
                  <a:lnTo>
                    <a:pt x="8524" y="3005"/>
                  </a:lnTo>
                  <a:lnTo>
                    <a:pt x="8353" y="2956"/>
                  </a:lnTo>
                  <a:lnTo>
                    <a:pt x="6082" y="2956"/>
                  </a:lnTo>
                  <a:lnTo>
                    <a:pt x="6082"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46" name="Google Shape;492;p40"/>
            <p:cNvSpPr/>
            <p:nvPr/>
          </p:nvSpPr>
          <p:spPr bwMode="auto">
            <a:xfrm>
              <a:off x="2583325" y="2972875"/>
              <a:ext cx="462850" cy="337075"/>
            </a:xfrm>
            <a:custGeom>
              <a:avLst/>
              <a:gdLst/>
              <a:ahLst/>
              <a:cxnLst/>
              <a:rect l="l" t="t" r="r" b="b"/>
              <a:pathLst>
                <a:path w="18514" h="13483" fill="norm" stroke="1" extrusionOk="0">
                  <a:moveTo>
                    <a:pt x="17048" y="1466"/>
                  </a:moveTo>
                  <a:lnTo>
                    <a:pt x="17048" y="12017"/>
                  </a:lnTo>
                  <a:lnTo>
                    <a:pt x="1466" y="12017"/>
                  </a:lnTo>
                  <a:lnTo>
                    <a:pt x="1466" y="1466"/>
                  </a:lnTo>
                  <a:close/>
                  <a:moveTo>
                    <a:pt x="391" y="1"/>
                  </a:moveTo>
                  <a:lnTo>
                    <a:pt x="318" y="50"/>
                  </a:lnTo>
                  <a:lnTo>
                    <a:pt x="220" y="74"/>
                  </a:lnTo>
                  <a:lnTo>
                    <a:pt x="147" y="148"/>
                  </a:lnTo>
                  <a:lnTo>
                    <a:pt x="98" y="221"/>
                  </a:lnTo>
                  <a:lnTo>
                    <a:pt x="49" y="294"/>
                  </a:lnTo>
                  <a:lnTo>
                    <a:pt x="25" y="392"/>
                  </a:lnTo>
                  <a:lnTo>
                    <a:pt x="1" y="489"/>
                  </a:lnTo>
                  <a:lnTo>
                    <a:pt x="1" y="12994"/>
                  </a:lnTo>
                  <a:lnTo>
                    <a:pt x="25" y="13092"/>
                  </a:lnTo>
                  <a:lnTo>
                    <a:pt x="49" y="13189"/>
                  </a:lnTo>
                  <a:lnTo>
                    <a:pt x="98" y="13263"/>
                  </a:lnTo>
                  <a:lnTo>
                    <a:pt x="147" y="13336"/>
                  </a:lnTo>
                  <a:lnTo>
                    <a:pt x="220" y="13409"/>
                  </a:lnTo>
                  <a:lnTo>
                    <a:pt x="318" y="13434"/>
                  </a:lnTo>
                  <a:lnTo>
                    <a:pt x="391" y="13483"/>
                  </a:lnTo>
                  <a:lnTo>
                    <a:pt x="18123" y="13483"/>
                  </a:lnTo>
                  <a:lnTo>
                    <a:pt x="18196" y="13434"/>
                  </a:lnTo>
                  <a:lnTo>
                    <a:pt x="18293" y="13409"/>
                  </a:lnTo>
                  <a:lnTo>
                    <a:pt x="18367" y="13336"/>
                  </a:lnTo>
                  <a:lnTo>
                    <a:pt x="18416" y="13263"/>
                  </a:lnTo>
                  <a:lnTo>
                    <a:pt x="18464" y="13189"/>
                  </a:lnTo>
                  <a:lnTo>
                    <a:pt x="18489" y="13092"/>
                  </a:lnTo>
                  <a:lnTo>
                    <a:pt x="18513" y="12994"/>
                  </a:lnTo>
                  <a:lnTo>
                    <a:pt x="18513" y="489"/>
                  </a:lnTo>
                  <a:lnTo>
                    <a:pt x="18489" y="392"/>
                  </a:lnTo>
                  <a:lnTo>
                    <a:pt x="18464" y="294"/>
                  </a:lnTo>
                  <a:lnTo>
                    <a:pt x="18416" y="221"/>
                  </a:lnTo>
                  <a:lnTo>
                    <a:pt x="18367" y="148"/>
                  </a:lnTo>
                  <a:lnTo>
                    <a:pt x="18293" y="74"/>
                  </a:lnTo>
                  <a:lnTo>
                    <a:pt x="18196" y="50"/>
                  </a:lnTo>
                  <a:lnTo>
                    <a:pt x="18123"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pic>
        <p:nvPicPr>
          <p:cNvPr id="58" name="Grafik 57"/>
          <p:cNvPicPr>
            <a:picLocks noChangeAspect="1"/>
          </p:cNvPicPr>
          <p:nvPr userDrawn="1"/>
        </p:nvPicPr>
        <p:blipFill>
          <a:blip r:embed="rId11"/>
          <a:stretch/>
        </p:blipFill>
        <p:spPr bwMode="auto">
          <a:xfrm>
            <a:off x="10142224" y="3651773"/>
            <a:ext cx="1726057" cy="1158428"/>
          </a:xfrm>
          <a:prstGeom prst="rect">
            <a:avLst/>
          </a:prstGeom>
        </p:spPr>
      </p:pic>
      <p:pic>
        <p:nvPicPr>
          <p:cNvPr id="1026" name="Picture 2"/>
          <p:cNvPicPr>
            <a:picLocks noChangeAspect="1" noChangeArrowheads="1"/>
          </p:cNvPicPr>
          <p:nvPr userDrawn="1"/>
        </p:nvPicPr>
        <p:blipFill>
          <a:blip r:embed="rId12"/>
          <a:stretch/>
        </p:blipFill>
        <p:spPr bwMode="auto">
          <a:xfrm>
            <a:off x="11700124" y="890575"/>
            <a:ext cx="2921000" cy="2108200"/>
          </a:xfrm>
          <a:prstGeom prst="rect">
            <a:avLst/>
          </a:prstGeom>
          <a:noFill/>
        </p:spPr>
      </p:pic>
      <p:pic>
        <p:nvPicPr>
          <p:cNvPr id="1028" name="Picture 4"/>
          <p:cNvPicPr>
            <a:picLocks noChangeAspect="1" noChangeArrowheads="1"/>
          </p:cNvPicPr>
          <p:nvPr userDrawn="1"/>
        </p:nvPicPr>
        <p:blipFill>
          <a:blip r:embed="rId13"/>
          <a:stretch/>
        </p:blipFill>
        <p:spPr bwMode="auto">
          <a:xfrm>
            <a:off x="14529618" y="1217924"/>
            <a:ext cx="3721100" cy="2082800"/>
          </a:xfrm>
          <a:prstGeom prst="rect">
            <a:avLst/>
          </a:prstGeom>
          <a:noFill/>
        </p:spPr>
      </p:pic>
      <p:pic>
        <p:nvPicPr>
          <p:cNvPr id="1030" name="Picture 6"/>
          <p:cNvPicPr>
            <a:picLocks noChangeAspect="1" noChangeArrowheads="1"/>
          </p:cNvPicPr>
          <p:nvPr userDrawn="1"/>
        </p:nvPicPr>
        <p:blipFill>
          <a:blip r:embed="rId14"/>
          <a:stretch/>
        </p:blipFill>
        <p:spPr bwMode="auto">
          <a:xfrm>
            <a:off x="13755809" y="4850217"/>
            <a:ext cx="1726057" cy="1453522"/>
          </a:xfrm>
          <a:prstGeom prst="rect">
            <a:avLst/>
          </a:prstGeom>
          <a:noFill/>
        </p:spPr>
      </p:pic>
      <p:pic>
        <p:nvPicPr>
          <p:cNvPr id="1032" name="Picture 8"/>
          <p:cNvPicPr>
            <a:picLocks noChangeAspect="1" noChangeArrowheads="1"/>
          </p:cNvPicPr>
          <p:nvPr userDrawn="1"/>
        </p:nvPicPr>
        <p:blipFill>
          <a:blip r:embed="rId15"/>
          <a:stretch/>
        </p:blipFill>
        <p:spPr bwMode="auto">
          <a:xfrm>
            <a:off x="12232967" y="3095399"/>
            <a:ext cx="1887615" cy="1754818"/>
          </a:xfrm>
          <a:prstGeom prst="rect">
            <a:avLst/>
          </a:prstGeom>
          <a:noFill/>
        </p:spPr>
      </p:pic>
      <p:pic>
        <p:nvPicPr>
          <p:cNvPr id="1034" name="Picture 10"/>
          <p:cNvPicPr>
            <a:picLocks noChangeAspect="1" noChangeArrowheads="1"/>
          </p:cNvPicPr>
          <p:nvPr userDrawn="1"/>
        </p:nvPicPr>
        <p:blipFill>
          <a:blip r:embed="rId16"/>
          <a:stretch/>
        </p:blipFill>
        <p:spPr bwMode="auto">
          <a:xfrm>
            <a:off x="8675959" y="5412782"/>
            <a:ext cx="2620189" cy="1074812"/>
          </a:xfrm>
          <a:prstGeom prst="rect">
            <a:avLst/>
          </a:prstGeom>
          <a:noFill/>
        </p:spPr>
      </p:pic>
      <p:pic>
        <p:nvPicPr>
          <p:cNvPr id="1036" name="Picture 12"/>
          <p:cNvPicPr>
            <a:picLocks noChangeAspect="1" noChangeArrowheads="1"/>
          </p:cNvPicPr>
          <p:nvPr userDrawn="1"/>
        </p:nvPicPr>
        <p:blipFill>
          <a:blip r:embed="rId17"/>
          <a:stretch/>
        </p:blipFill>
        <p:spPr bwMode="auto">
          <a:xfrm>
            <a:off x="11417133" y="8901354"/>
            <a:ext cx="2390510" cy="1157224"/>
          </a:xfrm>
          <a:prstGeom prst="rect">
            <a:avLst/>
          </a:prstGeom>
          <a:noFill/>
        </p:spPr>
      </p:pic>
      <p:pic>
        <p:nvPicPr>
          <p:cNvPr id="1038" name="Picture 14"/>
          <p:cNvPicPr>
            <a:picLocks noChangeAspect="1" noChangeArrowheads="1"/>
          </p:cNvPicPr>
          <p:nvPr userDrawn="1"/>
        </p:nvPicPr>
        <p:blipFill>
          <a:blip r:embed="rId18"/>
          <a:stretch/>
        </p:blipFill>
        <p:spPr bwMode="auto">
          <a:xfrm>
            <a:off x="7303731" y="6936730"/>
            <a:ext cx="2288833" cy="1587749"/>
          </a:xfrm>
          <a:prstGeom prst="rect">
            <a:avLst/>
          </a:prstGeom>
          <a:noFill/>
        </p:spPr>
      </p:pic>
      <p:pic>
        <p:nvPicPr>
          <p:cNvPr id="1039" name="Picture 15"/>
          <p:cNvPicPr>
            <a:picLocks noChangeAspect="1" noChangeArrowheads="1"/>
          </p:cNvPicPr>
          <p:nvPr userDrawn="1"/>
        </p:nvPicPr>
        <p:blipFill>
          <a:blip r:embed="rId19"/>
          <a:stretch/>
        </p:blipFill>
        <p:spPr bwMode="auto">
          <a:xfrm>
            <a:off x="16184729" y="6678395"/>
            <a:ext cx="1949303" cy="1519457"/>
          </a:xfrm>
          <a:prstGeom prst="rect">
            <a:avLst/>
          </a:prstGeom>
          <a:noFill/>
        </p:spPr>
      </p:pic>
      <p:pic>
        <p:nvPicPr>
          <p:cNvPr id="1040" name="Picture 16"/>
          <p:cNvPicPr>
            <a:picLocks noChangeAspect="1" noChangeArrowheads="1"/>
          </p:cNvPicPr>
          <p:nvPr userDrawn="1"/>
        </p:nvPicPr>
        <p:blipFill>
          <a:blip r:embed="rId20"/>
          <a:stretch/>
        </p:blipFill>
        <p:spPr bwMode="auto">
          <a:xfrm>
            <a:off x="5525448" y="6847298"/>
            <a:ext cx="1562381" cy="1577404"/>
          </a:xfrm>
          <a:prstGeom prst="rect">
            <a:avLst/>
          </a:prstGeom>
          <a:noFill/>
        </p:spPr>
      </p:pic>
      <p:pic>
        <p:nvPicPr>
          <p:cNvPr id="1045" name="Picture 21"/>
          <p:cNvPicPr>
            <a:picLocks noChangeAspect="1" noChangeArrowheads="1"/>
          </p:cNvPicPr>
          <p:nvPr userDrawn="1"/>
        </p:nvPicPr>
        <p:blipFill>
          <a:blip r:embed="rId21"/>
          <a:stretch/>
        </p:blipFill>
        <p:spPr bwMode="auto">
          <a:xfrm>
            <a:off x="9443146" y="9086104"/>
            <a:ext cx="1646901" cy="979116"/>
          </a:xfrm>
          <a:prstGeom prst="rect">
            <a:avLst/>
          </a:prstGeom>
          <a:noFill/>
        </p:spPr>
      </p:pic>
      <p:pic>
        <p:nvPicPr>
          <p:cNvPr id="1047" name="Picture 23"/>
          <p:cNvPicPr>
            <a:picLocks noChangeAspect="1" noChangeArrowheads="1"/>
          </p:cNvPicPr>
          <p:nvPr userDrawn="1"/>
        </p:nvPicPr>
        <p:blipFill>
          <a:blip r:embed="rId22"/>
          <a:stretch/>
        </p:blipFill>
        <p:spPr bwMode="auto">
          <a:xfrm>
            <a:off x="4958330" y="8641236"/>
            <a:ext cx="1939938" cy="1363792"/>
          </a:xfrm>
          <a:prstGeom prst="rect">
            <a:avLst/>
          </a:prstGeom>
          <a:noFill/>
        </p:spPr>
      </p:pic>
      <p:pic>
        <p:nvPicPr>
          <p:cNvPr id="1048" name="Picture 24"/>
          <p:cNvPicPr>
            <a:picLocks noChangeAspect="1" noChangeArrowheads="1"/>
          </p:cNvPicPr>
          <p:nvPr userDrawn="1"/>
        </p:nvPicPr>
        <p:blipFill>
          <a:blip r:embed="rId23"/>
          <a:stretch/>
        </p:blipFill>
        <p:spPr bwMode="auto">
          <a:xfrm>
            <a:off x="7255942" y="8924883"/>
            <a:ext cx="1706562" cy="1137709"/>
          </a:xfrm>
          <a:prstGeom prst="rect">
            <a:avLst/>
          </a:prstGeom>
          <a:noFill/>
        </p:spPr>
      </p:pic>
      <p:pic>
        <p:nvPicPr>
          <p:cNvPr id="1050" name="Picture 26"/>
          <p:cNvPicPr>
            <a:picLocks noChangeAspect="1" noChangeArrowheads="1"/>
          </p:cNvPicPr>
          <p:nvPr userDrawn="1"/>
        </p:nvPicPr>
        <p:blipFill>
          <a:blip r:embed="rId24"/>
          <a:stretch/>
        </p:blipFill>
        <p:spPr bwMode="auto">
          <a:xfrm>
            <a:off x="14059336" y="8424702"/>
            <a:ext cx="2033866" cy="1538664"/>
          </a:xfrm>
          <a:prstGeom prst="rect">
            <a:avLst/>
          </a:prstGeom>
          <a:noFill/>
        </p:spPr>
      </p:pic>
      <p:pic>
        <p:nvPicPr>
          <p:cNvPr id="1052" name="Picture 28"/>
          <p:cNvPicPr>
            <a:picLocks noChangeAspect="1" noChangeArrowheads="1"/>
          </p:cNvPicPr>
          <p:nvPr userDrawn="1"/>
        </p:nvPicPr>
        <p:blipFill>
          <a:blip r:embed="rId25"/>
          <a:stretch/>
        </p:blipFill>
        <p:spPr bwMode="auto">
          <a:xfrm>
            <a:off x="4693598" y="4800301"/>
            <a:ext cx="1663700" cy="1524000"/>
          </a:xfrm>
          <a:prstGeom prst="rect">
            <a:avLst/>
          </a:prstGeom>
          <a:noFill/>
        </p:spPr>
      </p:pic>
      <p:pic>
        <p:nvPicPr>
          <p:cNvPr id="1053" name="Picture 29"/>
          <p:cNvPicPr>
            <a:picLocks noChangeAspect="1" noChangeArrowheads="1"/>
          </p:cNvPicPr>
          <p:nvPr userDrawn="1"/>
        </p:nvPicPr>
        <p:blipFill>
          <a:blip r:embed="rId26"/>
          <a:stretch/>
        </p:blipFill>
        <p:spPr bwMode="auto">
          <a:xfrm>
            <a:off x="6494308" y="5049355"/>
            <a:ext cx="1803400" cy="1562100"/>
          </a:xfrm>
          <a:prstGeom prst="rect">
            <a:avLst/>
          </a:prstGeom>
          <a:noFill/>
        </p:spPr>
      </p:pic>
      <p:pic>
        <p:nvPicPr>
          <p:cNvPr id="1055" name="Picture 31"/>
          <p:cNvPicPr>
            <a:picLocks noChangeAspect="1" noChangeArrowheads="1"/>
          </p:cNvPicPr>
          <p:nvPr userDrawn="1"/>
        </p:nvPicPr>
        <p:blipFill>
          <a:blip r:embed="rId27"/>
          <a:stretch/>
        </p:blipFill>
        <p:spPr bwMode="auto">
          <a:xfrm>
            <a:off x="2382363" y="8468714"/>
            <a:ext cx="1658539" cy="1494652"/>
          </a:xfrm>
          <a:prstGeom prst="rect">
            <a:avLst/>
          </a:prstGeom>
          <a:noFill/>
        </p:spPr>
      </p:pic>
      <p:pic>
        <p:nvPicPr>
          <p:cNvPr id="1057" name="Picture 33"/>
          <p:cNvPicPr>
            <a:picLocks noChangeAspect="1" noChangeArrowheads="1"/>
          </p:cNvPicPr>
          <p:nvPr userDrawn="1"/>
        </p:nvPicPr>
        <p:blipFill>
          <a:blip r:embed="rId28"/>
          <a:stretch/>
        </p:blipFill>
        <p:spPr bwMode="auto">
          <a:xfrm>
            <a:off x="2775411" y="6582177"/>
            <a:ext cx="2565400" cy="1612900"/>
          </a:xfrm>
          <a:prstGeom prst="rect">
            <a:avLst/>
          </a:prstGeom>
          <a:noFill/>
        </p:spPr>
      </p:pic>
      <p:pic>
        <p:nvPicPr>
          <p:cNvPr id="1059" name="Picture 35"/>
          <p:cNvPicPr>
            <a:picLocks noChangeAspect="1" noChangeArrowheads="1"/>
          </p:cNvPicPr>
          <p:nvPr userDrawn="1"/>
        </p:nvPicPr>
        <p:blipFill>
          <a:blip r:embed="rId29"/>
          <a:stretch/>
        </p:blipFill>
        <p:spPr bwMode="auto">
          <a:xfrm>
            <a:off x="9831262" y="2000770"/>
            <a:ext cx="1868862" cy="1211023"/>
          </a:xfrm>
          <a:prstGeom prst="rect">
            <a:avLst/>
          </a:prstGeom>
          <a:noFill/>
        </p:spPr>
      </p:pic>
      <p:pic>
        <p:nvPicPr>
          <p:cNvPr id="1061" name="Picture 37"/>
          <p:cNvPicPr>
            <a:picLocks noChangeAspect="1" noChangeArrowheads="1"/>
          </p:cNvPicPr>
          <p:nvPr userDrawn="1"/>
        </p:nvPicPr>
        <p:blipFill>
          <a:blip r:embed="rId30"/>
          <a:stretch/>
        </p:blipFill>
        <p:spPr bwMode="auto">
          <a:xfrm>
            <a:off x="7359737" y="3540548"/>
            <a:ext cx="2377773" cy="1319821"/>
          </a:xfrm>
          <a:prstGeom prst="rect">
            <a:avLst/>
          </a:prstGeom>
          <a:noFill/>
        </p:spPr>
      </p:pic>
      <p:pic>
        <p:nvPicPr>
          <p:cNvPr id="1063" name="Picture 39"/>
          <p:cNvPicPr>
            <a:picLocks noChangeAspect="1" noChangeArrowheads="1"/>
          </p:cNvPicPr>
          <p:nvPr userDrawn="1"/>
        </p:nvPicPr>
        <p:blipFill>
          <a:blip r:embed="rId31"/>
          <a:stretch/>
        </p:blipFill>
        <p:spPr bwMode="auto">
          <a:xfrm>
            <a:off x="197038" y="6967110"/>
            <a:ext cx="2098998" cy="1547746"/>
          </a:xfrm>
          <a:prstGeom prst="rect">
            <a:avLst/>
          </a:prstGeom>
          <a:noFill/>
        </p:spPr>
      </p:pic>
      <p:pic>
        <p:nvPicPr>
          <p:cNvPr id="1065" name="Picture 41"/>
          <p:cNvPicPr>
            <a:picLocks noChangeAspect="1" noChangeArrowheads="1"/>
          </p:cNvPicPr>
          <p:nvPr userDrawn="1"/>
        </p:nvPicPr>
        <p:blipFill>
          <a:blip r:embed="rId32"/>
          <a:stretch/>
        </p:blipFill>
        <p:spPr bwMode="auto">
          <a:xfrm>
            <a:off x="27529" y="8712074"/>
            <a:ext cx="2167269" cy="1429476"/>
          </a:xfrm>
          <a:prstGeom prst="rect">
            <a:avLst/>
          </a:prstGeom>
          <a:noFill/>
        </p:spPr>
      </p:pic>
      <p:sp>
        <p:nvSpPr>
          <p:cNvPr id="60" name="Textfeld 59"/>
          <p:cNvSpPr txBox="1"/>
          <p:nvPr userDrawn="1"/>
        </p:nvSpPr>
        <p:spPr bwMode="auto">
          <a:xfrm>
            <a:off x="305392" y="2225969"/>
            <a:ext cx="2416046" cy="369332"/>
          </a:xfrm>
          <a:prstGeom prst="rect">
            <a:avLst/>
          </a:prstGeom>
          <a:noFill/>
        </p:spPr>
        <p:txBody>
          <a:bodyPr wrap="none" rtlCol="0">
            <a:spAutoFit/>
          </a:bodyPr>
          <a:lstStyle/>
          <a:p>
            <a:pPr>
              <a:defRPr/>
            </a:pPr>
            <a:r>
              <a:rPr lang="de-DE"/>
              <a:t>Icon für extra Material</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lank no illustration" preserve="0" showMasterPhAnim="0" userDrawn="1">
  <p:cSld name="Blank no illustration">
    <p:spTree>
      <p:nvGrpSpPr>
        <p:cNvPr id="1" name=""/>
        <p:cNvGrpSpPr/>
        <p:nvPr/>
      </p:nvGrpSpPr>
      <p:grpSpPr bwMode="auto">
        <a:xfrm>
          <a:off x="0" y="0"/>
          <a:ext cx="0" cy="0"/>
          <a:chOff x="0" y="0"/>
          <a:chExt cx="0" cy="0"/>
        </a:xfrm>
      </p:grpSpPr>
      <p:sp>
        <p:nvSpPr>
          <p:cNvPr id="60" name="Google Shape;60;p13"/>
          <p:cNvSpPr txBox="1">
            <a:spLocks noGrp="1"/>
          </p:cNvSpPr>
          <p:nvPr>
            <p:ph type="sldNum" idx="12"/>
          </p:nvPr>
        </p:nvSpPr>
        <p:spPr bwMode="auto">
          <a:xfrm>
            <a:off x="16961168" y="9499702"/>
            <a:ext cx="1097400" cy="7872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defRPr/>
            </a:pPr>
            <a:fld id="{00000000-1234-1234-1234-123412341234}" type="slidenum">
              <a:rPr lang="en"/>
              <a:t>‹#›</a:t>
            </a:fld>
            <a:endParaRPr lang="e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 1 column" preserve="0" showMasterPhAnim="0" userDrawn="1">
  <p:cSld name="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4638" y="9457337"/>
            <a:ext cx="18288000" cy="836910"/>
          </a:xfrm>
          <a:prstGeom prst="rect">
            <a:avLst/>
          </a:prstGeom>
          <a:solidFill>
            <a:schemeClr val="bg1">
              <a:lumMod val="95000"/>
            </a:schemeClr>
          </a:solidFill>
          <a:ln>
            <a:noFill/>
          </a:ln>
        </p:spPr>
        <p:txBody>
          <a:bodyPr spcFirstLastPara="1" wrap="square" lIns="182850" tIns="182850" rIns="182850" bIns="182850" anchor="ctr" anchorCtr="0">
            <a:noAutofit/>
          </a:bodyPr>
          <a:lstStyle/>
          <a:p>
            <a:pPr marL="0" lvl="0" indent="0" algn="l">
              <a:spcBef>
                <a:spcPts val="0"/>
              </a:spcBef>
              <a:spcAft>
                <a:spcPts val="0"/>
              </a:spcAft>
              <a:buNone/>
              <a:defRPr/>
            </a:pPr>
            <a:endParaRPr sz="3600"/>
          </a:p>
        </p:txBody>
      </p:sp>
      <p:sp>
        <p:nvSpPr>
          <p:cNvPr id="16" name="Textfeld 15"/>
          <p:cNvSpPr txBox="1"/>
          <p:nvPr userDrawn="1"/>
        </p:nvSpPr>
        <p:spPr bwMode="auto">
          <a:xfrm>
            <a:off x="104146" y="9540848"/>
            <a:ext cx="7294524" cy="707886"/>
          </a:xfrm>
          <a:prstGeom prst="rect">
            <a:avLst/>
          </a:prstGeom>
          <a:noFill/>
        </p:spPr>
        <p:txBody>
          <a:bodyPr wrap="square" rtlCol="0">
            <a:spAutoFit/>
          </a:bodyPr>
          <a:lstStyle/>
          <a:p>
            <a:pPr algn="l">
              <a:defRPr/>
            </a:pPr>
            <a:r>
              <a:rPr lang="de-DE" sz="2000" b="0">
                <a:solidFill>
                  <a:srgbClr val="C00000"/>
                </a:solidFill>
                <a:latin typeface="Arial Narrow"/>
              </a:rPr>
              <a:t>Titel</a:t>
            </a:r>
            <a:endParaRPr lang="de-DE" sz="2000">
              <a:solidFill>
                <a:srgbClr val="C00000"/>
              </a:solidFill>
              <a:latin typeface="Arial Narrow"/>
            </a:endParaRPr>
          </a:p>
          <a:p>
            <a:pPr algn="l">
              <a:defRPr/>
            </a:pPr>
            <a:r>
              <a:rPr lang="de-DE" sz="2000">
                <a:solidFill>
                  <a:srgbClr val="C00000"/>
                </a:solidFill>
                <a:latin typeface="Arial Narrow"/>
              </a:rPr>
              <a:t>Tutorname</a:t>
            </a:r>
            <a:endParaRPr/>
          </a:p>
        </p:txBody>
      </p:sp>
      <p:sp>
        <p:nvSpPr>
          <p:cNvPr id="17" name="Textfeld 16"/>
          <p:cNvSpPr txBox="1"/>
          <p:nvPr userDrawn="1"/>
        </p:nvSpPr>
        <p:spPr bwMode="auto">
          <a:xfrm>
            <a:off x="6883216" y="9594932"/>
            <a:ext cx="2590800" cy="400110"/>
          </a:xfrm>
          <a:prstGeom prst="rect">
            <a:avLst/>
          </a:prstGeom>
          <a:noFill/>
        </p:spPr>
        <p:txBody>
          <a:bodyPr wrap="square" rtlCol="0">
            <a:spAutoFit/>
          </a:bodyPr>
          <a:lstStyle/>
          <a:p>
            <a:pPr algn="l">
              <a:defRPr/>
            </a:pPr>
            <a:r>
              <a:rPr lang="de-DE" sz="2000">
                <a:solidFill>
                  <a:srgbClr val="C00000"/>
                </a:solidFill>
                <a:latin typeface="Arial Narrow"/>
              </a:rPr>
              <a:t>Datum: XXX</a:t>
            </a:r>
            <a:endParaRPr sz="3600"/>
          </a:p>
        </p:txBody>
      </p:sp>
      <p:cxnSp>
        <p:nvCxnSpPr>
          <p:cNvPr id="102" name="Google Shape;102;p17"/>
          <p:cNvCxnSpPr>
            <a:cxnSpLocks/>
            <a:endCxn id="104" idx="1"/>
          </p:cNvCxnSpPr>
          <p:nvPr/>
        </p:nvCxnSpPr>
        <p:spPr bwMode="auto">
          <a:xfrm>
            <a:off x="1" y="1672887"/>
            <a:ext cx="1962402" cy="17486"/>
          </a:xfrm>
          <a:prstGeom prst="straightConnector1">
            <a:avLst/>
          </a:prstGeom>
          <a:noFill/>
          <a:ln w="9525" cap="flat" cmpd="sng">
            <a:solidFill>
              <a:srgbClr val="CCCCCC"/>
            </a:solidFill>
            <a:prstDash val="solid"/>
            <a:round/>
            <a:headEnd type="none" w="med" len="med"/>
            <a:tailEnd type="none" w="med" len="med"/>
          </a:ln>
        </p:spPr>
      </p:cxnSp>
      <p:sp>
        <p:nvSpPr>
          <p:cNvPr id="103" name="Google Shape;103;p17"/>
          <p:cNvSpPr/>
          <p:nvPr/>
        </p:nvSpPr>
        <p:spPr bwMode="auto">
          <a:xfrm>
            <a:off x="834852" y="1266970"/>
            <a:ext cx="811800" cy="811800"/>
          </a:xfrm>
          <a:prstGeom prst="ellipse">
            <a:avLst/>
          </a:prstGeom>
          <a:solidFill>
            <a:srgbClr val="7E0D31"/>
          </a:solidFill>
          <a:ln>
            <a:noFill/>
          </a:ln>
        </p:spPr>
        <p:txBody>
          <a:bodyPr spcFirstLastPara="1" wrap="square" lIns="182850" tIns="182850" rIns="182850" bIns="182850" anchor="ctr" anchorCtr="0">
            <a:noAutofit/>
          </a:bodyPr>
          <a:lstStyle/>
          <a:p>
            <a:pPr marL="0" lvl="0" indent="0" algn="l">
              <a:spcBef>
                <a:spcPts val="0"/>
              </a:spcBef>
              <a:spcAft>
                <a:spcPts val="0"/>
              </a:spcAft>
              <a:buNone/>
              <a:defRPr/>
            </a:pPr>
            <a:endParaRPr sz="3600"/>
          </a:p>
        </p:txBody>
      </p:sp>
      <p:sp>
        <p:nvSpPr>
          <p:cNvPr id="104" name="Google Shape;104;p17"/>
          <p:cNvSpPr txBox="1">
            <a:spLocks noGrp="1"/>
          </p:cNvSpPr>
          <p:nvPr>
            <p:ph type="title" hasCustomPrompt="1"/>
          </p:nvPr>
        </p:nvSpPr>
        <p:spPr bwMode="auto">
          <a:xfrm>
            <a:off x="1962402" y="1254772"/>
            <a:ext cx="7756800" cy="871200"/>
          </a:xfrm>
          <a:prstGeom prst="rect">
            <a:avLst/>
          </a:prstGeom>
          <a:solidFill>
            <a:schemeClr val="bg1"/>
          </a:solidFill>
        </p:spPr>
        <p:txBody>
          <a:bodyPr spcFirstLastPara="1" wrap="square" lIns="91425" tIns="91425" rIns="91425" bIns="91425" anchor="ctr" anchorCtr="0">
            <a:noAutofit/>
          </a:bodyPr>
          <a:lstStyle>
            <a:lvl1pPr lvl="0">
              <a:spcBef>
                <a:spcPts val="0"/>
              </a:spcBef>
              <a:spcAft>
                <a:spcPts val="0"/>
              </a:spcAft>
              <a:buSzPts val="2000"/>
              <a:buFont typeface="Lora"/>
              <a:buNone/>
              <a:defRPr sz="4000" b="1">
                <a:latin typeface="Lora"/>
                <a:ea typeface="Lora"/>
                <a:cs typeface="Lora"/>
              </a:defRPr>
            </a:lvl1pPr>
            <a:lvl2pPr lvl="1">
              <a:spcBef>
                <a:spcPts val="0"/>
              </a:spcBef>
              <a:spcAft>
                <a:spcPts val="0"/>
              </a:spcAft>
              <a:buSzPts val="2000"/>
              <a:buFont typeface="Lora"/>
              <a:buNone/>
              <a:defRPr sz="4000" b="1">
                <a:highlight>
                  <a:srgbClr val="FFFFFF"/>
                </a:highlight>
                <a:latin typeface="Lora"/>
                <a:ea typeface="Lora"/>
                <a:cs typeface="Lora"/>
              </a:defRPr>
            </a:lvl2pPr>
            <a:lvl3pPr lvl="2">
              <a:spcBef>
                <a:spcPts val="0"/>
              </a:spcBef>
              <a:spcAft>
                <a:spcPts val="0"/>
              </a:spcAft>
              <a:buSzPts val="2000"/>
              <a:buFont typeface="Lora"/>
              <a:buNone/>
              <a:defRPr sz="4000" b="1">
                <a:highlight>
                  <a:srgbClr val="FFFFFF"/>
                </a:highlight>
                <a:latin typeface="Lora"/>
                <a:ea typeface="Lora"/>
                <a:cs typeface="Lora"/>
              </a:defRPr>
            </a:lvl3pPr>
            <a:lvl4pPr lvl="3">
              <a:spcBef>
                <a:spcPts val="0"/>
              </a:spcBef>
              <a:spcAft>
                <a:spcPts val="0"/>
              </a:spcAft>
              <a:buSzPts val="2000"/>
              <a:buFont typeface="Lora"/>
              <a:buNone/>
              <a:defRPr sz="4000" b="1">
                <a:highlight>
                  <a:srgbClr val="FFFFFF"/>
                </a:highlight>
                <a:latin typeface="Lora"/>
                <a:ea typeface="Lora"/>
                <a:cs typeface="Lora"/>
              </a:defRPr>
            </a:lvl4pPr>
            <a:lvl5pPr lvl="4">
              <a:spcBef>
                <a:spcPts val="0"/>
              </a:spcBef>
              <a:spcAft>
                <a:spcPts val="0"/>
              </a:spcAft>
              <a:buSzPts val="2000"/>
              <a:buFont typeface="Lora"/>
              <a:buNone/>
              <a:defRPr sz="4000" b="1">
                <a:highlight>
                  <a:srgbClr val="FFFFFF"/>
                </a:highlight>
                <a:latin typeface="Lora"/>
                <a:ea typeface="Lora"/>
                <a:cs typeface="Lora"/>
              </a:defRPr>
            </a:lvl5pPr>
            <a:lvl6pPr lvl="5">
              <a:spcBef>
                <a:spcPts val="0"/>
              </a:spcBef>
              <a:spcAft>
                <a:spcPts val="0"/>
              </a:spcAft>
              <a:buSzPts val="2000"/>
              <a:buFont typeface="Lora"/>
              <a:buNone/>
              <a:defRPr sz="4000" b="1">
                <a:highlight>
                  <a:srgbClr val="FFFFFF"/>
                </a:highlight>
                <a:latin typeface="Lora"/>
                <a:ea typeface="Lora"/>
                <a:cs typeface="Lora"/>
              </a:defRPr>
            </a:lvl6pPr>
            <a:lvl7pPr lvl="6">
              <a:spcBef>
                <a:spcPts val="0"/>
              </a:spcBef>
              <a:spcAft>
                <a:spcPts val="0"/>
              </a:spcAft>
              <a:buSzPts val="2000"/>
              <a:buFont typeface="Lora"/>
              <a:buNone/>
              <a:defRPr sz="4000" b="1">
                <a:highlight>
                  <a:srgbClr val="FFFFFF"/>
                </a:highlight>
                <a:latin typeface="Lora"/>
                <a:ea typeface="Lora"/>
                <a:cs typeface="Lora"/>
              </a:defRPr>
            </a:lvl7pPr>
            <a:lvl8pPr lvl="7">
              <a:spcBef>
                <a:spcPts val="0"/>
              </a:spcBef>
              <a:spcAft>
                <a:spcPts val="0"/>
              </a:spcAft>
              <a:buSzPts val="2000"/>
              <a:buFont typeface="Lora"/>
              <a:buNone/>
              <a:defRPr sz="4000" b="1">
                <a:highlight>
                  <a:srgbClr val="FFFFFF"/>
                </a:highlight>
                <a:latin typeface="Lora"/>
                <a:ea typeface="Lora"/>
                <a:cs typeface="Lora"/>
              </a:defRPr>
            </a:lvl8pPr>
            <a:lvl9pPr lvl="8">
              <a:spcBef>
                <a:spcPts val="0"/>
              </a:spcBef>
              <a:spcAft>
                <a:spcPts val="0"/>
              </a:spcAft>
              <a:buSzPts val="2000"/>
              <a:buFont typeface="Lora"/>
              <a:buNone/>
              <a:defRPr sz="4000" b="1">
                <a:highlight>
                  <a:srgbClr val="FFFFFF"/>
                </a:highlight>
                <a:latin typeface="Lora"/>
                <a:ea typeface="Lora"/>
                <a:cs typeface="Lora"/>
              </a:defRPr>
            </a:lvl9pPr>
          </a:lstStyle>
          <a:p>
            <a:pPr>
              <a:defRPr/>
            </a:pPr>
            <a:r>
              <a:rPr lang="de-DE"/>
              <a:t>Agenda</a:t>
            </a:r>
            <a:endParaRPr/>
          </a:p>
        </p:txBody>
      </p:sp>
      <p:sp>
        <p:nvSpPr>
          <p:cNvPr id="105" name="Google Shape;105;p17"/>
          <p:cNvSpPr txBox="1">
            <a:spLocks noGrp="1"/>
          </p:cNvSpPr>
          <p:nvPr>
            <p:ph type="body" idx="1"/>
          </p:nvPr>
        </p:nvSpPr>
        <p:spPr bwMode="auto">
          <a:xfrm>
            <a:off x="1933824" y="2125972"/>
            <a:ext cx="14411076" cy="6681312"/>
          </a:xfrm>
          <a:prstGeom prst="rect">
            <a:avLst/>
          </a:prstGeom>
        </p:spPr>
        <p:txBody>
          <a:bodyPr spcFirstLastPara="1" wrap="square" lIns="91425" tIns="91425" rIns="91425" bIns="91425" anchor="t" anchorCtr="0">
            <a:noAutofit/>
          </a:bodyPr>
          <a:lstStyle>
            <a:lvl1pPr marL="533400" lvl="0" indent="-533400">
              <a:spcBef>
                <a:spcPts val="1200"/>
              </a:spcBef>
              <a:spcAft>
                <a:spcPts val="0"/>
              </a:spcAft>
              <a:buClr>
                <a:schemeClr val="accent5">
                  <a:lumMod val="60000"/>
                  <a:lumOff val="40000"/>
                </a:schemeClr>
              </a:buClr>
              <a:buSzPct val="80000"/>
              <a:buFont typeface="Quattrocento Sans"/>
              <a:buChar char="◉"/>
              <a:defRPr sz="3600">
                <a:solidFill>
                  <a:schemeClr val="tx1"/>
                </a:solidFill>
                <a:latin typeface="Arial Narrow"/>
                <a:ea typeface="Arial Narrow"/>
                <a:cs typeface="Arial Narrow"/>
              </a:defRPr>
            </a:lvl1pPr>
            <a:lvl2pPr marL="1828800" lvl="1" indent="-711200">
              <a:spcBef>
                <a:spcPts val="1200"/>
              </a:spcBef>
              <a:spcAft>
                <a:spcPts val="0"/>
              </a:spcAft>
              <a:buClr>
                <a:schemeClr val="accent5"/>
              </a:buClr>
              <a:buSzPts val="2000"/>
              <a:buFont typeface="Arial"/>
              <a:buChar char="•"/>
              <a:defRPr sz="3200">
                <a:solidFill>
                  <a:schemeClr val="tx1"/>
                </a:solidFill>
                <a:latin typeface="Arial Narrow"/>
                <a:ea typeface="Arial Narrow"/>
                <a:cs typeface="Quattrocento Sans"/>
              </a:defRPr>
            </a:lvl2pPr>
            <a:lvl3pPr marL="2743200" lvl="2" indent="-711200">
              <a:spcBef>
                <a:spcPts val="3200"/>
              </a:spcBef>
              <a:spcAft>
                <a:spcPts val="0"/>
              </a:spcAft>
              <a:buClr>
                <a:srgbClr val="FFCD00"/>
              </a:buClr>
              <a:buSzPts val="2000"/>
              <a:buFont typeface="Quattrocento Sans"/>
              <a:buChar char="■"/>
              <a:defRPr sz="4000">
                <a:latin typeface="Quattrocento Sans"/>
                <a:ea typeface="Quattrocento Sans"/>
                <a:cs typeface="Quattrocento Sans"/>
              </a:defRPr>
            </a:lvl3pPr>
            <a:lvl4pPr marL="3657600" lvl="3"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4pPr>
            <a:lvl5pPr marL="4572000" lvl="4"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5pPr>
            <a:lvl6pPr marL="5486400" lvl="5"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6pPr>
            <a:lvl7pPr marL="6400800" lvl="6"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7pPr>
            <a:lvl8pPr marL="7315200" lvl="7"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8pPr>
            <a:lvl9pPr marL="8229600" lvl="8" indent="-685800">
              <a:spcBef>
                <a:spcPts val="3200"/>
              </a:spcBef>
              <a:spcAft>
                <a:spcPts val="3200"/>
              </a:spcAft>
              <a:buClr>
                <a:srgbClr val="FFCD00"/>
              </a:buClr>
              <a:buSzPts val="1800"/>
              <a:buFont typeface="Quattrocento Sans"/>
              <a:buChar char="■"/>
              <a:defRPr sz="3600">
                <a:latin typeface="Quattrocento Sans"/>
                <a:ea typeface="Quattrocento Sans"/>
                <a:cs typeface="Quattrocento Sans"/>
              </a:defRPr>
            </a:lvl9pPr>
          </a:lstStyle>
          <a:p>
            <a:pPr lvl="0">
              <a:defRPr/>
            </a:pPr>
            <a:endParaRPr/>
          </a:p>
        </p:txBody>
      </p:sp>
      <p:cxnSp>
        <p:nvCxnSpPr>
          <p:cNvPr id="106" name="Google Shape;106;p17"/>
          <p:cNvCxnSpPr>
            <a:cxnSpLocks/>
          </p:cNvCxnSpPr>
          <p:nvPr/>
        </p:nvCxnSpPr>
        <p:spPr bwMode="auto">
          <a:xfrm flipV="1">
            <a:off x="4839940" y="1672888"/>
            <a:ext cx="13448160" cy="17484"/>
          </a:xfrm>
          <a:prstGeom prst="straightConnector1">
            <a:avLst/>
          </a:prstGeom>
          <a:noFill/>
          <a:ln w="9525" cap="flat" cmpd="sng">
            <a:solidFill>
              <a:srgbClr val="CCCCCC"/>
            </a:solidFill>
            <a:prstDash val="solid"/>
            <a:round/>
            <a:headEnd type="none" w="med" len="med"/>
            <a:tailEnd type="none" w="med" len="med"/>
          </a:ln>
        </p:spPr>
      </p:cxnSp>
      <p:pic>
        <p:nvPicPr>
          <p:cNvPr id="9" name="Grafik 8"/>
          <p:cNvPicPr>
            <a:picLocks noChangeAspect="1"/>
          </p:cNvPicPr>
          <p:nvPr userDrawn="1"/>
        </p:nvPicPr>
        <p:blipFill>
          <a:blip r:embed="rId2"/>
          <a:stretch/>
        </p:blipFill>
        <p:spPr bwMode="auto">
          <a:xfrm>
            <a:off x="8656481" y="411206"/>
            <a:ext cx="975038" cy="836908"/>
          </a:xfrm>
          <a:prstGeom prst="rect">
            <a:avLst/>
          </a:prstGeom>
        </p:spPr>
      </p:pic>
      <p:sp>
        <p:nvSpPr>
          <p:cNvPr id="2" name="Rechtwinkliges Dreieck 1"/>
          <p:cNvSpPr/>
          <p:nvPr userDrawn="1"/>
        </p:nvSpPr>
        <p:spPr bwMode="auto">
          <a:xfrm rot="16199998">
            <a:off x="17320844" y="9342236"/>
            <a:ext cx="836912" cy="10974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sz="3600"/>
          </a:p>
        </p:txBody>
      </p:sp>
      <p:sp>
        <p:nvSpPr>
          <p:cNvPr id="4" name="Rechteck 3"/>
          <p:cNvSpPr/>
          <p:nvPr userDrawn="1"/>
        </p:nvSpPr>
        <p:spPr bwMode="auto">
          <a:xfrm>
            <a:off x="736601" y="1143001"/>
            <a:ext cx="975038" cy="98297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sz="3600">
              <a:solidFill>
                <a:schemeClr val="bg1"/>
              </a:solidFill>
            </a:endParaRPr>
          </a:p>
        </p:txBody>
      </p:sp>
      <p:sp>
        <p:nvSpPr>
          <p:cNvPr id="14" name="Google Shape;107;p17"/>
          <p:cNvSpPr txBox="1">
            <a:spLocks noGrp="1"/>
          </p:cNvSpPr>
          <p:nvPr>
            <p:ph type="sldNum" idx="12"/>
          </p:nvPr>
        </p:nvSpPr>
        <p:spPr bwMode="auto">
          <a:xfrm>
            <a:off x="17269348" y="9647080"/>
            <a:ext cx="1097400" cy="7872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a:t>
            </a:fld>
            <a:endParaRPr lang="de-DE"/>
          </a:p>
        </p:txBody>
      </p:sp>
      <p:grpSp>
        <p:nvGrpSpPr>
          <p:cNvPr id="18" name="Google Shape;138;p20"/>
          <p:cNvGrpSpPr>
            <a:grpSpLocks noChangeAspect="1"/>
          </p:cNvGrpSpPr>
          <p:nvPr userDrawn="1"/>
        </p:nvGrpSpPr>
        <p:grpSpPr bwMode="auto">
          <a:xfrm flipH="1">
            <a:off x="956156" y="1357086"/>
            <a:ext cx="543384" cy="543384"/>
            <a:chOff x="2594050" y="1631825"/>
            <a:chExt cx="439625" cy="439625"/>
          </a:xfrm>
          <a:solidFill>
            <a:schemeClr val="bg1"/>
          </a:solidFill>
        </p:grpSpPr>
        <p:sp>
          <p:nvSpPr>
            <p:cNvPr id="19" name="Google Shape;139;p20"/>
            <p:cNvSpPr/>
            <p:nvPr/>
          </p:nvSpPr>
          <p:spPr bwMode="auto">
            <a:xfrm>
              <a:off x="2594050" y="1883300"/>
              <a:ext cx="188175" cy="188150"/>
            </a:xfrm>
            <a:custGeom>
              <a:avLst/>
              <a:gdLst/>
              <a:ahLst/>
              <a:cxnLst/>
              <a:rect l="l" t="t" r="r" b="b"/>
              <a:pathLst>
                <a:path w="7527" h="7526" fill="none" stroke="1" extrusionOk="0">
                  <a:moveTo>
                    <a:pt x="5992" y="0"/>
                  </a:moveTo>
                  <a:lnTo>
                    <a:pt x="537" y="6430"/>
                  </a:lnTo>
                  <a:lnTo>
                    <a:pt x="1" y="7526"/>
                  </a:lnTo>
                  <a:lnTo>
                    <a:pt x="1097" y="6990"/>
                  </a:lnTo>
                  <a:lnTo>
                    <a:pt x="7526" y="1534"/>
                  </a:lnTo>
                  <a:lnTo>
                    <a:pt x="5992" y="0"/>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sz="3600"/>
            </a:p>
          </p:txBody>
        </p:sp>
        <p:sp>
          <p:nvSpPr>
            <p:cNvPr id="20" name="Google Shape;140;p20"/>
            <p:cNvSpPr/>
            <p:nvPr/>
          </p:nvSpPr>
          <p:spPr bwMode="auto">
            <a:xfrm>
              <a:off x="2857700" y="1631825"/>
              <a:ext cx="175975" cy="176000"/>
            </a:xfrm>
            <a:custGeom>
              <a:avLst/>
              <a:gdLst/>
              <a:ahLst/>
              <a:cxnLst/>
              <a:rect l="l" t="t" r="r" b="b"/>
              <a:pathLst>
                <a:path w="7039" h="7040" fill="none" stroke="1"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sz="3600"/>
            </a:p>
          </p:txBody>
        </p:sp>
        <p:sp>
          <p:nvSpPr>
            <p:cNvPr id="21" name="Google Shape;141;p20"/>
            <p:cNvSpPr/>
            <p:nvPr/>
          </p:nvSpPr>
          <p:spPr bwMode="auto">
            <a:xfrm>
              <a:off x="2662850" y="1699400"/>
              <a:ext cx="303250" cy="303250"/>
            </a:xfrm>
            <a:custGeom>
              <a:avLst/>
              <a:gdLst/>
              <a:ahLst/>
              <a:cxnLst/>
              <a:rect l="l" t="t" r="r" b="b"/>
              <a:pathLst>
                <a:path w="12130" h="12130" fill="none" stroke="1"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sz="3600"/>
            </a:p>
          </p:txBody>
        </p:sp>
        <p:sp>
          <p:nvSpPr>
            <p:cNvPr id="22" name="Google Shape;142;p20"/>
            <p:cNvSpPr/>
            <p:nvPr/>
          </p:nvSpPr>
          <p:spPr bwMode="auto">
            <a:xfrm>
              <a:off x="2814911" y="1754062"/>
              <a:ext cx="49950" cy="49950"/>
            </a:xfrm>
            <a:custGeom>
              <a:avLst/>
              <a:gdLst/>
              <a:ahLst/>
              <a:cxnLst/>
              <a:rect l="l" t="t" r="r" b="b"/>
              <a:pathLst>
                <a:path w="1998" h="1998" fill="none" stroke="1" extrusionOk="0">
                  <a:moveTo>
                    <a:pt x="1" y="1997"/>
                  </a:moveTo>
                  <a:lnTo>
                    <a:pt x="1998" y="0"/>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sz="3600"/>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 1 column" preserve="0" showMasterPhAnim="0" userDrawn="1">
  <p:cSld name="1_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4638" y="9457337"/>
            <a:ext cx="18288000" cy="836910"/>
          </a:xfrm>
          <a:prstGeom prst="rect">
            <a:avLst/>
          </a:prstGeom>
          <a:solidFill>
            <a:schemeClr val="bg1">
              <a:lumMod val="95000"/>
            </a:schemeClr>
          </a:solidFill>
          <a:ln>
            <a:noFill/>
          </a:ln>
        </p:spPr>
        <p:txBody>
          <a:bodyPr spcFirstLastPara="1" wrap="square" lIns="182850" tIns="182850" rIns="182850" bIns="182850" anchor="ctr" anchorCtr="0">
            <a:noAutofit/>
          </a:bodyPr>
          <a:lstStyle/>
          <a:p>
            <a:pPr marL="0" lvl="0" indent="0" algn="l">
              <a:spcBef>
                <a:spcPts val="0"/>
              </a:spcBef>
              <a:spcAft>
                <a:spcPts val="0"/>
              </a:spcAft>
              <a:buNone/>
              <a:defRPr/>
            </a:pPr>
            <a:endParaRPr sz="3600"/>
          </a:p>
        </p:txBody>
      </p:sp>
      <p:sp>
        <p:nvSpPr>
          <p:cNvPr id="105" name="Google Shape;105;p17"/>
          <p:cNvSpPr txBox="1">
            <a:spLocks noGrp="1"/>
          </p:cNvSpPr>
          <p:nvPr>
            <p:ph type="body" idx="1"/>
          </p:nvPr>
        </p:nvSpPr>
        <p:spPr bwMode="auto">
          <a:xfrm>
            <a:off x="1933824" y="2125972"/>
            <a:ext cx="14411076" cy="6681312"/>
          </a:xfrm>
          <a:prstGeom prst="rect">
            <a:avLst/>
          </a:prstGeom>
        </p:spPr>
        <p:txBody>
          <a:bodyPr spcFirstLastPara="1" wrap="square" lIns="91425" tIns="91425" rIns="91425" bIns="91425" anchor="t" anchorCtr="0">
            <a:noAutofit/>
          </a:bodyPr>
          <a:lstStyle>
            <a:lvl1pPr marL="533400" lvl="0" indent="-533400">
              <a:spcBef>
                <a:spcPts val="1200"/>
              </a:spcBef>
              <a:spcAft>
                <a:spcPts val="0"/>
              </a:spcAft>
              <a:buClr>
                <a:schemeClr val="accent5">
                  <a:lumMod val="60000"/>
                  <a:lumOff val="40000"/>
                </a:schemeClr>
              </a:buClr>
              <a:buSzPct val="80000"/>
              <a:buFont typeface="Quattrocento Sans"/>
              <a:buChar char="◉"/>
              <a:defRPr sz="3600">
                <a:solidFill>
                  <a:schemeClr val="tx1"/>
                </a:solidFill>
                <a:latin typeface="Arial Narrow"/>
                <a:ea typeface="Arial Narrow"/>
                <a:cs typeface="Arial Narrow"/>
              </a:defRPr>
            </a:lvl1pPr>
            <a:lvl2pPr marL="1828800" lvl="1" indent="-711200">
              <a:spcBef>
                <a:spcPts val="3200"/>
              </a:spcBef>
              <a:spcAft>
                <a:spcPts val="0"/>
              </a:spcAft>
              <a:buClr>
                <a:srgbClr val="FFCD00"/>
              </a:buClr>
              <a:buSzPts val="2000"/>
              <a:buFont typeface="Quattrocento Sans"/>
              <a:buChar char="○"/>
              <a:defRPr sz="4000">
                <a:latin typeface="Quattrocento Sans"/>
                <a:ea typeface="Quattrocento Sans"/>
                <a:cs typeface="Quattrocento Sans"/>
              </a:defRPr>
            </a:lvl2pPr>
            <a:lvl3pPr marL="2743200" lvl="2" indent="-711200">
              <a:spcBef>
                <a:spcPts val="3200"/>
              </a:spcBef>
              <a:spcAft>
                <a:spcPts val="0"/>
              </a:spcAft>
              <a:buClr>
                <a:srgbClr val="FFCD00"/>
              </a:buClr>
              <a:buSzPts val="2000"/>
              <a:buFont typeface="Quattrocento Sans"/>
              <a:buChar char="■"/>
              <a:defRPr sz="4000">
                <a:latin typeface="Quattrocento Sans"/>
                <a:ea typeface="Quattrocento Sans"/>
                <a:cs typeface="Quattrocento Sans"/>
              </a:defRPr>
            </a:lvl3pPr>
            <a:lvl4pPr marL="3657600" lvl="3"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4pPr>
            <a:lvl5pPr marL="4572000" lvl="4"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5pPr>
            <a:lvl6pPr marL="5486400" lvl="5"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6pPr>
            <a:lvl7pPr marL="6400800" lvl="6"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7pPr>
            <a:lvl8pPr marL="7315200" lvl="7"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8pPr>
            <a:lvl9pPr marL="8229600" lvl="8" indent="-685800">
              <a:spcBef>
                <a:spcPts val="3200"/>
              </a:spcBef>
              <a:spcAft>
                <a:spcPts val="3200"/>
              </a:spcAft>
              <a:buClr>
                <a:srgbClr val="FFCD00"/>
              </a:buClr>
              <a:buSzPts val="1800"/>
              <a:buFont typeface="Quattrocento Sans"/>
              <a:buChar char="■"/>
              <a:defRPr sz="3600">
                <a:latin typeface="Quattrocento Sans"/>
                <a:ea typeface="Quattrocento Sans"/>
                <a:cs typeface="Quattrocento Sans"/>
              </a:defRPr>
            </a:lvl9pPr>
          </a:lstStyle>
          <a:p>
            <a:pPr>
              <a:defRPr/>
            </a:pPr>
            <a:endParaRPr/>
          </a:p>
        </p:txBody>
      </p:sp>
      <p:pic>
        <p:nvPicPr>
          <p:cNvPr id="9" name="Grafik 8"/>
          <p:cNvPicPr>
            <a:picLocks noChangeAspect="1"/>
          </p:cNvPicPr>
          <p:nvPr userDrawn="1"/>
        </p:nvPicPr>
        <p:blipFill>
          <a:blip r:embed="rId2"/>
          <a:stretch/>
        </p:blipFill>
        <p:spPr bwMode="auto">
          <a:xfrm>
            <a:off x="8656481" y="411206"/>
            <a:ext cx="975038" cy="836908"/>
          </a:xfrm>
          <a:prstGeom prst="rect">
            <a:avLst/>
          </a:prstGeom>
        </p:spPr>
      </p:pic>
      <p:sp>
        <p:nvSpPr>
          <p:cNvPr id="2" name="Rechtwinkliges Dreieck 1"/>
          <p:cNvSpPr/>
          <p:nvPr userDrawn="1"/>
        </p:nvSpPr>
        <p:spPr bwMode="auto">
          <a:xfrm rot="16199998">
            <a:off x="17320844" y="9342236"/>
            <a:ext cx="836912" cy="10974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sz="3600"/>
          </a:p>
        </p:txBody>
      </p:sp>
      <p:sp>
        <p:nvSpPr>
          <p:cNvPr id="4" name="Rechteck 3"/>
          <p:cNvSpPr/>
          <p:nvPr userDrawn="1"/>
        </p:nvSpPr>
        <p:spPr bwMode="auto">
          <a:xfrm>
            <a:off x="736601" y="1143001"/>
            <a:ext cx="975038" cy="98297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sz="3600">
              <a:solidFill>
                <a:schemeClr val="bg1"/>
              </a:solidFill>
            </a:endParaRPr>
          </a:p>
        </p:txBody>
      </p:sp>
      <p:sp>
        <p:nvSpPr>
          <p:cNvPr id="5" name="Textplatzhalter 5"/>
          <p:cNvSpPr txBox="1"/>
          <p:nvPr userDrawn="1"/>
        </p:nvSpPr>
        <p:spPr bwMode="auto">
          <a:xfrm>
            <a:off x="1948113" y="2125975"/>
            <a:ext cx="14382498" cy="6681310"/>
          </a:xfrm>
          <a:prstGeom prst="rect">
            <a:avLst/>
          </a:prstGeom>
          <a:solidFill>
            <a:schemeClr val="bg1">
              <a:lumMod val="95000"/>
            </a:schemeClr>
          </a:solidFill>
          <a:ln w="19050">
            <a:solidFill>
              <a:srgbClr val="8C8E88"/>
            </a:solidFill>
            <a:prstDash val="sysDash"/>
          </a:ln>
          <a:effectLst>
            <a:outerShdw blurRad="50800" dist="38100" dir="5400000" algn="t" rotWithShape="0">
              <a:prstClr val="black">
                <a:alpha val="40000"/>
              </a:prstClr>
            </a:outerShdw>
          </a:effectLst>
        </p:spPr>
        <p:txBody>
          <a:bodyPr anchor="t"/>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a:lstStyle>
          <a:p>
            <a:pPr algn="ctr">
              <a:defRPr/>
            </a:pPr>
            <a:endParaRPr lang="de-DE" sz="5600"/>
          </a:p>
          <a:p>
            <a:pPr algn="ctr">
              <a:defRPr/>
            </a:pPr>
            <a:endParaRPr lang="de-DE" sz="5600"/>
          </a:p>
        </p:txBody>
      </p:sp>
      <p:sp>
        <p:nvSpPr>
          <p:cNvPr id="6" name="Google Shape;103;p17"/>
          <p:cNvSpPr/>
          <p:nvPr userDrawn="1"/>
        </p:nvSpPr>
        <p:spPr bwMode="auto">
          <a:xfrm>
            <a:off x="1527922" y="1803582"/>
            <a:ext cx="811800" cy="811800"/>
          </a:xfrm>
          <a:prstGeom prst="ellipse">
            <a:avLst/>
          </a:prstGeom>
          <a:solidFill>
            <a:srgbClr val="7E0D31"/>
          </a:solidFill>
          <a:ln>
            <a:noFill/>
          </a:ln>
        </p:spPr>
        <p:txBody>
          <a:bodyPr spcFirstLastPara="1" wrap="square" lIns="182850" tIns="182850" rIns="182850" bIns="182850" anchor="ctr" anchorCtr="0">
            <a:noAutofit/>
          </a:bodyPr>
          <a:lstStyle/>
          <a:p>
            <a:pPr marL="0" lvl="0" indent="0" algn="l">
              <a:spcBef>
                <a:spcPts val="0"/>
              </a:spcBef>
              <a:spcAft>
                <a:spcPts val="0"/>
              </a:spcAft>
              <a:buNone/>
              <a:defRPr/>
            </a:pPr>
            <a:endParaRPr sz="3600"/>
          </a:p>
        </p:txBody>
      </p:sp>
      <p:sp>
        <p:nvSpPr>
          <p:cNvPr id="13" name="Google Shape;107;p17"/>
          <p:cNvSpPr txBox="1">
            <a:spLocks noGrp="1"/>
          </p:cNvSpPr>
          <p:nvPr>
            <p:ph type="sldNum" idx="12"/>
          </p:nvPr>
        </p:nvSpPr>
        <p:spPr bwMode="auto">
          <a:xfrm>
            <a:off x="17269348" y="9647080"/>
            <a:ext cx="1097400" cy="7872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a:t>
            </a:fld>
            <a:endParaRPr lang="de-DE"/>
          </a:p>
        </p:txBody>
      </p:sp>
      <p:sp>
        <p:nvSpPr>
          <p:cNvPr id="3" name="Textfeld 2"/>
          <p:cNvSpPr txBox="1"/>
          <p:nvPr userDrawn="1"/>
        </p:nvSpPr>
        <p:spPr bwMode="auto">
          <a:xfrm>
            <a:off x="104146" y="9540848"/>
            <a:ext cx="7294524" cy="707886"/>
          </a:xfrm>
          <a:prstGeom prst="rect">
            <a:avLst/>
          </a:prstGeom>
          <a:noFill/>
        </p:spPr>
        <p:txBody>
          <a:bodyPr wrap="square" rtlCol="0">
            <a:spAutoFit/>
          </a:bodyPr>
          <a:lstStyle/>
          <a:p>
            <a:pPr algn="l">
              <a:defRPr/>
            </a:pPr>
            <a:r>
              <a:rPr lang="de-DE" sz="2000" b="0">
                <a:solidFill>
                  <a:srgbClr val="C00000"/>
                </a:solidFill>
                <a:latin typeface="Arial Narrow"/>
              </a:rPr>
              <a:t>Titel</a:t>
            </a:r>
            <a:endParaRPr lang="de-DE" sz="2000">
              <a:solidFill>
                <a:srgbClr val="C00000"/>
              </a:solidFill>
              <a:latin typeface="Arial Narrow"/>
            </a:endParaRPr>
          </a:p>
          <a:p>
            <a:pPr algn="l">
              <a:defRPr/>
            </a:pPr>
            <a:r>
              <a:rPr lang="de-DE" sz="2000">
                <a:solidFill>
                  <a:srgbClr val="C00000"/>
                </a:solidFill>
                <a:latin typeface="Arial Narrow"/>
              </a:rPr>
              <a:t>Tutorname</a:t>
            </a:r>
            <a:endParaRPr/>
          </a:p>
        </p:txBody>
      </p:sp>
      <p:sp>
        <p:nvSpPr>
          <p:cNvPr id="7" name="Textfeld 6"/>
          <p:cNvSpPr txBox="1"/>
          <p:nvPr userDrawn="1"/>
        </p:nvSpPr>
        <p:spPr bwMode="auto">
          <a:xfrm>
            <a:off x="6883216" y="9594932"/>
            <a:ext cx="2590800" cy="400110"/>
          </a:xfrm>
          <a:prstGeom prst="rect">
            <a:avLst/>
          </a:prstGeom>
          <a:noFill/>
        </p:spPr>
        <p:txBody>
          <a:bodyPr wrap="square" rtlCol="0">
            <a:spAutoFit/>
          </a:bodyPr>
          <a:lstStyle/>
          <a:p>
            <a:pPr algn="l">
              <a:defRPr/>
            </a:pPr>
            <a:r>
              <a:rPr lang="de-DE" sz="2000">
                <a:solidFill>
                  <a:srgbClr val="C00000"/>
                </a:solidFill>
                <a:latin typeface="Arial Narrow"/>
              </a:rPr>
              <a:t>Datum: XXX</a:t>
            </a:r>
            <a:endParaRPr sz="3600"/>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theme" Target="../theme/theme1.xml"/><Relationship Id="rId21"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2" name="Titelplatzhalter 1"/>
          <p:cNvSpPr>
            <a:spLocks noGrp="1"/>
          </p:cNvSpPr>
          <p:nvPr>
            <p:ph type="title"/>
          </p:nvPr>
        </p:nvSpPr>
        <p:spPr bwMode="auto">
          <a:xfrm>
            <a:off x="1944000" y="1322140"/>
            <a:ext cx="14400000" cy="1260000"/>
          </a:xfrm>
          <a:prstGeom prst="rect">
            <a:avLst/>
          </a:prstGeom>
        </p:spPr>
        <p:txBody>
          <a:bodyPr vert="horz" lIns="91440" tIns="45720" rIns="91440" bIns="45720" rtlCol="0" anchor="ctr" anchorCtr="1">
            <a:normAutofit/>
          </a:bodyPr>
          <a:lstStyle/>
          <a:p>
            <a:pPr>
              <a:defRPr/>
            </a:pPr>
            <a:r>
              <a:rPr lang="de-DE"/>
              <a:t>Mastertitelformat bearbeiten</a:t>
            </a:r>
            <a:endParaRPr/>
          </a:p>
        </p:txBody>
      </p:sp>
      <p:sp>
        <p:nvSpPr>
          <p:cNvPr id="3" name="Textplatzhalter 2"/>
          <p:cNvSpPr>
            <a:spLocks noGrp="1"/>
          </p:cNvSpPr>
          <p:nvPr>
            <p:ph type="body" idx="1"/>
          </p:nvPr>
        </p:nvSpPr>
        <p:spPr bwMode="auto">
          <a:xfrm>
            <a:off x="1944000" y="2769110"/>
            <a:ext cx="14400000" cy="6480000"/>
          </a:xfrm>
          <a:prstGeom prst="rect">
            <a:avLst/>
          </a:prstGeom>
        </p:spPr>
        <p:txBody>
          <a:bodyPr vert="horz" lIns="91440" tIns="45720" rIns="91440" bIns="45720" rtlCol="0">
            <a:normAutofit/>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18" name="Freeform 13"/>
          <p:cNvSpPr/>
          <p:nvPr userDrawn="1"/>
        </p:nvSpPr>
        <p:spPr bwMode="auto">
          <a:xfrm>
            <a:off x="7687907" y="30602"/>
            <a:ext cx="2912186" cy="1012162"/>
          </a:xfrm>
          <a:custGeom>
            <a:avLst/>
            <a:gdLst/>
            <a:ahLst/>
            <a:cxnLst/>
            <a:rect l="l" t="t" r="r" b="b"/>
            <a:pathLst>
              <a:path w="2912186" h="1012162" fill="norm" stroke="1" extrusionOk="0">
                <a:moveTo>
                  <a:pt x="0" y="0"/>
                </a:moveTo>
                <a:lnTo>
                  <a:pt x="2912186" y="0"/>
                </a:lnTo>
                <a:lnTo>
                  <a:pt x="2912186" y="1012162"/>
                </a:lnTo>
                <a:lnTo>
                  <a:pt x="0" y="1012162"/>
                </a:lnTo>
                <a:lnTo>
                  <a:pt x="0" y="0"/>
                </a:lnTo>
                <a:close/>
              </a:path>
            </a:pathLst>
          </a:custGeom>
          <a:blipFill>
            <a:blip r:embed="rId21"/>
            <a:stretch/>
          </a:blipFill>
        </p:spPr>
        <p:txBody>
          <a:bodyPr/>
          <a:lstStyle/>
          <a:p>
            <a:pPr>
              <a:defRPr/>
            </a:pPr>
            <a:endParaRPr lang="de-D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de-DE"/>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38.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39.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 Id="rId3" Type="http://schemas.openxmlformats.org/officeDocument/2006/relationships/image" Target="../media/image40.png"/><Relationship Id="rId4" Type="http://schemas.openxmlformats.org/officeDocument/2006/relationships/hyperlink" Target="https://www.notion.so/V2-Matrix-Algebra-on-Moodle-b52b32dc74394a40858f0303c39a2211" TargetMode="External"/><Relationship Id="rId5" Type="http://schemas.openxmlformats.org/officeDocument/2006/relationships/hyperlink" Target="https://www.notion.so/V3-WDH-Reprise-correlation-t-test-linear-regression-ANOVA-4c1320cdf0ba4faca9a0048dd1fd2568" TargetMode="External"/><Relationship Id="rId6" Type="http://schemas.openxmlformats.org/officeDocument/2006/relationships/hyperlink" Target="https://www.notion.so/V4-The-general-linear-model-how-we-use-it-for-t-test-regression-and-ANOVA-2e711ed903584d5490adde120755e00e" TargetMode="External"/><Relationship Id="rId7" Type="http://schemas.openxmlformats.org/officeDocument/2006/relationships/hyperlink" Target="https://www.notion.so/V5-Expanding-on-regression-Moderation-mediation-bootstrap-5ff65a2e66c8423fa3e9d12e18d7952f" TargetMode="External"/><Relationship Id="rId8" Type="http://schemas.openxmlformats.org/officeDocument/2006/relationships/hyperlink" Target="https://www.notion.so/V6-Analysis-of-covariance-ANOVA-1f058fa307ae4a3e8fdc8600cbc32524" TargetMode="External"/><Relationship Id="rId9" Type="http://schemas.openxmlformats.org/officeDocument/2006/relationships/hyperlink" Target="https://www.notion.so/V7-Expanding-on-ANOVA-repeated-measures-ad5777894862433e9233cc41eb0d409b" TargetMode="External"/><Relationship Id="rId10" Type="http://schemas.openxmlformats.org/officeDocument/2006/relationships/hyperlink" Target="https://www.notion.so/V8-Multilevel-Models-ab5822cd4f0f4357a2d47a4d611fa78d" TargetMode="External"/><Relationship Id="rId11" Type="http://schemas.openxmlformats.org/officeDocument/2006/relationships/hyperlink" Target="https://www.notion.so/V10-Data-Screening-outliers-dealing-with-missing-data-79f659746cf6420cbec8ca0a52c75180" TargetMode="External"/><Relationship Id="rId12" Type="http://schemas.openxmlformats.org/officeDocument/2006/relationships/hyperlink" Target="https://www.notion.so/V11-Logistic-Regression-176dc99bd77d4f669dfa9d48c8a8ac8d" TargetMode="External"/><Relationship Id="rId13" Type="http://schemas.openxmlformats.org/officeDocument/2006/relationships/hyperlink" Target="https://www.notion.so/V12-A-brief-introduction-to-Bayesian-statistics-I-b9ce47dd4afc48758cbbfe9b4db3831c" TargetMode="External"/><Relationship Id="rId14" Type="http://schemas.openxmlformats.org/officeDocument/2006/relationships/hyperlink" Target="https://www.notion.so/V13-A-brief-introduction-to-Bayesian-statistics-II-d2594dc036074bf4a73fc4c6e04be2c5" TargetMode="Externa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 Id="rId3" Type="http://schemas.openxmlformats.org/officeDocument/2006/relationships/image" Target="../media/image40.png"/><Relationship Id="rId4" Type="http://schemas.openxmlformats.org/officeDocument/2006/relationships/hyperlink" Target="https://www.notion.so/V2-Matrix-Algebra-on-Moodle-b52b32dc74394a40858f0303c39a2211" TargetMode="External"/><Relationship Id="rId5" Type="http://schemas.openxmlformats.org/officeDocument/2006/relationships/hyperlink" Target="https://www.notion.so/V11-Logistic-Regression-176dc99bd77d4f669dfa9d48c8a8ac8d" TargetMode="External"/><Relationship Id="rId6" Type="http://schemas.openxmlformats.org/officeDocument/2006/relationships/hyperlink" Target="https://www.notion.so/V10-Data-Screening-outliers-dealing-with-missing-data-79f659746cf6420cbec8ca0a52c75180" TargetMode="External"/><Relationship Id="rId7" Type="http://schemas.openxmlformats.org/officeDocument/2006/relationships/hyperlink" Target="https://www.notion.so/V13-A-brief-introduction-to-Bayesian-statistics-II-d2594dc036074bf4a73fc4c6e04be2c5" TargetMode="External"/><Relationship Id="rId8" Type="http://schemas.openxmlformats.org/officeDocument/2006/relationships/hyperlink" Target="https://www.notion.so/V7-Expanding-on-ANOVA-repeated-measures-ad5777894862433e9233cc41eb0d409b" TargetMode="External"/><Relationship Id="rId9" Type="http://schemas.openxmlformats.org/officeDocument/2006/relationships/hyperlink" Target="https://www.notion.so/V8-Multilevel-Models-ab5822cd4f0f4357a2d47a4d611fa78d" TargetMode="External"/><Relationship Id="rId10" Type="http://schemas.openxmlformats.org/officeDocument/2006/relationships/hyperlink" Target="https://www.notion.so/V4-The-general-linear-model-how-we-use-it-for-t-test-regression-and-ANOVA-2e711ed903584d5490adde120755e00e" TargetMode="External"/><Relationship Id="rId11" Type="http://schemas.openxmlformats.org/officeDocument/2006/relationships/hyperlink" Target="https://www.notion.so/V5-Expanding-on-regression-Moderation-mediation-bootstrap-5ff65a2e66c8423fa3e9d12e18d7952f" TargetMode="External"/><Relationship Id="rId12" Type="http://schemas.openxmlformats.org/officeDocument/2006/relationships/hyperlink" Target="https://www.notion.so/V6-Analysis-of-covariance-ANOVA-1f058fa307ae4a3e8fdc8600cbc32524" TargetMode="External"/><Relationship Id="rId13" Type="http://schemas.openxmlformats.org/officeDocument/2006/relationships/hyperlink" Target="https://www.notion.so/V12-A-brief-introduction-to-Bayesian-statistics-I-b9ce47dd4afc48758cbbfe9b4db3831c" TargetMode="External"/><Relationship Id="rId14" Type="http://schemas.openxmlformats.org/officeDocument/2006/relationships/hyperlink" Target="https://www.notion.so/V3-WDH-Reprise-correlation-t-test-linear-regression-ANOVA-4c1320cdf0ba4faca9a0048dd1fd2568" TargetMode="Externa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41.png"/><Relationship Id="rId4" Type="http://schemas.openxmlformats.org/officeDocument/2006/relationships/image" Target="../media/image42.jpg"/><Relationship Id="rId5" Type="http://schemas.openxmlformats.org/officeDocument/2006/relationships/image" Target="../media/image43.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44.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45.jp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46.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47.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48.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 Id="rId3" Type="http://schemas.openxmlformats.org/officeDocument/2006/relationships/image" Target="../media/image49.png"/><Relationship Id="rId4" Type="http://schemas.openxmlformats.org/officeDocument/2006/relationships/image" Target="../media/image50.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 Id="rId3" Type="http://schemas.openxmlformats.org/officeDocument/2006/relationships/hyperlink" Target="https://apps.ankiweb.net/" TargetMode="External"/><Relationship Id="rId4" Type="http://schemas.openxmlformats.org/officeDocument/2006/relationships/hyperlink" Target="https://www.remnote.com/" TargetMode="External"/><Relationship Id="rId5" Type="http://schemas.openxmlformats.org/officeDocument/2006/relationships/hyperlink" Target="https://zorbi.app/" TargetMode="External"/><Relationship Id="rId6" Type="http://schemas.openxmlformats.org/officeDocument/2006/relationships/hyperlink" Target="https://quizlet.com/de" TargetMode="Externa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hyperlink" Target="https://lstemplates.notion.site/Leuphana-Templates-abb41bc9039a4263bfefc55c6701b77d" TargetMode="Externa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hyperlink" Target="https://www.youtube.com/watch?v=c47HpdeYJgA" TargetMode="Externa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hyperlink" Target="https://sustainabilitymethods.org/index.php/Mindmap" TargetMode="External"/><Relationship Id="rId4" Type="http://schemas.openxmlformats.org/officeDocument/2006/relationships/hyperlink" Target="https://sustainabilitymethods.org/index.php/Feynman_Method" TargetMode="External"/><Relationship Id="rId5" Type="http://schemas.openxmlformats.org/officeDocument/2006/relationships/hyperlink" Target="https://sustainabilitymethods.org/index.php/Anki" TargetMode="External"/><Relationship Id="rId6" Type="http://schemas.openxmlformats.org/officeDocument/2006/relationships/hyperlink" Target="https://sustainabilitymethods.org/index.php/AI_in_education" TargetMode="External"/><Relationship Id="rId7" Type="http://schemas.openxmlformats.org/officeDocument/2006/relationships/hyperlink" Target="https://sustainabilitymethods.org/index.php/Learning_for_exams" TargetMode="External"/><Relationship Id="rId8" Type="http://schemas.openxmlformats.org/officeDocument/2006/relationships/hyperlink" Target="https://sustainabilitymethods.org/index.php/Overcoming_Exam_Anxiety" TargetMode="External"/><Relationship Id="rId9" Type="http://schemas.openxmlformats.org/officeDocument/2006/relationships/hyperlink" Target="https://sustainabilitymethods.org/index.php/Coping_with_psychological_problems" TargetMode="External"/><Relationship Id="rId10" Type="http://schemas.openxmlformats.org/officeDocument/2006/relationships/hyperlink" Target="https://sustainabilitymethods.org/index.php/Co-Working" TargetMode="Externa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Titel 1"/>
          <p:cNvSpPr>
            <a:spLocks noGrp="1"/>
          </p:cNvSpPr>
          <p:nvPr>
            <p:ph type="ctrTitle"/>
          </p:nvPr>
        </p:nvSpPr>
        <p:spPr bwMode="auto"/>
        <p:txBody>
          <a:bodyPr/>
          <a:lstStyle/>
          <a:p>
            <a:pPr>
              <a:defRPr/>
            </a:pPr>
            <a:r>
              <a:rPr lang="en-GB"/>
              <a:t>Learning for exams</a:t>
            </a:r>
            <a:endParaRPr/>
          </a:p>
        </p:txBody>
      </p:sp>
      <p:sp>
        <p:nvSpPr>
          <p:cNvPr id="3" name="Untertitel 2"/>
          <p:cNvSpPr>
            <a:spLocks noGrp="1"/>
          </p:cNvSpPr>
          <p:nvPr>
            <p:ph type="subTitle" idx="1"/>
          </p:nvPr>
        </p:nvSpPr>
        <p:spPr bwMode="auto"/>
        <p:txBody>
          <a:bodyPr/>
          <a:lstStyle/>
          <a:p>
            <a:pPr>
              <a:defRPr/>
            </a:pPr>
            <a:r>
              <a:rPr lang="de-DE"/>
              <a:t>Tutor*in: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Agenda</a:t>
            </a:r>
            <a:endParaRPr/>
          </a:p>
        </p:txBody>
      </p:sp>
      <p:sp>
        <p:nvSpPr>
          <p:cNvPr id="3" name="Inhaltsplatzhalter 2"/>
          <p:cNvSpPr>
            <a:spLocks noGrp="1"/>
          </p:cNvSpPr>
          <p:nvPr>
            <p:ph idx="1"/>
          </p:nvPr>
        </p:nvSpPr>
        <p:spPr bwMode="auto"/>
        <p:txBody>
          <a:bodyPr>
            <a:normAutofit/>
          </a:bodyPr>
          <a:lstStyle/>
          <a:p>
            <a:pPr>
              <a:lnSpc>
                <a:spcPct val="150000"/>
              </a:lnSpc>
              <a:defRPr/>
            </a:pPr>
            <a:r>
              <a:rPr lang="de-DE"/>
              <a:t>Studying</a:t>
            </a:r>
            <a:r>
              <a:rPr lang="de-DE"/>
              <a:t> </a:t>
            </a:r>
            <a:r>
              <a:rPr lang="de-DE"/>
              <a:t>methods</a:t>
            </a:r>
            <a:r>
              <a:rPr lang="de-DE"/>
              <a:t> and </a:t>
            </a:r>
            <a:r>
              <a:rPr lang="de-DE"/>
              <a:t>strategies</a:t>
            </a:r>
            <a:endParaRPr lang="de-DE"/>
          </a:p>
          <a:p>
            <a:pPr>
              <a:lnSpc>
                <a:spcPct val="150000"/>
              </a:lnSpc>
              <a:defRPr/>
            </a:pPr>
            <a:r>
              <a:rPr lang="de-DE"/>
              <a:t>ANKI</a:t>
            </a:r>
            <a:endParaRPr/>
          </a:p>
          <a:p>
            <a:pPr>
              <a:lnSpc>
                <a:spcPct val="150000"/>
              </a:lnSpc>
              <a:defRPr/>
            </a:pPr>
            <a:r>
              <a:rPr lang="de-DE"/>
              <a:t>Dealing</a:t>
            </a:r>
            <a:r>
              <a:rPr lang="de-DE"/>
              <a:t> </a:t>
            </a:r>
            <a:r>
              <a:rPr lang="de-DE"/>
              <a:t>with</a:t>
            </a:r>
            <a:r>
              <a:rPr lang="de-DE"/>
              <a:t> stress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pic>
        <p:nvPicPr>
          <p:cNvPr id="4" name="Picture 2"/>
          <p:cNvPicPr>
            <a:picLocks noChangeAspect="1" noChangeArrowheads="1"/>
          </p:cNvPicPr>
          <p:nvPr/>
        </p:nvPicPr>
        <p:blipFill>
          <a:blip r:embed="rId3"/>
          <a:stretch/>
        </p:blipFill>
        <p:spPr bwMode="auto">
          <a:xfrm>
            <a:off x="6934200" y="3021498"/>
            <a:ext cx="8551843" cy="6172200"/>
          </a:xfrm>
          <a:prstGeom prst="rect">
            <a:avLst/>
          </a:prstGeom>
          <a:noFill/>
        </p:spPr>
      </p:pic>
      <p:sp>
        <p:nvSpPr>
          <p:cNvPr id="2" name="Title 1"/>
          <p:cNvSpPr>
            <a:spLocks noGrp="1"/>
          </p:cNvSpPr>
          <p:nvPr>
            <p:ph type="title"/>
          </p:nvPr>
        </p:nvSpPr>
        <p:spPr bwMode="auto"/>
        <p:txBody>
          <a:bodyPr/>
          <a:lstStyle/>
          <a:p>
            <a:pPr>
              <a:defRPr/>
            </a:pPr>
            <a:r>
              <a:rPr lang="en-GB"/>
              <a:t>Goals</a:t>
            </a:r>
            <a:endParaRPr/>
          </a:p>
        </p:txBody>
      </p:sp>
      <p:sp>
        <p:nvSpPr>
          <p:cNvPr id="3" name="Content Placeholder 2"/>
          <p:cNvSpPr>
            <a:spLocks noGrp="1"/>
          </p:cNvSpPr>
          <p:nvPr>
            <p:ph idx="1"/>
          </p:nvPr>
        </p:nvSpPr>
        <p:spPr bwMode="auto">
          <a:xfrm>
            <a:off x="1600200" y="2606499"/>
            <a:ext cx="14400000" cy="6480000"/>
          </a:xfrm>
        </p:spPr>
        <p:txBody>
          <a:bodyPr/>
          <a:lstStyle/>
          <a:p>
            <a:pPr>
              <a:lnSpc>
                <a:spcPct val="150000"/>
              </a:lnSpc>
              <a:defRPr/>
            </a:pPr>
            <a:r>
              <a:rPr lang="en-NZ" sz="3200"/>
              <a:t>Learning effectively and efficiently </a:t>
            </a:r>
            <a:r>
              <a:rPr lang="en-NZ" sz="2000">
                <a:solidFill>
                  <a:srgbClr val="000000"/>
                </a:solidFill>
                <a:latin typeface="Arial Narrow"/>
              </a:rPr>
              <a:t>→</a:t>
            </a:r>
            <a:r>
              <a:rPr lang="en-NZ" sz="2000">
                <a:solidFill>
                  <a:srgbClr val="000000"/>
                </a:solidFill>
                <a:latin typeface="Arial Narrow"/>
              </a:rPr>
              <a:t> </a:t>
            </a:r>
            <a:r>
              <a:rPr lang="en-NZ" sz="3200"/>
              <a:t>maximizing your free time :D</a:t>
            </a:r>
            <a:endParaRPr/>
          </a:p>
          <a:p>
            <a:pPr>
              <a:lnSpc>
                <a:spcPct val="150000"/>
              </a:lnSpc>
              <a:defRPr/>
            </a:pPr>
            <a:r>
              <a:rPr lang="en-NZ" sz="3200"/>
              <a:t>Understanding and keeping knowledge for a long time</a:t>
            </a:r>
            <a:endParaRPr/>
          </a:p>
          <a:p>
            <a:pPr>
              <a:lnSpc>
                <a:spcPct val="150000"/>
              </a:lnSpc>
              <a:defRPr/>
            </a:pPr>
            <a:r>
              <a:rPr lang="en-NZ" sz="3200"/>
              <a:t>Having fun!</a:t>
            </a:r>
            <a:endParaRPr/>
          </a:p>
          <a:p>
            <a:pPr>
              <a:defRPr/>
            </a:pPr>
            <a:endParaRPr lang="en-GB"/>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normAutofit/>
          </a:bodyPr>
          <a:lstStyle/>
          <a:p>
            <a:pPr>
              <a:defRPr/>
            </a:pPr>
            <a:r>
              <a:rPr lang="en-GB" sz="4800"/>
              <a:t>Are there “better” learning methods?</a:t>
            </a:r>
            <a:endParaRPr/>
          </a:p>
        </p:txBody>
      </p:sp>
      <p:sp>
        <p:nvSpPr>
          <p:cNvPr id="3" name="Content Placeholder 2"/>
          <p:cNvSpPr>
            <a:spLocks noGrp="1"/>
          </p:cNvSpPr>
          <p:nvPr>
            <p:ph idx="1"/>
          </p:nvPr>
        </p:nvSpPr>
        <p:spPr bwMode="auto">
          <a:xfrm>
            <a:off x="2514600" y="2738828"/>
            <a:ext cx="13829400" cy="6480000"/>
          </a:xfrm>
        </p:spPr>
        <p:txBody>
          <a:bodyPr anchor="ctr"/>
          <a:lstStyle/>
          <a:p>
            <a:pPr>
              <a:lnSpc>
                <a:spcPct val="150000"/>
              </a:lnSpc>
              <a:defRPr/>
            </a:pPr>
            <a:r>
              <a:rPr lang="de-DE" sz="3200" b="1"/>
              <a:t>summarizing</a:t>
            </a:r>
            <a:endParaRPr lang="de-DE" sz="3200" b="1"/>
          </a:p>
          <a:p>
            <a:pPr>
              <a:lnSpc>
                <a:spcPct val="150000"/>
              </a:lnSpc>
              <a:defRPr/>
            </a:pPr>
            <a:r>
              <a:rPr lang="de-DE" sz="3200" b="1"/>
              <a:t>highlighting</a:t>
            </a:r>
            <a:r>
              <a:rPr lang="de-DE" sz="3200" b="1"/>
              <a:t>, </a:t>
            </a:r>
            <a:r>
              <a:rPr lang="de-DE" sz="3200" b="1"/>
              <a:t>underlining</a:t>
            </a:r>
            <a:endParaRPr lang="de-DE" sz="3200" b="1"/>
          </a:p>
          <a:p>
            <a:pPr>
              <a:lnSpc>
                <a:spcPct val="150000"/>
              </a:lnSpc>
              <a:defRPr/>
            </a:pPr>
            <a:r>
              <a:rPr lang="de-DE" sz="3200" b="1"/>
              <a:t>re-reading</a:t>
            </a:r>
            <a:endParaRPr lang="de-DE" sz="3200" b="1"/>
          </a:p>
          <a:p>
            <a:pPr>
              <a:lnSpc>
                <a:spcPct val="150000"/>
              </a:lnSpc>
              <a:defRPr/>
            </a:pPr>
            <a:r>
              <a:rPr lang="de-DE" sz="3200" b="1"/>
              <a:t>cramming</a:t>
            </a:r>
            <a:endParaRPr lang="de-DE" sz="3200" b="1"/>
          </a:p>
          <a:p>
            <a:pPr>
              <a:defRPr/>
            </a:pPr>
            <a:endParaRPr lang="en-GB" sz="3200" b="1"/>
          </a:p>
        </p:txBody>
      </p:sp>
      <p:sp>
        <p:nvSpPr>
          <p:cNvPr id="5" name="Textplatzhalter 4"/>
          <p:cNvSpPr txBox="1"/>
          <p:nvPr/>
        </p:nvSpPr>
        <p:spPr bwMode="auto">
          <a:xfrm>
            <a:off x="9982200" y="5000327"/>
            <a:ext cx="4495800" cy="1542454"/>
          </a:xfrm>
          <a:prstGeom prst="rect">
            <a:avLst/>
          </a:prstGeom>
          <a:noFill/>
          <a:ln>
            <a:noFill/>
          </a:ln>
        </p:spPr>
        <p:txBody>
          <a:bodyPr spcFirstLastPara="1" wrap="square" lIns="91425" tIns="91425" rIns="91425" bIns="91425" anchor="ctr" anchorCtr="0">
            <a:noAutofit/>
          </a:bodyPr>
          <a:lstStyle>
            <a:defPPr marR="0" lvl="0" algn="l">
              <a:lnSpc>
                <a:spcPct val="100000"/>
              </a:lnSpc>
              <a:spcBef>
                <a:spcPts val="0"/>
              </a:spcBef>
              <a:spcAft>
                <a:spcPts val="0"/>
              </a:spcAft>
            </a:defPPr>
            <a:lvl1pPr marL="266700" marR="0" lvl="0" indent="-266700" algn="l">
              <a:lnSpc>
                <a:spcPct val="114999"/>
              </a:lnSpc>
              <a:spcBef>
                <a:spcPts val="600"/>
              </a:spcBef>
              <a:spcAft>
                <a:spcPts val="0"/>
              </a:spcAft>
              <a:buClr>
                <a:schemeClr val="accent5">
                  <a:lumMod val="60000"/>
                  <a:lumOff val="40000"/>
                </a:schemeClr>
              </a:buClr>
              <a:buSzPct val="80000"/>
              <a:buFont typeface="Quattrocento Sans"/>
              <a:buChar char="◉"/>
              <a:defRPr sz="1800" b="0" i="0" u="none" strike="noStrike" cap="none">
                <a:solidFill>
                  <a:schemeClr val="tx1"/>
                </a:solidFill>
                <a:latin typeface="Arial Narrow"/>
                <a:ea typeface="Arial Narrow"/>
                <a:cs typeface="Arial Narrow"/>
              </a:defRPr>
            </a:lvl1pPr>
            <a:lvl2pPr marL="914400" marR="0" lvl="1" indent="-355600" algn="l">
              <a:lnSpc>
                <a:spcPct val="114999"/>
              </a:lnSpc>
              <a:spcBef>
                <a:spcPts val="600"/>
              </a:spcBef>
              <a:spcAft>
                <a:spcPts val="0"/>
              </a:spcAft>
              <a:buClr>
                <a:schemeClr val="accent5"/>
              </a:buClr>
              <a:buSzPts val="2000"/>
              <a:buFont typeface="Arial"/>
              <a:buChar char="•"/>
              <a:defRPr sz="1600" b="0" i="0" u="none" strike="noStrike" cap="none">
                <a:solidFill>
                  <a:schemeClr val="tx1"/>
                </a:solidFill>
                <a:latin typeface="Arial Narrow"/>
                <a:ea typeface="Arial Narrow"/>
                <a:cs typeface="Quattrocento Sans"/>
              </a:defRPr>
            </a:lvl2pPr>
            <a:lvl3pPr marL="1371600" marR="0" lvl="2" indent="-355600" algn="l">
              <a:lnSpc>
                <a:spcPct val="114999"/>
              </a:lnSpc>
              <a:spcBef>
                <a:spcPts val="1600"/>
              </a:spcBef>
              <a:spcAft>
                <a:spcPts val="0"/>
              </a:spcAft>
              <a:buClr>
                <a:srgbClr val="FFCD00"/>
              </a:buClr>
              <a:buSzPts val="2000"/>
              <a:buFont typeface="Quattrocento Sans"/>
              <a:buChar char="■"/>
              <a:defRPr sz="2000" b="0" i="0" u="none" strike="noStrike" cap="none">
                <a:solidFill>
                  <a:schemeClr val="accent1"/>
                </a:solidFill>
                <a:latin typeface="Quattrocento Sans"/>
                <a:ea typeface="Quattrocento Sans"/>
                <a:cs typeface="Quattrocento Sans"/>
              </a:defRPr>
            </a:lvl3pPr>
            <a:lvl4pPr marL="1828800" marR="0" lvl="3"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4pPr>
            <a:lvl5pPr marL="2286000" marR="0" lvl="4"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5pPr>
            <a:lvl6pPr marL="2743200" marR="0" lvl="5"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6pPr>
            <a:lvl7pPr marL="3200400" marR="0" lvl="6"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7pPr>
            <a:lvl8pPr marL="3657600" marR="0" lvl="7"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8pPr>
            <a:lvl9pPr marL="4114800" marR="0" lvl="8" indent="-342900" algn="l">
              <a:lnSpc>
                <a:spcPct val="114999"/>
              </a:lnSpc>
              <a:spcBef>
                <a:spcPts val="1600"/>
              </a:spcBef>
              <a:spcAft>
                <a:spcPts val="160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9pPr>
          </a:lstStyle>
          <a:p>
            <a:pPr marL="0" indent="0" algn="ctr">
              <a:buFont typeface="Quattrocento Sans"/>
              <a:buNone/>
              <a:defRPr/>
            </a:pPr>
            <a:r>
              <a:rPr lang="de-DE" sz="3200">
                <a:latin typeface="+mn-lt"/>
              </a:rPr>
              <a:t>Are </a:t>
            </a:r>
            <a:r>
              <a:rPr lang="de-DE" sz="3200">
                <a:latin typeface="+mn-lt"/>
              </a:rPr>
              <a:t>neither</a:t>
            </a:r>
            <a:r>
              <a:rPr lang="de-DE" sz="3200">
                <a:latin typeface="+mn-lt"/>
              </a:rPr>
              <a:t> </a:t>
            </a:r>
            <a:r>
              <a:rPr lang="de-DE" sz="3200">
                <a:latin typeface="+mn-lt"/>
              </a:rPr>
              <a:t>efficient</a:t>
            </a:r>
            <a:r>
              <a:rPr lang="de-DE" sz="3200">
                <a:latin typeface="+mn-lt"/>
              </a:rPr>
              <a:t> </a:t>
            </a:r>
            <a:r>
              <a:rPr lang="de-DE" sz="3200">
                <a:latin typeface="+mn-lt"/>
              </a:rPr>
              <a:t>nor</a:t>
            </a:r>
            <a:r>
              <a:rPr lang="de-DE" sz="3200">
                <a:latin typeface="+mn-lt"/>
              </a:rPr>
              <a:t> </a:t>
            </a:r>
            <a:r>
              <a:rPr lang="de-DE" sz="3200">
                <a:latin typeface="+mn-lt"/>
              </a:rPr>
              <a:t>effective</a:t>
            </a:r>
            <a:r>
              <a:rPr lang="de-DE" sz="3200">
                <a:latin typeface="+mn-lt"/>
              </a:rPr>
              <a:t> </a:t>
            </a:r>
            <a:r>
              <a:rPr lang="de-DE" sz="3200">
                <a:latin typeface="+mn-lt"/>
              </a:rPr>
              <a:t>methods</a:t>
            </a:r>
            <a:r>
              <a:rPr lang="de-DE" sz="3200">
                <a:latin typeface="+mn-lt"/>
              </a:rPr>
              <a:t>! </a:t>
            </a:r>
            <a:endParaRPr sz="3200">
              <a:latin typeface="+mn-lt"/>
            </a:endParaRPr>
          </a:p>
        </p:txBody>
      </p:sp>
      <p:sp>
        <p:nvSpPr>
          <p:cNvPr id="6" name="Geschweifte Klammer rechts 8"/>
          <p:cNvSpPr/>
          <p:nvPr/>
        </p:nvSpPr>
        <p:spPr bwMode="auto">
          <a:xfrm>
            <a:off x="8877300" y="4095154"/>
            <a:ext cx="533400" cy="3352800"/>
          </a:xfrm>
          <a:prstGeom prst="rightBrace">
            <a:avLst>
              <a:gd name="adj1" fmla="val 8333"/>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defRPr/>
            </a:pPr>
            <a:endParaRPr lang="de-DE" sz="2000" b="1">
              <a:ln w="0"/>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normAutofit/>
          </a:bodyPr>
          <a:lstStyle/>
          <a:p>
            <a:pPr marL="0" indent="0" algn="ctr">
              <a:defRPr/>
            </a:pPr>
            <a:br>
              <a:rPr lang="de-DE" sz="4400"/>
            </a:br>
            <a:r>
              <a:rPr lang="en-CA" sz="4400"/>
              <a:t>Which methods do you know or use?</a:t>
            </a:r>
            <a:br>
              <a:rPr lang="en-CA" sz="4400"/>
            </a:br>
            <a:br>
              <a:rPr lang="en-CA" sz="4400"/>
            </a:br>
            <a:r>
              <a:rPr lang="en-CA" sz="4400"/>
              <a:t>How would you like to approach learning in this semester?</a:t>
            </a:r>
            <a:br>
              <a:rPr lang="en-CA" sz="4400"/>
            </a:br>
            <a:br>
              <a:rPr lang="en-CA" sz="4400"/>
            </a:br>
            <a:r>
              <a:rPr lang="en-CA" sz="4400"/>
              <a:t>How will your approach differ from your previous one? </a:t>
            </a:r>
            <a:br>
              <a:rPr lang="en-CA" sz="4400"/>
            </a:br>
            <a:endParaRPr lang="en-CA" sz="4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normAutofit/>
          </a:bodyPr>
          <a:lstStyle/>
          <a:p>
            <a:pPr>
              <a:defRPr/>
            </a:pPr>
            <a:r>
              <a:rPr lang="de-DE"/>
              <a:t>Promising </a:t>
            </a:r>
            <a:r>
              <a:rPr lang="de-DE"/>
              <a:t>learning</a:t>
            </a:r>
            <a:r>
              <a:rPr lang="de-DE"/>
              <a:t> </a:t>
            </a:r>
            <a:r>
              <a:rPr lang="de-DE"/>
              <a:t>methods</a:t>
            </a:r>
            <a:endParaRPr lang="de-DE"/>
          </a:p>
        </p:txBody>
      </p:sp>
      <p:sp>
        <p:nvSpPr>
          <p:cNvPr id="3" name="Inhaltsplatzhalter 2"/>
          <p:cNvSpPr>
            <a:spLocks noGrp="1"/>
          </p:cNvSpPr>
          <p:nvPr>
            <p:ph idx="1"/>
          </p:nvPr>
        </p:nvSpPr>
        <p:spPr bwMode="auto">
          <a:xfrm>
            <a:off x="2895600" y="2857500"/>
            <a:ext cx="9943200" cy="6480000"/>
          </a:xfrm>
        </p:spPr>
        <p:txBody>
          <a:bodyPr/>
          <a:lstStyle/>
          <a:p>
            <a:pPr>
              <a:lnSpc>
                <a:spcPct val="150000"/>
              </a:lnSpc>
              <a:defRPr/>
            </a:pPr>
            <a:r>
              <a:rPr lang="en-US"/>
              <a:t>Spaced Repetition</a:t>
            </a:r>
            <a:endParaRPr/>
          </a:p>
          <a:p>
            <a:pPr>
              <a:lnSpc>
                <a:spcPct val="150000"/>
              </a:lnSpc>
              <a:defRPr/>
            </a:pPr>
            <a:r>
              <a:rPr lang="en-US"/>
              <a:t>Mnemonic</a:t>
            </a:r>
            <a:endParaRPr/>
          </a:p>
          <a:p>
            <a:pPr>
              <a:lnSpc>
                <a:spcPct val="150000"/>
              </a:lnSpc>
              <a:defRPr/>
            </a:pPr>
            <a:r>
              <a:rPr lang="en-US"/>
              <a:t>Active Recall</a:t>
            </a:r>
            <a:endParaRPr/>
          </a:p>
          <a:p>
            <a:pPr>
              <a:lnSpc>
                <a:spcPct val="150000"/>
              </a:lnSpc>
              <a:defRPr/>
            </a:pPr>
            <a:r>
              <a:rPr lang="en-US"/>
              <a:t>Self-Explanation</a:t>
            </a:r>
            <a:endParaRPr/>
          </a:p>
          <a:p>
            <a:pPr>
              <a:lnSpc>
                <a:spcPct val="150000"/>
              </a:lnSpc>
              <a:defRPr/>
            </a:pPr>
            <a:r>
              <a:rPr lang="en-US"/>
              <a:t>Elaboration</a:t>
            </a:r>
            <a:endParaRPr/>
          </a:p>
          <a:p>
            <a:pPr>
              <a:lnSpc>
                <a:spcPct val="150000"/>
              </a:lnSpc>
              <a:defRPr/>
            </a:pPr>
            <a:r>
              <a:rPr lang="en-US"/>
              <a:t>Interleaving</a:t>
            </a:r>
            <a:endParaRPr/>
          </a:p>
          <a:p>
            <a:pPr>
              <a:lnSpc>
                <a:spcPct val="150000"/>
              </a:lnSpc>
              <a:defRPr/>
            </a:pPr>
            <a:r>
              <a:rPr lang="en-US"/>
              <a:t>Breaks</a:t>
            </a:r>
            <a:endParaRPr/>
          </a:p>
          <a:p>
            <a:pPr>
              <a:defRPr/>
            </a:pPr>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de-DE"/>
              <a:t>Spaced</a:t>
            </a:r>
            <a:r>
              <a:rPr lang="de-DE"/>
              <a:t> Repetition</a:t>
            </a:r>
            <a:endParaRPr lang="en-GB"/>
          </a:p>
        </p:txBody>
      </p:sp>
      <p:sp>
        <p:nvSpPr>
          <p:cNvPr id="3" name="Content Placeholder 2"/>
          <p:cNvSpPr>
            <a:spLocks noGrp="1"/>
          </p:cNvSpPr>
          <p:nvPr>
            <p:ph idx="1"/>
          </p:nvPr>
        </p:nvSpPr>
        <p:spPr bwMode="auto"/>
        <p:txBody>
          <a:bodyPr/>
          <a:lstStyle/>
          <a:p>
            <a:pPr>
              <a:defRPr/>
            </a:pPr>
            <a:r>
              <a:rPr lang="en-GB"/>
              <a:t>Repetition at steadily increasing intervals</a:t>
            </a:r>
            <a:endParaRPr/>
          </a:p>
          <a:p>
            <a:pPr>
              <a:defRPr/>
            </a:pPr>
            <a:endParaRPr lang="en-GB"/>
          </a:p>
        </p:txBody>
      </p:sp>
      <p:pic>
        <p:nvPicPr>
          <p:cNvPr id="4" name="Grafik 9"/>
          <p:cNvPicPr>
            <a:picLocks noChangeAspect="1"/>
          </p:cNvPicPr>
          <p:nvPr/>
        </p:nvPicPr>
        <p:blipFill>
          <a:blip r:embed="rId3"/>
          <a:stretch/>
        </p:blipFill>
        <p:spPr bwMode="auto">
          <a:xfrm>
            <a:off x="1944000" y="3684229"/>
            <a:ext cx="8738359" cy="5479987"/>
          </a:xfrm>
          <a:prstGeom prst="rect">
            <a:avLst/>
          </a:prstGeom>
        </p:spPr>
      </p:pic>
      <p:sp>
        <p:nvSpPr>
          <p:cNvPr id="5" name="Textfeld 10"/>
          <p:cNvSpPr txBox="1"/>
          <p:nvPr/>
        </p:nvSpPr>
        <p:spPr bwMode="auto">
          <a:xfrm>
            <a:off x="1944000" y="9164216"/>
            <a:ext cx="8335085" cy="707886"/>
          </a:xfrm>
          <a:prstGeom prst="rect">
            <a:avLst/>
          </a:prstGeom>
          <a:noFill/>
        </p:spPr>
        <p:txBody>
          <a:bodyPr wrap="square" rtlCol="0">
            <a:spAutoFit/>
          </a:bodyPr>
          <a:lstStyle/>
          <a:p>
            <a:pPr algn="ctr">
              <a:defRPr/>
            </a:pPr>
            <a:r>
              <a:rPr lang="de-DE" sz="2000">
                <a:solidFill>
                  <a:schemeClr val="bg1">
                    <a:lumMod val="65000"/>
                  </a:schemeClr>
                </a:solidFill>
              </a:rPr>
              <a:t>ResearchGate</a:t>
            </a:r>
            <a:r>
              <a:rPr lang="de-DE" sz="2000">
                <a:solidFill>
                  <a:schemeClr val="bg1">
                    <a:lumMod val="65000"/>
                  </a:schemeClr>
                </a:solidFill>
              </a:rPr>
              <a:t>: Ebbinghaus' </a:t>
            </a:r>
            <a:r>
              <a:rPr lang="de-DE" sz="2000">
                <a:solidFill>
                  <a:schemeClr val="bg1">
                    <a:lumMod val="65000"/>
                  </a:schemeClr>
                </a:solidFill>
              </a:rPr>
              <a:t>forgetting</a:t>
            </a:r>
            <a:r>
              <a:rPr lang="de-DE" sz="2000">
                <a:solidFill>
                  <a:schemeClr val="bg1">
                    <a:lumMod val="65000"/>
                  </a:schemeClr>
                </a:solidFill>
              </a:rPr>
              <a:t> </a:t>
            </a:r>
            <a:r>
              <a:rPr lang="de-DE" sz="2000">
                <a:solidFill>
                  <a:schemeClr val="bg1">
                    <a:lumMod val="65000"/>
                  </a:schemeClr>
                </a:solidFill>
              </a:rPr>
              <a:t>curve</a:t>
            </a:r>
            <a:r>
              <a:rPr lang="de-DE" sz="2000">
                <a:solidFill>
                  <a:schemeClr val="bg1">
                    <a:lumMod val="65000"/>
                  </a:schemeClr>
                </a:solidFill>
              </a:rPr>
              <a:t> and review </a:t>
            </a:r>
            <a:r>
              <a:rPr lang="de-DE" sz="2000">
                <a:solidFill>
                  <a:schemeClr val="bg1">
                    <a:lumMod val="65000"/>
                  </a:schemeClr>
                </a:solidFill>
              </a:rPr>
              <a:t>cycle</a:t>
            </a:r>
            <a:endParaRPr lang="de-DE" sz="2000">
              <a:solidFill>
                <a:schemeClr val="bg1">
                  <a:lumMod val="65000"/>
                </a:schemeClr>
              </a:solidFill>
            </a:endParaRPr>
          </a:p>
          <a:p>
            <a:pPr algn="ctr">
              <a:defRPr/>
            </a:pPr>
            <a:endParaRPr lang="de-DE" sz="2000"/>
          </a:p>
        </p:txBody>
      </p:sp>
      <p:sp>
        <p:nvSpPr>
          <p:cNvPr id="6" name="Textfeld 2"/>
          <p:cNvSpPr txBox="1"/>
          <p:nvPr/>
        </p:nvSpPr>
        <p:spPr bwMode="auto">
          <a:xfrm>
            <a:off x="11197442" y="4270668"/>
            <a:ext cx="5003990" cy="2677656"/>
          </a:xfrm>
          <a:prstGeom prst="rect">
            <a:avLst/>
          </a:prstGeom>
          <a:noFill/>
        </p:spPr>
        <p:txBody>
          <a:bodyPr wrap="square" rtlCol="0">
            <a:spAutoFit/>
          </a:bodyPr>
          <a:lstStyle/>
          <a:p>
            <a:pPr marL="285750" indent="-285750">
              <a:buFont typeface="Arial"/>
              <a:buChar char="•"/>
              <a:defRPr/>
            </a:pPr>
            <a:r>
              <a:rPr lang="de-DE" sz="2400"/>
              <a:t>Human </a:t>
            </a:r>
            <a:r>
              <a:rPr lang="de-DE" sz="2400"/>
              <a:t>forget</a:t>
            </a:r>
            <a:r>
              <a:rPr lang="de-DE" sz="2400"/>
              <a:t> </a:t>
            </a:r>
            <a:r>
              <a:rPr lang="de-DE" sz="2400"/>
              <a:t>learned</a:t>
            </a:r>
            <a:r>
              <a:rPr lang="de-DE" sz="2400"/>
              <a:t> </a:t>
            </a:r>
            <a:r>
              <a:rPr lang="de-DE" sz="2400"/>
              <a:t>information</a:t>
            </a:r>
            <a:r>
              <a:rPr lang="de-DE" sz="2400"/>
              <a:t> at an </a:t>
            </a:r>
            <a:r>
              <a:rPr lang="de-DE" sz="2400"/>
              <a:t>exponential</a:t>
            </a:r>
            <a:r>
              <a:rPr lang="de-DE" sz="2400"/>
              <a:t> rate</a:t>
            </a:r>
            <a:endParaRPr sz="2400"/>
          </a:p>
          <a:p>
            <a:pPr marL="285750" indent="-285750">
              <a:buFont typeface="Arial"/>
              <a:buChar char="•"/>
              <a:defRPr/>
            </a:pPr>
            <a:r>
              <a:rPr lang="de-DE" sz="2400"/>
              <a:t>The </a:t>
            </a:r>
            <a:r>
              <a:rPr lang="de-DE" sz="2400"/>
              <a:t>exact</a:t>
            </a:r>
            <a:r>
              <a:rPr lang="de-DE" sz="2400"/>
              <a:t> time </a:t>
            </a:r>
            <a:r>
              <a:rPr lang="de-DE" sz="2400"/>
              <a:t>intervals</a:t>
            </a:r>
            <a:r>
              <a:rPr lang="de-DE" sz="2400"/>
              <a:t> </a:t>
            </a:r>
            <a:r>
              <a:rPr lang="de-DE" sz="2400"/>
              <a:t>vary</a:t>
            </a:r>
            <a:r>
              <a:rPr lang="de-DE" sz="2400"/>
              <a:t> </a:t>
            </a:r>
            <a:r>
              <a:rPr lang="de-DE" sz="2400"/>
              <a:t>from</a:t>
            </a:r>
            <a:r>
              <a:rPr lang="de-DE" sz="2400"/>
              <a:t> </a:t>
            </a:r>
            <a:r>
              <a:rPr lang="de-DE" sz="2400"/>
              <a:t>person</a:t>
            </a:r>
            <a:r>
              <a:rPr lang="de-DE" sz="2400"/>
              <a:t> </a:t>
            </a:r>
            <a:r>
              <a:rPr lang="de-DE" sz="2400"/>
              <a:t>to</a:t>
            </a:r>
            <a:r>
              <a:rPr lang="de-DE" sz="2400"/>
              <a:t> </a:t>
            </a:r>
            <a:r>
              <a:rPr lang="de-DE" sz="2400"/>
              <a:t>person</a:t>
            </a:r>
            <a:endParaRPr sz="2400"/>
          </a:p>
          <a:p>
            <a:pPr>
              <a:defRPr/>
            </a:pPr>
            <a:endParaRPr lang="de-DE" sz="2400"/>
          </a:p>
          <a:p>
            <a:pPr marL="239821" indent="-239821">
              <a:buFont typeface="Arial"/>
              <a:buChar char="•"/>
              <a:defRPr/>
            </a:pPr>
            <a:r>
              <a:rPr lang="de-DE" sz="2400"/>
              <a:t>Forgetting</a:t>
            </a:r>
            <a:r>
              <a:rPr lang="de-DE" sz="2400"/>
              <a:t> </a:t>
            </a:r>
            <a:r>
              <a:rPr lang="de-DE" sz="2400"/>
              <a:t>is</a:t>
            </a:r>
            <a:r>
              <a:rPr lang="de-DE" sz="2400"/>
              <a:t> human and </a:t>
            </a:r>
            <a:r>
              <a:rPr lang="de-DE" sz="2400"/>
              <a:t>has</a:t>
            </a:r>
            <a:r>
              <a:rPr lang="de-DE" sz="2400"/>
              <a:t> </a:t>
            </a:r>
            <a:r>
              <a:rPr lang="de-DE" sz="2400"/>
              <a:t>little</a:t>
            </a:r>
            <a:r>
              <a:rPr lang="de-DE" sz="2400"/>
              <a:t> </a:t>
            </a:r>
            <a:r>
              <a:rPr lang="de-DE" sz="2400"/>
              <a:t>to</a:t>
            </a:r>
            <a:r>
              <a:rPr lang="de-DE" sz="2400"/>
              <a:t> do </a:t>
            </a:r>
            <a:r>
              <a:rPr lang="de-DE" sz="2400"/>
              <a:t>with</a:t>
            </a:r>
            <a:r>
              <a:rPr lang="de-DE" sz="2400"/>
              <a:t> </a:t>
            </a:r>
            <a:r>
              <a:rPr lang="de-DE" sz="2400"/>
              <a:t>intelligence</a:t>
            </a:r>
            <a:r>
              <a:rPr lang="de-DE" sz="2400"/>
              <a:t>!</a:t>
            </a:r>
            <a:endParaRPr/>
          </a:p>
        </p:txBody>
      </p:sp>
      <p:sp>
        <p:nvSpPr>
          <p:cNvPr id="7" name="Textfeld 5"/>
          <p:cNvSpPr txBox="1"/>
          <p:nvPr/>
        </p:nvSpPr>
        <p:spPr bwMode="auto">
          <a:xfrm>
            <a:off x="11147022" y="9164216"/>
            <a:ext cx="4732315" cy="400110"/>
          </a:xfrm>
          <a:prstGeom prst="rect">
            <a:avLst/>
          </a:prstGeom>
          <a:noFill/>
        </p:spPr>
        <p:txBody>
          <a:bodyPr wrap="square">
            <a:spAutoFit/>
          </a:bodyPr>
          <a:lstStyle/>
          <a:p>
            <a:pPr>
              <a:defRPr/>
            </a:pPr>
            <a:r>
              <a:rPr lang="de-DE" sz="2000">
                <a:solidFill>
                  <a:schemeClr val="bg1">
                    <a:lumMod val="65000"/>
                  </a:schemeClr>
                </a:solidFill>
                <a:latin typeface="Arial"/>
                <a:ea typeface="Calibri"/>
                <a:cs typeface="Arial"/>
              </a:rPr>
              <a:t>Berry 1983, </a:t>
            </a:r>
            <a:r>
              <a:rPr lang="de-DE" sz="2000">
                <a:solidFill>
                  <a:schemeClr val="bg1">
                    <a:lumMod val="65000"/>
                  </a:schemeClr>
                </a:solidFill>
                <a:latin typeface="Arial"/>
                <a:ea typeface="Calibri"/>
                <a:cs typeface="Arial"/>
              </a:rPr>
              <a:t>B</a:t>
            </a:r>
            <a:r>
              <a:rPr lang="de-DE" sz="2000">
                <a:solidFill>
                  <a:schemeClr val="bg1">
                    <a:lumMod val="65000"/>
                  </a:schemeClr>
                </a:solidFill>
                <a:latin typeface="Arial"/>
                <a:ea typeface="Calibri"/>
                <a:cs typeface="Arial"/>
              </a:rPr>
              <a:t>rainzucker</a:t>
            </a:r>
            <a:endParaRPr lang="de-DE" sz="2000">
              <a:solidFill>
                <a:schemeClr val="bg1">
                  <a:lumMod val="65000"/>
                </a:schemeClr>
              </a:solidFill>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7" name="Titel 6"/>
          <p:cNvSpPr>
            <a:spLocks noGrp="1"/>
          </p:cNvSpPr>
          <p:nvPr>
            <p:ph type="ctrTitle" idx="4294967295"/>
          </p:nvPr>
        </p:nvSpPr>
        <p:spPr bwMode="auto">
          <a:xfrm>
            <a:off x="685800" y="1104900"/>
            <a:ext cx="16561839" cy="1807321"/>
          </a:xfrm>
        </p:spPr>
        <p:txBody>
          <a:bodyPr vert="horz">
            <a:normAutofit/>
          </a:bodyPr>
          <a:lstStyle/>
          <a:p>
            <a:pPr>
              <a:defRPr/>
            </a:pPr>
            <a:r>
              <a:rPr lang="de-DE" sz="2400">
                <a:latin typeface="+mn-lt"/>
              </a:rPr>
              <a:t>Case: Marie </a:t>
            </a:r>
            <a:r>
              <a:rPr lang="de-DE" sz="2400">
                <a:latin typeface="+mn-lt"/>
              </a:rPr>
              <a:t>is</a:t>
            </a:r>
            <a:r>
              <a:rPr lang="de-DE" sz="2400">
                <a:latin typeface="+mn-lt"/>
              </a:rPr>
              <a:t> </a:t>
            </a:r>
            <a:r>
              <a:rPr lang="de-DE" sz="2400">
                <a:latin typeface="+mn-lt"/>
              </a:rPr>
              <a:t>writing</a:t>
            </a:r>
            <a:r>
              <a:rPr lang="de-DE" sz="2400">
                <a:latin typeface="+mn-lt"/>
              </a:rPr>
              <a:t> a </a:t>
            </a:r>
            <a:r>
              <a:rPr lang="de-DE" sz="2400">
                <a:latin typeface="+mn-lt"/>
              </a:rPr>
              <a:t>statistics</a:t>
            </a:r>
            <a:r>
              <a:rPr lang="de-DE" sz="2400">
                <a:latin typeface="+mn-lt"/>
              </a:rPr>
              <a:t> </a:t>
            </a:r>
            <a:r>
              <a:rPr lang="de-DE" sz="2400">
                <a:latin typeface="+mn-lt"/>
              </a:rPr>
              <a:t>exam</a:t>
            </a:r>
            <a:r>
              <a:rPr lang="de-DE" sz="2400">
                <a:latin typeface="+mn-lt"/>
              </a:rPr>
              <a:t> in </a:t>
            </a:r>
            <a:r>
              <a:rPr lang="de-DE" sz="2400">
                <a:latin typeface="+mn-lt"/>
              </a:rPr>
              <a:t>two</a:t>
            </a:r>
            <a:r>
              <a:rPr lang="de-DE" sz="2400">
                <a:latin typeface="+mn-lt"/>
              </a:rPr>
              <a:t> </a:t>
            </a:r>
            <a:r>
              <a:rPr lang="de-DE" sz="2400">
                <a:latin typeface="+mn-lt"/>
              </a:rPr>
              <a:t>weeks</a:t>
            </a:r>
            <a:r>
              <a:rPr lang="de-DE" sz="2400">
                <a:latin typeface="+mn-lt"/>
              </a:rPr>
              <a:t>. </a:t>
            </a:r>
            <a:r>
              <a:rPr lang="de-DE" sz="2400">
                <a:latin typeface="+mn-lt"/>
              </a:rPr>
              <a:t>She</a:t>
            </a:r>
            <a:r>
              <a:rPr lang="de-DE" sz="2400">
                <a:latin typeface="+mn-lt"/>
              </a:rPr>
              <a:t> </a:t>
            </a:r>
            <a:r>
              <a:rPr lang="de-DE" sz="2400">
                <a:latin typeface="+mn-lt"/>
              </a:rPr>
              <a:t>has</a:t>
            </a:r>
            <a:r>
              <a:rPr lang="de-DE" sz="2400">
                <a:latin typeface="+mn-lt"/>
              </a:rPr>
              <a:t> </a:t>
            </a:r>
            <a:r>
              <a:rPr lang="de-DE" sz="2400">
                <a:latin typeface="+mn-lt"/>
              </a:rPr>
              <a:t>to</a:t>
            </a:r>
            <a:r>
              <a:rPr lang="de-DE" sz="2400">
                <a:latin typeface="+mn-lt"/>
              </a:rPr>
              <a:t> </a:t>
            </a:r>
            <a:r>
              <a:rPr lang="de-DE" sz="2400">
                <a:latin typeface="+mn-lt"/>
              </a:rPr>
              <a:t>learn</a:t>
            </a:r>
            <a:r>
              <a:rPr lang="de-DE" sz="2400">
                <a:latin typeface="+mn-lt"/>
              </a:rPr>
              <a:t> </a:t>
            </a:r>
            <a:r>
              <a:rPr lang="de-DE" sz="2400">
                <a:latin typeface="+mn-lt"/>
              </a:rPr>
              <a:t>the</a:t>
            </a:r>
            <a:r>
              <a:rPr lang="de-DE" sz="2400">
                <a:latin typeface="+mn-lt"/>
              </a:rPr>
              <a:t> </a:t>
            </a:r>
            <a:r>
              <a:rPr lang="de-DE" sz="2400">
                <a:latin typeface="+mn-lt"/>
              </a:rPr>
              <a:t>follwoing</a:t>
            </a:r>
            <a:r>
              <a:rPr lang="de-DE" sz="2400">
                <a:latin typeface="+mn-lt"/>
              </a:rPr>
              <a:t> </a:t>
            </a:r>
            <a:r>
              <a:rPr lang="de-DE" sz="2400">
                <a:latin typeface="+mn-lt"/>
              </a:rPr>
              <a:t>topics</a:t>
            </a:r>
            <a:r>
              <a:rPr lang="de-DE" sz="2400">
                <a:latin typeface="+mn-lt"/>
              </a:rPr>
              <a:t>. </a:t>
            </a:r>
            <a:r>
              <a:rPr lang="de-DE" sz="2400">
                <a:latin typeface="+mn-lt"/>
              </a:rPr>
              <a:t>How</a:t>
            </a:r>
            <a:r>
              <a:rPr lang="de-DE" sz="2400">
                <a:latin typeface="+mn-lt"/>
              </a:rPr>
              <a:t> </a:t>
            </a:r>
            <a:r>
              <a:rPr lang="de-DE" sz="2400">
                <a:latin typeface="+mn-lt"/>
              </a:rPr>
              <a:t>would</a:t>
            </a:r>
            <a:r>
              <a:rPr lang="de-DE" sz="2400">
                <a:latin typeface="+mn-lt"/>
              </a:rPr>
              <a:t> </a:t>
            </a:r>
            <a:r>
              <a:rPr lang="de-DE" sz="2400">
                <a:latin typeface="+mn-lt"/>
              </a:rPr>
              <a:t>you</a:t>
            </a:r>
            <a:r>
              <a:rPr lang="de-DE" sz="2400">
                <a:latin typeface="+mn-lt"/>
              </a:rPr>
              <a:t> design a </a:t>
            </a:r>
            <a:r>
              <a:rPr lang="de-DE" sz="2400">
                <a:latin typeface="+mn-lt"/>
              </a:rPr>
              <a:t>learning</a:t>
            </a:r>
            <a:r>
              <a:rPr lang="de-DE" sz="2400">
                <a:latin typeface="+mn-lt"/>
              </a:rPr>
              <a:t> plan in her </a:t>
            </a:r>
            <a:r>
              <a:rPr lang="de-DE" sz="2400">
                <a:latin typeface="+mn-lt"/>
              </a:rPr>
              <a:t>place</a:t>
            </a:r>
            <a:r>
              <a:rPr lang="de-DE" sz="2400">
                <a:latin typeface="+mn-lt"/>
              </a:rPr>
              <a:t>? </a:t>
            </a:r>
            <a:r>
              <a:rPr lang="en-US" sz="2400">
                <a:latin typeface="+mn-lt"/>
              </a:rPr>
              <a:t>The traffic light colors show what she already knows very well (green), what she understands but doesn't know in detail (yellow) and absolute areas of improvement (red).</a:t>
            </a:r>
            <a:r>
              <a:rPr lang="de-DE" sz="2400">
                <a:latin typeface="+mn-lt"/>
              </a:rPr>
              <a:t> </a:t>
            </a:r>
            <a:br>
              <a:rPr lang="de-DE" sz="2400">
                <a:latin typeface="+mn-lt"/>
              </a:rPr>
            </a:br>
            <a:endParaRPr lang="de-DE" sz="2400">
              <a:latin typeface="+mn-lt"/>
            </a:endParaRPr>
          </a:p>
        </p:txBody>
      </p:sp>
      <p:pic>
        <p:nvPicPr>
          <p:cNvPr id="11" name="Grafik 10" descr="Marke Fragezeichen"/>
          <p:cNvPicPr>
            <a:picLocks noChangeAspect="1"/>
          </p:cNvPicPr>
          <p:nvPr/>
        </p:nvPicPr>
        <p:blipFill>
          <a:blip r:embed="rId3"/>
          <a:stretch/>
        </p:blipFill>
        <p:spPr bwMode="auto">
          <a:xfrm>
            <a:off x="1476624" y="1760670"/>
            <a:ext cx="914400" cy="914400"/>
          </a:xfrm>
          <a:prstGeom prst="rect">
            <a:avLst/>
          </a:prstGeom>
        </p:spPr>
      </p:pic>
      <p:graphicFrame>
        <p:nvGraphicFramePr>
          <p:cNvPr id="5" name="Tabelle 4"/>
          <p:cNvGraphicFramePr>
            <a:graphicFrameLocks xmlns:a="http://schemas.openxmlformats.org/drawingml/2006/main" noGrp="1"/>
          </p:cNvGraphicFramePr>
          <p:nvPr/>
        </p:nvGraphicFramePr>
        <p:xfrm>
          <a:off x="838913" y="2567962"/>
          <a:ext cx="16610174" cy="7199800"/>
        </p:xfrm>
        <a:graphic>
          <a:graphicData uri="http://schemas.openxmlformats.org/drawingml/2006/table">
            <a:tbl>
              <a:tblPr firstRow="0" firstCol="0" lastRow="0" lastCol="0" bandRow="0" bandCol="0"/>
              <a:tblGrid>
                <a:gridCol w="2935300"/>
                <a:gridCol w="757030"/>
                <a:gridCol w="757030"/>
                <a:gridCol w="757030"/>
                <a:gridCol w="757030"/>
                <a:gridCol w="741467"/>
                <a:gridCol w="772593"/>
                <a:gridCol w="757030"/>
                <a:gridCol w="757030"/>
                <a:gridCol w="757030"/>
                <a:gridCol w="757030"/>
                <a:gridCol w="757030"/>
                <a:gridCol w="757030"/>
                <a:gridCol w="757030"/>
                <a:gridCol w="757030"/>
                <a:gridCol w="757030"/>
                <a:gridCol w="757030"/>
                <a:gridCol w="757030"/>
                <a:gridCol w="805364"/>
              </a:tblGrid>
              <a:tr h="424748">
                <a:tc>
                  <a:txBody>
                    <a:bodyPr/>
                    <a:p>
                      <a:pPr algn="l">
                        <a:defRPr/>
                      </a:pPr>
                      <a:endParaRPr lang="de-DE" sz="1400" b="0" i="0" u="none" strike="noStrike">
                        <a:solidFill>
                          <a:schemeClr val="tx1"/>
                        </a:solidFill>
                        <a:latin typeface="+mn-lt"/>
                      </a:endParaRPr>
                    </a:p>
                  </a:txBody>
                  <a:tcPr marL="8982" marR="8982" marT="8982" marB="0" anchor="b">
                    <a:lnL w="12700" algn="ctr">
                      <a:noFill/>
                    </a:lnL>
                    <a:lnR w="12700" algn="ctr">
                      <a:noFill/>
                    </a:lnR>
                    <a:lnT w="12700" algn="ctr">
                      <a:noFill/>
                    </a:lnT>
                    <a:lnB w="6350" algn="ctr">
                      <a:solidFill>
                        <a:srgbClr val="000000"/>
                      </a:solidFill>
                    </a:lnB>
                  </a:tcPr>
                </a:tc>
                <a:tc>
                  <a:txBody>
                    <a:bodyPr/>
                    <a:p>
                      <a:pPr algn="l">
                        <a:defRPr/>
                      </a:pPr>
                      <a:endParaRPr lang="de-DE" sz="1400" b="0" i="0" u="none" strike="noStrike">
                        <a:solidFill>
                          <a:schemeClr val="tx1"/>
                        </a:solidFill>
                        <a:latin typeface="+mn-lt"/>
                      </a:endParaRPr>
                    </a:p>
                  </a:txBody>
                  <a:tcPr marL="8982" marR="8982" marT="8982" marB="0" anchor="b">
                    <a:lnL w="12700" algn="ctr">
                      <a:noFill/>
                    </a:lnL>
                    <a:lnR w="12700" algn="ctr">
                      <a:noFill/>
                    </a:lnR>
                    <a:lnT w="12700" algn="ctr">
                      <a:noFill/>
                    </a:lnT>
                    <a:lnB w="6350" algn="ctr">
                      <a:solidFill>
                        <a:srgbClr val="000000"/>
                      </a:solidFill>
                    </a:lnB>
                  </a:tcPr>
                </a:tc>
                <a:tc>
                  <a:txBody>
                    <a:bodyPr/>
                    <a:p>
                      <a:pPr algn="ctr">
                        <a:defRPr/>
                      </a:pPr>
                      <a:r>
                        <a:rPr lang="de-DE" sz="1400" b="0" i="0" u="none" strike="noStrike">
                          <a:solidFill>
                            <a:schemeClr val="tx1"/>
                          </a:solidFill>
                          <a:latin typeface="+mn-lt"/>
                        </a:rPr>
                        <a:t>0,0h</a:t>
                      </a:r>
                      <a:endParaRPr/>
                    </a:p>
                  </a:txBody>
                  <a:tcPr marL="8982" marR="8982" marT="8982" marB="0" anchor="ctr">
                    <a:lnL w="12700" algn="ctr">
                      <a:noFill/>
                    </a:lnL>
                    <a:lnR w="12700" algn="ctr">
                      <a:noFill/>
                    </a:lnR>
                    <a:lnT w="12700" algn="ctr">
                      <a:noFill/>
                    </a:lnT>
                    <a:lnB w="6350" algn="ctr">
                      <a:solidFill>
                        <a:srgbClr val="000000"/>
                      </a:solidFill>
                    </a:lnB>
                  </a:tcPr>
                </a:tc>
                <a:tc>
                  <a:txBody>
                    <a:bodyPr/>
                    <a:p>
                      <a:pPr algn="ctr">
                        <a:defRPr/>
                      </a:pPr>
                      <a:r>
                        <a:rPr lang="de-DE" sz="1400" b="0" i="0" u="none" strike="noStrike">
                          <a:solidFill>
                            <a:schemeClr val="tx1"/>
                          </a:solidFill>
                          <a:latin typeface="+mn-lt"/>
                        </a:rPr>
                        <a:t>0,0h</a:t>
                      </a:r>
                      <a:endParaRPr/>
                    </a:p>
                  </a:txBody>
                  <a:tcPr marL="8982" marR="8982" marT="8982" marB="0" anchor="ctr">
                    <a:lnL w="12700" algn="ctr">
                      <a:noFill/>
                    </a:lnL>
                    <a:lnR w="12700" algn="ctr">
                      <a:noFill/>
                    </a:lnR>
                    <a:lnT w="12700" algn="ctr">
                      <a:noFill/>
                    </a:lnT>
                    <a:lnB w="6350" algn="ctr">
                      <a:solidFill>
                        <a:srgbClr val="000000"/>
                      </a:solidFill>
                    </a:lnB>
                  </a:tcPr>
                </a:tc>
                <a:tc>
                  <a:txBody>
                    <a:bodyPr/>
                    <a:p>
                      <a:pPr algn="ctr">
                        <a:defRPr/>
                      </a:pPr>
                      <a:r>
                        <a:rPr lang="de-DE" sz="1400" b="0" i="0" u="none" strike="noStrike">
                          <a:solidFill>
                            <a:schemeClr val="tx1"/>
                          </a:solidFill>
                          <a:latin typeface="+mn-lt"/>
                        </a:rPr>
                        <a:t>0,0h</a:t>
                      </a:r>
                      <a:endParaRPr/>
                    </a:p>
                  </a:txBody>
                  <a:tcPr marL="8982" marR="8982" marT="8982" marB="0" anchor="ctr">
                    <a:lnL w="12700" algn="ctr">
                      <a:noFill/>
                    </a:lnL>
                    <a:lnR w="12700" algn="ctr">
                      <a:noFill/>
                    </a:lnR>
                    <a:lnT w="12700" algn="ctr">
                      <a:noFill/>
                    </a:lnT>
                    <a:lnB w="6350" algn="ctr">
                      <a:solidFill>
                        <a:srgbClr val="000000"/>
                      </a:solidFill>
                    </a:lnB>
                  </a:tcPr>
                </a:tc>
                <a:tc>
                  <a:txBody>
                    <a:bodyPr/>
                    <a:p>
                      <a:pPr algn="ctr">
                        <a:defRPr/>
                      </a:pPr>
                      <a:r>
                        <a:rPr lang="de-DE" sz="1400" b="0" i="0" u="none" strike="noStrike">
                          <a:solidFill>
                            <a:schemeClr val="tx1"/>
                          </a:solidFill>
                          <a:latin typeface="+mn-lt"/>
                        </a:rPr>
                        <a:t>0,0h</a:t>
                      </a:r>
                      <a:endParaRPr/>
                    </a:p>
                  </a:txBody>
                  <a:tcPr marL="8982" marR="8982" marT="8982" marB="0" anchor="ctr">
                    <a:lnL w="12700" algn="ctr">
                      <a:noFill/>
                    </a:lnL>
                    <a:lnR w="12700" algn="ctr">
                      <a:noFill/>
                    </a:lnR>
                    <a:lnT w="12700" algn="ctr">
                      <a:noFill/>
                    </a:lnT>
                    <a:lnB w="6350" algn="ctr">
                      <a:solidFill>
                        <a:srgbClr val="000000"/>
                      </a:solidFill>
                    </a:lnB>
                  </a:tcPr>
                </a:tc>
                <a:tc>
                  <a:txBody>
                    <a:bodyPr/>
                    <a:p>
                      <a:pPr algn="ctr">
                        <a:defRPr/>
                      </a:pPr>
                      <a:r>
                        <a:rPr lang="de-DE" sz="1400" b="0" i="0" u="none" strike="noStrike">
                          <a:solidFill>
                            <a:schemeClr val="tx1"/>
                          </a:solidFill>
                          <a:latin typeface="+mn-lt"/>
                        </a:rPr>
                        <a:t>0,0h</a:t>
                      </a:r>
                      <a:endParaRPr/>
                    </a:p>
                  </a:txBody>
                  <a:tcPr marL="8982" marR="8982" marT="8982" marB="0" anchor="ctr">
                    <a:lnL w="12700" algn="ctr">
                      <a:noFill/>
                    </a:lnL>
                    <a:lnR w="12700" algn="ctr">
                      <a:noFill/>
                    </a:lnR>
                    <a:lnT w="12700" algn="ctr">
                      <a:noFill/>
                    </a:lnT>
                    <a:lnB w="6350" algn="ctr">
                      <a:solidFill>
                        <a:srgbClr val="000000"/>
                      </a:solidFill>
                    </a:lnB>
                  </a:tcPr>
                </a:tc>
                <a:tc>
                  <a:txBody>
                    <a:bodyPr/>
                    <a:p>
                      <a:pPr algn="ctr">
                        <a:defRPr/>
                      </a:pPr>
                      <a:r>
                        <a:rPr lang="de-DE" sz="1400" b="0" i="0" u="none" strike="noStrike">
                          <a:solidFill>
                            <a:schemeClr val="tx1"/>
                          </a:solidFill>
                          <a:latin typeface="+mn-lt"/>
                        </a:rPr>
                        <a:t>0,0h</a:t>
                      </a:r>
                      <a:endParaRPr/>
                    </a:p>
                  </a:txBody>
                  <a:tcPr marL="8982" marR="8982" marT="8982" marB="0" anchor="ctr">
                    <a:lnL w="12700" algn="ctr">
                      <a:noFill/>
                    </a:lnL>
                    <a:lnR w="12700" algn="ctr">
                      <a:noFill/>
                    </a:lnR>
                    <a:lnT w="12700" algn="ctr">
                      <a:noFill/>
                    </a:lnT>
                    <a:lnB w="6350" algn="ctr">
                      <a:solidFill>
                        <a:srgbClr val="000000"/>
                      </a:solidFill>
                    </a:lnB>
                  </a:tcPr>
                </a:tc>
                <a:tc>
                  <a:txBody>
                    <a:bodyPr/>
                    <a:p>
                      <a:pPr algn="ctr">
                        <a:defRPr/>
                      </a:pPr>
                      <a:r>
                        <a:rPr lang="de-DE" sz="1400" b="0" i="0" u="none" strike="noStrike">
                          <a:solidFill>
                            <a:schemeClr val="tx1"/>
                          </a:solidFill>
                          <a:latin typeface="+mn-lt"/>
                        </a:rPr>
                        <a:t>0,0h</a:t>
                      </a:r>
                      <a:endParaRPr/>
                    </a:p>
                  </a:txBody>
                  <a:tcPr marL="8982" marR="8982" marT="8982" marB="0" anchor="ctr">
                    <a:lnL w="12700" algn="ctr">
                      <a:noFill/>
                    </a:lnL>
                    <a:lnR w="12700" algn="ctr">
                      <a:noFill/>
                    </a:lnR>
                    <a:lnT w="12700" algn="ctr">
                      <a:noFill/>
                    </a:lnT>
                    <a:lnB w="6350" algn="ctr">
                      <a:solidFill>
                        <a:srgbClr val="000000"/>
                      </a:solidFill>
                    </a:lnB>
                  </a:tcPr>
                </a:tc>
                <a:tc>
                  <a:txBody>
                    <a:bodyPr/>
                    <a:p>
                      <a:pPr algn="ctr">
                        <a:defRPr/>
                      </a:pPr>
                      <a:r>
                        <a:rPr lang="de-DE" sz="1400" b="0" i="0" u="none" strike="noStrike">
                          <a:solidFill>
                            <a:schemeClr val="tx1"/>
                          </a:solidFill>
                          <a:latin typeface="+mn-lt"/>
                        </a:rPr>
                        <a:t>0,0h</a:t>
                      </a:r>
                      <a:endParaRPr/>
                    </a:p>
                  </a:txBody>
                  <a:tcPr marL="8982" marR="8982" marT="8982" marB="0" anchor="ctr">
                    <a:lnL w="12700" algn="ctr">
                      <a:noFill/>
                    </a:lnL>
                    <a:lnR w="12700" algn="ctr">
                      <a:noFill/>
                    </a:lnR>
                    <a:lnT w="12700" algn="ctr">
                      <a:noFill/>
                    </a:lnT>
                    <a:lnB w="6350" algn="ctr">
                      <a:solidFill>
                        <a:srgbClr val="000000"/>
                      </a:solidFill>
                    </a:lnB>
                  </a:tcPr>
                </a:tc>
                <a:tc>
                  <a:txBody>
                    <a:bodyPr/>
                    <a:p>
                      <a:pPr algn="ctr">
                        <a:defRPr/>
                      </a:pPr>
                      <a:r>
                        <a:rPr lang="de-DE" sz="1400" b="0" i="0" u="none" strike="noStrike">
                          <a:solidFill>
                            <a:schemeClr val="tx1"/>
                          </a:solidFill>
                          <a:latin typeface="+mn-lt"/>
                        </a:rPr>
                        <a:t>0,0h</a:t>
                      </a:r>
                      <a:endParaRPr/>
                    </a:p>
                  </a:txBody>
                  <a:tcPr marL="8982" marR="8982" marT="8982" marB="0" anchor="ctr">
                    <a:lnL w="12700" algn="ctr">
                      <a:noFill/>
                    </a:lnL>
                    <a:lnR w="12700" algn="ctr">
                      <a:noFill/>
                    </a:lnR>
                    <a:lnT w="12700" algn="ctr">
                      <a:noFill/>
                    </a:lnT>
                    <a:lnB w="6350" algn="ctr">
                      <a:solidFill>
                        <a:srgbClr val="000000"/>
                      </a:solidFill>
                    </a:lnB>
                  </a:tcPr>
                </a:tc>
                <a:tc>
                  <a:txBody>
                    <a:bodyPr/>
                    <a:p>
                      <a:pPr algn="ctr">
                        <a:defRPr/>
                      </a:pPr>
                      <a:r>
                        <a:rPr lang="de-DE" sz="1400" b="0" i="0" u="none" strike="noStrike">
                          <a:solidFill>
                            <a:schemeClr val="tx1"/>
                          </a:solidFill>
                          <a:latin typeface="+mn-lt"/>
                        </a:rPr>
                        <a:t>0,0h</a:t>
                      </a:r>
                      <a:endParaRPr/>
                    </a:p>
                  </a:txBody>
                  <a:tcPr marL="8982" marR="8982" marT="8982" marB="0" anchor="ctr">
                    <a:lnL w="12700" algn="ctr">
                      <a:noFill/>
                    </a:lnL>
                    <a:lnR w="12700" algn="ctr">
                      <a:noFill/>
                    </a:lnR>
                    <a:lnT w="12700" algn="ctr">
                      <a:noFill/>
                    </a:lnT>
                    <a:lnB w="6350" algn="ctr">
                      <a:solidFill>
                        <a:srgbClr val="000000"/>
                      </a:solidFill>
                    </a:lnB>
                  </a:tcPr>
                </a:tc>
                <a:tc>
                  <a:txBody>
                    <a:bodyPr/>
                    <a:p>
                      <a:pPr algn="ctr">
                        <a:defRPr/>
                      </a:pPr>
                      <a:r>
                        <a:rPr lang="de-DE" sz="1400" b="0" i="0" u="none" strike="noStrike">
                          <a:solidFill>
                            <a:schemeClr val="tx1"/>
                          </a:solidFill>
                          <a:latin typeface="+mn-lt"/>
                        </a:rPr>
                        <a:t>0,0h</a:t>
                      </a:r>
                      <a:endParaRPr/>
                    </a:p>
                  </a:txBody>
                  <a:tcPr marL="8982" marR="8982" marT="8982" marB="0" anchor="ctr">
                    <a:lnL w="12700" algn="ctr">
                      <a:noFill/>
                    </a:lnL>
                    <a:lnR w="12700" algn="ctr">
                      <a:noFill/>
                    </a:lnR>
                    <a:lnT w="12700" algn="ctr">
                      <a:noFill/>
                    </a:lnT>
                    <a:lnB w="6350" algn="ctr">
                      <a:solidFill>
                        <a:srgbClr val="000000"/>
                      </a:solidFill>
                    </a:lnB>
                  </a:tcPr>
                </a:tc>
                <a:tc>
                  <a:txBody>
                    <a:bodyPr/>
                    <a:p>
                      <a:pPr algn="ctr">
                        <a:defRPr/>
                      </a:pPr>
                      <a:r>
                        <a:rPr lang="de-DE" sz="1400" b="0" i="0" u="none" strike="noStrike">
                          <a:solidFill>
                            <a:schemeClr val="tx1"/>
                          </a:solidFill>
                          <a:latin typeface="+mn-lt"/>
                        </a:rPr>
                        <a:t>0,0h</a:t>
                      </a:r>
                      <a:endParaRPr/>
                    </a:p>
                  </a:txBody>
                  <a:tcPr marL="8982" marR="8982" marT="8982" marB="0" anchor="ctr">
                    <a:lnL w="12700" algn="ctr">
                      <a:noFill/>
                    </a:lnL>
                    <a:lnR w="12700" algn="ctr">
                      <a:noFill/>
                    </a:lnR>
                    <a:lnT w="12700" algn="ctr">
                      <a:noFill/>
                    </a:lnT>
                    <a:lnB w="6350" algn="ctr">
                      <a:solidFill>
                        <a:srgbClr val="000000"/>
                      </a:solidFill>
                    </a:lnB>
                  </a:tcPr>
                </a:tc>
                <a:tc>
                  <a:txBody>
                    <a:bodyPr/>
                    <a:p>
                      <a:pPr algn="ctr">
                        <a:defRPr/>
                      </a:pPr>
                      <a:r>
                        <a:rPr lang="de-DE" sz="1400" b="0" i="0" u="none" strike="noStrike">
                          <a:solidFill>
                            <a:schemeClr val="tx1"/>
                          </a:solidFill>
                          <a:latin typeface="+mn-lt"/>
                        </a:rPr>
                        <a:t>0,0h</a:t>
                      </a:r>
                      <a:endParaRPr/>
                    </a:p>
                  </a:txBody>
                  <a:tcPr marL="8982" marR="8982" marT="8982" marB="0" anchor="ctr">
                    <a:lnL w="12700" algn="ctr">
                      <a:noFill/>
                    </a:lnL>
                    <a:lnR w="12700" algn="ctr">
                      <a:noFill/>
                    </a:lnR>
                    <a:lnT w="12700" algn="ctr">
                      <a:noFill/>
                    </a:lnT>
                    <a:lnB w="6350" algn="ctr">
                      <a:solidFill>
                        <a:srgbClr val="000000"/>
                      </a:solidFill>
                    </a:lnB>
                  </a:tcPr>
                </a:tc>
                <a:tc>
                  <a:txBody>
                    <a:bodyPr/>
                    <a:p>
                      <a:pPr algn="ctr">
                        <a:defRPr/>
                      </a:pPr>
                      <a:r>
                        <a:rPr lang="de-DE" sz="1400" b="0" i="0" u="none" strike="noStrike">
                          <a:solidFill>
                            <a:schemeClr val="tx1"/>
                          </a:solidFill>
                          <a:latin typeface="+mn-lt"/>
                        </a:rPr>
                        <a:t>0,0h</a:t>
                      </a:r>
                      <a:endParaRPr/>
                    </a:p>
                  </a:txBody>
                  <a:tcPr marL="8982" marR="8982" marT="8982" marB="0" anchor="ctr">
                    <a:lnL w="12700" algn="ctr">
                      <a:noFill/>
                    </a:lnL>
                    <a:lnR w="12700" algn="ctr">
                      <a:noFill/>
                    </a:lnR>
                    <a:lnT w="12700" algn="ctr">
                      <a:noFill/>
                    </a:lnT>
                    <a:lnB w="6350" algn="ctr">
                      <a:solidFill>
                        <a:srgbClr val="000000"/>
                      </a:solidFill>
                    </a:lnB>
                  </a:tcPr>
                </a:tc>
                <a:tc>
                  <a:txBody>
                    <a:bodyPr/>
                    <a:p>
                      <a:pPr algn="ctr">
                        <a:defRPr/>
                      </a:pPr>
                      <a:r>
                        <a:rPr lang="de-DE" sz="1400" b="0" i="0" u="none" strike="noStrike">
                          <a:solidFill>
                            <a:schemeClr val="tx1"/>
                          </a:solidFill>
                          <a:latin typeface="+mn-lt"/>
                        </a:rPr>
                        <a:t>0,0h</a:t>
                      </a:r>
                      <a:endParaRPr/>
                    </a:p>
                  </a:txBody>
                  <a:tcPr marL="8982" marR="8982" marT="8982" marB="0" anchor="ctr">
                    <a:lnL w="12700" algn="ctr">
                      <a:noFill/>
                    </a:lnL>
                    <a:lnR w="12700" algn="ctr">
                      <a:noFill/>
                    </a:lnR>
                    <a:lnT w="12700" algn="ctr">
                      <a:noFill/>
                    </a:lnT>
                    <a:lnB w="6350" algn="ctr">
                      <a:solidFill>
                        <a:srgbClr val="000000"/>
                      </a:solidFill>
                    </a:lnB>
                  </a:tcPr>
                </a:tc>
                <a:tc>
                  <a:txBody>
                    <a:bodyPr/>
                    <a:p>
                      <a:pPr algn="ctr">
                        <a:defRPr/>
                      </a:pPr>
                      <a:r>
                        <a:rPr lang="de-DE" sz="1400" b="0" i="0" u="none" strike="noStrike">
                          <a:solidFill>
                            <a:schemeClr val="tx1"/>
                          </a:solidFill>
                          <a:latin typeface="+mn-lt"/>
                        </a:rPr>
                        <a:t>0,0h</a:t>
                      </a:r>
                      <a:endParaRPr/>
                    </a:p>
                  </a:txBody>
                  <a:tcPr marL="8982" marR="8982" marT="8982" marB="0" anchor="ctr">
                    <a:lnL w="12700" algn="ctr">
                      <a:noFill/>
                    </a:lnL>
                    <a:lnR w="12700" algn="ctr">
                      <a:noFill/>
                    </a:lnR>
                    <a:lnT w="12700" algn="ctr">
                      <a:noFill/>
                    </a:lnT>
                    <a:lnB w="6350" algn="ctr">
                      <a:solidFill>
                        <a:srgbClr val="000000"/>
                      </a:solidFill>
                    </a:lnB>
                  </a:tcPr>
                </a:tc>
                <a:tc>
                  <a:txBody>
                    <a:bodyPr/>
                    <a:p>
                      <a:pPr algn="ctr">
                        <a:defRPr/>
                      </a:pPr>
                      <a:r>
                        <a:rPr lang="de-DE" sz="1400" b="0" i="0" u="none" strike="noStrike">
                          <a:solidFill>
                            <a:schemeClr val="tx1"/>
                          </a:solidFill>
                          <a:latin typeface="+mn-lt"/>
                        </a:rPr>
                        <a:t> </a:t>
                      </a:r>
                      <a:endParaRPr/>
                    </a:p>
                  </a:txBody>
                  <a:tcPr marL="8982" marR="8982" marT="8982" marB="0" anchor="ctr">
                    <a:lnL w="12700" algn="ctr">
                      <a:noFill/>
                    </a:lnL>
                    <a:lnR w="12700" algn="ctr">
                      <a:noFill/>
                    </a:lnR>
                    <a:lnT w="12700" algn="ctr">
                      <a:noFill/>
                    </a:lnT>
                    <a:lnB w="6350" algn="ctr">
                      <a:solidFill>
                        <a:srgbClr val="000000"/>
                      </a:solidFill>
                    </a:lnB>
                  </a:tcPr>
                </a:tc>
              </a:tr>
              <a:tr h="424748">
                <a:tc>
                  <a:txBody>
                    <a:bodyPr/>
                    <a:p>
                      <a:pPr algn="l">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tcPr>
                </a:tc>
                <a:tc>
                  <a:txBody>
                    <a:bodyPr/>
                    <a:p>
                      <a:pPr algn="ctr">
                        <a:defRPr/>
                      </a:pPr>
                      <a:r>
                        <a:rPr lang="de-DE" sz="1400" b="0" i="0" u="none" strike="noStrike">
                          <a:solidFill>
                            <a:schemeClr val="tx1"/>
                          </a:solidFill>
                          <a:latin typeface="+mn-lt"/>
                        </a:rPr>
                        <a:t>Level</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tcPr>
                </a:tc>
                <a:tc>
                  <a:txBody>
                    <a:bodyPr/>
                    <a:p>
                      <a:pPr algn="ctr">
                        <a:defRPr/>
                      </a:pPr>
                      <a:r>
                        <a:rPr lang="de-DE" sz="1400" b="0" i="0" u="none" strike="noStrike">
                          <a:solidFill>
                            <a:schemeClr val="tx1"/>
                          </a:solidFill>
                          <a:latin typeface="+mn-lt"/>
                        </a:rPr>
                        <a:t>Sa, 14.1.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Su, 15.1.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Mo, 16.1.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Tu, 17.1.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We</a:t>
                      </a:r>
                      <a:r>
                        <a:rPr lang="de-DE" sz="1400" b="0" i="0" u="none" strike="noStrike">
                          <a:solidFill>
                            <a:schemeClr val="tx1"/>
                          </a:solidFill>
                          <a:latin typeface="+mn-lt"/>
                        </a:rPr>
                        <a:t> 18.1.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Th, 19.1.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Fr, 20.1.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Sa, 21.1.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Su, 22.1.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Mo, 23.1.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Tu, 24.1.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We</a:t>
                      </a:r>
                      <a:r>
                        <a:rPr lang="de-DE" sz="1400" b="0" i="0" u="none" strike="noStrike">
                          <a:solidFill>
                            <a:schemeClr val="tx1"/>
                          </a:solidFill>
                          <a:latin typeface="+mn-lt"/>
                        </a:rPr>
                        <a:t> 25.1.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Th, 26.1.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Fr, 27.1.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Sa, 28.1.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Su, 29.1.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Mo, 30.1.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r>
              <a:tr h="597734">
                <a:tc>
                  <a:txBody>
                    <a:bodyPr/>
                    <a:p>
                      <a:pPr algn="l">
                        <a:defRPr/>
                      </a:pPr>
                      <a:r>
                        <a:rPr lang="de-DE" sz="1400" b="1" i="0" u="none" strike="noStrike">
                          <a:solidFill>
                            <a:schemeClr val="tx1"/>
                          </a:solidFill>
                          <a:latin typeface="+mn-lt"/>
                        </a:rPr>
                        <a:t>Inferential</a:t>
                      </a:r>
                      <a:r>
                        <a:rPr lang="de-DE" sz="1400" b="1" i="0" u="none" strike="noStrike">
                          <a:solidFill>
                            <a:schemeClr val="tx1"/>
                          </a:solidFill>
                          <a:latin typeface="+mn-lt"/>
                        </a:rPr>
                        <a:t> </a:t>
                      </a:r>
                      <a:r>
                        <a:rPr lang="de-DE" sz="1400" b="1" i="0" u="none" strike="noStrike">
                          <a:solidFill>
                            <a:schemeClr val="tx1"/>
                          </a:solidFill>
                          <a:latin typeface="+mn-lt"/>
                        </a:rPr>
                        <a:t>Statistics</a:t>
                      </a:r>
                      <a:endParaRPr lang="de-DE" sz="1400" b="1" i="0" u="none" strike="noStrike">
                        <a:solidFill>
                          <a:schemeClr val="tx1"/>
                        </a:solidFill>
                        <a:latin typeface="+mn-lt"/>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r>
              <a:tr h="453070">
                <a:tc>
                  <a:txBody>
                    <a:bodyPr/>
                    <a:p>
                      <a:pPr algn="l">
                        <a:defRPr/>
                      </a:pPr>
                      <a:r>
                        <a:rPr lang="de-DE" sz="1400" b="0" i="0" u="none" strike="noStrike">
                          <a:solidFill>
                            <a:schemeClr val="tx1"/>
                          </a:solidFill>
                          <a:latin typeface="+mn-lt"/>
                        </a:rPr>
                        <a:t>V1 Parameters and how to estimate them</a:t>
                      </a:r>
                      <a:endParaRPr/>
                    </a:p>
                  </a:txBody>
                  <a:tcPr marL="8982" marR="8982" marT="8982" marB="0" anchor="ctr">
                    <a:lnL w="1270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r">
                        <a:defRPr/>
                      </a:pPr>
                      <a:r>
                        <a:rPr lang="de-DE" sz="1400" b="0"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rowSpan="12">
                  <a:txBody>
                    <a:bodyPr/>
                    <a:p>
                      <a:pPr algn="ctr">
                        <a:defRPr/>
                      </a:pPr>
                      <a:r>
                        <a:rPr lang="de-DE" sz="1400" b="1" i="0" u="none" strike="noStrike">
                          <a:solidFill>
                            <a:schemeClr val="tx1"/>
                          </a:solidFill>
                          <a:latin typeface="+mn-lt"/>
                        </a:rPr>
                        <a:t>Exam</a:t>
                      </a:r>
                      <a:endParaRPr lang="de-DE" sz="1400" b="1" i="0" u="none" strike="noStrike">
                        <a:solidFill>
                          <a:schemeClr val="tx1"/>
                        </a:solidFill>
                        <a:latin typeface="+mn-lt"/>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EB9C"/>
                    </a:solidFill>
                  </a:tcPr>
                </a:tc>
              </a:tr>
              <a:tr h="453070">
                <a:tc>
                  <a:txBody>
                    <a:bodyPr/>
                    <a:p>
                      <a:pPr algn="l">
                        <a:defRPr/>
                      </a:pPr>
                      <a:r>
                        <a:rPr lang="de-DE" sz="1400" b="0" i="0" u="sng" strike="noStrike">
                          <a:solidFill>
                            <a:schemeClr val="tx1"/>
                          </a:solidFill>
                          <a:latin typeface="+mn-lt"/>
                          <a:hlinkClick r:id="rId4" tooltip="https://www.notion.so/V2-Matrix-Algebra-on-Moodle-b52b32dc74394a40858f0303c39a2211"/>
                        </a:rPr>
                        <a:t>V2 Matrix Algebra</a:t>
                      </a:r>
                      <a:endParaRPr lang="de-DE" sz="1400" b="0" i="0" u="none" strike="noStrike">
                        <a:solidFill>
                          <a:schemeClr val="tx1"/>
                        </a:solidFill>
                        <a:latin typeface="+mn-lt"/>
                      </a:endParaRPr>
                    </a:p>
                  </a:txBody>
                  <a:tcPr marL="8982" marR="8982" marT="8982" marB="0" anchor="ctr">
                    <a:lnL w="1270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r">
                        <a:defRPr/>
                      </a:pPr>
                      <a:r>
                        <a:rPr lang="de-DE" sz="1400" b="0"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0000"/>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vMerge="1">
                  <a:txBody>
                    <a:bodyPr/>
                    <a:p>
                      <a:pPr>
                        <a:defRPr/>
                      </a:pPr>
                      <a:endParaRPr lang="de-DE"/>
                    </a:p>
                  </a:txBody>
                  <a:tcPr/>
                </a:tc>
              </a:tr>
              <a:tr h="768800">
                <a:tc>
                  <a:txBody>
                    <a:bodyPr/>
                    <a:p>
                      <a:pPr algn="l">
                        <a:defRPr/>
                      </a:pPr>
                      <a:r>
                        <a:rPr lang="de-DE" sz="1400" b="0" i="0" u="sng" strike="noStrike">
                          <a:solidFill>
                            <a:schemeClr val="tx1"/>
                          </a:solidFill>
                          <a:latin typeface="+mn-lt"/>
                          <a:hlinkClick r:id="rId5" tooltip="https://www.notion.so/V3-WDH-Reprise-correlation-t-test-linear-regression-ANOVA-4c1320cdf0ba4faca9a0048dd1fd2568"/>
                        </a:rPr>
                        <a:t>V3 WDH Reprise correlation, t-test, linear regression, ANOVA</a:t>
                      </a:r>
                      <a:endParaRPr lang="de-DE" sz="1400" b="0" i="0" u="none" strike="noStrike">
                        <a:solidFill>
                          <a:schemeClr val="tx1"/>
                        </a:solidFill>
                        <a:latin typeface="+mn-lt"/>
                      </a:endParaRPr>
                    </a:p>
                  </a:txBody>
                  <a:tcPr marL="8982" marR="8982" marT="8982" marB="0" anchor="ctr">
                    <a:lnL w="1270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r">
                        <a:defRPr/>
                      </a:pPr>
                      <a:r>
                        <a:rPr lang="de-DE" sz="1400" b="0"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vMerge="1">
                  <a:txBody>
                    <a:bodyPr/>
                    <a:p>
                      <a:pPr>
                        <a:defRPr/>
                      </a:pPr>
                      <a:endParaRPr lang="de-DE"/>
                    </a:p>
                  </a:txBody>
                  <a:tcPr/>
                </a:tc>
              </a:tr>
              <a:tr h="453070">
                <a:tc>
                  <a:txBody>
                    <a:bodyPr/>
                    <a:p>
                      <a:pPr algn="l">
                        <a:defRPr/>
                      </a:pPr>
                      <a:r>
                        <a:rPr lang="de-DE" sz="1400" b="0" i="0" u="sng" strike="noStrike">
                          <a:solidFill>
                            <a:schemeClr val="tx1"/>
                          </a:solidFill>
                          <a:latin typeface="+mn-lt"/>
                          <a:hlinkClick r:id="rId6" tooltip="https://www.notion.so/V4-The-general-linear-model-how-we-use-it-for-t-test-regression-and-ANOVA-2e711ed903584d5490adde120755e00e"/>
                        </a:rPr>
                        <a:t>V4 GLM</a:t>
                      </a:r>
                      <a:endParaRPr lang="de-DE" sz="1400" b="0" i="0" u="none" strike="noStrike">
                        <a:solidFill>
                          <a:schemeClr val="tx1"/>
                        </a:solidFill>
                        <a:latin typeface="+mn-lt"/>
                      </a:endParaRPr>
                    </a:p>
                  </a:txBody>
                  <a:tcPr marL="8982" marR="8982" marT="8982" marB="0" anchor="ctr">
                    <a:lnL w="1270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r">
                        <a:defRPr/>
                      </a:pPr>
                      <a:r>
                        <a:rPr lang="de-DE" sz="1400" b="0"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vMerge="1">
                  <a:txBody>
                    <a:bodyPr/>
                    <a:p>
                      <a:pPr>
                        <a:defRPr/>
                      </a:pPr>
                      <a:endParaRPr lang="de-DE"/>
                    </a:p>
                  </a:txBody>
                  <a:tcPr/>
                </a:tc>
              </a:tr>
              <a:tr h="453070">
                <a:tc>
                  <a:txBody>
                    <a:bodyPr/>
                    <a:p>
                      <a:pPr algn="l">
                        <a:defRPr/>
                      </a:pPr>
                      <a:r>
                        <a:rPr lang="de-DE" sz="1400" b="0" i="0" u="sng" strike="noStrike">
                          <a:solidFill>
                            <a:schemeClr val="tx1"/>
                          </a:solidFill>
                          <a:latin typeface="+mn-lt"/>
                          <a:hlinkClick r:id="rId7" tooltip="https://www.notion.so/V5-Expanding-on-regression-Moderation-mediation-bootstrap-5ff65a2e66c8423fa3e9d12e18d7952f"/>
                        </a:rPr>
                        <a:t>V5 Moderation, mediation, bootstrap</a:t>
                      </a:r>
                      <a:endParaRPr lang="de-DE" sz="1400" b="0" i="0" u="none" strike="noStrike">
                        <a:solidFill>
                          <a:schemeClr val="tx1"/>
                        </a:solidFill>
                        <a:latin typeface="+mn-lt"/>
                      </a:endParaRPr>
                    </a:p>
                  </a:txBody>
                  <a:tcPr marL="8982" marR="8982" marT="8982" marB="0" anchor="ctr">
                    <a:lnL w="1270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r">
                        <a:defRPr/>
                      </a:pPr>
                      <a:r>
                        <a:rPr lang="de-DE" sz="1400" b="0"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vMerge="1">
                  <a:txBody>
                    <a:bodyPr/>
                    <a:p>
                      <a:pPr>
                        <a:defRPr/>
                      </a:pPr>
                      <a:endParaRPr lang="de-DE"/>
                    </a:p>
                  </a:txBody>
                  <a:tcPr/>
                </a:tc>
              </a:tr>
              <a:tr h="453070">
                <a:tc>
                  <a:txBody>
                    <a:bodyPr/>
                    <a:p>
                      <a:pPr algn="l">
                        <a:defRPr/>
                      </a:pPr>
                      <a:r>
                        <a:rPr lang="de-DE" sz="1400" b="0" i="0" u="sng" strike="noStrike">
                          <a:solidFill>
                            <a:schemeClr val="tx1"/>
                          </a:solidFill>
                          <a:latin typeface="+mn-lt"/>
                          <a:hlinkClick r:id="rId8" tooltip="https://www.notion.so/V6-Analysis-of-covariance-ANOVA-1f058fa307ae4a3e8fdc8600cbc32524"/>
                        </a:rPr>
                        <a:t>V6 Model Comparison and Mediation</a:t>
                      </a:r>
                      <a:endParaRPr lang="de-DE" sz="1400" b="0" i="0" u="none" strike="noStrike">
                        <a:solidFill>
                          <a:schemeClr val="tx1"/>
                        </a:solidFill>
                        <a:latin typeface="+mn-lt"/>
                      </a:endParaRPr>
                    </a:p>
                  </a:txBody>
                  <a:tcPr marL="8982" marR="8982" marT="8982" marB="0" anchor="ctr">
                    <a:lnL w="1270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r">
                        <a:defRPr/>
                      </a:pPr>
                      <a:r>
                        <a:rPr lang="de-DE" sz="1400" b="0"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vMerge="1">
                  <a:txBody>
                    <a:bodyPr/>
                    <a:p>
                      <a:pPr>
                        <a:defRPr/>
                      </a:pPr>
                      <a:endParaRPr lang="de-DE"/>
                    </a:p>
                  </a:txBody>
                  <a:tcPr/>
                </a:tc>
              </a:tr>
              <a:tr h="453070">
                <a:tc>
                  <a:txBody>
                    <a:bodyPr/>
                    <a:p>
                      <a:pPr algn="l">
                        <a:defRPr/>
                      </a:pPr>
                      <a:r>
                        <a:rPr lang="de-DE" sz="1400" b="0" i="0" u="sng" strike="noStrike">
                          <a:solidFill>
                            <a:schemeClr val="tx1"/>
                          </a:solidFill>
                          <a:latin typeface="+mn-lt"/>
                          <a:hlinkClick r:id="rId9" tooltip="https://www.notion.so/V7-Expanding-on-ANOVA-repeated-measures-ad5777894862433e9233cc41eb0d409b"/>
                        </a:rPr>
                        <a:t>V7 ANCOVA</a:t>
                      </a:r>
                      <a:endParaRPr lang="de-DE" sz="1400" b="0" i="0" u="none" strike="noStrike">
                        <a:solidFill>
                          <a:schemeClr val="tx1"/>
                        </a:solidFill>
                        <a:latin typeface="+mn-lt"/>
                      </a:endParaRPr>
                    </a:p>
                  </a:txBody>
                  <a:tcPr marL="8982" marR="8982" marT="8982" marB="0" anchor="ctr">
                    <a:lnL w="1270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r">
                        <a:defRPr/>
                      </a:pPr>
                      <a:r>
                        <a:rPr lang="de-DE" sz="1400" b="0"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0000"/>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vMerge="1">
                  <a:txBody>
                    <a:bodyPr/>
                    <a:p>
                      <a:pPr>
                        <a:defRPr/>
                      </a:pPr>
                      <a:endParaRPr lang="de-DE"/>
                    </a:p>
                  </a:txBody>
                  <a:tcPr/>
                </a:tc>
              </a:tr>
              <a:tr h="453070">
                <a:tc>
                  <a:txBody>
                    <a:bodyPr/>
                    <a:p>
                      <a:pPr algn="l">
                        <a:defRPr/>
                      </a:pPr>
                      <a:r>
                        <a:rPr lang="de-DE" sz="1400" b="0" i="0" u="sng" strike="noStrike">
                          <a:solidFill>
                            <a:schemeClr val="tx1"/>
                          </a:solidFill>
                          <a:latin typeface="+mn-lt"/>
                          <a:hlinkClick r:id="rId10" tooltip="https://www.notion.so/V8-Multilevel-Models-ab5822cd4f0f4357a2d47a4d611fa78d"/>
                        </a:rPr>
                        <a:t>V8 Paired and one-sample t-test/ANOVA</a:t>
                      </a:r>
                      <a:endParaRPr lang="de-DE" sz="1400" b="0" i="0" u="none" strike="noStrike">
                        <a:solidFill>
                          <a:schemeClr val="tx1"/>
                        </a:solidFill>
                        <a:latin typeface="+mn-lt"/>
                      </a:endParaRPr>
                    </a:p>
                  </a:txBody>
                  <a:tcPr marL="8982" marR="8982" marT="8982" marB="0" anchor="ctr">
                    <a:lnL w="1270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r">
                        <a:defRPr/>
                      </a:pPr>
                      <a:r>
                        <a:rPr lang="de-DE" sz="1400" b="0"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0000"/>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vMerge="1">
                  <a:txBody>
                    <a:bodyPr/>
                    <a:p>
                      <a:pPr>
                        <a:defRPr/>
                      </a:pPr>
                      <a:endParaRPr lang="de-DE"/>
                    </a:p>
                  </a:txBody>
                  <a:tcPr/>
                </a:tc>
              </a:tr>
              <a:tr h="453070">
                <a:tc>
                  <a:txBody>
                    <a:bodyPr/>
                    <a:p>
                      <a:pPr algn="l">
                        <a:defRPr/>
                      </a:pPr>
                      <a:r>
                        <a:rPr lang="de-DE" sz="1400" b="0" i="0" u="sng" strike="noStrike">
                          <a:solidFill>
                            <a:schemeClr val="tx1"/>
                          </a:solidFill>
                          <a:latin typeface="+mn-lt"/>
                          <a:hlinkClick r:id="rId11" tooltip="https://www.notion.so/V10-Data-Screening-outliers-dealing-with-missing-data-79f659746cf6420cbec8ca0a52c75180"/>
                        </a:rPr>
                        <a:t>V10 Multilevel modeling</a:t>
                      </a:r>
                      <a:endParaRPr lang="de-DE" sz="1400" b="0" i="0" u="none" strike="noStrike">
                        <a:solidFill>
                          <a:schemeClr val="tx1"/>
                        </a:solidFill>
                        <a:latin typeface="+mn-lt"/>
                      </a:endParaRPr>
                    </a:p>
                  </a:txBody>
                  <a:tcPr marL="8982" marR="8982" marT="8982" marB="0" anchor="ctr">
                    <a:lnL w="1270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r">
                        <a:defRPr/>
                      </a:pPr>
                      <a:r>
                        <a:rPr lang="de-DE" sz="1400" b="0"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0000"/>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vMerge="1">
                  <a:txBody>
                    <a:bodyPr/>
                    <a:p>
                      <a:pPr>
                        <a:defRPr/>
                      </a:pPr>
                      <a:endParaRPr lang="de-DE"/>
                    </a:p>
                  </a:txBody>
                  <a:tcPr/>
                </a:tc>
              </a:tr>
              <a:tr h="453070">
                <a:tc>
                  <a:txBody>
                    <a:bodyPr/>
                    <a:p>
                      <a:pPr algn="l">
                        <a:defRPr/>
                      </a:pPr>
                      <a:r>
                        <a:rPr lang="de-DE" sz="1400" b="0" i="0" u="sng" strike="noStrike">
                          <a:solidFill>
                            <a:schemeClr val="tx1"/>
                          </a:solidFill>
                          <a:latin typeface="+mn-lt"/>
                          <a:hlinkClick r:id="rId12" tooltip="https://www.notion.so/V11-Logistic-Regression-176dc99bd77d4f669dfa9d48c8a8ac8d"/>
                        </a:rPr>
                        <a:t>V11: Logistic Regression</a:t>
                      </a:r>
                      <a:endParaRPr lang="de-DE" sz="1400" b="0" i="0" u="none" strike="noStrike">
                        <a:solidFill>
                          <a:schemeClr val="tx1"/>
                        </a:solidFill>
                        <a:latin typeface="+mn-lt"/>
                      </a:endParaRPr>
                    </a:p>
                  </a:txBody>
                  <a:tcPr marL="8982" marR="8982" marT="8982" marB="0" anchor="ctr">
                    <a:lnL w="1270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r">
                        <a:defRPr/>
                      </a:pPr>
                      <a:r>
                        <a:rPr lang="de-DE" sz="1400" b="0"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0000"/>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miter/>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vMerge="1">
                  <a:txBody>
                    <a:bodyPr/>
                    <a:p>
                      <a:pPr>
                        <a:defRPr/>
                      </a:pPr>
                      <a:endParaRPr lang="de-DE"/>
                    </a:p>
                  </a:txBody>
                  <a:tcPr/>
                </a:tc>
              </a:tr>
              <a:tr h="453070">
                <a:tc>
                  <a:txBody>
                    <a:bodyPr/>
                    <a:p>
                      <a:pPr algn="l">
                        <a:defRPr/>
                      </a:pPr>
                      <a:r>
                        <a:rPr lang="de-DE" sz="1400" b="0" i="0" u="sng" strike="noStrike">
                          <a:solidFill>
                            <a:schemeClr val="tx1"/>
                          </a:solidFill>
                          <a:latin typeface="+mn-lt"/>
                          <a:hlinkClick r:id="rId13" tooltip="https://www.notion.so/V12-A-brief-introduction-to-Bayesian-statistics-I-b9ce47dd4afc48758cbbfe9b4db3831c"/>
                        </a:rPr>
                        <a:t>V12 Outliers &amp; co. </a:t>
                      </a:r>
                      <a:endParaRPr lang="de-DE" sz="1400" b="0" i="0" u="none" strike="noStrike">
                        <a:solidFill>
                          <a:schemeClr val="tx1"/>
                        </a:solidFill>
                        <a:latin typeface="+mn-lt"/>
                      </a:endParaRPr>
                    </a:p>
                  </a:txBody>
                  <a:tcPr marL="8982" marR="8982" marT="8982" marB="0" anchor="ctr">
                    <a:lnL w="1270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r">
                        <a:defRPr/>
                      </a:pPr>
                      <a:r>
                        <a:rPr lang="de-DE" sz="1400" b="0"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vMerge="1">
                  <a:txBody>
                    <a:bodyPr/>
                    <a:p>
                      <a:pPr>
                        <a:defRPr/>
                      </a:pPr>
                      <a:endParaRPr lang="de-DE"/>
                    </a:p>
                  </a:txBody>
                  <a:tcPr/>
                </a:tc>
              </a:tr>
              <a:tr h="453070">
                <a:tc>
                  <a:txBody>
                    <a:bodyPr/>
                    <a:p>
                      <a:pPr algn="l">
                        <a:defRPr/>
                      </a:pPr>
                      <a:r>
                        <a:rPr lang="de-DE" sz="1400" b="0" i="0" u="sng" strike="noStrike">
                          <a:solidFill>
                            <a:schemeClr val="tx1"/>
                          </a:solidFill>
                          <a:latin typeface="+mn-lt"/>
                          <a:hlinkClick r:id="rId14" tooltip="https://www.notion.so/V13-A-brief-introduction-to-Bayesian-statistics-II-d2594dc036074bf4a73fc4c6e04be2c5"/>
                        </a:rPr>
                        <a:t>V13 </a:t>
                      </a:r>
                      <a:r>
                        <a:rPr lang="de-DE" sz="1400" b="0" i="0" u="sng" strike="noStrike">
                          <a:solidFill>
                            <a:schemeClr val="tx1"/>
                          </a:solidFill>
                          <a:latin typeface="+mn-lt"/>
                          <a:hlinkClick r:id="rId14" tooltip="https://www.notion.so/V13-A-brief-introduction-to-Bayesian-statistics-II-d2594dc036074bf4a73fc4c6e04be2c5"/>
                        </a:rPr>
                        <a:t>Bayesian</a:t>
                      </a:r>
                      <a:r>
                        <a:rPr lang="de-DE" sz="1400" b="0" i="0" u="sng" strike="noStrike">
                          <a:solidFill>
                            <a:schemeClr val="tx1"/>
                          </a:solidFill>
                          <a:latin typeface="+mn-lt"/>
                          <a:hlinkClick r:id="rId14" tooltip="https://www.notion.so/V13-A-brief-introduction-to-Bayesian-statistics-II-d2594dc036074bf4a73fc4c6e04be2c5"/>
                        </a:rPr>
                        <a:t> </a:t>
                      </a:r>
                      <a:r>
                        <a:rPr lang="de-DE" sz="1400" b="0" i="0" u="sng" strike="noStrike">
                          <a:solidFill>
                            <a:schemeClr val="tx1"/>
                          </a:solidFill>
                          <a:latin typeface="+mn-lt"/>
                          <a:hlinkClick r:id="rId14" tooltip="https://www.notion.so/V13-A-brief-introduction-to-Bayesian-statistics-II-d2594dc036074bf4a73fc4c6e04be2c5"/>
                        </a:rPr>
                        <a:t>statistics</a:t>
                      </a:r>
                      <a:r>
                        <a:rPr lang="de-DE" sz="1400" b="0" i="0" u="sng" strike="noStrike">
                          <a:solidFill>
                            <a:schemeClr val="tx1"/>
                          </a:solidFill>
                          <a:latin typeface="+mn-lt"/>
                          <a:hlinkClick r:id="rId14" tooltip="https://www.notion.so/V13-A-brief-introduction-to-Bayesian-statistics-II-d2594dc036074bf4a73fc4c6e04be2c5"/>
                        </a:rPr>
                        <a:t> I</a:t>
                      </a:r>
                      <a:endParaRPr lang="de-DE" sz="1400" b="0" i="0" u="none" strike="noStrike">
                        <a:solidFill>
                          <a:schemeClr val="tx1"/>
                        </a:solidFill>
                        <a:latin typeface="+mn-lt"/>
                      </a:endParaRPr>
                    </a:p>
                  </a:txBody>
                  <a:tcPr marL="8982" marR="8982" marT="8982" marB="0" anchor="ctr">
                    <a:lnL w="1270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r">
                        <a:defRPr/>
                      </a:pPr>
                      <a:r>
                        <a:rPr lang="de-DE" sz="1400" b="0"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0000"/>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vMerge="1">
                  <a:txBody>
                    <a:bodyPr/>
                    <a:p>
                      <a:pPr>
                        <a:defRPr/>
                      </a:pPr>
                      <a:endParaRPr lang="de-DE"/>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Titel 1"/>
          <p:cNvSpPr>
            <a:spLocks noGrp="1"/>
          </p:cNvSpPr>
          <p:nvPr>
            <p:ph type="title" idx="4294967295"/>
          </p:nvPr>
        </p:nvSpPr>
        <p:spPr bwMode="auto">
          <a:xfrm>
            <a:off x="1944687" y="1287016"/>
            <a:ext cx="14398625" cy="1260475"/>
          </a:xfrm>
        </p:spPr>
        <p:txBody>
          <a:bodyPr vert="horz">
            <a:normAutofit fontScale="90000"/>
          </a:bodyPr>
          <a:lstStyle/>
          <a:p>
            <a:pPr>
              <a:defRPr/>
            </a:pPr>
            <a:r>
              <a:rPr lang="de-DE"/>
              <a:t>That</a:t>
            </a:r>
            <a:r>
              <a:rPr lang="de-DE"/>
              <a:t> </a:t>
            </a:r>
            <a:r>
              <a:rPr lang="de-DE"/>
              <a:t>is</a:t>
            </a:r>
            <a:r>
              <a:rPr lang="de-DE"/>
              <a:t> </a:t>
            </a:r>
            <a:r>
              <a:rPr lang="de-DE"/>
              <a:t>how</a:t>
            </a:r>
            <a:r>
              <a:rPr lang="de-DE"/>
              <a:t> Marie </a:t>
            </a:r>
            <a:r>
              <a:rPr lang="de-DE"/>
              <a:t>could</a:t>
            </a:r>
            <a:r>
              <a:rPr lang="de-DE"/>
              <a:t> </a:t>
            </a:r>
            <a:r>
              <a:rPr lang="de-DE"/>
              <a:t>have</a:t>
            </a:r>
            <a:r>
              <a:rPr lang="de-DE"/>
              <a:t> </a:t>
            </a:r>
            <a:r>
              <a:rPr lang="de-DE"/>
              <a:t>studied</a:t>
            </a:r>
            <a:r>
              <a:rPr lang="de-DE"/>
              <a:t>...</a:t>
            </a:r>
            <a:br>
              <a:rPr lang="de-DE"/>
            </a:br>
            <a:endParaRPr lang="de-DE"/>
          </a:p>
        </p:txBody>
      </p:sp>
      <p:pic>
        <p:nvPicPr>
          <p:cNvPr id="11" name="Grafik 10" descr="Marke Fragezeichen"/>
          <p:cNvPicPr>
            <a:picLocks noChangeAspect="1"/>
          </p:cNvPicPr>
          <p:nvPr/>
        </p:nvPicPr>
        <p:blipFill>
          <a:blip r:embed="rId3"/>
          <a:stretch/>
        </p:blipFill>
        <p:spPr bwMode="auto">
          <a:xfrm>
            <a:off x="1476624" y="1760670"/>
            <a:ext cx="914400" cy="914400"/>
          </a:xfrm>
          <a:prstGeom prst="rect">
            <a:avLst/>
          </a:prstGeom>
        </p:spPr>
      </p:pic>
      <p:graphicFrame>
        <p:nvGraphicFramePr>
          <p:cNvPr id="13" name="Tabelle 12"/>
          <p:cNvGraphicFramePr>
            <a:graphicFrameLocks xmlns:a="http://schemas.openxmlformats.org/drawingml/2006/main" noGrp="1"/>
          </p:cNvGraphicFramePr>
          <p:nvPr/>
        </p:nvGraphicFramePr>
        <p:xfrm>
          <a:off x="863079" y="2125973"/>
          <a:ext cx="16561842" cy="7282298"/>
        </p:xfrm>
        <a:graphic>
          <a:graphicData uri="http://schemas.openxmlformats.org/drawingml/2006/table">
            <a:tbl>
              <a:tblPr firstRow="0" firstCol="0" lastRow="0" lastCol="0" bandRow="0" bandCol="0"/>
              <a:tblGrid>
                <a:gridCol w="2935302"/>
                <a:gridCol w="757030"/>
                <a:gridCol w="757030"/>
                <a:gridCol w="757030"/>
                <a:gridCol w="757030"/>
                <a:gridCol w="757030"/>
                <a:gridCol w="757030"/>
                <a:gridCol w="757030"/>
                <a:gridCol w="757030"/>
                <a:gridCol w="757030"/>
                <a:gridCol w="757030"/>
                <a:gridCol w="757030"/>
                <a:gridCol w="757030"/>
                <a:gridCol w="757030"/>
                <a:gridCol w="757030"/>
                <a:gridCol w="757030"/>
                <a:gridCol w="757030"/>
                <a:gridCol w="757030"/>
                <a:gridCol w="757030"/>
              </a:tblGrid>
              <a:tr h="446460">
                <a:tc gridSpan="19">
                  <a:txBody>
                    <a:bodyPr/>
                    <a:p>
                      <a:pPr algn="ctr">
                        <a:defRPr/>
                      </a:pPr>
                      <a:r>
                        <a:rPr lang="de-DE" sz="1400" b="1" i="0" u="none" strike="noStrike">
                          <a:solidFill>
                            <a:schemeClr val="tx1"/>
                          </a:solidFill>
                          <a:latin typeface="+mn-lt"/>
                        </a:rPr>
                        <a:t>WiSe 2023/24</a:t>
                      </a:r>
                      <a:endParaRPr/>
                    </a:p>
                  </a:txBody>
                  <a:tcPr marL="8982" marR="8982" marT="8982" marB="0" anchor="b">
                    <a:lnL w="12700" algn="ctr">
                      <a:noFill/>
                    </a:lnL>
                    <a:lnR w="12700" algn="ctr">
                      <a:noFill/>
                    </a:lnR>
                    <a:lnT w="6350" algn="ctr">
                      <a:solidFill>
                        <a:srgbClr val="000000"/>
                      </a:solidFill>
                    </a:lnT>
                    <a:lnB w="12700" algn="ctr">
                      <a:solidFill>
                        <a:srgbClr val="000000"/>
                      </a:solidFill>
                    </a:lnB>
                  </a:tcPr>
                </a:tc>
                <a:tc hMerge="1">
                  <a:txBody>
                    <a:bodyPr/>
                    <a:p>
                      <a:endParaRPr/>
                    </a:p>
                  </a:txBody>
                </a:tc>
                <a:tc hMerge="1">
                  <a:txBody>
                    <a:bodyPr/>
                    <a:p>
                      <a:endParaRPr/>
                    </a:p>
                  </a:txBody>
                </a:tc>
                <a:tc hMerge="1">
                  <a:txBody>
                    <a:bodyPr/>
                    <a:p>
                      <a:endParaRPr/>
                    </a:p>
                  </a:txBody>
                </a:tc>
                <a:tc hMerge="1">
                  <a:txBody>
                    <a:bodyPr/>
                    <a:p>
                      <a:endParaRPr/>
                    </a:p>
                  </a:txBody>
                </a:tc>
                <a:tc hMerge="1">
                  <a:txBody>
                    <a:bodyPr/>
                    <a:p>
                      <a:endParaRPr/>
                    </a:p>
                  </a:txBody>
                </a:tc>
                <a:tc hMerge="1">
                  <a:txBody>
                    <a:bodyPr/>
                    <a:p>
                      <a:endParaRPr/>
                    </a:p>
                  </a:txBody>
                </a:tc>
                <a:tc hMerge="1">
                  <a:txBody>
                    <a:bodyPr/>
                    <a:p>
                      <a:endParaRPr/>
                    </a:p>
                  </a:txBody>
                </a:tc>
                <a:tc hMerge="1">
                  <a:txBody>
                    <a:bodyPr/>
                    <a:p>
                      <a:endParaRPr/>
                    </a:p>
                  </a:txBody>
                </a:tc>
                <a:tc hMerge="1">
                  <a:txBody>
                    <a:bodyPr/>
                    <a:p>
                      <a:endParaRPr/>
                    </a:p>
                  </a:txBody>
                </a:tc>
                <a:tc hMerge="1">
                  <a:txBody>
                    <a:bodyPr/>
                    <a:p>
                      <a:endParaRPr/>
                    </a:p>
                  </a:txBody>
                </a:tc>
                <a:tc hMerge="1">
                  <a:txBody>
                    <a:bodyPr/>
                    <a:p>
                      <a:endParaRPr/>
                    </a:p>
                  </a:txBody>
                </a:tc>
                <a:tc hMerge="1">
                  <a:txBody>
                    <a:bodyPr/>
                    <a:p>
                      <a:endParaRPr/>
                    </a:p>
                  </a:txBody>
                </a:tc>
                <a:tc hMerge="1">
                  <a:txBody>
                    <a:bodyPr/>
                    <a:p>
                      <a:endParaRPr/>
                    </a:p>
                  </a:txBody>
                </a:tc>
                <a:tc hMerge="1">
                  <a:txBody>
                    <a:bodyPr/>
                    <a:p>
                      <a:endParaRPr/>
                    </a:p>
                  </a:txBody>
                </a:tc>
                <a:tc hMerge="1">
                  <a:txBody>
                    <a:bodyPr/>
                    <a:p>
                      <a:endParaRPr/>
                    </a:p>
                  </a:txBody>
                </a:tc>
                <a:tc hMerge="1">
                  <a:txBody>
                    <a:bodyPr/>
                    <a:p>
                      <a:endParaRPr/>
                    </a:p>
                  </a:txBody>
                </a:tc>
                <a:tc hMerge="1">
                  <a:txBody>
                    <a:bodyPr/>
                    <a:p>
                      <a:endParaRPr/>
                    </a:p>
                  </a:txBody>
                </a:tc>
                <a:tc hMerge="1">
                  <a:txBody>
                    <a:bodyPr/>
                    <a:p>
                      <a:endParaRPr/>
                    </a:p>
                  </a:txBody>
                </a:tc>
              </a:tr>
              <a:tr h="393936">
                <a:tc>
                  <a:txBody>
                    <a:bodyPr/>
                    <a:p>
                      <a:pPr algn="l">
                        <a:defRPr/>
                      </a:pPr>
                      <a:endParaRPr lang="de-DE" sz="1400" b="0" i="0" u="none" strike="noStrike">
                        <a:solidFill>
                          <a:schemeClr val="tx1"/>
                        </a:solidFill>
                        <a:latin typeface="+mn-lt"/>
                      </a:endParaRPr>
                    </a:p>
                  </a:txBody>
                  <a:tcPr marL="8982" marR="8982" marT="8982" marB="0" anchor="b">
                    <a:lnL w="12700" algn="ctr">
                      <a:noFill/>
                    </a:lnL>
                    <a:lnR w="12700" algn="ctr">
                      <a:noFill/>
                    </a:lnR>
                    <a:lnT w="12700" algn="ctr">
                      <a:solidFill>
                        <a:srgbClr val="000000"/>
                      </a:solidFill>
                    </a:lnT>
                    <a:lnB w="6350" algn="ctr">
                      <a:solidFill>
                        <a:srgbClr val="000000"/>
                      </a:solidFill>
                    </a:lnB>
                  </a:tcPr>
                </a:tc>
                <a:tc>
                  <a:txBody>
                    <a:bodyPr/>
                    <a:p>
                      <a:pPr algn="l">
                        <a:defRPr/>
                      </a:pPr>
                      <a:endParaRPr lang="de-DE" sz="1400" b="0" i="0" u="none" strike="noStrike">
                        <a:solidFill>
                          <a:schemeClr val="tx1"/>
                        </a:solidFill>
                        <a:latin typeface="+mn-lt"/>
                      </a:endParaRPr>
                    </a:p>
                  </a:txBody>
                  <a:tcPr marL="8982" marR="8982" marT="8982" marB="0" anchor="b">
                    <a:lnL w="12700" algn="ctr">
                      <a:noFill/>
                    </a:lnL>
                    <a:lnR w="12700" algn="ctr">
                      <a:noFill/>
                    </a:lnR>
                    <a:lnT w="12700" algn="ctr">
                      <a:solidFill>
                        <a:srgbClr val="000000"/>
                      </a:solidFill>
                    </a:lnT>
                    <a:lnB w="6350" algn="ctr">
                      <a:solidFill>
                        <a:srgbClr val="000000"/>
                      </a:solidFill>
                    </a:lnB>
                  </a:tcPr>
                </a:tc>
                <a:tc>
                  <a:txBody>
                    <a:bodyPr/>
                    <a:p>
                      <a:pPr algn="ctr">
                        <a:defRPr/>
                      </a:pPr>
                      <a:r>
                        <a:rPr lang="de-DE" sz="1400" b="0" i="0" u="none" strike="noStrike">
                          <a:solidFill>
                            <a:schemeClr val="tx1"/>
                          </a:solidFill>
                          <a:latin typeface="+mn-lt"/>
                        </a:rPr>
                        <a:t>4,0h</a:t>
                      </a:r>
                      <a:endParaRPr/>
                    </a:p>
                  </a:txBody>
                  <a:tcPr marL="8982" marR="8982" marT="8982" marB="0" anchor="ctr">
                    <a:lnL w="12700" algn="ctr">
                      <a:noFill/>
                    </a:lnL>
                    <a:lnR w="12700" algn="ctr">
                      <a:noFill/>
                    </a:lnR>
                    <a:lnT w="12700" algn="ctr">
                      <a:solidFill>
                        <a:srgbClr val="000000"/>
                      </a:solidFill>
                    </a:lnT>
                    <a:lnB w="6350" algn="ctr">
                      <a:solidFill>
                        <a:srgbClr val="000000"/>
                      </a:solidFill>
                    </a:lnB>
                  </a:tcPr>
                </a:tc>
                <a:tc>
                  <a:txBody>
                    <a:bodyPr/>
                    <a:p>
                      <a:pPr algn="ctr">
                        <a:defRPr/>
                      </a:pPr>
                      <a:r>
                        <a:rPr lang="de-DE" sz="1400" b="0" i="0" u="none" strike="noStrike">
                          <a:solidFill>
                            <a:schemeClr val="tx1"/>
                          </a:solidFill>
                          <a:latin typeface="+mn-lt"/>
                        </a:rPr>
                        <a:t>4,0h</a:t>
                      </a:r>
                      <a:endParaRPr/>
                    </a:p>
                  </a:txBody>
                  <a:tcPr marL="8982" marR="8982" marT="8982" marB="0" anchor="ctr">
                    <a:lnL w="12700" algn="ctr">
                      <a:noFill/>
                    </a:lnL>
                    <a:lnR w="12700" algn="ctr">
                      <a:noFill/>
                    </a:lnR>
                    <a:lnT w="12700" algn="ctr">
                      <a:solidFill>
                        <a:srgbClr val="000000"/>
                      </a:solidFill>
                    </a:lnT>
                    <a:lnB w="6350" algn="ctr">
                      <a:solidFill>
                        <a:srgbClr val="000000"/>
                      </a:solidFill>
                    </a:lnB>
                  </a:tcPr>
                </a:tc>
                <a:tc>
                  <a:txBody>
                    <a:bodyPr/>
                    <a:p>
                      <a:pPr algn="ctr">
                        <a:defRPr/>
                      </a:pPr>
                      <a:r>
                        <a:rPr lang="de-DE" sz="1400" b="0" i="0" u="none" strike="noStrike">
                          <a:solidFill>
                            <a:schemeClr val="tx1"/>
                          </a:solidFill>
                          <a:latin typeface="+mn-lt"/>
                        </a:rPr>
                        <a:t>2,0h</a:t>
                      </a:r>
                      <a:endParaRPr/>
                    </a:p>
                  </a:txBody>
                  <a:tcPr marL="8982" marR="8982" marT="8982" marB="0" anchor="ctr">
                    <a:lnL w="12700" algn="ctr">
                      <a:noFill/>
                    </a:lnL>
                    <a:lnR w="12700" algn="ctr">
                      <a:noFill/>
                    </a:lnR>
                    <a:lnT w="12700" algn="ctr">
                      <a:solidFill>
                        <a:srgbClr val="000000"/>
                      </a:solidFill>
                    </a:lnT>
                    <a:lnB w="6350" algn="ctr">
                      <a:solidFill>
                        <a:srgbClr val="000000"/>
                      </a:solidFill>
                    </a:lnB>
                  </a:tcPr>
                </a:tc>
                <a:tc>
                  <a:txBody>
                    <a:bodyPr/>
                    <a:p>
                      <a:pPr algn="ctr">
                        <a:defRPr/>
                      </a:pPr>
                      <a:r>
                        <a:rPr lang="de-DE" sz="1400" b="0" i="0" u="none" strike="noStrike">
                          <a:solidFill>
                            <a:schemeClr val="tx1"/>
                          </a:solidFill>
                          <a:latin typeface="+mn-lt"/>
                        </a:rPr>
                        <a:t>4,0h</a:t>
                      </a:r>
                      <a:endParaRPr/>
                    </a:p>
                  </a:txBody>
                  <a:tcPr marL="8982" marR="8982" marT="8982" marB="0" anchor="ctr">
                    <a:lnL w="12700" algn="ctr">
                      <a:noFill/>
                    </a:lnL>
                    <a:lnR w="12700" algn="ctr">
                      <a:noFill/>
                    </a:lnR>
                    <a:lnT w="12700" algn="ctr">
                      <a:solidFill>
                        <a:srgbClr val="000000"/>
                      </a:solidFill>
                    </a:lnT>
                    <a:lnB w="6350" algn="ctr">
                      <a:solidFill>
                        <a:srgbClr val="000000"/>
                      </a:solidFill>
                    </a:lnB>
                  </a:tcPr>
                </a:tc>
                <a:tc>
                  <a:txBody>
                    <a:bodyPr/>
                    <a:p>
                      <a:pPr algn="ctr">
                        <a:defRPr/>
                      </a:pPr>
                      <a:r>
                        <a:rPr lang="de-DE" sz="1400" b="0" i="0" u="none" strike="noStrike">
                          <a:solidFill>
                            <a:schemeClr val="tx1"/>
                          </a:solidFill>
                          <a:latin typeface="+mn-lt"/>
                        </a:rPr>
                        <a:t>4,0h</a:t>
                      </a:r>
                      <a:endParaRPr/>
                    </a:p>
                  </a:txBody>
                  <a:tcPr marL="8982" marR="8982" marT="8982" marB="0" anchor="ctr">
                    <a:lnL w="12700" algn="ctr">
                      <a:noFill/>
                    </a:lnL>
                    <a:lnR w="12700" algn="ctr">
                      <a:noFill/>
                    </a:lnR>
                    <a:lnT w="12700" algn="ctr">
                      <a:solidFill>
                        <a:srgbClr val="000000"/>
                      </a:solidFill>
                    </a:lnT>
                    <a:lnB w="6350" algn="ctr">
                      <a:solidFill>
                        <a:srgbClr val="000000"/>
                      </a:solidFill>
                    </a:lnB>
                  </a:tcPr>
                </a:tc>
                <a:tc>
                  <a:txBody>
                    <a:bodyPr/>
                    <a:p>
                      <a:pPr algn="ctr">
                        <a:defRPr/>
                      </a:pPr>
                      <a:r>
                        <a:rPr lang="de-DE" sz="1400" b="0" i="0" u="none" strike="noStrike">
                          <a:solidFill>
                            <a:schemeClr val="tx1"/>
                          </a:solidFill>
                          <a:latin typeface="+mn-lt"/>
                        </a:rPr>
                        <a:t>4,0h</a:t>
                      </a:r>
                      <a:endParaRPr/>
                    </a:p>
                  </a:txBody>
                  <a:tcPr marL="8982" marR="8982" marT="8982" marB="0" anchor="ctr">
                    <a:lnL w="12700" algn="ctr">
                      <a:noFill/>
                    </a:lnL>
                    <a:lnR w="12700" algn="ctr">
                      <a:noFill/>
                    </a:lnR>
                    <a:lnT w="12700" algn="ctr">
                      <a:solidFill>
                        <a:srgbClr val="000000"/>
                      </a:solidFill>
                    </a:lnT>
                    <a:lnB w="6350" algn="ctr">
                      <a:solidFill>
                        <a:srgbClr val="000000"/>
                      </a:solidFill>
                    </a:lnB>
                  </a:tcPr>
                </a:tc>
                <a:tc>
                  <a:txBody>
                    <a:bodyPr/>
                    <a:p>
                      <a:pPr algn="ctr">
                        <a:defRPr/>
                      </a:pPr>
                      <a:r>
                        <a:rPr lang="de-DE" sz="1400" b="0" i="0" u="none" strike="noStrike">
                          <a:solidFill>
                            <a:schemeClr val="tx1"/>
                          </a:solidFill>
                          <a:latin typeface="+mn-lt"/>
                        </a:rPr>
                        <a:t>3,0h</a:t>
                      </a:r>
                      <a:endParaRPr/>
                    </a:p>
                  </a:txBody>
                  <a:tcPr marL="8982" marR="8982" marT="8982" marB="0" anchor="ctr">
                    <a:lnL w="12700" algn="ctr">
                      <a:noFill/>
                    </a:lnL>
                    <a:lnR w="12700" algn="ctr">
                      <a:noFill/>
                    </a:lnR>
                    <a:lnT w="12700" algn="ctr">
                      <a:solidFill>
                        <a:srgbClr val="000000"/>
                      </a:solidFill>
                    </a:lnT>
                    <a:lnB w="6350" algn="ctr">
                      <a:solidFill>
                        <a:srgbClr val="000000"/>
                      </a:solidFill>
                    </a:lnB>
                  </a:tcPr>
                </a:tc>
                <a:tc>
                  <a:txBody>
                    <a:bodyPr/>
                    <a:p>
                      <a:pPr algn="ctr">
                        <a:defRPr/>
                      </a:pPr>
                      <a:r>
                        <a:rPr lang="de-DE" sz="1400" b="0" i="0" u="none" strike="noStrike">
                          <a:solidFill>
                            <a:schemeClr val="tx1"/>
                          </a:solidFill>
                          <a:latin typeface="+mn-lt"/>
                        </a:rPr>
                        <a:t>3,0h</a:t>
                      </a:r>
                      <a:endParaRPr/>
                    </a:p>
                  </a:txBody>
                  <a:tcPr marL="8982" marR="8982" marT="8982" marB="0" anchor="ctr">
                    <a:lnL w="12700" algn="ctr">
                      <a:noFill/>
                    </a:lnL>
                    <a:lnR w="12700" algn="ctr">
                      <a:noFill/>
                    </a:lnR>
                    <a:lnT w="12700" algn="ctr">
                      <a:solidFill>
                        <a:srgbClr val="000000"/>
                      </a:solidFill>
                    </a:lnT>
                    <a:lnB w="6350" algn="ctr">
                      <a:solidFill>
                        <a:srgbClr val="000000"/>
                      </a:solidFill>
                    </a:lnB>
                  </a:tcPr>
                </a:tc>
                <a:tc>
                  <a:txBody>
                    <a:bodyPr/>
                    <a:p>
                      <a:pPr algn="ctr">
                        <a:defRPr/>
                      </a:pPr>
                      <a:r>
                        <a:rPr lang="de-DE" sz="1400" b="0" i="0" u="none" strike="noStrike">
                          <a:solidFill>
                            <a:schemeClr val="tx1"/>
                          </a:solidFill>
                          <a:latin typeface="+mn-lt"/>
                        </a:rPr>
                        <a:t>3,0h</a:t>
                      </a:r>
                      <a:endParaRPr/>
                    </a:p>
                  </a:txBody>
                  <a:tcPr marL="8982" marR="8982" marT="8982" marB="0" anchor="ctr">
                    <a:lnL w="12700" algn="ctr">
                      <a:noFill/>
                    </a:lnL>
                    <a:lnR w="12700" algn="ctr">
                      <a:noFill/>
                    </a:lnR>
                    <a:lnT w="12700" algn="ctr">
                      <a:solidFill>
                        <a:srgbClr val="000000"/>
                      </a:solidFill>
                    </a:lnT>
                    <a:lnB w="6350" algn="ctr">
                      <a:solidFill>
                        <a:srgbClr val="000000"/>
                      </a:solidFill>
                    </a:lnB>
                  </a:tcPr>
                </a:tc>
                <a:tc>
                  <a:txBody>
                    <a:bodyPr/>
                    <a:p>
                      <a:pPr algn="ctr">
                        <a:defRPr/>
                      </a:pPr>
                      <a:r>
                        <a:rPr lang="de-DE" sz="1400" b="0" i="0" u="none" strike="noStrike">
                          <a:solidFill>
                            <a:schemeClr val="tx1"/>
                          </a:solidFill>
                          <a:latin typeface="+mn-lt"/>
                        </a:rPr>
                        <a:t>3,0h</a:t>
                      </a:r>
                      <a:endParaRPr/>
                    </a:p>
                  </a:txBody>
                  <a:tcPr marL="8982" marR="8982" marT="8982" marB="0" anchor="ctr">
                    <a:lnL w="12700" algn="ctr">
                      <a:noFill/>
                    </a:lnL>
                    <a:lnR w="12700" algn="ctr">
                      <a:noFill/>
                    </a:lnR>
                    <a:lnT w="12700" algn="ctr">
                      <a:solidFill>
                        <a:srgbClr val="000000"/>
                      </a:solidFill>
                    </a:lnT>
                    <a:lnB w="6350" algn="ctr">
                      <a:solidFill>
                        <a:srgbClr val="000000"/>
                      </a:solidFill>
                    </a:lnB>
                  </a:tcPr>
                </a:tc>
                <a:tc>
                  <a:txBody>
                    <a:bodyPr/>
                    <a:p>
                      <a:pPr algn="ctr">
                        <a:defRPr/>
                      </a:pPr>
                      <a:r>
                        <a:rPr lang="de-DE" sz="1400" b="0" i="0" u="none" strike="noStrike">
                          <a:solidFill>
                            <a:schemeClr val="tx1"/>
                          </a:solidFill>
                          <a:latin typeface="+mn-lt"/>
                        </a:rPr>
                        <a:t>1,0h</a:t>
                      </a:r>
                      <a:endParaRPr/>
                    </a:p>
                  </a:txBody>
                  <a:tcPr marL="8982" marR="8982" marT="8982" marB="0" anchor="ctr">
                    <a:lnL w="12700" algn="ctr">
                      <a:noFill/>
                    </a:lnL>
                    <a:lnR w="12700" algn="ctr">
                      <a:noFill/>
                    </a:lnR>
                    <a:lnT w="12700" algn="ctr">
                      <a:solidFill>
                        <a:srgbClr val="000000"/>
                      </a:solidFill>
                    </a:lnT>
                    <a:lnB w="6350" algn="ctr">
                      <a:solidFill>
                        <a:srgbClr val="000000"/>
                      </a:solidFill>
                    </a:lnB>
                  </a:tcPr>
                </a:tc>
                <a:tc>
                  <a:txBody>
                    <a:bodyPr/>
                    <a:p>
                      <a:pPr algn="ctr">
                        <a:defRPr/>
                      </a:pPr>
                      <a:r>
                        <a:rPr lang="de-DE" sz="1400" b="0" i="0" u="none" strike="noStrike">
                          <a:solidFill>
                            <a:schemeClr val="tx1"/>
                          </a:solidFill>
                          <a:latin typeface="+mn-lt"/>
                        </a:rPr>
                        <a:t>2,0h</a:t>
                      </a:r>
                      <a:endParaRPr/>
                    </a:p>
                  </a:txBody>
                  <a:tcPr marL="8982" marR="8982" marT="8982" marB="0" anchor="ctr">
                    <a:lnL w="12700" algn="ctr">
                      <a:noFill/>
                    </a:lnL>
                    <a:lnR w="12700" algn="ctr">
                      <a:noFill/>
                    </a:lnR>
                    <a:lnT w="12700" algn="ctr">
                      <a:solidFill>
                        <a:srgbClr val="000000"/>
                      </a:solidFill>
                    </a:lnT>
                    <a:lnB w="6350" algn="ctr">
                      <a:solidFill>
                        <a:srgbClr val="000000"/>
                      </a:solidFill>
                    </a:lnB>
                  </a:tcPr>
                </a:tc>
                <a:tc>
                  <a:txBody>
                    <a:bodyPr/>
                    <a:p>
                      <a:pPr algn="ctr">
                        <a:defRPr/>
                      </a:pPr>
                      <a:r>
                        <a:rPr lang="de-DE" sz="1400" b="0" i="0" u="none" strike="noStrike">
                          <a:solidFill>
                            <a:schemeClr val="tx1"/>
                          </a:solidFill>
                          <a:latin typeface="+mn-lt"/>
                        </a:rPr>
                        <a:t>2,0h</a:t>
                      </a:r>
                      <a:endParaRPr/>
                    </a:p>
                  </a:txBody>
                  <a:tcPr marL="8982" marR="8982" marT="8982" marB="0" anchor="ctr">
                    <a:lnL w="12700" algn="ctr">
                      <a:noFill/>
                    </a:lnL>
                    <a:lnR w="12700" algn="ctr">
                      <a:noFill/>
                    </a:lnR>
                    <a:lnT w="12700" algn="ctr">
                      <a:solidFill>
                        <a:srgbClr val="000000"/>
                      </a:solidFill>
                    </a:lnT>
                    <a:lnB w="6350" algn="ctr">
                      <a:solidFill>
                        <a:srgbClr val="000000"/>
                      </a:solidFill>
                    </a:lnB>
                  </a:tcPr>
                </a:tc>
                <a:tc>
                  <a:txBody>
                    <a:bodyPr/>
                    <a:p>
                      <a:pPr algn="ctr">
                        <a:defRPr/>
                      </a:pPr>
                      <a:r>
                        <a:rPr lang="de-DE" sz="1400" b="0" i="0" u="none" strike="noStrike">
                          <a:solidFill>
                            <a:schemeClr val="tx1"/>
                          </a:solidFill>
                          <a:latin typeface="+mn-lt"/>
                        </a:rPr>
                        <a:t>3,0h</a:t>
                      </a:r>
                      <a:endParaRPr/>
                    </a:p>
                  </a:txBody>
                  <a:tcPr marL="8982" marR="8982" marT="8982" marB="0" anchor="ctr">
                    <a:lnL w="12700" algn="ctr">
                      <a:noFill/>
                    </a:lnL>
                    <a:lnR w="12700" algn="ctr">
                      <a:noFill/>
                    </a:lnR>
                    <a:lnT w="12700" algn="ctr">
                      <a:solidFill>
                        <a:srgbClr val="000000"/>
                      </a:solidFill>
                    </a:lnT>
                    <a:lnB w="6350" algn="ctr">
                      <a:solidFill>
                        <a:srgbClr val="000000"/>
                      </a:solidFill>
                    </a:lnB>
                  </a:tcPr>
                </a:tc>
                <a:tc>
                  <a:txBody>
                    <a:bodyPr/>
                    <a:p>
                      <a:pPr algn="ctr">
                        <a:defRPr/>
                      </a:pPr>
                      <a:r>
                        <a:rPr lang="de-DE" sz="1400" b="0" i="0" u="none" strike="noStrike">
                          <a:solidFill>
                            <a:schemeClr val="tx1"/>
                          </a:solidFill>
                          <a:latin typeface="+mn-lt"/>
                        </a:rPr>
                        <a:t>1,0h</a:t>
                      </a:r>
                      <a:endParaRPr/>
                    </a:p>
                  </a:txBody>
                  <a:tcPr marL="8982" marR="8982" marT="8982" marB="0" anchor="ctr">
                    <a:lnL w="12700" algn="ctr">
                      <a:noFill/>
                    </a:lnL>
                    <a:lnR w="12700" algn="ctr">
                      <a:noFill/>
                    </a:lnR>
                    <a:lnT w="12700" algn="ctr">
                      <a:solidFill>
                        <a:srgbClr val="000000"/>
                      </a:solidFill>
                    </a:lnT>
                    <a:lnB w="6350" algn="ctr">
                      <a:solidFill>
                        <a:srgbClr val="000000"/>
                      </a:solidFill>
                    </a:lnB>
                  </a:tcPr>
                </a:tc>
                <a:tc>
                  <a:txBody>
                    <a:bodyPr/>
                    <a:p>
                      <a:pPr algn="ctr">
                        <a:defRPr/>
                      </a:pPr>
                      <a:r>
                        <a:rPr lang="de-DE" sz="1400" b="0" i="0" u="none" strike="noStrike">
                          <a:solidFill>
                            <a:schemeClr val="tx1"/>
                          </a:solidFill>
                          <a:latin typeface="+mn-lt"/>
                        </a:rPr>
                        <a:t>3,0h</a:t>
                      </a:r>
                      <a:endParaRPr/>
                    </a:p>
                  </a:txBody>
                  <a:tcPr marL="8982" marR="8982" marT="8982" marB="0" anchor="ctr">
                    <a:lnL w="12700" algn="ctr">
                      <a:noFill/>
                    </a:lnL>
                    <a:lnR w="6350" algn="ctr">
                      <a:solidFill>
                        <a:srgbClr val="000000"/>
                      </a:solidFill>
                    </a:lnR>
                    <a:lnT w="12700" algn="ctr">
                      <a:solidFill>
                        <a:srgbClr val="000000"/>
                      </a:solidFill>
                    </a:lnT>
                    <a:lnB w="6350" algn="ctr">
                      <a:solidFill>
                        <a:srgbClr val="000000"/>
                      </a:solidFill>
                    </a:lnB>
                  </a:tcPr>
                </a:tc>
                <a:tc>
                  <a:txBody>
                    <a:bodyPr/>
                    <a:p>
                      <a:pPr algn="ctr">
                        <a:defRPr/>
                      </a:pPr>
                      <a:r>
                        <a:rPr lang="de-DE" sz="1400" b="0"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12700" algn="ctr">
                      <a:solidFill>
                        <a:srgbClr val="000000"/>
                      </a:solidFill>
                    </a:lnT>
                    <a:lnB w="6350" algn="ctr">
                      <a:solidFill>
                        <a:srgbClr val="000000"/>
                      </a:solidFill>
                    </a:lnB>
                  </a:tcPr>
                </a:tc>
              </a:tr>
              <a:tr h="393936">
                <a:tc>
                  <a:txBody>
                    <a:bodyPr/>
                    <a:p>
                      <a:pPr algn="l">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tcPr>
                </a:tc>
                <a:tc>
                  <a:txBody>
                    <a:bodyPr/>
                    <a:p>
                      <a:pPr algn="ctr">
                        <a:defRPr/>
                      </a:pPr>
                      <a:r>
                        <a:rPr lang="de-DE" sz="1400" b="0" i="0" u="none" strike="noStrike">
                          <a:solidFill>
                            <a:schemeClr val="tx1"/>
                          </a:solidFill>
                          <a:latin typeface="+mn-lt"/>
                        </a:rPr>
                        <a:t>Level</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tcPr>
                </a:tc>
                <a:tc>
                  <a:txBody>
                    <a:bodyPr/>
                    <a:p>
                      <a:pPr algn="ctr">
                        <a:defRPr/>
                      </a:pPr>
                      <a:r>
                        <a:rPr lang="de-DE" sz="1400" b="0" i="0" u="none" strike="noStrike">
                          <a:solidFill>
                            <a:schemeClr val="tx1"/>
                          </a:solidFill>
                          <a:latin typeface="+mn-lt"/>
                        </a:rPr>
                        <a:t>Sa, 14.1.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Su, 15.1.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Mo, 16.1.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Tu, 17.1.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We</a:t>
                      </a:r>
                      <a:r>
                        <a:rPr lang="de-DE" sz="1400" b="0" i="0" u="none" strike="noStrike">
                          <a:solidFill>
                            <a:schemeClr val="tx1"/>
                          </a:solidFill>
                          <a:latin typeface="+mn-lt"/>
                        </a:rPr>
                        <a:t> 18.1.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Th, 19.1.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Fr, 20.1.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Sa, 21.1.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Su, 22.1.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Mo, 23.1.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Tu, 24.1.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We</a:t>
                      </a:r>
                      <a:r>
                        <a:rPr lang="de-DE" sz="1400" b="0" i="0" u="none" strike="noStrike">
                          <a:solidFill>
                            <a:schemeClr val="tx1"/>
                          </a:solidFill>
                          <a:latin typeface="+mn-lt"/>
                        </a:rPr>
                        <a:t> 25.1.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Th, 26.1.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Fr, 27.1.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Sa, 28.1.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Su, 29.1.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Mo, 30.1.</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r>
              <a:tr h="554368">
                <a:tc>
                  <a:txBody>
                    <a:bodyPr/>
                    <a:p>
                      <a:pPr algn="l">
                        <a:defRPr/>
                      </a:pPr>
                      <a:r>
                        <a:rPr lang="de-DE" sz="1400" b="1" i="0" u="none" strike="noStrike">
                          <a:solidFill>
                            <a:schemeClr val="tx1"/>
                          </a:solidFill>
                          <a:latin typeface="+mn-lt"/>
                        </a:rPr>
                        <a:t>Inferential Statistics</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l">
                        <a:defRPr/>
                      </a:pPr>
                      <a:r>
                        <a:rPr lang="de-DE" sz="1400" b="1"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r>
              <a:tr h="420200">
                <a:tc>
                  <a:txBody>
                    <a:bodyPr/>
                    <a:p>
                      <a:pPr algn="l">
                        <a:defRPr/>
                      </a:pPr>
                      <a:r>
                        <a:rPr lang="de-DE" sz="1400" b="0" i="0" u="sng" strike="noStrike">
                          <a:solidFill>
                            <a:schemeClr val="tx1"/>
                          </a:solidFill>
                          <a:latin typeface="+mn-lt"/>
                          <a:hlinkClick r:id="rId4" tooltip="https://www.notion.so/V2-Matrix-Algebra-on-Moodle-b52b32dc74394a40858f0303c39a2211"/>
                        </a:rPr>
                        <a:t>V2 Matrix Algebra</a:t>
                      </a:r>
                      <a:endParaRPr lang="de-DE" sz="1400" b="0" i="0" u="none" strike="noStrike">
                        <a:solidFill>
                          <a:schemeClr val="tx1"/>
                        </a:solidFill>
                        <a:latin typeface="+mn-lt"/>
                      </a:endParaRPr>
                    </a:p>
                  </a:txBody>
                  <a:tcPr marL="8982" marR="8982" marT="8982" marB="0" anchor="ctr">
                    <a:lnL w="1270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r">
                        <a:defRPr/>
                      </a:pPr>
                      <a:r>
                        <a:rPr lang="de-DE" sz="1400" b="0"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0000"/>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0000"/>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0000"/>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0000"/>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round/>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rowSpan="12">
                  <a:txBody>
                    <a:bodyPr/>
                    <a:p>
                      <a:pPr algn="ctr">
                        <a:defRPr/>
                      </a:pPr>
                      <a:r>
                        <a:rPr lang="de-DE" sz="1400" b="1" i="0" u="none" strike="noStrike">
                          <a:solidFill>
                            <a:schemeClr val="tx1"/>
                          </a:solidFill>
                          <a:latin typeface="+mn-lt"/>
                        </a:rPr>
                        <a:t>Exam</a:t>
                      </a:r>
                      <a:endParaRPr lang="de-DE" sz="1400" b="1" i="0" u="none" strike="noStrike">
                        <a:solidFill>
                          <a:schemeClr val="tx1"/>
                        </a:solidFill>
                        <a:latin typeface="+mn-lt"/>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EB9C"/>
                    </a:solidFill>
                  </a:tcPr>
                </a:tc>
              </a:tr>
              <a:tr h="420200">
                <a:tc>
                  <a:txBody>
                    <a:bodyPr/>
                    <a:p>
                      <a:pPr algn="l">
                        <a:defRPr/>
                      </a:pPr>
                      <a:r>
                        <a:rPr lang="de-DE" sz="1400" b="0" i="0" u="sng" strike="noStrike">
                          <a:solidFill>
                            <a:schemeClr val="tx1"/>
                          </a:solidFill>
                          <a:latin typeface="+mn-lt"/>
                          <a:hlinkClick r:id="rId5" tooltip="https://www.notion.so/V11-Logistic-Regression-176dc99bd77d4f669dfa9d48c8a8ac8d"/>
                        </a:rPr>
                        <a:t>V11: Logistic Regression</a:t>
                      </a:r>
                      <a:endParaRPr lang="de-DE" sz="1400" b="0" i="0" u="none" strike="noStrike">
                        <a:solidFill>
                          <a:schemeClr val="tx1"/>
                        </a:solidFill>
                        <a:latin typeface="+mn-lt"/>
                      </a:endParaRPr>
                    </a:p>
                  </a:txBody>
                  <a:tcPr marL="8982" marR="8982" marT="8982" marB="0" anchor="ctr">
                    <a:lnL w="1270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r">
                        <a:defRPr/>
                      </a:pPr>
                      <a:r>
                        <a:rPr lang="de-DE" sz="1400" b="0"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0000"/>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0000"/>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0000"/>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0000"/>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0000"/>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vMerge="1">
                  <a:txBody>
                    <a:bodyPr/>
                    <a:p>
                      <a:pPr>
                        <a:defRPr/>
                      </a:pPr>
                      <a:endParaRPr lang="de-DE"/>
                    </a:p>
                  </a:txBody>
                  <a:tcPr/>
                </a:tc>
              </a:tr>
              <a:tr h="420200">
                <a:tc>
                  <a:txBody>
                    <a:bodyPr/>
                    <a:p>
                      <a:pPr algn="l">
                        <a:defRPr/>
                      </a:pPr>
                      <a:r>
                        <a:rPr lang="de-DE" sz="1400" b="0" i="0" u="sng" strike="noStrike">
                          <a:solidFill>
                            <a:schemeClr val="tx1"/>
                          </a:solidFill>
                          <a:latin typeface="+mn-lt"/>
                          <a:hlinkClick r:id="rId6" tooltip="https://www.notion.so/V10-Data-Screening-outliers-dealing-with-missing-data-79f659746cf6420cbec8ca0a52c75180"/>
                        </a:rPr>
                        <a:t>V10 Multilevel modeling</a:t>
                      </a:r>
                      <a:endParaRPr lang="de-DE" sz="1400" b="0" i="0" u="none" strike="noStrike">
                        <a:solidFill>
                          <a:schemeClr val="tx1"/>
                        </a:solidFill>
                        <a:latin typeface="+mn-lt"/>
                      </a:endParaRPr>
                    </a:p>
                  </a:txBody>
                  <a:tcPr marL="8982" marR="8982" marT="8982" marB="0" anchor="ctr">
                    <a:lnL w="1270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r">
                        <a:defRPr/>
                      </a:pPr>
                      <a:r>
                        <a:rPr lang="de-DE" sz="1400" b="0"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0000"/>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0000"/>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vMerge="1">
                  <a:txBody>
                    <a:bodyPr/>
                    <a:p>
                      <a:pPr>
                        <a:defRPr/>
                      </a:pPr>
                      <a:endParaRPr lang="de-DE"/>
                    </a:p>
                  </a:txBody>
                  <a:tcPr/>
                </a:tc>
              </a:tr>
              <a:tr h="420200">
                <a:tc>
                  <a:txBody>
                    <a:bodyPr/>
                    <a:p>
                      <a:pPr algn="l">
                        <a:defRPr/>
                      </a:pPr>
                      <a:r>
                        <a:rPr lang="de-DE" sz="1400" b="0" i="0" u="sng" strike="noStrike">
                          <a:solidFill>
                            <a:schemeClr val="tx1"/>
                          </a:solidFill>
                          <a:latin typeface="+mn-lt"/>
                          <a:hlinkClick r:id="rId7" tooltip="https://www.notion.so/V13-A-brief-introduction-to-Bayesian-statistics-II-d2594dc036074bf4a73fc4c6e04be2c5"/>
                        </a:rPr>
                        <a:t>V13 Bayesian statistics I</a:t>
                      </a:r>
                      <a:endParaRPr lang="de-DE" sz="1400" b="0" i="0" u="none" strike="noStrike">
                        <a:solidFill>
                          <a:schemeClr val="tx1"/>
                        </a:solidFill>
                        <a:latin typeface="+mn-lt"/>
                      </a:endParaRPr>
                    </a:p>
                  </a:txBody>
                  <a:tcPr marL="8982" marR="8982" marT="8982" marB="0" anchor="ctr">
                    <a:lnL w="1270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r">
                        <a:defRPr/>
                      </a:pPr>
                      <a:r>
                        <a:rPr lang="de-DE" sz="1400" b="0"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0000"/>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0000"/>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vMerge="1">
                  <a:txBody>
                    <a:bodyPr/>
                    <a:p>
                      <a:pPr>
                        <a:defRPr/>
                      </a:pPr>
                      <a:endParaRPr lang="de-DE"/>
                    </a:p>
                  </a:txBody>
                  <a:tcPr/>
                </a:tc>
              </a:tr>
              <a:tr h="420200">
                <a:tc>
                  <a:txBody>
                    <a:bodyPr/>
                    <a:p>
                      <a:pPr algn="l">
                        <a:defRPr/>
                      </a:pPr>
                      <a:r>
                        <a:rPr lang="de-DE" sz="1400" b="0" i="0" u="sng" strike="noStrike">
                          <a:solidFill>
                            <a:schemeClr val="tx1"/>
                          </a:solidFill>
                          <a:latin typeface="+mn-lt"/>
                          <a:hlinkClick r:id="rId8" tooltip="https://www.notion.so/V7-Expanding-on-ANOVA-repeated-measures-ad5777894862433e9233cc41eb0d409b"/>
                        </a:rPr>
                        <a:t>V7 ANCOVA</a:t>
                      </a:r>
                      <a:endParaRPr lang="de-DE" sz="1400" b="0" i="0" u="none" strike="noStrike">
                        <a:solidFill>
                          <a:schemeClr val="tx1"/>
                        </a:solidFill>
                        <a:latin typeface="+mn-lt"/>
                      </a:endParaRPr>
                    </a:p>
                  </a:txBody>
                  <a:tcPr marL="8982" marR="8982" marT="8982" marB="0" anchor="ctr">
                    <a:lnL w="1270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r">
                        <a:defRPr/>
                      </a:pPr>
                      <a:r>
                        <a:rPr lang="de-DE" sz="1400" b="0"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0000"/>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0000"/>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vMerge="1">
                  <a:txBody>
                    <a:bodyPr/>
                    <a:p>
                      <a:pPr>
                        <a:defRPr/>
                      </a:pPr>
                      <a:endParaRPr lang="de-DE"/>
                    </a:p>
                  </a:txBody>
                  <a:tcPr/>
                </a:tc>
              </a:tr>
              <a:tr h="420200">
                <a:tc>
                  <a:txBody>
                    <a:bodyPr/>
                    <a:p>
                      <a:pPr algn="l">
                        <a:defRPr/>
                      </a:pPr>
                      <a:r>
                        <a:rPr lang="de-DE" sz="1400" b="0" i="0" u="sng" strike="noStrike">
                          <a:solidFill>
                            <a:schemeClr val="tx1"/>
                          </a:solidFill>
                          <a:latin typeface="+mn-lt"/>
                          <a:hlinkClick r:id="rId9" tooltip="https://www.notion.so/V8-Multilevel-Models-ab5822cd4f0f4357a2d47a4d611fa78d"/>
                        </a:rPr>
                        <a:t>V8 Paired and one-sample t-test/ANOVA</a:t>
                      </a:r>
                      <a:endParaRPr lang="de-DE" sz="1400" b="0" i="0" u="none" strike="noStrike">
                        <a:solidFill>
                          <a:schemeClr val="tx1"/>
                        </a:solidFill>
                        <a:latin typeface="+mn-lt"/>
                      </a:endParaRPr>
                    </a:p>
                  </a:txBody>
                  <a:tcPr marL="8982" marR="8982" marT="8982" marB="0" anchor="ctr">
                    <a:lnL w="1270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r">
                        <a:defRPr/>
                      </a:pPr>
                      <a:r>
                        <a:rPr lang="de-DE" sz="1400" b="0"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0000"/>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0000"/>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0000"/>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vMerge="1">
                  <a:txBody>
                    <a:bodyPr/>
                    <a:p>
                      <a:pPr>
                        <a:defRPr/>
                      </a:pPr>
                      <a:endParaRPr lang="de-DE"/>
                    </a:p>
                  </a:txBody>
                  <a:tcPr/>
                </a:tc>
              </a:tr>
              <a:tr h="420200">
                <a:tc>
                  <a:txBody>
                    <a:bodyPr/>
                    <a:p>
                      <a:pPr algn="l">
                        <a:defRPr/>
                      </a:pPr>
                      <a:r>
                        <a:rPr lang="de-DE" sz="1400" b="0" i="0" u="sng" strike="noStrike">
                          <a:solidFill>
                            <a:schemeClr val="tx1"/>
                          </a:solidFill>
                          <a:latin typeface="+mn-lt"/>
                          <a:hlinkClick r:id="rId10" tooltip="https://www.notion.so/V4-The-general-linear-model-how-we-use-it-for-t-test-regression-and-ANOVA-2e711ed903584d5490adde120755e00e"/>
                        </a:rPr>
                        <a:t>V4 GLM</a:t>
                      </a:r>
                      <a:endParaRPr lang="de-DE" sz="1400" b="0" i="0" u="none" strike="noStrike">
                        <a:solidFill>
                          <a:schemeClr val="tx1"/>
                        </a:solidFill>
                        <a:latin typeface="+mn-lt"/>
                      </a:endParaRPr>
                    </a:p>
                  </a:txBody>
                  <a:tcPr marL="8982" marR="8982" marT="8982" marB="0" anchor="ctr">
                    <a:lnL w="1270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r">
                        <a:defRPr/>
                      </a:pPr>
                      <a:r>
                        <a:rPr lang="de-DE" sz="1400" b="0"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0000"/>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vMerge="1">
                  <a:txBody>
                    <a:bodyPr/>
                    <a:p>
                      <a:pPr>
                        <a:defRPr/>
                      </a:pPr>
                      <a:endParaRPr lang="de-DE"/>
                    </a:p>
                  </a:txBody>
                  <a:tcPr/>
                </a:tc>
              </a:tr>
              <a:tr h="420200">
                <a:tc>
                  <a:txBody>
                    <a:bodyPr/>
                    <a:p>
                      <a:pPr algn="l">
                        <a:defRPr/>
                      </a:pPr>
                      <a:r>
                        <a:rPr lang="de-DE" sz="1400" b="0" i="0" u="sng" strike="noStrike">
                          <a:solidFill>
                            <a:schemeClr val="tx1"/>
                          </a:solidFill>
                          <a:latin typeface="+mn-lt"/>
                          <a:hlinkClick r:id="rId11" tooltip="https://www.notion.so/V5-Expanding-on-regression-Moderation-mediation-bootstrap-5ff65a2e66c8423fa3e9d12e18d7952f"/>
                        </a:rPr>
                        <a:t>V5 Moderation, mediation, bootstrap</a:t>
                      </a:r>
                      <a:endParaRPr lang="de-DE" sz="1400" b="0" i="0" u="none" strike="noStrike">
                        <a:solidFill>
                          <a:schemeClr val="tx1"/>
                        </a:solidFill>
                        <a:latin typeface="+mn-lt"/>
                      </a:endParaRPr>
                    </a:p>
                  </a:txBody>
                  <a:tcPr marL="8982" marR="8982" marT="8982" marB="0" anchor="ctr">
                    <a:lnL w="1270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r">
                        <a:defRPr/>
                      </a:pPr>
                      <a:r>
                        <a:rPr lang="de-DE" sz="1400" b="0"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0000"/>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vMerge="1">
                  <a:txBody>
                    <a:bodyPr/>
                    <a:p>
                      <a:pPr>
                        <a:defRPr/>
                      </a:pPr>
                      <a:endParaRPr lang="de-DE"/>
                    </a:p>
                  </a:txBody>
                  <a:tcPr/>
                </a:tc>
              </a:tr>
              <a:tr h="420200">
                <a:tc>
                  <a:txBody>
                    <a:bodyPr/>
                    <a:p>
                      <a:pPr algn="l">
                        <a:defRPr/>
                      </a:pPr>
                      <a:r>
                        <a:rPr lang="de-DE" sz="1400" b="0" i="0" u="sng" strike="noStrike">
                          <a:solidFill>
                            <a:schemeClr val="tx1"/>
                          </a:solidFill>
                          <a:latin typeface="+mn-lt"/>
                          <a:hlinkClick r:id="rId12" tooltip="https://www.notion.so/V6-Analysis-of-covariance-ANOVA-1f058fa307ae4a3e8fdc8600cbc32524"/>
                        </a:rPr>
                        <a:t>V6 Model Comparison and Mediation</a:t>
                      </a:r>
                      <a:endParaRPr lang="de-DE" sz="1400" b="0" i="0" u="none" strike="noStrike">
                        <a:solidFill>
                          <a:schemeClr val="tx1"/>
                        </a:solidFill>
                        <a:latin typeface="+mn-lt"/>
                      </a:endParaRPr>
                    </a:p>
                  </a:txBody>
                  <a:tcPr marL="8982" marR="8982" marT="8982" marB="0" anchor="ctr">
                    <a:lnL w="1270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r">
                        <a:defRPr/>
                      </a:pPr>
                      <a:r>
                        <a:rPr lang="de-DE" sz="1400" b="0"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bevel/>
                    </a:lnB>
                    <a:solidFill>
                      <a:srgbClr val="FFC000"/>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vMerge="1">
                  <a:txBody>
                    <a:bodyPr/>
                    <a:p>
                      <a:pPr>
                        <a:defRPr/>
                      </a:pPr>
                      <a:endParaRPr lang="de-DE"/>
                    </a:p>
                  </a:txBody>
                  <a:tcPr/>
                </a:tc>
              </a:tr>
              <a:tr h="420200">
                <a:tc>
                  <a:txBody>
                    <a:bodyPr/>
                    <a:p>
                      <a:pPr algn="l">
                        <a:defRPr/>
                      </a:pPr>
                      <a:r>
                        <a:rPr lang="de-DE" sz="1400" b="0" i="0" u="sng" strike="noStrike">
                          <a:solidFill>
                            <a:schemeClr val="tx1"/>
                          </a:solidFill>
                          <a:latin typeface="+mn-lt"/>
                          <a:hlinkClick r:id="rId13" tooltip="https://www.notion.so/V12-A-brief-introduction-to-Bayesian-statistics-I-b9ce47dd4afc48758cbbfe9b4db3831c"/>
                        </a:rPr>
                        <a:t>V12 Outliers &amp; co. </a:t>
                      </a:r>
                      <a:endParaRPr lang="de-DE" sz="1400" b="0" i="0" u="none" strike="noStrike">
                        <a:solidFill>
                          <a:schemeClr val="tx1"/>
                        </a:solidFill>
                        <a:latin typeface="+mn-lt"/>
                      </a:endParaRPr>
                    </a:p>
                  </a:txBody>
                  <a:tcPr marL="8982" marR="8982" marT="8982" marB="0" anchor="ctr">
                    <a:lnL w="1270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r">
                        <a:defRPr/>
                      </a:pPr>
                      <a:r>
                        <a:rPr lang="de-DE" sz="1400" b="0"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vMerge="1">
                  <a:txBody>
                    <a:bodyPr/>
                    <a:p>
                      <a:pPr>
                        <a:defRPr/>
                      </a:pPr>
                      <a:endParaRPr lang="de-DE"/>
                    </a:p>
                  </a:txBody>
                  <a:tcPr/>
                </a:tc>
              </a:tr>
              <a:tr h="420200">
                <a:tc>
                  <a:txBody>
                    <a:bodyPr/>
                    <a:p>
                      <a:pPr algn="l">
                        <a:defRPr/>
                      </a:pPr>
                      <a:r>
                        <a:rPr lang="de-DE" sz="1400" b="0" i="0" u="none" strike="noStrike">
                          <a:solidFill>
                            <a:schemeClr val="tx1"/>
                          </a:solidFill>
                          <a:latin typeface="+mn-lt"/>
                        </a:rPr>
                        <a:t>V1 Parameters and how to estimate them</a:t>
                      </a:r>
                      <a:endParaRPr/>
                    </a:p>
                  </a:txBody>
                  <a:tcPr marL="8982" marR="8982" marT="8982" marB="0" anchor="ctr">
                    <a:lnL w="1270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r">
                        <a:defRPr/>
                      </a:pPr>
                      <a:r>
                        <a:rPr lang="de-DE" sz="1400" b="0"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vMerge="1">
                  <a:txBody>
                    <a:bodyPr/>
                    <a:p>
                      <a:pPr>
                        <a:defRPr/>
                      </a:pPr>
                      <a:endParaRPr lang="de-DE"/>
                    </a:p>
                  </a:txBody>
                  <a:tcPr/>
                </a:tc>
              </a:tr>
              <a:tr h="840394">
                <a:tc>
                  <a:txBody>
                    <a:bodyPr/>
                    <a:p>
                      <a:pPr algn="l">
                        <a:defRPr/>
                      </a:pPr>
                      <a:r>
                        <a:rPr lang="de-DE" sz="1400" b="0" i="0" u="sng" strike="noStrike">
                          <a:solidFill>
                            <a:schemeClr val="tx1"/>
                          </a:solidFill>
                          <a:latin typeface="+mn-lt"/>
                          <a:hlinkClick r:id="rId14" tooltip="https://www.notion.so/V3-WDH-Reprise-correlation-t-test-linear-regression-ANOVA-4c1320cdf0ba4faca9a0048dd1fd2568"/>
                        </a:rPr>
                        <a:t>V3 WDH Reprise </a:t>
                      </a:r>
                      <a:r>
                        <a:rPr lang="de-DE" sz="1400" b="0" i="0" u="sng" strike="noStrike">
                          <a:solidFill>
                            <a:schemeClr val="tx1"/>
                          </a:solidFill>
                          <a:latin typeface="+mn-lt"/>
                          <a:hlinkClick r:id="rId14" tooltip="https://www.notion.so/V3-WDH-Reprise-correlation-t-test-linear-regression-ANOVA-4c1320cdf0ba4faca9a0048dd1fd2568"/>
                        </a:rPr>
                        <a:t>correlation</a:t>
                      </a:r>
                      <a:r>
                        <a:rPr lang="de-DE" sz="1400" b="0" i="0" u="sng" strike="noStrike">
                          <a:solidFill>
                            <a:schemeClr val="tx1"/>
                          </a:solidFill>
                          <a:latin typeface="+mn-lt"/>
                          <a:hlinkClick r:id="rId14" tooltip="https://www.notion.so/V3-WDH-Reprise-correlation-t-test-linear-regression-ANOVA-4c1320cdf0ba4faca9a0048dd1fd2568"/>
                        </a:rPr>
                        <a:t>, t-test, linear </a:t>
                      </a:r>
                      <a:r>
                        <a:rPr lang="de-DE" sz="1400" b="0" i="0" u="sng" strike="noStrike">
                          <a:solidFill>
                            <a:schemeClr val="tx1"/>
                          </a:solidFill>
                          <a:latin typeface="+mn-lt"/>
                          <a:hlinkClick r:id="rId14" tooltip="https://www.notion.so/V3-WDH-Reprise-correlation-t-test-linear-regression-ANOVA-4c1320cdf0ba4faca9a0048dd1fd2568"/>
                        </a:rPr>
                        <a:t>regression</a:t>
                      </a:r>
                      <a:r>
                        <a:rPr lang="de-DE" sz="1400" b="0" i="0" u="sng" strike="noStrike">
                          <a:solidFill>
                            <a:schemeClr val="tx1"/>
                          </a:solidFill>
                          <a:latin typeface="+mn-lt"/>
                          <a:hlinkClick r:id="rId14" tooltip="https://www.notion.so/V3-WDH-Reprise-correlation-t-test-linear-regression-ANOVA-4c1320cdf0ba4faca9a0048dd1fd2568"/>
                        </a:rPr>
                        <a:t>, ANOVA</a:t>
                      </a:r>
                      <a:endParaRPr lang="de-DE" sz="1400" b="0" i="0" u="none" strike="noStrike">
                        <a:solidFill>
                          <a:schemeClr val="tx1"/>
                        </a:solidFill>
                        <a:latin typeface="+mn-lt"/>
                      </a:endParaRPr>
                    </a:p>
                  </a:txBody>
                  <a:tcPr marL="8982" marR="8982" marT="8982" marB="0" anchor="ctr">
                    <a:lnL w="12700" algn="ctr">
                      <a:solidFill>
                        <a:srgbClr val="000000"/>
                      </a:solidFill>
                    </a:lnL>
                    <a:lnR w="6350" algn="ctr">
                      <a:solidFill>
                        <a:srgbClr val="000000"/>
                      </a:solidFill>
                    </a:lnR>
                    <a:lnT w="6350" algn="ctr">
                      <a:solidFill>
                        <a:srgbClr val="000000"/>
                      </a:solidFill>
                    </a:lnT>
                    <a:lnB w="6350" algn="ctr">
                      <a:solidFill>
                        <a:srgbClr val="000000"/>
                      </a:solidFill>
                    </a:lnB>
                    <a:solidFill>
                      <a:srgbClr val="FCE4D6"/>
                    </a:solidFill>
                  </a:tcPr>
                </a:tc>
                <a:tc>
                  <a:txBody>
                    <a:bodyPr/>
                    <a:p>
                      <a:pPr algn="r">
                        <a:defRPr/>
                      </a:pPr>
                      <a:r>
                        <a:rPr lang="de-DE" sz="1400" b="0" i="0" u="none" strike="noStrike">
                          <a:solidFill>
                            <a:schemeClr val="tx1"/>
                          </a:solidFill>
                          <a:latin typeface="+mn-lt"/>
                        </a:rPr>
                        <a:t> </a:t>
                      </a:r>
                      <a:endParaRPr/>
                    </a:p>
                  </a:txBody>
                  <a:tcPr marL="8982" marR="8982" marT="8982" marB="0" anchor="ctr">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1"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E7E6E6"/>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C000"/>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L</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70AD47"/>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a:txBody>
                    <a:bodyPr/>
                    <a:p>
                      <a:pPr algn="ctr">
                        <a:defRPr/>
                      </a:pPr>
                      <a:r>
                        <a:rPr lang="de-DE" sz="1400" b="0" i="0" u="none" strike="noStrike">
                          <a:solidFill>
                            <a:schemeClr val="tx1"/>
                          </a:solidFill>
                          <a:latin typeface="+mn-lt"/>
                        </a:rPr>
                        <a:t> </a:t>
                      </a:r>
                      <a:endParaRPr/>
                    </a:p>
                  </a:txBody>
                  <a:tcPr marL="8982" marR="8982" marT="8982" marB="0" anchor="b">
                    <a:lnL w="6350" algn="ctr">
                      <a:solidFill>
                        <a:srgbClr val="000000"/>
                      </a:solidFill>
                    </a:lnL>
                    <a:lnR w="6350" algn="ctr">
                      <a:solidFill>
                        <a:srgbClr val="000000"/>
                      </a:solidFill>
                    </a:lnR>
                    <a:lnT w="6350" algn="ctr">
                      <a:solidFill>
                        <a:srgbClr val="000000"/>
                      </a:solidFill>
                    </a:lnT>
                    <a:lnB w="6350" algn="ctr">
                      <a:solidFill>
                        <a:srgbClr val="000000"/>
                      </a:solidFill>
                    </a:lnB>
                    <a:solidFill>
                      <a:srgbClr val="FFFFFF"/>
                    </a:solidFill>
                  </a:tcPr>
                </a:tc>
                <a:tc vMerge="1">
                  <a:txBody>
                    <a:bodyPr/>
                    <a:p>
                      <a:pPr>
                        <a:defRPr/>
                      </a:pPr>
                      <a:endParaRPr lang="de-DE"/>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5" name="Titel 4"/>
          <p:cNvSpPr>
            <a:spLocks noGrp="1"/>
          </p:cNvSpPr>
          <p:nvPr>
            <p:ph type="title"/>
          </p:nvPr>
        </p:nvSpPr>
        <p:spPr bwMode="auto"/>
        <p:txBody>
          <a:bodyPr vert="horz"/>
          <a:lstStyle/>
          <a:p>
            <a:pPr>
              <a:defRPr/>
            </a:pPr>
            <a:r>
              <a:rPr lang="de-DE"/>
              <a:t>Spaced</a:t>
            </a:r>
            <a:r>
              <a:rPr lang="de-DE"/>
              <a:t> Repetition in </a:t>
            </a:r>
            <a:r>
              <a:rPr lang="de-DE"/>
              <a:t>the</a:t>
            </a:r>
            <a:r>
              <a:rPr lang="de-DE"/>
              <a:t> </a:t>
            </a:r>
            <a:r>
              <a:rPr lang="de-DE"/>
              <a:t>studying</a:t>
            </a:r>
            <a:r>
              <a:rPr lang="de-DE"/>
              <a:t> plan</a:t>
            </a:r>
            <a:endParaRPr/>
          </a:p>
        </p:txBody>
      </p:sp>
      <p:sp>
        <p:nvSpPr>
          <p:cNvPr id="9" name="Textplatzhalter 8"/>
          <p:cNvSpPr>
            <a:spLocks noGrp="1"/>
          </p:cNvSpPr>
          <p:nvPr>
            <p:ph idx="1"/>
          </p:nvPr>
        </p:nvSpPr>
        <p:spPr bwMode="auto"/>
        <p:txBody>
          <a:bodyPr/>
          <a:lstStyle/>
          <a:p>
            <a:pPr>
              <a:lnSpc>
                <a:spcPct val="150000"/>
              </a:lnSpc>
              <a:defRPr/>
            </a:pPr>
            <a:r>
              <a:rPr lang="en-US"/>
              <a:t>Chose the next revision date based on your previous assessment and number of previous reviews as such:</a:t>
            </a:r>
            <a:endParaRPr/>
          </a:p>
          <a:p>
            <a:pPr lvl="1">
              <a:lnSpc>
                <a:spcPct val="150000"/>
              </a:lnSpc>
              <a:defRPr/>
            </a:pPr>
            <a:endParaRPr lang="en-US" sz="2800"/>
          </a:p>
          <a:p>
            <a:pPr lvl="1">
              <a:lnSpc>
                <a:spcPct val="150000"/>
              </a:lnSpc>
              <a:defRPr/>
            </a:pPr>
            <a:r>
              <a:rPr lang="en-US" sz="2800"/>
              <a:t>hard:: red = +1 day</a:t>
            </a:r>
            <a:endParaRPr lang="en-US"/>
          </a:p>
          <a:p>
            <a:pPr lvl="1">
              <a:lnSpc>
                <a:spcPct val="150000"/>
              </a:lnSpc>
              <a:defRPr/>
            </a:pPr>
            <a:r>
              <a:rPr lang="en-US" sz="2800"/>
              <a:t>medium: yellow = +3 days</a:t>
            </a:r>
            <a:endParaRPr lang="en-US"/>
          </a:p>
          <a:p>
            <a:pPr lvl="1">
              <a:lnSpc>
                <a:spcPct val="150000"/>
              </a:lnSpc>
              <a:defRPr/>
            </a:pPr>
            <a:r>
              <a:rPr lang="en-US" sz="2800"/>
              <a:t>easy: green = +1 week</a:t>
            </a:r>
            <a:endParaRPr lang="en-US"/>
          </a:p>
        </p:txBody>
      </p:sp>
      <p:sp>
        <p:nvSpPr>
          <p:cNvPr id="17" name="Textfeld 16"/>
          <p:cNvSpPr txBox="1"/>
          <p:nvPr/>
        </p:nvSpPr>
        <p:spPr bwMode="auto">
          <a:xfrm>
            <a:off x="9152021" y="5319158"/>
            <a:ext cx="5223400" cy="954107"/>
          </a:xfrm>
          <a:prstGeom prst="rect">
            <a:avLst/>
          </a:prstGeom>
          <a:noFill/>
        </p:spPr>
        <p:txBody>
          <a:bodyPr wrap="square" rtlCol="0">
            <a:spAutoFit/>
          </a:bodyPr>
          <a:lstStyle/>
          <a:p>
            <a:pPr>
              <a:defRPr/>
            </a:pPr>
            <a:r>
              <a:rPr lang="de-DE" sz="2800"/>
              <a:t>Multiply</a:t>
            </a:r>
            <a:r>
              <a:rPr lang="de-DE" sz="2800"/>
              <a:t> </a:t>
            </a:r>
            <a:r>
              <a:rPr lang="de-DE" sz="2800"/>
              <a:t>by</a:t>
            </a:r>
            <a:r>
              <a:rPr lang="de-DE" sz="2800"/>
              <a:t> </a:t>
            </a:r>
            <a:r>
              <a:rPr lang="de-DE" sz="2800"/>
              <a:t>the</a:t>
            </a:r>
            <a:r>
              <a:rPr lang="de-DE" sz="2800"/>
              <a:t> </a:t>
            </a:r>
            <a:r>
              <a:rPr lang="de-DE" sz="2800"/>
              <a:t>number</a:t>
            </a:r>
            <a:r>
              <a:rPr lang="de-DE" sz="2800"/>
              <a:t> </a:t>
            </a:r>
            <a:r>
              <a:rPr lang="de-DE" sz="2800"/>
              <a:t>of</a:t>
            </a:r>
            <a:r>
              <a:rPr lang="de-DE" sz="2800"/>
              <a:t> </a:t>
            </a:r>
            <a:r>
              <a:rPr lang="de-DE" sz="2800"/>
              <a:t>the</a:t>
            </a:r>
            <a:r>
              <a:rPr lang="de-DE" sz="2800"/>
              <a:t> </a:t>
            </a:r>
            <a:r>
              <a:rPr lang="de-DE" sz="2800"/>
              <a:t>previous</a:t>
            </a:r>
            <a:r>
              <a:rPr lang="de-DE" sz="2800"/>
              <a:t> </a:t>
            </a:r>
            <a:r>
              <a:rPr lang="de-DE" sz="2800"/>
              <a:t>reviews</a:t>
            </a:r>
            <a:endParaRPr sz="2800"/>
          </a:p>
        </p:txBody>
      </p:sp>
      <p:sp>
        <p:nvSpPr>
          <p:cNvPr id="6" name="Geschweifte Klammer rechts 5"/>
          <p:cNvSpPr/>
          <p:nvPr/>
        </p:nvSpPr>
        <p:spPr bwMode="auto">
          <a:xfrm>
            <a:off x="8001000" y="4824662"/>
            <a:ext cx="639697" cy="1943100"/>
          </a:xfrm>
          <a:prstGeom prst="rightBrace">
            <a:avLst>
              <a:gd name="adj1" fmla="val 8333"/>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defRPr/>
            </a:pPr>
            <a:endParaRPr lang="de-DE" sz="3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5" name="Titel 4"/>
          <p:cNvSpPr>
            <a:spLocks noGrp="1"/>
          </p:cNvSpPr>
          <p:nvPr>
            <p:ph type="title"/>
          </p:nvPr>
        </p:nvSpPr>
        <p:spPr bwMode="auto"/>
        <p:txBody>
          <a:bodyPr vert="horz"/>
          <a:lstStyle/>
          <a:p>
            <a:pPr>
              <a:defRPr/>
            </a:pPr>
            <a:r>
              <a:rPr lang="de-DE"/>
              <a:t>Mnemonic</a:t>
            </a:r>
            <a:endParaRPr/>
          </a:p>
        </p:txBody>
      </p:sp>
      <p:sp>
        <p:nvSpPr>
          <p:cNvPr id="6" name="Textplatzhalter 5"/>
          <p:cNvSpPr>
            <a:spLocks noGrp="1"/>
          </p:cNvSpPr>
          <p:nvPr>
            <p:ph idx="1"/>
          </p:nvPr>
        </p:nvSpPr>
        <p:spPr bwMode="auto"/>
        <p:txBody>
          <a:bodyPr>
            <a:normAutofit lnSpcReduction="10000"/>
          </a:bodyPr>
          <a:lstStyle/>
          <a:p>
            <a:pPr>
              <a:lnSpc>
                <a:spcPct val="110000"/>
              </a:lnSpc>
              <a:defRPr/>
            </a:pPr>
            <a:r>
              <a:rPr lang="de-DE"/>
              <a:t>Mnemonic</a:t>
            </a:r>
            <a:r>
              <a:rPr lang="de-DE"/>
              <a:t> (</a:t>
            </a:r>
            <a:r>
              <a:rPr lang="de-DE"/>
              <a:t>pronounced</a:t>
            </a:r>
            <a:r>
              <a:rPr lang="de-DE"/>
              <a:t> </a:t>
            </a:r>
            <a:r>
              <a:rPr lang="de-DE"/>
              <a:t>ni-mon-ik</a:t>
            </a:r>
            <a:r>
              <a:rPr lang="de-DE"/>
              <a:t>, </a:t>
            </a:r>
            <a:r>
              <a:rPr lang="de-DE"/>
              <a:t>greek</a:t>
            </a:r>
            <a:r>
              <a:rPr lang="de-DE"/>
              <a:t> „</a:t>
            </a:r>
            <a:r>
              <a:rPr lang="de-DE"/>
              <a:t>to</a:t>
            </a:r>
            <a:r>
              <a:rPr lang="de-DE"/>
              <a:t> </a:t>
            </a:r>
            <a:r>
              <a:rPr lang="de-DE"/>
              <a:t>remember</a:t>
            </a:r>
            <a:r>
              <a:rPr lang="de-DE"/>
              <a:t>“) </a:t>
            </a:r>
            <a:r>
              <a:rPr lang="de-DE"/>
              <a:t>or</a:t>
            </a:r>
            <a:r>
              <a:rPr lang="de-DE"/>
              <a:t> </a:t>
            </a:r>
            <a:r>
              <a:rPr lang="de-DE"/>
              <a:t>memory</a:t>
            </a:r>
            <a:r>
              <a:rPr lang="de-DE"/>
              <a:t> </a:t>
            </a:r>
            <a:r>
              <a:rPr lang="de-DE"/>
              <a:t>aid</a:t>
            </a:r>
            <a:r>
              <a:rPr lang="de-DE"/>
              <a:t>, </a:t>
            </a:r>
            <a:r>
              <a:rPr lang="de-DE"/>
              <a:t>is</a:t>
            </a:r>
            <a:r>
              <a:rPr lang="de-DE"/>
              <a:t> a </a:t>
            </a:r>
            <a:r>
              <a:rPr lang="de-DE"/>
              <a:t>tool</a:t>
            </a:r>
            <a:r>
              <a:rPr lang="de-DE"/>
              <a:t> </a:t>
            </a:r>
            <a:r>
              <a:rPr lang="de-DE"/>
              <a:t>that</a:t>
            </a:r>
            <a:r>
              <a:rPr lang="de-DE"/>
              <a:t> </a:t>
            </a:r>
            <a:r>
              <a:rPr lang="de-DE"/>
              <a:t>helps</a:t>
            </a:r>
            <a:r>
              <a:rPr lang="de-DE"/>
              <a:t> </a:t>
            </a:r>
            <a:r>
              <a:rPr lang="de-DE"/>
              <a:t>you</a:t>
            </a:r>
            <a:r>
              <a:rPr lang="de-DE"/>
              <a:t> </a:t>
            </a:r>
            <a:r>
              <a:rPr lang="de-DE"/>
              <a:t>remember</a:t>
            </a:r>
            <a:r>
              <a:rPr lang="de-DE"/>
              <a:t> an </a:t>
            </a:r>
            <a:r>
              <a:rPr lang="de-DE"/>
              <a:t>idea</a:t>
            </a:r>
            <a:r>
              <a:rPr lang="de-DE"/>
              <a:t> </a:t>
            </a:r>
            <a:r>
              <a:rPr lang="de-DE"/>
              <a:t>or</a:t>
            </a:r>
            <a:r>
              <a:rPr lang="de-DE"/>
              <a:t> </a:t>
            </a:r>
            <a:r>
              <a:rPr lang="de-DE"/>
              <a:t>phrase</a:t>
            </a:r>
            <a:r>
              <a:rPr lang="de-DE"/>
              <a:t> </a:t>
            </a:r>
            <a:r>
              <a:rPr lang="de-DE"/>
              <a:t>with</a:t>
            </a:r>
            <a:r>
              <a:rPr lang="de-DE"/>
              <a:t> a </a:t>
            </a:r>
            <a:r>
              <a:rPr lang="de-DE"/>
              <a:t>pattern</a:t>
            </a:r>
            <a:r>
              <a:rPr lang="de-DE"/>
              <a:t> </a:t>
            </a:r>
            <a:r>
              <a:rPr lang="de-DE"/>
              <a:t>of</a:t>
            </a:r>
            <a:r>
              <a:rPr lang="de-DE"/>
              <a:t> </a:t>
            </a:r>
            <a:r>
              <a:rPr lang="de-DE"/>
              <a:t>letters</a:t>
            </a:r>
            <a:r>
              <a:rPr lang="de-DE"/>
              <a:t>, </a:t>
            </a:r>
            <a:r>
              <a:rPr lang="de-DE"/>
              <a:t>numbers</a:t>
            </a:r>
            <a:r>
              <a:rPr lang="de-DE"/>
              <a:t>, </a:t>
            </a:r>
            <a:r>
              <a:rPr lang="de-DE"/>
              <a:t>or</a:t>
            </a:r>
            <a:r>
              <a:rPr lang="de-DE"/>
              <a:t> </a:t>
            </a:r>
            <a:r>
              <a:rPr lang="de-DE"/>
              <a:t>relatable</a:t>
            </a:r>
            <a:r>
              <a:rPr lang="de-DE"/>
              <a:t> </a:t>
            </a:r>
            <a:r>
              <a:rPr lang="de-DE"/>
              <a:t>associations</a:t>
            </a:r>
            <a:r>
              <a:rPr lang="de-DE"/>
              <a:t>. </a:t>
            </a:r>
            <a:r>
              <a:rPr lang="de-DE"/>
              <a:t>Mnemonic</a:t>
            </a:r>
            <a:r>
              <a:rPr lang="de-DE"/>
              <a:t> </a:t>
            </a:r>
            <a:r>
              <a:rPr lang="de-DE"/>
              <a:t>devices</a:t>
            </a:r>
            <a:r>
              <a:rPr lang="de-DE"/>
              <a:t> </a:t>
            </a:r>
            <a:r>
              <a:rPr lang="de-DE"/>
              <a:t>include</a:t>
            </a:r>
            <a:r>
              <a:rPr lang="de-DE"/>
              <a:t>:</a:t>
            </a:r>
            <a:endParaRPr/>
          </a:p>
          <a:p>
            <a:pPr lvl="1">
              <a:lnSpc>
                <a:spcPct val="110000"/>
              </a:lnSpc>
              <a:defRPr/>
            </a:pPr>
            <a:r>
              <a:rPr lang="de-DE"/>
              <a:t>Rhymes and </a:t>
            </a:r>
            <a:r>
              <a:rPr lang="de-DE"/>
              <a:t>poems</a:t>
            </a:r>
            <a:endParaRPr lang="de-DE"/>
          </a:p>
          <a:p>
            <a:pPr lvl="1">
              <a:lnSpc>
                <a:spcPct val="110000"/>
              </a:lnSpc>
              <a:defRPr/>
            </a:pPr>
            <a:r>
              <a:rPr lang="de-DE"/>
              <a:t>Acronyms</a:t>
            </a:r>
            <a:endParaRPr lang="de-DE"/>
          </a:p>
          <a:p>
            <a:pPr lvl="1">
              <a:lnSpc>
                <a:spcPct val="110000"/>
              </a:lnSpc>
              <a:defRPr/>
            </a:pPr>
            <a:r>
              <a:rPr lang="de-DE"/>
              <a:t>Images</a:t>
            </a:r>
            <a:endParaRPr/>
          </a:p>
          <a:p>
            <a:pPr lvl="1">
              <a:lnSpc>
                <a:spcPct val="110000"/>
              </a:lnSpc>
              <a:defRPr/>
            </a:pPr>
            <a:r>
              <a:rPr lang="de-DE"/>
              <a:t>Songs</a:t>
            </a:r>
            <a:endParaRPr/>
          </a:p>
          <a:p>
            <a:pPr lvl="1">
              <a:lnSpc>
                <a:spcPct val="110000"/>
              </a:lnSpc>
              <a:defRPr/>
            </a:pPr>
            <a:r>
              <a:rPr lang="de-DE"/>
              <a:t>Outlines</a:t>
            </a:r>
            <a:endParaRPr lang="de-DE"/>
          </a:p>
          <a:p>
            <a:pPr marL="0" indent="0">
              <a:lnSpc>
                <a:spcPct val="110000"/>
              </a:lnSpc>
              <a:buNone/>
              <a:defRPr/>
            </a:pPr>
            <a:endParaRPr/>
          </a:p>
          <a:p>
            <a:pPr>
              <a:lnSpc>
                <a:spcPct val="110000"/>
              </a:lnSpc>
              <a:defRPr/>
            </a:pPr>
            <a:r>
              <a:rPr lang="de-DE"/>
              <a:t>Mnemonic</a:t>
            </a:r>
            <a:r>
              <a:rPr lang="de-DE"/>
              <a:t> </a:t>
            </a:r>
            <a:r>
              <a:rPr lang="de-DE"/>
              <a:t>example</a:t>
            </a:r>
            <a:r>
              <a:rPr lang="de-DE"/>
              <a:t>:</a:t>
            </a:r>
            <a:endParaRPr/>
          </a:p>
          <a:p>
            <a:pPr lvl="1">
              <a:lnSpc>
                <a:spcPct val="110000"/>
              </a:lnSpc>
              <a:spcAft>
                <a:spcPts val="600"/>
              </a:spcAft>
              <a:defRPr/>
            </a:pPr>
            <a:r>
              <a:rPr lang="de-DE" sz="2800"/>
              <a:t>7 </a:t>
            </a:r>
            <a:r>
              <a:rPr lang="de-DE" sz="2800"/>
              <a:t>moderating</a:t>
            </a:r>
            <a:r>
              <a:rPr lang="de-DE" sz="2800"/>
              <a:t> </a:t>
            </a:r>
            <a:r>
              <a:rPr lang="de-DE" sz="2800"/>
              <a:t>factors</a:t>
            </a:r>
            <a:r>
              <a:rPr lang="de-DE" sz="2800"/>
              <a:t> </a:t>
            </a:r>
            <a:r>
              <a:rPr lang="de-DE" sz="2800"/>
              <a:t>of</a:t>
            </a:r>
            <a:r>
              <a:rPr lang="de-DE" sz="2800"/>
              <a:t> </a:t>
            </a:r>
            <a:r>
              <a:rPr lang="de-DE" sz="2800"/>
              <a:t>conformity</a:t>
            </a:r>
            <a:r>
              <a:rPr lang="de-DE" sz="2800"/>
              <a:t> (</a:t>
            </a:r>
            <a:r>
              <a:rPr lang="de-DE" sz="2800"/>
              <a:t>psychology</a:t>
            </a:r>
            <a:r>
              <a:rPr lang="de-DE" sz="2800"/>
              <a:t> </a:t>
            </a:r>
            <a:r>
              <a:rPr lang="de-DE" sz="2800"/>
              <a:t>major</a:t>
            </a:r>
            <a:r>
              <a:rPr lang="de-DE" sz="2800"/>
              <a:t>)</a:t>
            </a:r>
            <a:endParaRPr/>
          </a:p>
          <a:p>
            <a:pPr marL="2032000" lvl="2" indent="0">
              <a:lnSpc>
                <a:spcPct val="110000"/>
              </a:lnSpc>
              <a:buNone/>
              <a:defRPr/>
            </a:pPr>
            <a:r>
              <a:rPr lang="de-DE" sz="2800" b="1"/>
              <a:t>D</a:t>
            </a:r>
            <a:r>
              <a:rPr lang="de-DE" sz="2800"/>
              <a:t>eindividuation</a:t>
            </a:r>
            <a:r>
              <a:rPr lang="de-DE" sz="2800"/>
              <a:t>, </a:t>
            </a:r>
            <a:r>
              <a:rPr lang="de-DE" sz="2800" b="1"/>
              <a:t>I</a:t>
            </a:r>
            <a:r>
              <a:rPr lang="de-DE" sz="2800"/>
              <a:t>nformational</a:t>
            </a:r>
            <a:r>
              <a:rPr lang="de-DE" sz="2800"/>
              <a:t> </a:t>
            </a:r>
            <a:r>
              <a:rPr lang="de-DE" sz="2800"/>
              <a:t>influence</a:t>
            </a:r>
            <a:r>
              <a:rPr lang="de-DE" sz="2800"/>
              <a:t>, </a:t>
            </a:r>
            <a:r>
              <a:rPr lang="de-DE" sz="2800" b="1"/>
              <a:t>S</a:t>
            </a:r>
            <a:r>
              <a:rPr lang="de-DE" sz="2800"/>
              <a:t>ocial</a:t>
            </a:r>
            <a:r>
              <a:rPr lang="de-DE" sz="2800"/>
              <a:t> </a:t>
            </a:r>
            <a:r>
              <a:rPr lang="de-DE" sz="2800"/>
              <a:t>loafing</a:t>
            </a:r>
            <a:r>
              <a:rPr lang="de-DE" sz="2800"/>
              <a:t>, </a:t>
            </a:r>
            <a:r>
              <a:rPr lang="de-DE" sz="2800" b="1"/>
              <a:t>C</a:t>
            </a:r>
            <a:r>
              <a:rPr lang="de-DE" sz="2800"/>
              <a:t>ulture,</a:t>
            </a:r>
            <a:endParaRPr/>
          </a:p>
          <a:p>
            <a:pPr marL="2032000" lvl="2" indent="0">
              <a:lnSpc>
                <a:spcPct val="110000"/>
              </a:lnSpc>
              <a:buNone/>
              <a:defRPr/>
            </a:pPr>
            <a:r>
              <a:rPr lang="de-DE" sz="2800" b="1"/>
              <a:t>G</a:t>
            </a:r>
            <a:r>
              <a:rPr lang="de-DE" sz="2800"/>
              <a:t>roup </a:t>
            </a:r>
            <a:r>
              <a:rPr lang="de-DE" sz="2800"/>
              <a:t>size</a:t>
            </a:r>
            <a:r>
              <a:rPr lang="de-DE" sz="2800"/>
              <a:t>, </a:t>
            </a:r>
            <a:r>
              <a:rPr lang="de-DE" sz="2800" b="1"/>
              <a:t>U</a:t>
            </a:r>
            <a:r>
              <a:rPr lang="de-DE" sz="2800"/>
              <a:t>namity</a:t>
            </a:r>
            <a:r>
              <a:rPr lang="de-DE" sz="2800"/>
              <a:t>, </a:t>
            </a:r>
            <a:r>
              <a:rPr lang="de-DE" sz="2800" b="1"/>
              <a:t>N</a:t>
            </a:r>
            <a:r>
              <a:rPr lang="de-DE" sz="2800"/>
              <a:t>ormative </a:t>
            </a:r>
            <a:r>
              <a:rPr lang="de-DE" sz="2800"/>
              <a:t>influence</a:t>
            </a:r>
            <a:r>
              <a:rPr lang="de-DE" sz="2800"/>
              <a:t> </a:t>
            </a:r>
            <a:endParaRPr/>
          </a:p>
        </p:txBody>
      </p:sp>
      <p:pic>
        <p:nvPicPr>
          <p:cNvPr id="10" name="Grafik 9" descr="Kopf mit Zahnrädern Silhouette"/>
          <p:cNvPicPr>
            <a:picLocks noChangeAspect="1"/>
          </p:cNvPicPr>
          <p:nvPr/>
        </p:nvPicPr>
        <p:blipFill>
          <a:blip r:embed="rId3"/>
          <a:stretch/>
        </p:blipFill>
        <p:spPr bwMode="auto">
          <a:xfrm>
            <a:off x="2743200" y="7905064"/>
            <a:ext cx="914400" cy="914400"/>
          </a:xfrm>
          <a:prstGeom prst="rect">
            <a:avLst/>
          </a:prstGeom>
        </p:spPr>
      </p:pic>
      <p:pic>
        <p:nvPicPr>
          <p:cNvPr id="1026" name="Picture 2" descr="Amazon.com: Sumind 2 Pieces Foam Disc Launcher Zip Shot Shooter Disc Shooter  Random Color : Toys &amp; Games"/>
          <p:cNvPicPr>
            <a:picLocks noChangeAspect="1" noChangeArrowheads="1"/>
          </p:cNvPicPr>
          <p:nvPr/>
        </p:nvPicPr>
        <p:blipFill>
          <a:blip r:embed="rId4"/>
          <a:stretch/>
        </p:blipFill>
        <p:spPr bwMode="auto">
          <a:xfrm>
            <a:off x="14774914" y="6972300"/>
            <a:ext cx="3513085" cy="3314700"/>
          </a:xfrm>
          <a:prstGeom prst="rect">
            <a:avLst/>
          </a:prstGeom>
          <a:noFill/>
        </p:spPr>
      </p:pic>
      <p:pic>
        <p:nvPicPr>
          <p:cNvPr id="14" name="Grafik 13" descr="Pfeil: Leichte Kurve Silhouette"/>
          <p:cNvPicPr>
            <a:picLocks noChangeAspect="1"/>
          </p:cNvPicPr>
          <p:nvPr/>
        </p:nvPicPr>
        <p:blipFill>
          <a:blip r:embed="rId5"/>
          <a:stretch/>
        </p:blipFill>
        <p:spPr bwMode="auto">
          <a:xfrm>
            <a:off x="10763151" y="8120466"/>
            <a:ext cx="1214034" cy="1214034"/>
          </a:xfrm>
          <a:prstGeom prst="rect">
            <a:avLst/>
          </a:prstGeom>
        </p:spPr>
      </p:pic>
      <p:sp>
        <p:nvSpPr>
          <p:cNvPr id="15" name="Textfeld 14"/>
          <p:cNvSpPr txBox="1"/>
          <p:nvPr/>
        </p:nvSpPr>
        <p:spPr bwMode="auto">
          <a:xfrm>
            <a:off x="12036306" y="8357426"/>
            <a:ext cx="2441694" cy="646331"/>
          </a:xfrm>
          <a:prstGeom prst="rect">
            <a:avLst/>
          </a:prstGeom>
          <a:noFill/>
        </p:spPr>
        <p:txBody>
          <a:bodyPr wrap="none" rtlCol="0">
            <a:spAutoFit/>
          </a:bodyPr>
          <a:lstStyle/>
          <a:p>
            <a:pPr>
              <a:defRPr/>
            </a:pPr>
            <a:r>
              <a:rPr lang="de-DE" sz="3600" b="1"/>
              <a:t>DISC GUN</a:t>
            </a:r>
            <a:endParaRPr sz="3600"/>
          </a:p>
        </p:txBody>
      </p:sp>
      <p:sp>
        <p:nvSpPr>
          <p:cNvPr id="3" name="Textfeld 2"/>
          <p:cNvSpPr txBox="1"/>
          <p:nvPr/>
        </p:nvSpPr>
        <p:spPr bwMode="auto">
          <a:xfrm>
            <a:off x="11582400" y="9334500"/>
            <a:ext cx="3673430" cy="430887"/>
          </a:xfrm>
          <a:prstGeom prst="rect">
            <a:avLst/>
          </a:prstGeom>
          <a:noFill/>
        </p:spPr>
        <p:txBody>
          <a:bodyPr wrap="square">
            <a:spAutoFit/>
          </a:bodyPr>
          <a:lstStyle/>
          <a:p>
            <a:pPr>
              <a:defRPr/>
            </a:pPr>
            <a:r>
              <a:rPr lang="de-DE" sz="2200">
                <a:solidFill>
                  <a:schemeClr val="bg1">
                    <a:lumMod val="65000"/>
                  </a:schemeClr>
                </a:solidFill>
                <a:latin typeface="Arial"/>
                <a:ea typeface="Calibri"/>
                <a:cs typeface="Arial"/>
              </a:rPr>
              <a:t>Literary</a:t>
            </a:r>
            <a:r>
              <a:rPr lang="de-DE" sz="2200">
                <a:solidFill>
                  <a:schemeClr val="bg1">
                    <a:lumMod val="65000"/>
                  </a:schemeClr>
                </a:solidFill>
                <a:latin typeface="Arial"/>
                <a:ea typeface="Calibri"/>
                <a:cs typeface="Arial"/>
              </a:rPr>
              <a:t> Terms 2015</a:t>
            </a:r>
            <a:endParaRPr lang="de-DE" sz="2200">
              <a:solidFill>
                <a:schemeClr val="bg1">
                  <a:lumMod val="65000"/>
                </a:schemeClr>
              </a:solidFill>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5" name="Titel 4"/>
          <p:cNvSpPr>
            <a:spLocks noGrp="1"/>
          </p:cNvSpPr>
          <p:nvPr>
            <p:ph type="title"/>
          </p:nvPr>
        </p:nvSpPr>
        <p:spPr bwMode="auto"/>
        <p:txBody>
          <a:bodyPr vert="horz"/>
          <a:lstStyle/>
          <a:p>
            <a:pPr>
              <a:defRPr/>
            </a:pPr>
            <a:r>
              <a:rPr lang="de-DE"/>
              <a:t>Active Recall</a:t>
            </a:r>
            <a:endParaRPr/>
          </a:p>
        </p:txBody>
      </p:sp>
      <p:sp>
        <p:nvSpPr>
          <p:cNvPr id="6" name="Textplatzhalter 5"/>
          <p:cNvSpPr>
            <a:spLocks noGrp="1"/>
          </p:cNvSpPr>
          <p:nvPr>
            <p:ph idx="1"/>
          </p:nvPr>
        </p:nvSpPr>
        <p:spPr bwMode="auto">
          <a:xfrm>
            <a:off x="2838900" y="2561860"/>
            <a:ext cx="12610200" cy="6480000"/>
          </a:xfrm>
        </p:spPr>
        <p:txBody>
          <a:bodyPr/>
          <a:lstStyle/>
          <a:p>
            <a:pPr marL="0" indent="0">
              <a:buNone/>
              <a:defRPr/>
            </a:pPr>
            <a:r>
              <a:rPr lang="en-NZ"/>
              <a:t>… the attempt of recall the answer to a question from memory without using any external help.</a:t>
            </a:r>
            <a:endParaRPr/>
          </a:p>
          <a:p>
            <a:pPr marL="0" indent="0">
              <a:buNone/>
              <a:defRPr/>
            </a:pPr>
            <a:endParaRPr lang="en-NZ"/>
          </a:p>
          <a:p>
            <a:pPr>
              <a:defRPr/>
            </a:pPr>
            <a:r>
              <a:rPr lang="en-NZ"/>
              <a:t>Re-reading is pointless because you don‘t actively recall the knowledge from your memory</a:t>
            </a:r>
            <a:endParaRPr/>
          </a:p>
          <a:p>
            <a:pPr>
              <a:defRPr/>
            </a:pPr>
            <a:r>
              <a:rPr lang="en-NZ"/>
              <a:t>Only through self-testing knowledge gaps can be recognized</a:t>
            </a:r>
            <a:endParaRPr/>
          </a:p>
          <a:p>
            <a:pPr>
              <a:defRPr/>
            </a:pPr>
            <a:r>
              <a:rPr lang="en-NZ"/>
              <a:t>Typical application example: flashcards</a:t>
            </a:r>
            <a:endParaRPr/>
          </a:p>
        </p:txBody>
      </p:sp>
      <p:pic>
        <p:nvPicPr>
          <p:cNvPr id="7" name="Grafik 6"/>
          <p:cNvPicPr>
            <a:picLocks noChangeAspect="1"/>
          </p:cNvPicPr>
          <p:nvPr/>
        </p:nvPicPr>
        <p:blipFill>
          <a:blip r:embed="rId3"/>
          <a:stretch/>
        </p:blipFill>
        <p:spPr bwMode="auto">
          <a:xfrm>
            <a:off x="2514600" y="6061458"/>
            <a:ext cx="4991048" cy="332736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pic>
        <p:nvPicPr>
          <p:cNvPr id="2050" name="Picture 2"/>
          <p:cNvPicPr>
            <a:picLocks noChangeAspect="1" noChangeArrowheads="1"/>
          </p:cNvPicPr>
          <p:nvPr/>
        </p:nvPicPr>
        <p:blipFill>
          <a:blip r:embed="rId3"/>
          <a:stretch/>
        </p:blipFill>
        <p:spPr bwMode="auto">
          <a:xfrm>
            <a:off x="7391710" y="3533166"/>
            <a:ext cx="8626120" cy="5750746"/>
          </a:xfrm>
          <a:prstGeom prst="rect">
            <a:avLst/>
          </a:prstGeom>
          <a:noFill/>
        </p:spPr>
      </p:pic>
      <p:sp>
        <p:nvSpPr>
          <p:cNvPr id="5" name="Titel 4"/>
          <p:cNvSpPr>
            <a:spLocks noGrp="1"/>
          </p:cNvSpPr>
          <p:nvPr>
            <p:ph type="title"/>
          </p:nvPr>
        </p:nvSpPr>
        <p:spPr bwMode="auto"/>
        <p:txBody>
          <a:bodyPr vert="horz"/>
          <a:lstStyle/>
          <a:p>
            <a:pPr>
              <a:defRPr/>
            </a:pPr>
            <a:r>
              <a:rPr lang="de-DE"/>
              <a:t>Self-Explanation</a:t>
            </a:r>
            <a:endParaRPr/>
          </a:p>
        </p:txBody>
      </p:sp>
      <p:sp>
        <p:nvSpPr>
          <p:cNvPr id="6" name="Textplatzhalter 5"/>
          <p:cNvSpPr>
            <a:spLocks noGrp="1"/>
          </p:cNvSpPr>
          <p:nvPr>
            <p:ph idx="1"/>
          </p:nvPr>
        </p:nvSpPr>
        <p:spPr bwMode="auto"/>
        <p:txBody>
          <a:bodyPr/>
          <a:lstStyle/>
          <a:p>
            <a:pPr marL="0" indent="0">
              <a:lnSpc>
                <a:spcPct val="150000"/>
              </a:lnSpc>
              <a:buNone/>
              <a:defRPr/>
            </a:pPr>
            <a:r>
              <a:rPr lang="de-DE"/>
              <a:t>…</a:t>
            </a:r>
            <a:r>
              <a:rPr lang="de-DE"/>
              <a:t>asking</a:t>
            </a:r>
            <a:r>
              <a:rPr lang="de-DE"/>
              <a:t> </a:t>
            </a:r>
            <a:r>
              <a:rPr lang="de-DE"/>
              <a:t>questions</a:t>
            </a:r>
            <a:r>
              <a:rPr lang="de-DE"/>
              <a:t> </a:t>
            </a:r>
            <a:r>
              <a:rPr lang="de-DE"/>
              <a:t>to</a:t>
            </a:r>
            <a:r>
              <a:rPr lang="de-DE"/>
              <a:t> connect </a:t>
            </a:r>
            <a:r>
              <a:rPr lang="de-DE"/>
              <a:t>the</a:t>
            </a:r>
            <a:r>
              <a:rPr lang="de-DE"/>
              <a:t> </a:t>
            </a:r>
            <a:r>
              <a:rPr lang="de-DE"/>
              <a:t>dots</a:t>
            </a:r>
            <a:r>
              <a:rPr lang="de-DE"/>
              <a:t> and </a:t>
            </a:r>
            <a:r>
              <a:rPr lang="de-DE"/>
              <a:t>create</a:t>
            </a:r>
            <a:r>
              <a:rPr lang="de-DE"/>
              <a:t> </a:t>
            </a:r>
            <a:r>
              <a:rPr lang="de-DE"/>
              <a:t>holistic</a:t>
            </a:r>
            <a:r>
              <a:rPr lang="de-DE"/>
              <a:t> </a:t>
            </a:r>
            <a:r>
              <a:rPr lang="de-DE"/>
              <a:t>knowledge</a:t>
            </a:r>
            <a:r>
              <a:rPr lang="de-DE"/>
              <a:t> </a:t>
            </a:r>
            <a:r>
              <a:rPr lang="de-DE"/>
              <a:t>about</a:t>
            </a:r>
            <a:r>
              <a:rPr lang="de-DE"/>
              <a:t> a </a:t>
            </a:r>
            <a:r>
              <a:rPr lang="de-DE"/>
              <a:t>subject</a:t>
            </a:r>
            <a:endParaRPr lang="de-DE"/>
          </a:p>
          <a:p>
            <a:pPr marL="0" indent="0">
              <a:lnSpc>
                <a:spcPct val="150000"/>
              </a:lnSpc>
              <a:buNone/>
              <a:defRPr/>
            </a:pPr>
            <a:endParaRPr lang="de-DE"/>
          </a:p>
          <a:p>
            <a:pPr>
              <a:lnSpc>
                <a:spcPct val="150000"/>
              </a:lnSpc>
              <a:defRPr/>
            </a:pPr>
            <a:r>
              <a:rPr lang="de-DE"/>
              <a:t>What</a:t>
            </a:r>
            <a:r>
              <a:rPr lang="de-DE"/>
              <a:t>?</a:t>
            </a:r>
            <a:endParaRPr/>
          </a:p>
          <a:p>
            <a:pPr>
              <a:lnSpc>
                <a:spcPct val="150000"/>
              </a:lnSpc>
              <a:defRPr/>
            </a:pPr>
            <a:r>
              <a:rPr lang="de-DE"/>
              <a:t>When</a:t>
            </a:r>
            <a:r>
              <a:rPr lang="de-DE"/>
              <a:t>?</a:t>
            </a:r>
            <a:endParaRPr/>
          </a:p>
          <a:p>
            <a:pPr>
              <a:lnSpc>
                <a:spcPct val="150000"/>
              </a:lnSpc>
              <a:defRPr/>
            </a:pPr>
            <a:r>
              <a:rPr lang="de-DE"/>
              <a:t>Why</a:t>
            </a:r>
            <a:r>
              <a:rPr lang="de-DE"/>
              <a:t>?</a:t>
            </a:r>
            <a:endParaRPr/>
          </a:p>
          <a:p>
            <a:pPr>
              <a:lnSpc>
                <a:spcPct val="150000"/>
              </a:lnSpc>
              <a:defRPr/>
            </a:pPr>
            <a:r>
              <a:rPr lang="de-DE"/>
              <a:t>Discipline-specific</a:t>
            </a:r>
            <a:r>
              <a:rPr lang="de-DE"/>
              <a:t> </a:t>
            </a:r>
            <a:r>
              <a:rPr lang="de-DE"/>
              <a:t>questions</a:t>
            </a:r>
            <a:r>
              <a:rPr lang="de-DE"/>
              <a:t>…?</a:t>
            </a:r>
            <a:endParaRPr/>
          </a:p>
          <a:p>
            <a:pPr marL="0" indent="0">
              <a:buNone/>
              <a:defRPr/>
            </a:pPr>
            <a:r>
              <a:rPr lang="de-DE"/>
              <a:t> </a:t>
            </a:r>
            <a:endParaRPr/>
          </a:p>
          <a:p>
            <a:pPr marL="0" indent="0">
              <a:buNone/>
              <a:defRPr/>
            </a:pPr>
            <a:r>
              <a:rPr lang="de-DE"/>
              <a:t> </a:t>
            </a:r>
            <a:r>
              <a:rPr lang="de-DE"/>
              <a:t>Tip</a:t>
            </a:r>
            <a:r>
              <a:rPr lang="de-DE"/>
              <a:t>: form </a:t>
            </a:r>
            <a:r>
              <a:rPr lang="de-DE"/>
              <a:t>study</a:t>
            </a:r>
            <a:r>
              <a:rPr lang="de-DE"/>
              <a:t>-groups</a:t>
            </a:r>
            <a:endParaRPr/>
          </a:p>
        </p:txBody>
      </p:sp>
      <p:sp>
        <p:nvSpPr>
          <p:cNvPr id="3" name="Textfeld 2"/>
          <p:cNvSpPr txBox="1"/>
          <p:nvPr/>
        </p:nvSpPr>
        <p:spPr bwMode="auto">
          <a:xfrm>
            <a:off x="11887200" y="9458163"/>
            <a:ext cx="3673430" cy="430887"/>
          </a:xfrm>
          <a:prstGeom prst="rect">
            <a:avLst/>
          </a:prstGeom>
          <a:noFill/>
        </p:spPr>
        <p:txBody>
          <a:bodyPr wrap="square">
            <a:spAutoFit/>
          </a:bodyPr>
          <a:lstStyle/>
          <a:p>
            <a:pPr>
              <a:defRPr/>
            </a:pPr>
            <a:r>
              <a:rPr lang="de-DE" sz="2200">
                <a:solidFill>
                  <a:schemeClr val="bg1">
                    <a:lumMod val="65000"/>
                  </a:schemeClr>
                </a:solidFill>
                <a:latin typeface="Arial"/>
                <a:ea typeface="Calibri"/>
                <a:cs typeface="Arial"/>
              </a:rPr>
              <a:t>Berry 1983, </a:t>
            </a:r>
            <a:r>
              <a:rPr lang="de-DE" sz="2200">
                <a:solidFill>
                  <a:schemeClr val="bg1">
                    <a:lumMod val="65000"/>
                  </a:schemeClr>
                </a:solidFill>
                <a:latin typeface="Arial"/>
                <a:ea typeface="Calibri"/>
                <a:cs typeface="Arial"/>
              </a:rPr>
              <a:t>Brainzucker</a:t>
            </a:r>
            <a:endParaRPr lang="de-DE" sz="2200">
              <a:solidFill>
                <a:schemeClr val="bg1">
                  <a:lumMod val="65000"/>
                </a:schemeClr>
              </a:solidFill>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5" name="Titel 4"/>
          <p:cNvSpPr>
            <a:spLocks noGrp="1"/>
          </p:cNvSpPr>
          <p:nvPr>
            <p:ph type="title"/>
          </p:nvPr>
        </p:nvSpPr>
        <p:spPr bwMode="auto"/>
        <p:txBody>
          <a:bodyPr vert="horz"/>
          <a:lstStyle/>
          <a:p>
            <a:pPr>
              <a:defRPr/>
            </a:pPr>
            <a:r>
              <a:rPr lang="de-DE"/>
              <a:t>Elaboration</a:t>
            </a:r>
            <a:endParaRPr/>
          </a:p>
        </p:txBody>
      </p:sp>
      <p:sp>
        <p:nvSpPr>
          <p:cNvPr id="6" name="Textplatzhalter 5"/>
          <p:cNvSpPr>
            <a:spLocks noGrp="1"/>
          </p:cNvSpPr>
          <p:nvPr>
            <p:ph idx="1"/>
          </p:nvPr>
        </p:nvSpPr>
        <p:spPr bwMode="auto">
          <a:xfrm>
            <a:off x="1944000" y="2738828"/>
            <a:ext cx="7657200" cy="6480000"/>
          </a:xfrm>
        </p:spPr>
        <p:txBody>
          <a:bodyPr/>
          <a:lstStyle/>
          <a:p>
            <a:pPr>
              <a:lnSpc>
                <a:spcPct val="150000"/>
              </a:lnSpc>
              <a:defRPr/>
            </a:pPr>
            <a:r>
              <a:rPr lang="en-AU"/>
              <a:t>present the topic properly</a:t>
            </a:r>
            <a:endParaRPr/>
          </a:p>
          <a:p>
            <a:pPr>
              <a:lnSpc>
                <a:spcPct val="150000"/>
              </a:lnSpc>
              <a:defRPr/>
            </a:pPr>
            <a:r>
              <a:rPr lang="en-AU"/>
              <a:t>talk about associations</a:t>
            </a:r>
            <a:endParaRPr/>
          </a:p>
          <a:p>
            <a:pPr>
              <a:lnSpc>
                <a:spcPct val="150000"/>
              </a:lnSpc>
              <a:defRPr/>
            </a:pPr>
            <a:r>
              <a:rPr lang="en-AU"/>
              <a:t>explain concepts</a:t>
            </a:r>
            <a:endParaRPr/>
          </a:p>
          <a:p>
            <a:pPr>
              <a:lnSpc>
                <a:spcPct val="100000"/>
              </a:lnSpc>
              <a:defRPr/>
            </a:pPr>
            <a:r>
              <a:rPr lang="en-AU"/>
              <a:t>making connections to other knowledge</a:t>
            </a:r>
            <a:endParaRPr/>
          </a:p>
          <a:p>
            <a:pPr>
              <a:lnSpc>
                <a:spcPct val="100000"/>
              </a:lnSpc>
              <a:defRPr/>
            </a:pPr>
            <a:r>
              <a:rPr lang="en-AU"/>
              <a:t>answer a question / talk about a topic in detail</a:t>
            </a:r>
            <a:endParaRPr/>
          </a:p>
        </p:txBody>
      </p:sp>
      <p:sp>
        <p:nvSpPr>
          <p:cNvPr id="1711970564" name=" 1711970563"/>
          <p:cNvSpPr/>
          <p:nvPr/>
        </p:nvSpPr>
        <p:spPr bwMode="auto">
          <a:xfrm>
            <a:off x="20378342" y="9647078"/>
            <a:ext cx="229392" cy="4389120"/>
          </a:xfrm>
        </p:spPr>
        <p:txBody>
          <a:bodyPr rot="0" spcFirstLastPara="0" vertOverflow="overflow" horzOverflow="clip" vert="horz" wrap="square" lIns="182880" tIns="91440" rIns="182880" bIns="91440" numCol="1" spcCol="0" rtlCol="0" fromWordArt="0" anchor="t" anchorCtr="0" forceAA="0" compatLnSpc="1">
            <a:prstTxWarp prst="textNoShape"/>
            <a:spAutoFit/>
          </a:bodyPr>
          <a:lstStyle/>
          <a:p>
            <a:pPr>
              <a:defRPr/>
            </a:pPr>
            <a:endParaRPr sz="3600"/>
          </a:p>
        </p:txBody>
      </p:sp>
      <p:sp>
        <p:nvSpPr>
          <p:cNvPr id="1943048886" name=" 1943048885"/>
          <p:cNvSpPr/>
          <p:nvPr/>
        </p:nvSpPr>
        <p:spPr bwMode="auto">
          <a:xfrm>
            <a:off x="16805232" y="8914724"/>
            <a:ext cx="200540" cy="4389120"/>
          </a:xfrm>
        </p:spPr>
        <p:txBody>
          <a:bodyPr rot="0" spcFirstLastPara="0" vertOverflow="overflow" horzOverflow="clip" vert="horz" wrap="square" lIns="182880" tIns="91440" rIns="182880" bIns="91440" numCol="1" spcCol="0" rtlCol="0" fromWordArt="0" anchor="t" anchorCtr="0" forceAA="0" compatLnSpc="1">
            <a:prstTxWarp prst="textNoShape"/>
            <a:spAutoFit/>
          </a:bodyPr>
          <a:lstStyle/>
          <a:p>
            <a:pPr>
              <a:defRPr/>
            </a:pPr>
            <a:endParaRPr sz="3600"/>
          </a:p>
        </p:txBody>
      </p:sp>
      <p:pic>
        <p:nvPicPr>
          <p:cNvPr id="841114538" name="Grafik 841114537"/>
          <p:cNvPicPr>
            <a:picLocks noChangeAspect="1"/>
          </p:cNvPicPr>
          <p:nvPr/>
        </p:nvPicPr>
        <p:blipFill>
          <a:blip r:embed="rId3"/>
          <a:stretch/>
        </p:blipFill>
        <p:spPr bwMode="auto">
          <a:xfrm flipH="1">
            <a:off x="9601200" y="3571083"/>
            <a:ext cx="5894058" cy="4158586"/>
          </a:xfrm>
          <a:prstGeom prst="rect">
            <a:avLst/>
          </a:prstGeom>
        </p:spPr>
      </p:pic>
      <p:sp>
        <p:nvSpPr>
          <p:cNvPr id="3" name="Textfeld 2"/>
          <p:cNvSpPr txBox="1"/>
          <p:nvPr/>
        </p:nvSpPr>
        <p:spPr bwMode="auto">
          <a:xfrm>
            <a:off x="11548534" y="9003384"/>
            <a:ext cx="3239342" cy="430887"/>
          </a:xfrm>
          <a:prstGeom prst="rect">
            <a:avLst/>
          </a:prstGeom>
          <a:noFill/>
        </p:spPr>
        <p:txBody>
          <a:bodyPr wrap="square">
            <a:spAutoFit/>
          </a:bodyPr>
          <a:lstStyle/>
          <a:p>
            <a:pPr algn="r">
              <a:defRPr/>
            </a:pPr>
            <a:r>
              <a:rPr lang="de-DE" sz="2200">
                <a:solidFill>
                  <a:schemeClr val="bg1">
                    <a:lumMod val="65000"/>
                  </a:schemeClr>
                </a:solidFill>
                <a:latin typeface="Arial"/>
                <a:ea typeface="Calibri"/>
                <a:cs typeface="Arial"/>
              </a:rPr>
              <a:t>Ramin 2022</a:t>
            </a:r>
            <a:endParaRPr lang="de-DE" sz="2200">
              <a:solidFill>
                <a:schemeClr val="bg1">
                  <a:lumMod val="65000"/>
                </a:schemeClr>
              </a:solidFill>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5" name="Titel 4"/>
          <p:cNvSpPr>
            <a:spLocks noGrp="1"/>
          </p:cNvSpPr>
          <p:nvPr>
            <p:ph type="title"/>
          </p:nvPr>
        </p:nvSpPr>
        <p:spPr bwMode="auto"/>
        <p:txBody>
          <a:bodyPr vert="horz"/>
          <a:lstStyle/>
          <a:p>
            <a:pPr>
              <a:defRPr/>
            </a:pPr>
            <a:r>
              <a:rPr lang="de-DE"/>
              <a:t>Interleaving</a:t>
            </a:r>
            <a:endParaRPr/>
          </a:p>
        </p:txBody>
      </p:sp>
      <p:sp>
        <p:nvSpPr>
          <p:cNvPr id="6" name="Textplatzhalter 5"/>
          <p:cNvSpPr>
            <a:spLocks noGrp="1"/>
          </p:cNvSpPr>
          <p:nvPr>
            <p:ph idx="1"/>
          </p:nvPr>
        </p:nvSpPr>
        <p:spPr bwMode="auto">
          <a:xfrm>
            <a:off x="1944001" y="2784839"/>
            <a:ext cx="6816436" cy="6480000"/>
          </a:xfrm>
        </p:spPr>
        <p:txBody>
          <a:bodyPr>
            <a:normAutofit/>
          </a:bodyPr>
          <a:lstStyle/>
          <a:p>
            <a:pPr marL="0" indent="0">
              <a:lnSpc>
                <a:spcPct val="100000"/>
              </a:lnSpc>
              <a:spcAft>
                <a:spcPts val="1200"/>
              </a:spcAft>
              <a:buNone/>
              <a:defRPr/>
            </a:pPr>
            <a:r>
              <a:rPr lang="en-GB" sz="3200"/>
              <a:t>…changing topics while studying</a:t>
            </a:r>
            <a:endParaRPr/>
          </a:p>
          <a:p>
            <a:pPr>
              <a:lnSpc>
                <a:spcPct val="100000"/>
              </a:lnSpc>
              <a:buFont typeface="Arial"/>
              <a:buChar char="•"/>
              <a:defRPr/>
            </a:pPr>
            <a:r>
              <a:rPr lang="en-US" sz="3200">
                <a:solidFill>
                  <a:srgbClr val="000000"/>
                </a:solidFill>
              </a:rPr>
              <a:t>It’s more effective to change subject shortly before reaching 100% understanding of the previous subject </a:t>
            </a:r>
            <a:endParaRPr lang="en-US" sz="4400"/>
          </a:p>
          <a:p>
            <a:pPr>
              <a:lnSpc>
                <a:spcPct val="100000"/>
              </a:lnSpc>
              <a:buFont typeface="Arial"/>
              <a:buChar char="•"/>
              <a:defRPr/>
            </a:pPr>
            <a:r>
              <a:rPr lang="en-US" sz="3200">
                <a:solidFill>
                  <a:srgbClr val="000000"/>
                </a:solidFill>
              </a:rPr>
              <a:t>Overlaps with the spacing-effect</a:t>
            </a:r>
            <a:endParaRPr lang="en-US" sz="4400"/>
          </a:p>
          <a:p>
            <a:pPr>
              <a:lnSpc>
                <a:spcPct val="100000"/>
              </a:lnSpc>
              <a:buFont typeface="Arial"/>
              <a:buChar char="•"/>
              <a:defRPr/>
            </a:pPr>
            <a:r>
              <a:rPr lang="en-US" sz="3200">
                <a:solidFill>
                  <a:srgbClr val="000000"/>
                </a:solidFill>
              </a:rPr>
              <a:t>Improves elaboration since knowledge is connected across subjects and detailed differences become apparent</a:t>
            </a:r>
            <a:endParaRPr lang="en-US" sz="4400"/>
          </a:p>
          <a:p>
            <a:pPr marL="0" indent="0">
              <a:buNone/>
              <a:defRPr/>
            </a:pPr>
            <a:endParaRPr lang="de-DE"/>
          </a:p>
          <a:p>
            <a:pPr marL="0" indent="0">
              <a:buNone/>
              <a:defRPr/>
            </a:pPr>
            <a:endParaRPr lang="de-DE"/>
          </a:p>
          <a:p>
            <a:pPr marL="0" indent="0">
              <a:buNone/>
              <a:defRPr/>
            </a:pPr>
            <a:endParaRPr lang="de-DE"/>
          </a:p>
        </p:txBody>
      </p:sp>
      <p:pic>
        <p:nvPicPr>
          <p:cNvPr id="3074" name="Picture 2" descr="Interleaved Practice – Use It to Maximize Your Learning Pace"/>
          <p:cNvPicPr>
            <a:picLocks noChangeAspect="1" noChangeArrowheads="1"/>
          </p:cNvPicPr>
          <p:nvPr/>
        </p:nvPicPr>
        <p:blipFill>
          <a:blip r:embed="rId3"/>
          <a:stretch/>
        </p:blipFill>
        <p:spPr bwMode="auto">
          <a:xfrm>
            <a:off x="9527564" y="2284990"/>
            <a:ext cx="6816436" cy="6453902"/>
          </a:xfrm>
          <a:prstGeom prst="rect">
            <a:avLst/>
          </a:prstGeom>
          <a:noFill/>
        </p:spPr>
      </p:pic>
      <p:sp>
        <p:nvSpPr>
          <p:cNvPr id="7" name="Textfeld 6"/>
          <p:cNvSpPr txBox="1"/>
          <p:nvPr/>
        </p:nvSpPr>
        <p:spPr bwMode="auto">
          <a:xfrm>
            <a:off x="10452014" y="8985140"/>
            <a:ext cx="4967536" cy="430887"/>
          </a:xfrm>
          <a:prstGeom prst="rect">
            <a:avLst/>
          </a:prstGeom>
          <a:noFill/>
        </p:spPr>
        <p:txBody>
          <a:bodyPr wrap="square">
            <a:spAutoFit/>
          </a:bodyPr>
          <a:lstStyle/>
          <a:p>
            <a:pPr algn="r">
              <a:defRPr/>
            </a:pPr>
            <a:r>
              <a:rPr lang="de-DE" sz="2200">
                <a:solidFill>
                  <a:schemeClr val="bg1">
                    <a:lumMod val="65000"/>
                  </a:schemeClr>
                </a:solidFill>
                <a:latin typeface="Arial"/>
                <a:ea typeface="Calibri"/>
                <a:cs typeface="Arial"/>
              </a:rPr>
              <a:t>Ramin 2022, Universe </a:t>
            </a:r>
            <a:r>
              <a:rPr lang="de-DE" sz="2200">
                <a:solidFill>
                  <a:schemeClr val="bg1">
                    <a:lumMod val="65000"/>
                  </a:schemeClr>
                </a:solidFill>
                <a:latin typeface="Arial"/>
                <a:ea typeface="Calibri"/>
                <a:cs typeface="Arial"/>
              </a:rPr>
              <a:t>of</a:t>
            </a:r>
            <a:r>
              <a:rPr lang="de-DE" sz="2200">
                <a:solidFill>
                  <a:schemeClr val="bg1">
                    <a:lumMod val="65000"/>
                  </a:schemeClr>
                </a:solidFill>
                <a:latin typeface="Arial"/>
                <a:ea typeface="Calibri"/>
                <a:cs typeface="Arial"/>
              </a:rPr>
              <a:t> Memory</a:t>
            </a:r>
            <a:endParaRPr lang="de-DE" sz="2200">
              <a:solidFill>
                <a:schemeClr val="bg1">
                  <a:lumMod val="65000"/>
                </a:schemeClr>
              </a:solidFill>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pic>
        <p:nvPicPr>
          <p:cNvPr id="959583993" name="Grafik 959583992"/>
          <p:cNvPicPr>
            <a:picLocks noChangeAspect="1"/>
          </p:cNvPicPr>
          <p:nvPr/>
        </p:nvPicPr>
        <p:blipFill>
          <a:blip r:embed="rId3"/>
          <a:stretch/>
        </p:blipFill>
        <p:spPr bwMode="auto">
          <a:xfrm>
            <a:off x="10936983" y="3090025"/>
            <a:ext cx="6224714" cy="4106950"/>
          </a:xfrm>
          <a:prstGeom prst="rect">
            <a:avLst/>
          </a:prstGeom>
        </p:spPr>
      </p:pic>
      <p:sp>
        <p:nvSpPr>
          <p:cNvPr id="5" name="Titel 4"/>
          <p:cNvSpPr>
            <a:spLocks noGrp="1"/>
          </p:cNvSpPr>
          <p:nvPr>
            <p:ph type="title"/>
          </p:nvPr>
        </p:nvSpPr>
        <p:spPr bwMode="auto"/>
        <p:txBody>
          <a:bodyPr vert="horz"/>
          <a:lstStyle/>
          <a:p>
            <a:pPr>
              <a:defRPr/>
            </a:pPr>
            <a:r>
              <a:rPr lang="de-DE"/>
              <a:t>Breaks</a:t>
            </a:r>
            <a:endParaRPr/>
          </a:p>
        </p:txBody>
      </p:sp>
      <p:sp>
        <p:nvSpPr>
          <p:cNvPr id="6" name="Textplatzhalter 5"/>
          <p:cNvSpPr>
            <a:spLocks noGrp="1"/>
          </p:cNvSpPr>
          <p:nvPr>
            <p:ph idx="1"/>
          </p:nvPr>
        </p:nvSpPr>
        <p:spPr bwMode="auto">
          <a:xfrm>
            <a:off x="1986931" y="2684539"/>
            <a:ext cx="10019400" cy="6480000"/>
          </a:xfrm>
        </p:spPr>
        <p:txBody>
          <a:bodyPr/>
          <a:lstStyle/>
          <a:p>
            <a:pPr marL="0" indent="0">
              <a:lnSpc>
                <a:spcPct val="150000"/>
              </a:lnSpc>
              <a:buNone/>
              <a:defRPr/>
            </a:pPr>
            <a:r>
              <a:rPr lang="de-DE" b="1"/>
              <a:t>„</a:t>
            </a:r>
            <a:r>
              <a:rPr lang="en-US" sz="3200" b="1"/>
              <a:t>Take. Breaks.</a:t>
            </a:r>
            <a:r>
              <a:rPr lang="en-US" sz="3200"/>
              <a:t> A lot.“</a:t>
            </a:r>
            <a:endParaRPr/>
          </a:p>
          <a:p>
            <a:pPr>
              <a:lnSpc>
                <a:spcPct val="150000"/>
              </a:lnSpc>
              <a:defRPr/>
            </a:pPr>
            <a:r>
              <a:rPr lang="en-US" sz="3200"/>
              <a:t>Pomodoro-Technique: 25minutes of learning, 5minutes breaks</a:t>
            </a:r>
            <a:endParaRPr/>
          </a:p>
          <a:p>
            <a:pPr>
              <a:lnSpc>
                <a:spcPct val="150000"/>
              </a:lnSpc>
              <a:defRPr/>
            </a:pPr>
            <a:r>
              <a:rPr lang="en-US" sz="3200"/>
              <a:t>Several short breaks are better than few long breaks</a:t>
            </a:r>
            <a:endParaRPr/>
          </a:p>
          <a:p>
            <a:pPr>
              <a:lnSpc>
                <a:spcPct val="150000"/>
              </a:lnSpc>
              <a:defRPr/>
            </a:pPr>
            <a:r>
              <a:rPr lang="en-US" sz="3200"/>
              <a:t>People are innately bad at estimating their own level of concentration and efficacy. In case of doubt, take a break!</a:t>
            </a:r>
            <a:endParaRPr/>
          </a:p>
        </p:txBody>
      </p:sp>
      <p:sp>
        <p:nvSpPr>
          <p:cNvPr id="3" name="Textfeld 2"/>
          <p:cNvSpPr txBox="1"/>
          <p:nvPr/>
        </p:nvSpPr>
        <p:spPr bwMode="auto">
          <a:xfrm>
            <a:off x="11734799" y="9316106"/>
            <a:ext cx="3239342" cy="430887"/>
          </a:xfrm>
          <a:prstGeom prst="rect">
            <a:avLst/>
          </a:prstGeom>
          <a:noFill/>
        </p:spPr>
        <p:txBody>
          <a:bodyPr wrap="square">
            <a:spAutoFit/>
          </a:bodyPr>
          <a:lstStyle/>
          <a:p>
            <a:pPr algn="r">
              <a:defRPr/>
            </a:pPr>
            <a:r>
              <a:rPr lang="de-DE" sz="2200">
                <a:solidFill>
                  <a:schemeClr val="bg1">
                    <a:lumMod val="65000"/>
                  </a:schemeClr>
                </a:solidFill>
                <a:latin typeface="Arial"/>
                <a:ea typeface="Calibri"/>
                <a:cs typeface="Arial"/>
              </a:rPr>
              <a:t>Ramin 2022</a:t>
            </a:r>
            <a:endParaRPr lang="de-DE" sz="2200">
              <a:solidFill>
                <a:schemeClr val="bg1">
                  <a:lumMod val="65000"/>
                </a:schemeClr>
              </a:solidFill>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normAutofit/>
          </a:bodyPr>
          <a:lstStyle/>
          <a:p>
            <a:pPr algn="ctr">
              <a:defRPr/>
            </a:pPr>
            <a:r>
              <a:rPr lang="en-GB" sz="4400"/>
              <a:t>What difficulties could arise when implementing these learning methods?</a:t>
            </a:r>
            <a:br>
              <a:rPr lang="en-GB" sz="4400"/>
            </a:br>
            <a:br>
              <a:rPr lang="en-GB" sz="4400"/>
            </a:br>
            <a:r>
              <a:rPr lang="en-GB" sz="4400"/>
              <a:t>Can you think of any solutions?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marL="0" marR="0" lvl="0" indent="0" algn="ctr" defTabSz="914400">
              <a:lnSpc>
                <a:spcPct val="90000"/>
              </a:lnSpc>
              <a:spcBef>
                <a:spcPts val="1000"/>
              </a:spcBef>
              <a:spcAft>
                <a:spcPts val="0"/>
              </a:spcAft>
              <a:defRPr/>
            </a:pPr>
            <a:r>
              <a:rPr lang="en-IE" sz="2800">
                <a:solidFill>
                  <a:srgbClr val="000000"/>
                </a:solidFill>
                <a:latin typeface="+mn-lt"/>
                <a:ea typeface="+mn-ea"/>
                <a:cs typeface="+mn-cs"/>
              </a:rPr>
              <a:t>You‘ve now learned about</a:t>
            </a:r>
            <a:r>
              <a:rPr lang="en-IE" sz="2800" b="0" i="0" u="none" strike="noStrike" cap="none" spc="0">
                <a:ln>
                  <a:noFill/>
                </a:ln>
                <a:solidFill>
                  <a:srgbClr val="000000"/>
                </a:solidFill>
                <a:latin typeface="+mn-lt"/>
                <a:ea typeface="+mn-ea"/>
                <a:cs typeface="+mn-cs"/>
              </a:rPr>
              <a:t> Spaced Repetition, Active Recall, Self-Explanation, Interleaving, </a:t>
            </a:r>
            <a:r>
              <a:rPr lang="en-IE" sz="2800">
                <a:solidFill>
                  <a:srgbClr val="000000"/>
                </a:solidFill>
                <a:latin typeface="+mn-lt"/>
                <a:ea typeface="+mn-ea"/>
                <a:cs typeface="+mn-cs"/>
              </a:rPr>
              <a:t>and regular breaks.</a:t>
            </a:r>
            <a:r>
              <a:rPr lang="en-IE" sz="2800" b="0" i="0" u="none" strike="noStrike" cap="none" spc="0">
                <a:ln>
                  <a:noFill/>
                </a:ln>
                <a:solidFill>
                  <a:srgbClr val="000000"/>
                </a:solidFill>
                <a:latin typeface="+mn-lt"/>
                <a:ea typeface="+mn-ea"/>
                <a:cs typeface="+mn-cs"/>
              </a:rPr>
              <a:t> It takes quite</a:t>
            </a:r>
            <a:r>
              <a:rPr lang="en-IE" sz="2800">
                <a:solidFill>
                  <a:srgbClr val="000000"/>
                </a:solidFill>
                <a:latin typeface="+mn-lt"/>
                <a:ea typeface="+mn-ea"/>
                <a:cs typeface="+mn-cs"/>
              </a:rPr>
              <a:t> </a:t>
            </a:r>
            <a:r>
              <a:rPr lang="en-IE" sz="2800" b="0" i="0" u="none" strike="noStrike" cap="none" spc="0">
                <a:ln>
                  <a:noFill/>
                </a:ln>
                <a:solidFill>
                  <a:srgbClr val="000000"/>
                </a:solidFill>
                <a:latin typeface="+mn-lt"/>
                <a:ea typeface="+mn-ea"/>
                <a:cs typeface="+mn-cs"/>
              </a:rPr>
              <a:t>a lot of commitment to think of everything every time.</a:t>
            </a:r>
            <a:br>
              <a:rPr lang="en-IE" sz="2800" b="0" i="0" u="none" strike="noStrike" cap="none" spc="0">
                <a:ln>
                  <a:noFill/>
                </a:ln>
                <a:solidFill>
                  <a:srgbClr val="000000"/>
                </a:solidFill>
                <a:latin typeface="+mn-lt"/>
                <a:ea typeface="+mn-ea"/>
                <a:cs typeface="+mn-cs"/>
              </a:rPr>
            </a:br>
            <a:br>
              <a:rPr lang="en-IE" sz="2800" b="0" i="0" u="none" strike="noStrike" cap="none" spc="0">
                <a:ln>
                  <a:noFill/>
                </a:ln>
                <a:solidFill>
                  <a:srgbClr val="000000"/>
                </a:solidFill>
                <a:latin typeface="+mn-lt"/>
                <a:ea typeface="+mn-ea"/>
                <a:cs typeface="+mn-cs"/>
              </a:rPr>
            </a:br>
            <a:r>
              <a:rPr lang="en-IE" sz="2800" b="0" i="0" u="none" strike="noStrike" cap="none" spc="0">
                <a:ln>
                  <a:noFill/>
                </a:ln>
                <a:solidFill>
                  <a:srgbClr val="000000"/>
                </a:solidFill>
                <a:latin typeface="+mn-lt"/>
                <a:ea typeface="+mn-ea"/>
                <a:cs typeface="+mn-cs"/>
              </a:rPr>
              <a:t>Lucky you! We‘ve got technology. </a:t>
            </a:r>
            <a:br>
              <a:rPr lang="en-IE" sz="2800" b="0" i="0" u="none" strike="noStrike" cap="none" spc="0">
                <a:ln>
                  <a:noFill/>
                </a:ln>
                <a:solidFill>
                  <a:srgbClr val="000000"/>
                </a:solidFill>
                <a:latin typeface="+mn-lt"/>
                <a:ea typeface="+mn-ea"/>
                <a:cs typeface="+mn-cs"/>
              </a:rPr>
            </a:br>
            <a:br>
              <a:rPr lang="en-IE" sz="2800" b="0" i="0" u="none" strike="noStrike" cap="none" spc="0">
                <a:ln>
                  <a:noFill/>
                </a:ln>
                <a:solidFill>
                  <a:srgbClr val="000000"/>
                </a:solidFill>
                <a:latin typeface="+mn-lt"/>
                <a:ea typeface="+mn-ea"/>
                <a:cs typeface="+mn-cs"/>
              </a:rPr>
            </a:br>
            <a:r>
              <a:rPr lang="en-IE" sz="2800" b="0" i="0" u="none" strike="noStrike" cap="none" spc="0">
                <a:ln>
                  <a:noFill/>
                </a:ln>
                <a:solidFill>
                  <a:srgbClr val="000000"/>
                </a:solidFill>
                <a:latin typeface="+mn-lt"/>
                <a:ea typeface="+mn-ea"/>
                <a:cs typeface="+mn-cs"/>
              </a:rPr>
              <a:t>Let me introduce:</a:t>
            </a:r>
            <a:br>
              <a:rPr lang="de-DE" sz="2800" b="0" i="0" u="none" strike="noStrike" cap="none" spc="0">
                <a:ln>
                  <a:noFill/>
                </a:ln>
                <a:solidFill>
                  <a:srgbClr val="000000"/>
                </a:solidFill>
                <a:latin typeface="+mn-lt"/>
                <a:ea typeface="+mn-ea"/>
                <a:cs typeface="+mn-cs"/>
              </a:rPr>
            </a:br>
            <a:br>
              <a:rPr lang="de-DE" sz="2800" b="0" i="0" u="none" strike="noStrike" cap="none" spc="0">
                <a:ln>
                  <a:noFill/>
                </a:ln>
                <a:solidFill>
                  <a:srgbClr val="000000"/>
                </a:solidFill>
                <a:latin typeface="+mn-lt"/>
                <a:ea typeface="+mn-ea"/>
                <a:cs typeface="+mn-cs"/>
              </a:rPr>
            </a:br>
            <a:r>
              <a:rPr lang="de-DE" sz="7200" b="1" i="0" u="none" strike="noStrike" cap="none" spc="0">
                <a:ln>
                  <a:noFill/>
                </a:ln>
                <a:solidFill>
                  <a:srgbClr val="1D92E1"/>
                </a:solidFill>
                <a:latin typeface="+mn-lt"/>
                <a:ea typeface="+mn-ea"/>
                <a:cs typeface="Aharoni"/>
              </a:rPr>
              <a:t>ANKI</a:t>
            </a:r>
            <a:endParaRPr lang="en-GB">
              <a:latin typeface="+mn-lt"/>
            </a:endParaRPr>
          </a:p>
        </p:txBody>
      </p:sp>
      <p:sp>
        <p:nvSpPr>
          <p:cNvPr id="4" name="Foliennummernplatzhalter 3"/>
          <p:cNvSpPr>
            <a:spLocks noGrp="1"/>
          </p:cNvSpPr>
          <p:nvPr>
            <p:ph type="sldNum" idx="4294967295"/>
          </p:nvPr>
        </p:nvSpPr>
        <p:spPr bwMode="auto">
          <a:xfrm>
            <a:off x="17189450" y="9647238"/>
            <a:ext cx="1098550" cy="787400"/>
          </a:xfrm>
          <a:prstGeom prst="rect">
            <a:avLst/>
          </a:prstGeom>
        </p:spPr>
        <p:txBody>
          <a:bodyPr/>
          <a:lstStyle/>
          <a:p>
            <a:pPr>
              <a:defRPr/>
            </a:pPr>
            <a:fld id="{00000000-1234-1234-1234-123412341234}" type="slidenum">
              <a:rPr lang="de-DE"/>
              <a:t>18</a:t>
            </a:fld>
            <a:endParaRPr lang="de-D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4" name="Foliennummernplatzhalter 3"/>
          <p:cNvSpPr>
            <a:spLocks noGrp="1"/>
          </p:cNvSpPr>
          <p:nvPr>
            <p:ph type="sldNum" idx="12"/>
          </p:nvPr>
        </p:nvSpPr>
        <p:spPr bwMode="auto">
          <a:prstGeom prst="rect">
            <a:avLst/>
          </a:prstGeom>
        </p:spPr>
        <p:txBody>
          <a:bodyPr/>
          <a:lstStyle/>
          <a:p>
            <a:pPr>
              <a:defRPr/>
            </a:pPr>
            <a:fld id="{00000000-1234-1234-1234-123412341234}" type="slidenum">
              <a:rPr lang="de-DE"/>
              <a:t>19</a:t>
            </a:fld>
            <a:endParaRPr lang="de-DE"/>
          </a:p>
        </p:txBody>
      </p:sp>
      <p:sp>
        <p:nvSpPr>
          <p:cNvPr id="6" name="Textplatzhalter 5"/>
          <p:cNvSpPr>
            <a:spLocks noGrp="1"/>
          </p:cNvSpPr>
          <p:nvPr>
            <p:ph idx="4294967295"/>
          </p:nvPr>
        </p:nvSpPr>
        <p:spPr bwMode="auto">
          <a:xfrm>
            <a:off x="1868488" y="2682920"/>
            <a:ext cx="5446714" cy="6480174"/>
          </a:xfrm>
          <a:prstGeom prst="rect">
            <a:avLst/>
          </a:prstGeom>
          <a:noFill/>
        </p:spPr>
        <p:txBody>
          <a:bodyPr/>
          <a:lstStyle/>
          <a:p>
            <a:pPr marL="0" indent="0">
              <a:buNone/>
              <a:defRPr/>
            </a:pPr>
            <a:r>
              <a:rPr lang="de-DE"/>
              <a:t>Intigrated</a:t>
            </a:r>
            <a:r>
              <a:rPr lang="de-DE"/>
              <a:t> in </a:t>
            </a:r>
            <a:r>
              <a:rPr lang="de-DE"/>
              <a:t>the</a:t>
            </a:r>
            <a:r>
              <a:rPr lang="de-DE"/>
              <a:t> </a:t>
            </a:r>
            <a:r>
              <a:rPr lang="de-DE"/>
              <a:t>program</a:t>
            </a:r>
            <a:r>
              <a:rPr lang="de-DE">
                <a:solidFill>
                  <a:schemeClr val="tx1"/>
                </a:solidFill>
              </a:rPr>
              <a:t>:</a:t>
            </a:r>
            <a:endParaRPr>
              <a:solidFill>
                <a:schemeClr val="tx1"/>
              </a:solidFill>
            </a:endParaRPr>
          </a:p>
          <a:p>
            <a:pPr marL="571500" indent="-571500">
              <a:buClr>
                <a:srgbClr val="1D92E1"/>
              </a:buClr>
              <a:buFont typeface="Arial"/>
              <a:buChar char="•"/>
              <a:defRPr/>
            </a:pPr>
            <a:r>
              <a:rPr lang="de-DE">
                <a:solidFill>
                  <a:schemeClr val="tx1"/>
                </a:solidFill>
              </a:rPr>
              <a:t>Active</a:t>
            </a:r>
            <a:r>
              <a:rPr lang="de-DE">
                <a:solidFill>
                  <a:schemeClr val="tx1"/>
                </a:solidFill>
              </a:rPr>
              <a:t> Recall</a:t>
            </a:r>
            <a:endParaRPr>
              <a:solidFill>
                <a:schemeClr val="tx1"/>
              </a:solidFill>
            </a:endParaRPr>
          </a:p>
          <a:p>
            <a:pPr marL="571500" indent="-571500">
              <a:buClr>
                <a:srgbClr val="1D92E1"/>
              </a:buClr>
              <a:buFont typeface="Arial"/>
              <a:buChar char="•"/>
              <a:defRPr/>
            </a:pPr>
            <a:r>
              <a:rPr lang="de-DE">
                <a:solidFill>
                  <a:schemeClr val="tx1"/>
                </a:solidFill>
              </a:rPr>
              <a:t>Spaced</a:t>
            </a:r>
            <a:r>
              <a:rPr lang="de-DE">
                <a:solidFill>
                  <a:schemeClr val="tx1"/>
                </a:solidFill>
              </a:rPr>
              <a:t> Repetition</a:t>
            </a:r>
            <a:endParaRPr>
              <a:solidFill>
                <a:schemeClr val="tx1"/>
              </a:solidFill>
            </a:endParaRPr>
          </a:p>
          <a:p>
            <a:pPr marL="571500" indent="-571500">
              <a:buClr>
                <a:srgbClr val="1D92E1"/>
              </a:buClr>
              <a:buFont typeface="Arial"/>
              <a:buChar char="•"/>
              <a:defRPr/>
            </a:pPr>
            <a:r>
              <a:rPr lang="de-DE">
                <a:solidFill>
                  <a:schemeClr val="tx1"/>
                </a:solidFill>
              </a:rPr>
              <a:t>Interleaving</a:t>
            </a:r>
            <a:endParaRPr lang="de-DE">
              <a:solidFill>
                <a:schemeClr val="tx1"/>
              </a:solidFill>
            </a:endParaRPr>
          </a:p>
          <a:p>
            <a:pPr marL="571500" indent="-571500">
              <a:buClr>
                <a:srgbClr val="1D92E1"/>
              </a:buClr>
              <a:buFont typeface="Arial"/>
              <a:buChar char="•"/>
              <a:defRPr/>
            </a:pPr>
            <a:r>
              <a:rPr lang="de-DE">
                <a:solidFill>
                  <a:schemeClr val="tx1"/>
                </a:solidFill>
              </a:rPr>
              <a:t>Breaks</a:t>
            </a:r>
            <a:endParaRPr>
              <a:solidFill>
                <a:schemeClr val="tx1"/>
              </a:solidFill>
            </a:endParaRPr>
          </a:p>
          <a:p>
            <a:pPr marL="0" indent="0">
              <a:buClr>
                <a:srgbClr val="1D92E1"/>
              </a:buClr>
              <a:buNone/>
              <a:defRPr/>
            </a:pPr>
            <a:endParaRPr lang="de-DE">
              <a:solidFill>
                <a:schemeClr val="tx1"/>
              </a:solidFill>
            </a:endParaRPr>
          </a:p>
          <a:p>
            <a:pPr marL="0" indent="0">
              <a:buClr>
                <a:srgbClr val="1D92E1"/>
              </a:buClr>
              <a:buNone/>
              <a:defRPr/>
            </a:pPr>
            <a:r>
              <a:rPr lang="de-DE">
                <a:solidFill>
                  <a:schemeClr val="tx1"/>
                </a:solidFill>
              </a:rPr>
              <a:t>Your</a:t>
            </a:r>
            <a:r>
              <a:rPr lang="de-DE">
                <a:solidFill>
                  <a:schemeClr val="tx1"/>
                </a:solidFill>
              </a:rPr>
              <a:t> own </a:t>
            </a:r>
            <a:r>
              <a:rPr lang="de-DE">
                <a:solidFill>
                  <a:schemeClr val="tx1"/>
                </a:solidFill>
              </a:rPr>
              <a:t>responsibility</a:t>
            </a:r>
            <a:r>
              <a:rPr lang="de-DE">
                <a:solidFill>
                  <a:schemeClr val="tx1"/>
                </a:solidFill>
              </a:rPr>
              <a:t>:</a:t>
            </a:r>
            <a:endParaRPr>
              <a:solidFill>
                <a:schemeClr val="tx1"/>
              </a:solidFill>
            </a:endParaRPr>
          </a:p>
          <a:p>
            <a:pPr marL="571500" indent="-571500">
              <a:buClr>
                <a:srgbClr val="1D92E1"/>
              </a:buClr>
              <a:buFont typeface="Arial"/>
              <a:buChar char="•"/>
              <a:defRPr/>
            </a:pPr>
            <a:r>
              <a:rPr lang="de-DE">
                <a:solidFill>
                  <a:schemeClr val="tx1"/>
                </a:solidFill>
              </a:rPr>
              <a:t>Self-explanation</a:t>
            </a:r>
            <a:endParaRPr>
              <a:solidFill>
                <a:schemeClr val="tx1"/>
              </a:solidFill>
            </a:endParaRPr>
          </a:p>
          <a:p>
            <a:pPr marL="571500" indent="-571500">
              <a:buClr>
                <a:srgbClr val="1D92E1"/>
              </a:buClr>
              <a:buFont typeface="Arial"/>
              <a:buChar char="•"/>
              <a:defRPr/>
            </a:pPr>
            <a:r>
              <a:rPr lang="de-DE">
                <a:solidFill>
                  <a:schemeClr val="tx1"/>
                </a:solidFill>
              </a:rPr>
              <a:t>Elaboration</a:t>
            </a:r>
            <a:endParaRPr>
              <a:solidFill>
                <a:schemeClr val="tx1"/>
              </a:solidFill>
            </a:endParaRPr>
          </a:p>
        </p:txBody>
      </p:sp>
      <p:sp>
        <p:nvSpPr>
          <p:cNvPr id="14" name="Title 13"/>
          <p:cNvSpPr>
            <a:spLocks noGrp="1"/>
          </p:cNvSpPr>
          <p:nvPr>
            <p:ph type="title" idx="4294967295"/>
          </p:nvPr>
        </p:nvSpPr>
        <p:spPr bwMode="auto">
          <a:xfrm>
            <a:off x="1868488" y="1296264"/>
            <a:ext cx="4856958" cy="1260475"/>
          </a:xfrm>
        </p:spPr>
        <p:txBody>
          <a:bodyPr>
            <a:normAutofit fontScale="90000"/>
          </a:bodyPr>
          <a:lstStyle/>
          <a:p>
            <a:pPr marL="0" marR="0" lvl="0" indent="0" defTabSz="914400">
              <a:lnSpc>
                <a:spcPct val="90000"/>
              </a:lnSpc>
              <a:spcBef>
                <a:spcPts val="1000"/>
              </a:spcBef>
              <a:spcAft>
                <a:spcPts val="0"/>
              </a:spcAft>
              <a:defRPr/>
            </a:pPr>
            <a:r>
              <a:rPr lang="de-DE" sz="8800" b="1" i="0" u="none" strike="noStrike" cap="none" spc="0">
                <a:ln>
                  <a:noFill/>
                </a:ln>
                <a:solidFill>
                  <a:srgbClr val="1D92E1"/>
                </a:solidFill>
                <a:latin typeface="Arial"/>
                <a:ea typeface="+mn-ea"/>
                <a:cs typeface="Arial"/>
              </a:rPr>
              <a:t>ANKI</a:t>
            </a:r>
            <a:endParaRPr lang="en-GB"/>
          </a:p>
        </p:txBody>
      </p:sp>
      <p:pic>
        <p:nvPicPr>
          <p:cNvPr id="11" name="Grafik 10"/>
          <p:cNvPicPr>
            <a:picLocks noChangeAspect="1"/>
          </p:cNvPicPr>
          <p:nvPr/>
        </p:nvPicPr>
        <p:blipFill>
          <a:blip r:embed="rId3"/>
          <a:srcRect l="19067" t="0" r="0" b="0"/>
          <a:stretch/>
        </p:blipFill>
        <p:spPr bwMode="auto">
          <a:xfrm>
            <a:off x="7315201" y="17474"/>
            <a:ext cx="10948551" cy="10281872"/>
          </a:xfrm>
          <a:prstGeom prst="rect">
            <a:avLst/>
          </a:prstGeom>
        </p:spPr>
      </p:pic>
      <p:pic>
        <p:nvPicPr>
          <p:cNvPr id="3" name="Grafik 2"/>
          <p:cNvPicPr>
            <a:picLocks noChangeAspect="1"/>
          </p:cNvPicPr>
          <p:nvPr/>
        </p:nvPicPr>
        <p:blipFill>
          <a:blip r:embed="rId4"/>
          <a:stretch/>
        </p:blipFill>
        <p:spPr bwMode="auto">
          <a:xfrm>
            <a:off x="1868487" y="1422445"/>
            <a:ext cx="1008112" cy="100811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vert="horz"/>
          <a:lstStyle/>
          <a:p>
            <a:pPr>
              <a:defRPr/>
            </a:pPr>
            <a:r>
              <a:rPr lang="de-DE"/>
              <a:t>Anki</a:t>
            </a:r>
            <a:r>
              <a:rPr lang="de-DE"/>
              <a:t> alternatives</a:t>
            </a:r>
            <a:endParaRPr/>
          </a:p>
        </p:txBody>
      </p:sp>
      <p:graphicFrame>
        <p:nvGraphicFramePr>
          <p:cNvPr id="6" name="Tabelle 6"/>
          <p:cNvGraphicFramePr>
            <a:graphicFrameLocks xmlns:a="http://schemas.openxmlformats.org/drawingml/2006/main" noGrp="1"/>
          </p:cNvGraphicFramePr>
          <p:nvPr/>
        </p:nvGraphicFramePr>
        <p:xfrm>
          <a:off x="740532" y="2582140"/>
          <a:ext cx="16806936" cy="7273567"/>
        </p:xfrm>
        <a:graphic>
          <a:graphicData uri="http://schemas.openxmlformats.org/drawingml/2006/table">
            <a:tbl>
              <a:tblPr firstRow="1" firstCol="0" lastRow="0" lastCol="0" bandRow="1" bandCol="0">
                <a:tableStyleId>{5A111915-BE36-4E01-A7E5-04B1672EAD32}</a:tableStyleId>
              </a:tblPr>
              <a:tblGrid>
                <a:gridCol w="1867437"/>
                <a:gridCol w="6895153"/>
                <a:gridCol w="8044346"/>
              </a:tblGrid>
              <a:tr h="743001">
                <a:tc>
                  <a:txBody>
                    <a:bodyPr/>
                    <a:p>
                      <a:pPr>
                        <a:defRPr/>
                      </a:pPr>
                      <a:endParaRPr lang="de-DE" sz="3600"/>
                    </a:p>
                  </a:txBody>
                  <a:tcPr marL="182880" marR="182880" marT="91440" marB="91440">
                    <a:solidFill>
                      <a:srgbClr val="7E0D31"/>
                    </a:solidFill>
                  </a:tcPr>
                </a:tc>
                <a:tc>
                  <a:txBody>
                    <a:bodyPr/>
                    <a:p>
                      <a:pPr>
                        <a:defRPr/>
                      </a:pPr>
                      <a:r>
                        <a:rPr lang="de-DE" sz="2400"/>
                        <a:t>Advantages</a:t>
                      </a:r>
                      <a:endParaRPr lang="de-DE" sz="3200"/>
                    </a:p>
                  </a:txBody>
                  <a:tcPr marL="182880" marR="182880" marT="91440" marB="91440">
                    <a:solidFill>
                      <a:srgbClr val="7E0D31"/>
                    </a:solidFill>
                  </a:tcPr>
                </a:tc>
                <a:tc>
                  <a:txBody>
                    <a:bodyPr/>
                    <a:p>
                      <a:pPr>
                        <a:defRPr/>
                      </a:pPr>
                      <a:r>
                        <a:rPr lang="de-DE" sz="2400"/>
                        <a:t>Disadvantages</a:t>
                      </a:r>
                      <a:endParaRPr lang="de-DE" sz="3200"/>
                    </a:p>
                  </a:txBody>
                  <a:tcPr marL="182880" marR="182880" marT="91440" marB="91440">
                    <a:solidFill>
                      <a:srgbClr val="7E0D31"/>
                    </a:solidFill>
                  </a:tcPr>
                </a:tc>
              </a:tr>
              <a:tr h="1857355">
                <a:tc>
                  <a:txBody>
                    <a:bodyPr/>
                    <a:p>
                      <a:pPr>
                        <a:defRPr/>
                      </a:pPr>
                      <a:r>
                        <a:rPr lang="de-DE" sz="2400" b="1" u="sng">
                          <a:solidFill>
                            <a:schemeClr val="accent1"/>
                          </a:solidFill>
                          <a:hlinkClick r:id="rId3" tooltip="https://apps.ankiweb.net/"/>
                        </a:rPr>
                        <a:t>ANKI</a:t>
                      </a:r>
                      <a:endParaRPr lang="de-DE" sz="2400" b="1">
                        <a:solidFill>
                          <a:schemeClr val="accent1"/>
                        </a:solidFill>
                      </a:endParaRPr>
                    </a:p>
                  </a:txBody>
                  <a:tcPr marL="182880" marR="182880" marT="91440" marB="91440">
                    <a:solidFill>
                      <a:schemeClr val="bg1"/>
                    </a:solidFill>
                  </a:tcPr>
                </a:tc>
                <a:tc>
                  <a:txBody>
                    <a:bodyPr/>
                    <a:p>
                      <a:pPr>
                        <a:defRPr/>
                      </a:pPr>
                      <a:r>
                        <a:rPr lang="de-DE" sz="2400"/>
                        <a:t>Open-source: </a:t>
                      </a:r>
                      <a:r>
                        <a:rPr lang="de-DE" sz="2400"/>
                        <a:t>offers</a:t>
                      </a:r>
                      <a:r>
                        <a:rPr lang="de-DE" sz="2400"/>
                        <a:t> all </a:t>
                      </a:r>
                      <a:r>
                        <a:rPr lang="de-DE" sz="2400"/>
                        <a:t>functions</a:t>
                      </a:r>
                      <a:r>
                        <a:rPr lang="de-DE" sz="2400"/>
                        <a:t> and </a:t>
                      </a:r>
                      <a:r>
                        <a:rPr lang="de-DE" sz="2400"/>
                        <a:t>setting</a:t>
                      </a:r>
                      <a:r>
                        <a:rPr lang="de-DE" sz="2400"/>
                        <a:t> </a:t>
                      </a:r>
                      <a:r>
                        <a:rPr lang="de-DE" sz="2400"/>
                        <a:t>options</a:t>
                      </a:r>
                      <a:r>
                        <a:rPr lang="de-DE" sz="2400"/>
                        <a:t> </a:t>
                      </a:r>
                      <a:r>
                        <a:rPr lang="de-DE" sz="2400"/>
                        <a:t>that</a:t>
                      </a:r>
                      <a:r>
                        <a:rPr lang="de-DE" sz="2400"/>
                        <a:t> </a:t>
                      </a:r>
                      <a:r>
                        <a:rPr lang="de-DE" sz="2400"/>
                        <a:t>you</a:t>
                      </a:r>
                      <a:r>
                        <a:rPr lang="de-DE" sz="2400"/>
                        <a:t> </a:t>
                      </a:r>
                      <a:r>
                        <a:rPr lang="de-DE" sz="2400"/>
                        <a:t>could</a:t>
                      </a:r>
                      <a:r>
                        <a:rPr lang="de-DE" sz="2400"/>
                        <a:t> </a:t>
                      </a:r>
                      <a:r>
                        <a:rPr lang="de-DE" sz="2400"/>
                        <a:t>wish</a:t>
                      </a:r>
                      <a:r>
                        <a:rPr lang="de-DE" sz="2400"/>
                        <a:t> </a:t>
                      </a:r>
                      <a:r>
                        <a:rPr lang="de-DE" sz="2400"/>
                        <a:t>for</a:t>
                      </a:r>
                      <a:r>
                        <a:rPr lang="de-DE" sz="2400"/>
                        <a:t>. Costs </a:t>
                      </a:r>
                      <a:r>
                        <a:rPr lang="de-DE" sz="2400"/>
                        <a:t>nothing</a:t>
                      </a:r>
                      <a:r>
                        <a:rPr lang="de-DE" sz="2400"/>
                        <a:t>. </a:t>
                      </a:r>
                      <a:endParaRPr/>
                    </a:p>
                  </a:txBody>
                  <a:tcPr marL="182880" marR="182880" marT="91440" marB="91440">
                    <a:solidFill>
                      <a:schemeClr val="bg1"/>
                    </a:solidFill>
                  </a:tcPr>
                </a:tc>
                <a:tc>
                  <a:txBody>
                    <a:bodyPr/>
                    <a:p>
                      <a:pPr>
                        <a:defRPr/>
                      </a:pPr>
                      <a:r>
                        <a:rPr lang="de-DE" sz="2400"/>
                        <a:t>No</a:t>
                      </a:r>
                      <a:r>
                        <a:rPr lang="de-DE" sz="2400"/>
                        <a:t> responsive </a:t>
                      </a:r>
                      <a:r>
                        <a:rPr lang="de-DE" sz="2400"/>
                        <a:t>user</a:t>
                      </a:r>
                      <a:r>
                        <a:rPr lang="de-DE" sz="2400"/>
                        <a:t> interface, </a:t>
                      </a:r>
                      <a:r>
                        <a:rPr lang="de-DE" sz="2400"/>
                        <a:t>cluttered</a:t>
                      </a:r>
                      <a:r>
                        <a:rPr lang="de-DE" sz="2400"/>
                        <a:t> and </a:t>
                      </a:r>
                      <a:r>
                        <a:rPr lang="de-DE" sz="2400"/>
                        <a:t>feeling</a:t>
                      </a:r>
                      <a:r>
                        <a:rPr lang="de-DE" sz="2400"/>
                        <a:t> </a:t>
                      </a:r>
                      <a:r>
                        <a:rPr lang="de-DE" sz="2400"/>
                        <a:t>of</a:t>
                      </a:r>
                      <a:r>
                        <a:rPr lang="de-DE" sz="2400"/>
                        <a:t> (</a:t>
                      </a:r>
                      <a:r>
                        <a:rPr lang="de-DE" sz="2400"/>
                        <a:t>context</a:t>
                      </a:r>
                      <a:r>
                        <a:rPr lang="de-DE" sz="2400"/>
                        <a:t>) „</a:t>
                      </a:r>
                      <a:r>
                        <a:rPr lang="de-DE" sz="2400"/>
                        <a:t>loose</a:t>
                      </a:r>
                      <a:r>
                        <a:rPr lang="de-DE" sz="2400"/>
                        <a:t>“ </a:t>
                      </a:r>
                      <a:r>
                        <a:rPr lang="de-DE" sz="2400"/>
                        <a:t>flashcards</a:t>
                      </a:r>
                      <a:r>
                        <a:rPr lang="de-DE" sz="2400"/>
                        <a:t> </a:t>
                      </a:r>
                      <a:r>
                        <a:rPr lang="de-DE" sz="2400"/>
                        <a:t>floating</a:t>
                      </a:r>
                      <a:r>
                        <a:rPr lang="de-DE" sz="2400"/>
                        <a:t> </a:t>
                      </a:r>
                      <a:r>
                        <a:rPr lang="de-DE" sz="2400"/>
                        <a:t>around</a:t>
                      </a:r>
                      <a:r>
                        <a:rPr lang="de-DE" sz="2400"/>
                        <a:t>.</a:t>
                      </a:r>
                      <a:endParaRPr/>
                    </a:p>
                  </a:txBody>
                  <a:tcPr marL="182880" marR="182880" marT="91440" marB="91440">
                    <a:solidFill>
                      <a:schemeClr val="bg1"/>
                    </a:solidFill>
                  </a:tcPr>
                </a:tc>
              </a:tr>
              <a:tr h="2043252">
                <a:tc>
                  <a:txBody>
                    <a:bodyPr/>
                    <a:p>
                      <a:pPr>
                        <a:defRPr/>
                      </a:pPr>
                      <a:r>
                        <a:rPr lang="de-DE" sz="2400" b="1" u="sng">
                          <a:solidFill>
                            <a:schemeClr val="accent1"/>
                          </a:solidFill>
                          <a:hlinkClick r:id="rId4" tooltip="https://www.remnote.com/"/>
                        </a:rPr>
                        <a:t>RemNote</a:t>
                      </a:r>
                      <a:endParaRPr lang="de-DE" sz="2400" b="1">
                        <a:solidFill>
                          <a:schemeClr val="accent1"/>
                        </a:solidFill>
                      </a:endParaRPr>
                    </a:p>
                  </a:txBody>
                  <a:tcPr marL="182880" marR="182880" marT="91440" marB="91440">
                    <a:solidFill>
                      <a:schemeClr val="bg1"/>
                    </a:solidFill>
                  </a:tcPr>
                </a:tc>
                <a:tc>
                  <a:txBody>
                    <a:bodyPr/>
                    <a:p>
                      <a:pPr marL="0" marR="0" lvl="0" indent="0" algn="l" defTabSz="914400">
                        <a:lnSpc>
                          <a:spcPct val="100000"/>
                        </a:lnSpc>
                        <a:spcBef>
                          <a:spcPts val="0"/>
                        </a:spcBef>
                        <a:spcAft>
                          <a:spcPts val="0"/>
                        </a:spcAft>
                        <a:buClrTx/>
                        <a:buSzTx/>
                        <a:buFontTx/>
                        <a:buNone/>
                        <a:defRPr/>
                      </a:pPr>
                      <a:r>
                        <a:rPr lang="en-US" sz="2400">
                          <a:solidFill>
                            <a:schemeClr val="tx1"/>
                          </a:solidFill>
                          <a:latin typeface="+mn-lt"/>
                          <a:ea typeface="+mn-ea"/>
                          <a:cs typeface="+mn-cs"/>
                        </a:rPr>
                        <a:t>Flashcards are embedded coherently, and it can be used as a writing program at the same time, creating flashcards almost automatically - ideal for lazy ones. Essentially free of charge.</a:t>
                      </a:r>
                      <a:endParaRPr/>
                    </a:p>
                  </a:txBody>
                  <a:tcPr marL="182880" marR="182880" marT="91440" marB="91440">
                    <a:solidFill>
                      <a:schemeClr val="bg1"/>
                    </a:solidFill>
                  </a:tcPr>
                </a:tc>
                <a:tc>
                  <a:txBody>
                    <a:bodyPr/>
                    <a:p>
                      <a:pPr>
                        <a:defRPr/>
                      </a:pPr>
                      <a:r>
                        <a:rPr lang="de-DE" sz="2400"/>
                        <a:t>Bugs (but </a:t>
                      </a:r>
                      <a:r>
                        <a:rPr lang="de-DE" sz="2400"/>
                        <a:t>active</a:t>
                      </a:r>
                      <a:r>
                        <a:rPr lang="de-DE" sz="2400"/>
                        <a:t> </a:t>
                      </a:r>
                      <a:r>
                        <a:rPr lang="de-DE" sz="2400"/>
                        <a:t>further</a:t>
                      </a:r>
                      <a:r>
                        <a:rPr lang="de-DE" sz="2400"/>
                        <a:t> </a:t>
                      </a:r>
                      <a:r>
                        <a:rPr lang="de-DE" sz="2400"/>
                        <a:t>develoment</a:t>
                      </a:r>
                      <a:r>
                        <a:rPr lang="de-DE" sz="2400"/>
                        <a:t> and </a:t>
                      </a:r>
                      <a:r>
                        <a:rPr lang="de-DE" sz="2400"/>
                        <a:t>active</a:t>
                      </a:r>
                      <a:r>
                        <a:rPr lang="de-DE" sz="2400"/>
                        <a:t> support).</a:t>
                      </a:r>
                      <a:endParaRPr/>
                    </a:p>
                    <a:p>
                      <a:pPr>
                        <a:defRPr/>
                      </a:pPr>
                      <a:r>
                        <a:rPr lang="de-DE" sz="2400"/>
                        <a:t>AI </a:t>
                      </a:r>
                      <a:r>
                        <a:rPr lang="de-DE" sz="2400"/>
                        <a:t>features</a:t>
                      </a:r>
                      <a:r>
                        <a:rPr lang="de-DE" sz="2400"/>
                        <a:t> </a:t>
                      </a:r>
                      <a:r>
                        <a:rPr lang="de-DE" sz="2400"/>
                        <a:t>cost</a:t>
                      </a:r>
                      <a:r>
                        <a:rPr lang="de-DE" sz="2400"/>
                        <a:t> </a:t>
                      </a:r>
                      <a:r>
                        <a:rPr lang="de-DE" sz="2400"/>
                        <a:t>money</a:t>
                      </a:r>
                      <a:r>
                        <a:rPr lang="de-DE" sz="2400"/>
                        <a:t>.</a:t>
                      </a:r>
                      <a:endParaRPr/>
                    </a:p>
                  </a:txBody>
                  <a:tcPr marL="182880" marR="182880" marT="91440" marB="91440">
                    <a:solidFill>
                      <a:schemeClr val="bg1"/>
                    </a:solidFill>
                  </a:tcPr>
                </a:tc>
              </a:tr>
              <a:tr h="1715559">
                <a:tc>
                  <a:txBody>
                    <a:bodyPr/>
                    <a:p>
                      <a:pPr>
                        <a:defRPr/>
                      </a:pPr>
                      <a:r>
                        <a:rPr lang="de-DE" sz="2400" b="1" u="sng">
                          <a:solidFill>
                            <a:schemeClr val="accent1"/>
                          </a:solidFill>
                          <a:hlinkClick r:id="rId5" tooltip="https://zorbi.app/"/>
                        </a:rPr>
                        <a:t>Zorbi</a:t>
                      </a:r>
                      <a:endParaRPr lang="de-DE" sz="2400" b="1">
                        <a:solidFill>
                          <a:schemeClr val="accent1"/>
                        </a:solidFill>
                      </a:endParaRPr>
                    </a:p>
                  </a:txBody>
                  <a:tcPr marL="182880" marR="182880" marT="91440" marB="91440">
                    <a:solidFill>
                      <a:schemeClr val="bg1"/>
                    </a:solidFill>
                  </a:tcPr>
                </a:tc>
                <a:tc>
                  <a:txBody>
                    <a:bodyPr/>
                    <a:p>
                      <a:pPr marL="0" algn="l" defTabSz="914400">
                        <a:defRPr/>
                      </a:pPr>
                      <a:r>
                        <a:rPr lang="en-US" sz="2400">
                          <a:solidFill>
                            <a:schemeClr val="tx1"/>
                          </a:solidFill>
                          <a:latin typeface="+mn-lt"/>
                          <a:ea typeface="+mn-ea"/>
                          <a:cs typeface="+mn-cs"/>
                        </a:rPr>
                        <a:t>Most beautiful user interface. Integrates very well with Notion. Essentially free of charge</a:t>
                      </a:r>
                      <a:endParaRPr/>
                    </a:p>
                  </a:txBody>
                  <a:tcPr marL="182880" marR="182880" marT="91440" marB="91440">
                    <a:solidFill>
                      <a:schemeClr val="bg1"/>
                    </a:solidFill>
                  </a:tcPr>
                </a:tc>
                <a:tc>
                  <a:txBody>
                    <a:bodyPr/>
                    <a:p>
                      <a:pPr>
                        <a:defRPr/>
                      </a:pPr>
                      <a:r>
                        <a:rPr lang="en-US" sz="2400">
                          <a:solidFill>
                            <a:schemeClr val="tx1"/>
                          </a:solidFill>
                          <a:latin typeface="+mn-lt"/>
                          <a:ea typeface="+mn-ea"/>
                          <a:cs typeface="+mn-cs"/>
                        </a:rPr>
                        <a:t>Unfortunately, not so many settings options. AI-personalized learning programs only in the paid program.</a:t>
                      </a:r>
                      <a:endParaRPr/>
                    </a:p>
                  </a:txBody>
                  <a:tcPr marL="182880" marR="182880" marT="91440" marB="91440">
                    <a:solidFill>
                      <a:schemeClr val="bg1"/>
                    </a:solidFill>
                  </a:tcPr>
                </a:tc>
              </a:tr>
              <a:tr h="240793">
                <a:tc>
                  <a:txBody>
                    <a:bodyPr/>
                    <a:p>
                      <a:pPr>
                        <a:defRPr/>
                      </a:pPr>
                      <a:r>
                        <a:rPr lang="de-DE" sz="2400" b="1" u="sng">
                          <a:solidFill>
                            <a:schemeClr val="accent1"/>
                          </a:solidFill>
                          <a:hlinkClick r:id="rId6" tooltip="https://quizlet.com/de"/>
                        </a:rPr>
                        <a:t>Quizlet</a:t>
                      </a:r>
                      <a:endParaRPr lang="de-DE" sz="2400" b="1">
                        <a:solidFill>
                          <a:schemeClr val="accent1"/>
                        </a:solidFill>
                      </a:endParaRPr>
                    </a:p>
                  </a:txBody>
                  <a:tcPr marL="182880" marR="182880" marT="91440" marB="91440">
                    <a:solidFill>
                      <a:schemeClr val="bg1"/>
                    </a:solidFill>
                  </a:tcPr>
                </a:tc>
                <a:tc>
                  <a:txBody>
                    <a:bodyPr/>
                    <a:p>
                      <a:pPr>
                        <a:defRPr/>
                      </a:pPr>
                      <a:r>
                        <a:rPr lang="en-US" sz="2400">
                          <a:solidFill>
                            <a:schemeClr val="tx1"/>
                          </a:solidFill>
                          <a:latin typeface="+mn-lt"/>
                          <a:ea typeface="+mn-ea"/>
                          <a:cs typeface="+mn-cs"/>
                        </a:rPr>
                        <a:t>AI-features, import of index cards from World possible. Very good user interface</a:t>
                      </a:r>
                      <a:endParaRPr/>
                    </a:p>
                  </a:txBody>
                  <a:tcPr marL="182880" marR="182880" marT="91440" marB="91440">
                    <a:solidFill>
                      <a:schemeClr val="bg1"/>
                    </a:solidFill>
                  </a:tcPr>
                </a:tc>
                <a:tc>
                  <a:txBody>
                    <a:bodyPr/>
                    <a:p>
                      <a:pPr marL="0" marR="0" lvl="0" indent="0" algn="l" defTabSz="914400">
                        <a:lnSpc>
                          <a:spcPct val="100000"/>
                        </a:lnSpc>
                        <a:spcBef>
                          <a:spcPts val="0"/>
                        </a:spcBef>
                        <a:spcAft>
                          <a:spcPts val="0"/>
                        </a:spcAft>
                        <a:buClrTx/>
                        <a:buSzTx/>
                        <a:buFontTx/>
                        <a:buNone/>
                        <a:defRPr/>
                      </a:pPr>
                      <a:r>
                        <a:rPr lang="de-DE" sz="2400">
                          <a:solidFill>
                            <a:schemeClr val="tx1"/>
                          </a:solidFill>
                          <a:latin typeface="+mn-lt"/>
                          <a:ea typeface="+mn-ea"/>
                          <a:cs typeface="+mn-cs"/>
                        </a:rPr>
                        <a:t>Advertisement</a:t>
                      </a:r>
                      <a:r>
                        <a:rPr lang="de-DE" sz="2400">
                          <a:solidFill>
                            <a:schemeClr val="tx1"/>
                          </a:solidFill>
                          <a:latin typeface="+mn-lt"/>
                          <a:ea typeface="+mn-ea"/>
                          <a:cs typeface="+mn-cs"/>
                        </a:rPr>
                        <a:t> </a:t>
                      </a:r>
                      <a:r>
                        <a:rPr lang="de-DE" sz="2400">
                          <a:solidFill>
                            <a:schemeClr val="tx1"/>
                          </a:solidFill>
                          <a:latin typeface="+mn-lt"/>
                          <a:ea typeface="+mn-ea"/>
                          <a:cs typeface="+mn-cs"/>
                        </a:rPr>
                        <a:t>with</a:t>
                      </a:r>
                      <a:r>
                        <a:rPr lang="de-DE" sz="2400">
                          <a:solidFill>
                            <a:schemeClr val="tx1"/>
                          </a:solidFill>
                          <a:latin typeface="+mn-lt"/>
                          <a:ea typeface="+mn-ea"/>
                          <a:cs typeface="+mn-cs"/>
                        </a:rPr>
                        <a:t> </a:t>
                      </a:r>
                      <a:r>
                        <a:rPr lang="de-DE" sz="2400">
                          <a:solidFill>
                            <a:schemeClr val="tx1"/>
                          </a:solidFill>
                          <a:latin typeface="+mn-lt"/>
                          <a:ea typeface="+mn-ea"/>
                          <a:cs typeface="+mn-cs"/>
                        </a:rPr>
                        <a:t>standard</a:t>
                      </a:r>
                      <a:r>
                        <a:rPr lang="de-DE" sz="2400">
                          <a:solidFill>
                            <a:schemeClr val="tx1"/>
                          </a:solidFill>
                          <a:latin typeface="+mn-lt"/>
                          <a:ea typeface="+mn-ea"/>
                          <a:cs typeface="+mn-cs"/>
                        </a:rPr>
                        <a:t> </a:t>
                      </a:r>
                      <a:r>
                        <a:rPr lang="de-DE" sz="2400">
                          <a:solidFill>
                            <a:schemeClr val="tx1"/>
                          </a:solidFill>
                          <a:latin typeface="+mn-lt"/>
                          <a:ea typeface="+mn-ea"/>
                          <a:cs typeface="+mn-cs"/>
                        </a:rPr>
                        <a:t>program</a:t>
                      </a:r>
                      <a:r>
                        <a:rPr lang="de-DE" sz="2400">
                          <a:solidFill>
                            <a:schemeClr val="tx1"/>
                          </a:solidFill>
                          <a:latin typeface="+mn-lt"/>
                          <a:ea typeface="+mn-ea"/>
                          <a:cs typeface="+mn-cs"/>
                        </a:rPr>
                        <a:t>.</a:t>
                      </a:r>
                      <a:endParaRPr/>
                    </a:p>
                  </a:txBody>
                  <a:tcPr marL="182880" marR="182880" marT="91440" marB="91440">
                    <a:solidFill>
                      <a:schemeClr val="bg1"/>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5" name="Title 4"/>
          <p:cNvSpPr>
            <a:spLocks noGrp="1"/>
          </p:cNvSpPr>
          <p:nvPr>
            <p:ph type="title"/>
          </p:nvPr>
        </p:nvSpPr>
        <p:spPr bwMode="auto"/>
        <p:txBody>
          <a:bodyPr/>
          <a:lstStyle/>
          <a:p>
            <a:pPr marR="0" lvl="0" defTabSz="914400">
              <a:lnSpc>
                <a:spcPct val="90000"/>
              </a:lnSpc>
              <a:spcBef>
                <a:spcPts val="1000"/>
              </a:spcBef>
              <a:spcAft>
                <a:spcPts val="0"/>
              </a:spcAft>
              <a:defRPr/>
            </a:pPr>
            <a:r>
              <a:rPr lang="de-DE" sz="3600" b="0" i="0" u="none" strike="noStrike" cap="none" spc="0">
                <a:ln>
                  <a:noFill/>
                </a:ln>
                <a:solidFill>
                  <a:srgbClr val="000000"/>
                </a:solidFill>
                <a:latin typeface="Arial"/>
                <a:ea typeface="+mn-ea"/>
                <a:cs typeface="+mn-cs"/>
              </a:rPr>
              <a:t>Software </a:t>
            </a:r>
            <a:r>
              <a:rPr lang="de-DE" sz="3600" b="0" i="0" u="none" strike="noStrike" cap="none" spc="0">
                <a:ln>
                  <a:noFill/>
                </a:ln>
                <a:solidFill>
                  <a:srgbClr val="000000"/>
                </a:solidFill>
                <a:latin typeface="Arial"/>
                <a:ea typeface="+mn-ea"/>
                <a:cs typeface="+mn-cs"/>
              </a:rPr>
              <a:t>installation</a:t>
            </a:r>
            <a:r>
              <a:rPr lang="de-DE" sz="3600" b="0" i="0" u="none" strike="noStrike" cap="none" spc="0">
                <a:ln>
                  <a:noFill/>
                </a:ln>
                <a:solidFill>
                  <a:srgbClr val="000000"/>
                </a:solidFill>
                <a:latin typeface="Arial"/>
                <a:ea typeface="+mn-ea"/>
                <a:cs typeface="+mn-cs"/>
              </a:rPr>
              <a:t> and </a:t>
            </a:r>
            <a:r>
              <a:rPr lang="de-DE" sz="3600" b="0" i="0" u="none" strike="noStrike" cap="none" spc="0">
                <a:ln>
                  <a:noFill/>
                </a:ln>
                <a:solidFill>
                  <a:srgbClr val="000000"/>
                </a:solidFill>
                <a:latin typeface="Arial"/>
                <a:ea typeface="+mn-ea"/>
                <a:cs typeface="+mn-cs"/>
              </a:rPr>
              <a:t>testing</a:t>
            </a:r>
            <a:br>
              <a:rPr lang="de-DE" sz="3600" b="0" i="0" u="none" strike="noStrike" cap="none" spc="0">
                <a:ln>
                  <a:noFill/>
                </a:ln>
                <a:solidFill>
                  <a:srgbClr val="000000"/>
                </a:solidFill>
                <a:latin typeface="Arial"/>
                <a:ea typeface="+mn-ea"/>
                <a:cs typeface="+mn-cs"/>
              </a:rPr>
            </a:br>
            <a:br>
              <a:rPr lang="de-DE" sz="3600" b="0" i="0" u="none" strike="noStrike" cap="none" spc="0">
                <a:ln>
                  <a:noFill/>
                </a:ln>
                <a:solidFill>
                  <a:srgbClr val="000000"/>
                </a:solidFill>
                <a:latin typeface="Arial"/>
                <a:ea typeface="+mn-ea"/>
                <a:cs typeface="+mn-cs"/>
              </a:rPr>
            </a:br>
            <a:r>
              <a:rPr lang="de-DE" sz="3600" b="0" i="0" u="none" strike="noStrike" cap="none" spc="0">
                <a:ln>
                  <a:noFill/>
                </a:ln>
                <a:solidFill>
                  <a:srgbClr val="000000"/>
                </a:solidFill>
                <a:latin typeface="Arial"/>
                <a:ea typeface="+mn-ea"/>
                <a:cs typeface="+mn-cs"/>
              </a:rPr>
              <a:t>LS-Semester Deck </a:t>
            </a:r>
            <a:r>
              <a:rPr lang="de-DE" sz="3600" b="0" i="0" u="none" strike="noStrike" cap="none" spc="0">
                <a:ln>
                  <a:noFill/>
                </a:ln>
                <a:solidFill>
                  <a:srgbClr val="000000"/>
                </a:solidFill>
                <a:latin typeface="Arial"/>
                <a:ea typeface="+mn-ea"/>
                <a:cs typeface="+mn-cs"/>
              </a:rPr>
              <a:t>download</a:t>
            </a:r>
            <a:r>
              <a:rPr lang="de-DE" sz="3600" b="0" i="0" u="none" strike="noStrike" cap="none" spc="0">
                <a:ln>
                  <a:noFill/>
                </a:ln>
                <a:solidFill>
                  <a:srgbClr val="000000"/>
                </a:solidFill>
                <a:latin typeface="Arial"/>
                <a:ea typeface="+mn-ea"/>
                <a:cs typeface="+mn-cs"/>
              </a:rPr>
              <a:t> and </a:t>
            </a:r>
            <a:r>
              <a:rPr lang="de-DE" sz="3600" b="0" i="0" u="none" strike="noStrike" cap="none" spc="0">
                <a:ln>
                  <a:noFill/>
                </a:ln>
                <a:solidFill>
                  <a:srgbClr val="000000"/>
                </a:solidFill>
                <a:latin typeface="Arial"/>
                <a:ea typeface="+mn-ea"/>
                <a:cs typeface="+mn-cs"/>
              </a:rPr>
              <a:t>practise</a:t>
            </a:r>
            <a:r>
              <a:rPr lang="de-DE" sz="3600" b="0" i="0" u="none" strike="noStrike" cap="none" spc="0">
                <a:ln>
                  <a:noFill/>
                </a:ln>
                <a:solidFill>
                  <a:srgbClr val="000000"/>
                </a:solidFill>
                <a:latin typeface="Arial"/>
                <a:ea typeface="+mn-ea"/>
                <a:cs typeface="+mn-cs"/>
              </a:rPr>
              <a:t>:</a:t>
            </a:r>
            <a:br>
              <a:rPr lang="de-DE" sz="3600" b="0" i="0" u="none" strike="noStrike" cap="none" spc="0">
                <a:ln>
                  <a:noFill/>
                </a:ln>
                <a:solidFill>
                  <a:schemeClr val="accent1"/>
                </a:solidFill>
                <a:latin typeface="Arial"/>
                <a:ea typeface="+mn-ea"/>
                <a:cs typeface="+mn-cs"/>
              </a:rPr>
            </a:br>
            <a:r>
              <a:rPr lang="de-DE" sz="3600" b="0" i="0" u="sng" strike="noStrike" cap="none" spc="0">
                <a:ln>
                  <a:noFill/>
                </a:ln>
                <a:solidFill>
                  <a:schemeClr val="accent1"/>
                </a:solidFill>
                <a:latin typeface="Arial"/>
                <a:ea typeface="+mn-ea"/>
                <a:cs typeface="+mn-cs"/>
                <a:hlinkClick r:id="rId3" tooltip="https://lstemplates.notion.site/Leuphana-Templates-abb41bc9039a4263bfefc55c6701b77d"/>
              </a:rPr>
              <a:t>https://lstemplates.notion.site/Leuphana-Templates-abb41bc9039a4263bfefc55c6701b77d</a:t>
            </a:r>
            <a:br>
              <a:rPr lang="de-DE" sz="3200" b="0" i="0" u="none" strike="noStrike" cap="none" spc="0">
                <a:ln>
                  <a:noFill/>
                </a:ln>
                <a:solidFill>
                  <a:schemeClr val="accent1"/>
                </a:solidFill>
                <a:latin typeface="Arial"/>
                <a:ea typeface="+mn-ea"/>
                <a:cs typeface="+mn-cs"/>
              </a:rPr>
            </a:br>
            <a:br>
              <a:rPr lang="de-DE" sz="2800" b="0" i="0" u="none" strike="noStrike" cap="none" spc="0">
                <a:ln>
                  <a:noFill/>
                </a:ln>
                <a:solidFill>
                  <a:srgbClr val="000000"/>
                </a:solidFill>
                <a:latin typeface="Arial"/>
                <a:ea typeface="+mn-ea"/>
                <a:cs typeface="+mn-cs"/>
              </a:rPr>
            </a:br>
            <a:br>
              <a:rPr lang="de-DE" sz="2800" b="0" i="0" u="none" strike="noStrike" cap="none" spc="0">
                <a:ln>
                  <a:noFill/>
                </a:ln>
                <a:solidFill>
                  <a:srgbClr val="000000"/>
                </a:solidFill>
                <a:latin typeface="Arial"/>
                <a:ea typeface="+mn-ea"/>
                <a:cs typeface="+mn-cs"/>
              </a:rPr>
            </a:br>
            <a:br>
              <a:rPr lang="de-DE" sz="2800" b="0" i="0" u="none" strike="noStrike" cap="none" spc="0">
                <a:ln>
                  <a:noFill/>
                </a:ln>
                <a:solidFill>
                  <a:srgbClr val="000000"/>
                </a:solidFill>
                <a:latin typeface="Arial"/>
                <a:ea typeface="+mn-ea"/>
                <a:cs typeface="+mn-cs"/>
              </a:rPr>
            </a:br>
            <a:br>
              <a:rPr lang="de-DE" sz="2800" b="0" i="0" u="none" strike="noStrike" cap="none" spc="0">
                <a:ln>
                  <a:noFill/>
                </a:ln>
                <a:solidFill>
                  <a:srgbClr val="000000"/>
                </a:solidFill>
                <a:latin typeface="Arial"/>
                <a:ea typeface="+mn-ea"/>
                <a:cs typeface="+mn-cs"/>
              </a:rPr>
            </a:br>
            <a:endParaRPr lang="en-GB"/>
          </a:p>
        </p:txBody>
      </p:sp>
      <p:sp>
        <p:nvSpPr>
          <p:cNvPr id="2" name="Titel 1"/>
          <p:cNvSpPr txBox="1"/>
          <p:nvPr/>
        </p:nvSpPr>
        <p:spPr bwMode="auto">
          <a:xfrm>
            <a:off x="5265600" y="1280297"/>
            <a:ext cx="7756800" cy="871200"/>
          </a:xfrm>
          <a:prstGeom prst="rect">
            <a:avLst/>
          </a:prstGeom>
        </p:spPr>
        <p:txBody>
          <a:bodyPr vert="horz"/>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a:lstStyle>
          <a:p>
            <a:pPr algn="ctr">
              <a:defRPr/>
            </a:pPr>
            <a:r>
              <a:rPr lang="de-DE" sz="4400"/>
              <a:t>Optional</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5" name="Titel 4"/>
          <p:cNvSpPr>
            <a:spLocks noGrp="1"/>
          </p:cNvSpPr>
          <p:nvPr>
            <p:ph type="title"/>
          </p:nvPr>
        </p:nvSpPr>
        <p:spPr bwMode="auto"/>
        <p:txBody>
          <a:bodyPr vert="horz"/>
          <a:lstStyle/>
          <a:p>
            <a:pPr>
              <a:defRPr/>
            </a:pPr>
            <a:r>
              <a:rPr lang="de-DE"/>
              <a:t>Dealing</a:t>
            </a:r>
            <a:r>
              <a:rPr lang="de-DE"/>
              <a:t> </a:t>
            </a:r>
            <a:r>
              <a:rPr lang="de-DE"/>
              <a:t>with</a:t>
            </a:r>
            <a:r>
              <a:rPr lang="de-DE"/>
              <a:t> stress</a:t>
            </a:r>
            <a:endParaRPr/>
          </a:p>
        </p:txBody>
      </p:sp>
      <p:sp>
        <p:nvSpPr>
          <p:cNvPr id="6" name="Textplatzhalter 5"/>
          <p:cNvSpPr>
            <a:spLocks noGrp="1"/>
          </p:cNvSpPr>
          <p:nvPr>
            <p:ph idx="1"/>
          </p:nvPr>
        </p:nvSpPr>
        <p:spPr bwMode="auto"/>
        <p:txBody>
          <a:bodyPr>
            <a:normAutofit/>
          </a:bodyPr>
          <a:lstStyle/>
          <a:p>
            <a:pPr>
              <a:lnSpc>
                <a:spcPct val="100000"/>
              </a:lnSpc>
              <a:defRPr/>
            </a:pPr>
            <a:r>
              <a:rPr lang="de-DE" sz="3200"/>
              <a:t>Risk </a:t>
            </a:r>
            <a:r>
              <a:rPr lang="de-DE" sz="3200"/>
              <a:t>leaving</a:t>
            </a:r>
            <a:r>
              <a:rPr lang="de-DE" sz="3200"/>
              <a:t> </a:t>
            </a:r>
            <a:r>
              <a:rPr lang="de-DE" sz="3200"/>
              <a:t>gaps</a:t>
            </a:r>
            <a:r>
              <a:rPr lang="de-DE" sz="3200"/>
              <a:t> in </a:t>
            </a:r>
            <a:r>
              <a:rPr lang="de-DE" sz="3200"/>
              <a:t>your</a:t>
            </a:r>
            <a:r>
              <a:rPr lang="de-DE" sz="3200"/>
              <a:t> </a:t>
            </a:r>
            <a:r>
              <a:rPr lang="de-DE" sz="3200"/>
              <a:t>knowledge</a:t>
            </a:r>
            <a:r>
              <a:rPr lang="de-DE" sz="3200"/>
              <a:t> – </a:t>
            </a:r>
            <a:r>
              <a:rPr lang="de-DE" sz="3200"/>
              <a:t>doing</a:t>
            </a:r>
            <a:r>
              <a:rPr lang="de-DE" sz="3200"/>
              <a:t> </a:t>
            </a:r>
            <a:r>
              <a:rPr lang="de-DE" sz="3200"/>
              <a:t>everything</a:t>
            </a:r>
            <a:r>
              <a:rPr lang="de-DE" sz="3200"/>
              <a:t> </a:t>
            </a:r>
            <a:r>
              <a:rPr lang="de-DE" sz="3200"/>
              <a:t>is</a:t>
            </a:r>
            <a:r>
              <a:rPr lang="de-DE" sz="3200"/>
              <a:t> impossible</a:t>
            </a:r>
            <a:endParaRPr/>
          </a:p>
          <a:p>
            <a:pPr marL="457200" lvl="1" indent="0">
              <a:lnSpc>
                <a:spcPct val="100000"/>
              </a:lnSpc>
              <a:buNone/>
              <a:defRPr/>
            </a:pPr>
            <a:r>
              <a:rPr lang="de-DE" sz="2800"/>
              <a:t>→ 80/20 </a:t>
            </a:r>
            <a:r>
              <a:rPr lang="de-DE" sz="2800"/>
              <a:t>rule</a:t>
            </a:r>
            <a:endParaRPr sz="2800"/>
          </a:p>
          <a:p>
            <a:pPr>
              <a:lnSpc>
                <a:spcPct val="150000"/>
              </a:lnSpc>
              <a:defRPr/>
            </a:pPr>
            <a:r>
              <a:rPr lang="de-DE" sz="3200"/>
              <a:t>Set </a:t>
            </a:r>
            <a:r>
              <a:rPr lang="de-DE" sz="3200"/>
              <a:t>your</a:t>
            </a:r>
            <a:r>
              <a:rPr lang="de-DE" sz="3200"/>
              <a:t> own </a:t>
            </a:r>
            <a:r>
              <a:rPr lang="de-DE" sz="3200"/>
              <a:t>pace</a:t>
            </a:r>
            <a:endParaRPr lang="de-DE" sz="3200"/>
          </a:p>
          <a:p>
            <a:pPr>
              <a:lnSpc>
                <a:spcPct val="150000"/>
              </a:lnSpc>
              <a:defRPr/>
            </a:pPr>
            <a:r>
              <a:rPr lang="de-DE" sz="3200"/>
              <a:t>acknowledge</a:t>
            </a:r>
            <a:r>
              <a:rPr lang="de-DE" sz="3200"/>
              <a:t> stress </a:t>
            </a:r>
            <a:r>
              <a:rPr lang="de-DE" sz="3200"/>
              <a:t>as</a:t>
            </a:r>
            <a:r>
              <a:rPr lang="de-DE" sz="3200"/>
              <a:t> </a:t>
            </a:r>
            <a:r>
              <a:rPr lang="de-DE" sz="3200"/>
              <a:t>something</a:t>
            </a:r>
            <a:r>
              <a:rPr lang="de-DE" sz="3200"/>
              <a:t> </a:t>
            </a:r>
            <a:r>
              <a:rPr lang="de-DE" sz="3200"/>
              <a:t>psoitive</a:t>
            </a:r>
            <a:endParaRPr lang="de-DE" sz="3200"/>
          </a:p>
          <a:p>
            <a:pPr>
              <a:lnSpc>
                <a:spcPct val="150000"/>
              </a:lnSpc>
              <a:defRPr/>
            </a:pPr>
            <a:r>
              <a:rPr lang="de-DE" sz="3200"/>
              <a:t>Practice </a:t>
            </a:r>
            <a:r>
              <a:rPr lang="de-DE" sz="3200"/>
              <a:t>exam</a:t>
            </a:r>
            <a:r>
              <a:rPr lang="de-DE" sz="3200"/>
              <a:t> </a:t>
            </a:r>
            <a:r>
              <a:rPr lang="de-DE" sz="3200"/>
              <a:t>situations</a:t>
            </a:r>
            <a:r>
              <a:rPr lang="de-DE" sz="3200"/>
              <a:t> </a:t>
            </a:r>
            <a:endParaRPr sz="3200"/>
          </a:p>
          <a:p>
            <a:pPr>
              <a:lnSpc>
                <a:spcPct val="150000"/>
              </a:lnSpc>
              <a:buFont typeface="Arial"/>
              <a:buChar char="•"/>
              <a:defRPr/>
            </a:pPr>
            <a:r>
              <a:rPr lang="en-US" sz="3200"/>
              <a:t>Practise</a:t>
            </a:r>
            <a:r>
              <a:rPr lang="en-US" sz="3200"/>
              <a:t> stress in other areas like sports to get your body used to </a:t>
            </a:r>
            <a:endParaRPr/>
          </a:p>
          <a:p>
            <a:pPr>
              <a:lnSpc>
                <a:spcPct val="110000"/>
              </a:lnSpc>
              <a:buFont typeface="Arial"/>
              <a:buChar char="•"/>
              <a:defRPr/>
            </a:pPr>
            <a:r>
              <a:rPr lang="en-US" sz="3200"/>
              <a:t>Don‘t let social life fall short in stressful exam periods – it‘s the balance your mental health needs!</a:t>
            </a:r>
            <a:endParaRPr/>
          </a:p>
          <a:p>
            <a:pPr marL="0" indent="0">
              <a:buNone/>
              <a:defRPr/>
            </a:pPr>
            <a:endParaRPr lang="de-DE"/>
          </a:p>
        </p:txBody>
      </p:sp>
      <p:cxnSp>
        <p:nvCxnSpPr>
          <p:cNvPr id="7" name="Gerade Verbindung mit Pfeil 6"/>
          <p:cNvCxnSpPr>
            <a:cxnSpLocks/>
          </p:cNvCxnSpPr>
          <p:nvPr/>
        </p:nvCxnSpPr>
        <p:spPr bwMode="auto">
          <a:xfrm flipH="1" flipV="1">
            <a:off x="6536511" y="3565326"/>
            <a:ext cx="935816" cy="968574"/>
          </a:xfrm>
          <a:prstGeom prst="straightConnector1">
            <a:avLst/>
          </a:prstGeom>
          <a:ln w="4762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bwMode="auto">
          <a:xfrm>
            <a:off x="11125200" y="4167108"/>
            <a:ext cx="5218800" cy="954107"/>
          </a:xfrm>
          <a:prstGeom prst="rect">
            <a:avLst/>
          </a:prstGeom>
          <a:solidFill>
            <a:schemeClr val="accent5"/>
          </a:solidFill>
        </p:spPr>
        <p:txBody>
          <a:bodyPr wrap="square" rtlCol="0">
            <a:spAutoFit/>
          </a:bodyPr>
          <a:lstStyle/>
          <a:p>
            <a:pPr algn="ctr">
              <a:defRPr/>
            </a:pPr>
            <a:r>
              <a:rPr lang="de-DE" sz="2800" b="1" u="sng">
                <a:solidFill>
                  <a:schemeClr val="tx1"/>
                </a:solidFill>
                <a:cs typeface="Jamrul"/>
                <a:hlinkClick r:id="rId3" tooltip="https://www.youtube.com/watch?v=c47HpdeYJgA"/>
              </a:rPr>
              <a:t>Video</a:t>
            </a:r>
            <a:r>
              <a:rPr lang="de-DE" sz="2800" b="1" u="sng">
                <a:solidFill>
                  <a:schemeClr val="tx1"/>
                </a:solidFill>
                <a:cs typeface="Jamrul"/>
              </a:rPr>
              <a:t>:</a:t>
            </a:r>
            <a:r>
              <a:rPr lang="de-DE" sz="2800" b="1">
                <a:solidFill>
                  <a:schemeClr val="tx1"/>
                </a:solidFill>
                <a:cs typeface="Jamrul"/>
              </a:rPr>
              <a:t> So kann dir Stress in Prüfungen nützen | Quarks</a:t>
            </a:r>
            <a:endParaRPr lang="de-DE" sz="2800">
              <a:solidFill>
                <a:schemeClr val="tx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GB"/>
              <a:t>Related Wiki Articles</a:t>
            </a:r>
            <a:endParaRPr/>
          </a:p>
        </p:txBody>
      </p:sp>
      <p:sp>
        <p:nvSpPr>
          <p:cNvPr id="3" name="Content Placeholder 2"/>
          <p:cNvSpPr>
            <a:spLocks noGrp="1"/>
          </p:cNvSpPr>
          <p:nvPr>
            <p:ph idx="1"/>
          </p:nvPr>
        </p:nvSpPr>
        <p:spPr bwMode="auto"/>
        <p:txBody>
          <a:bodyPr>
            <a:normAutofit/>
          </a:bodyPr>
          <a:lstStyle/>
          <a:p>
            <a:pPr>
              <a:defRPr/>
            </a:pPr>
            <a:r>
              <a:rPr lang="en-GB"/>
              <a:t>Mind Map: </a:t>
            </a:r>
            <a:r>
              <a:rPr lang="en-GB" u="sng">
                <a:hlinkClick r:id="rId3" tooltip="https://sustainabilitymethods.org/index.php/Mindmap"/>
              </a:rPr>
              <a:t>https://sustainabilitymethods.org/index.php/Mindmap</a:t>
            </a:r>
            <a:endParaRPr lang="en-GB"/>
          </a:p>
          <a:p>
            <a:pPr>
              <a:defRPr/>
            </a:pPr>
            <a:r>
              <a:rPr lang="en-GB"/>
              <a:t>Feynman Method: </a:t>
            </a:r>
            <a:r>
              <a:rPr lang="en-GB" u="sng">
                <a:hlinkClick r:id="rId4" tooltip="https://sustainabilitymethods.org/index.php/Feynman_Method"/>
              </a:rPr>
              <a:t>https://sustainabilitymethods.org/index.php/Feynman_Method</a:t>
            </a:r>
            <a:endParaRPr lang="en-GB"/>
          </a:p>
          <a:p>
            <a:pPr>
              <a:defRPr/>
            </a:pPr>
            <a:r>
              <a:rPr lang="en-GB"/>
              <a:t>Anki: </a:t>
            </a:r>
            <a:r>
              <a:rPr lang="en-GB" u="sng">
                <a:hlinkClick r:id="rId5" tooltip="https://sustainabilitymethods.org/index.php/Anki"/>
              </a:rPr>
              <a:t>https://sustainabilitymethods.org/index.php/Anki</a:t>
            </a:r>
            <a:endParaRPr lang="en-GB"/>
          </a:p>
          <a:p>
            <a:pPr>
              <a:defRPr/>
            </a:pPr>
            <a:r>
              <a:rPr lang="en-GB"/>
              <a:t>AI in education: </a:t>
            </a:r>
            <a:r>
              <a:rPr lang="en-GB" u="sng">
                <a:hlinkClick r:id="rId6" tooltip="https://sustainabilitymethods.org/index.php/AI_in_education"/>
              </a:rPr>
              <a:t>https://sustainabilitymethods.org/index.php/AI_in_education</a:t>
            </a:r>
            <a:endParaRPr lang="en-GB"/>
          </a:p>
          <a:p>
            <a:pPr>
              <a:defRPr/>
            </a:pPr>
            <a:r>
              <a:rPr lang="en-GB"/>
              <a:t>Learning for exams: </a:t>
            </a:r>
            <a:r>
              <a:rPr lang="en-GB" u="sng">
                <a:hlinkClick r:id="rId7" tooltip="https://sustainabilitymethods.org/index.php/Learning_for_exams"/>
              </a:rPr>
              <a:t>https://sustainabilitymethods.org/index.php/Learning_for_exams</a:t>
            </a:r>
            <a:endParaRPr lang="en-GB"/>
          </a:p>
          <a:p>
            <a:pPr>
              <a:defRPr/>
            </a:pPr>
            <a:r>
              <a:rPr lang="en-GB"/>
              <a:t>Overcoming exam anxiety: </a:t>
            </a:r>
            <a:r>
              <a:rPr lang="en-GB" u="sng">
                <a:hlinkClick r:id="rId8" tooltip="https://sustainabilitymethods.org/index.php/Overcoming_Exam_Anxiety"/>
              </a:rPr>
              <a:t>https://sustainabilitymethods.org/index.php/Overcoming_Exam_Anxiety</a:t>
            </a:r>
            <a:endParaRPr lang="en-GB"/>
          </a:p>
          <a:p>
            <a:pPr>
              <a:defRPr/>
            </a:pPr>
            <a:r>
              <a:rPr lang="en-GB"/>
              <a:t>Coping with psychological problems: </a:t>
            </a:r>
            <a:r>
              <a:rPr lang="en-GB" u="sng">
                <a:hlinkClick r:id="rId9" tooltip="https://sustainabilitymethods.org/index.php/Coping_with_psychological_problems"/>
              </a:rPr>
              <a:t>https://sustainabilitymethods.org/index.php/Coping_with_psychological_problems</a:t>
            </a:r>
            <a:endParaRPr lang="en-GB"/>
          </a:p>
          <a:p>
            <a:pPr>
              <a:defRPr/>
            </a:pPr>
            <a:r>
              <a:rPr lang="en-GB"/>
              <a:t>Co-working: </a:t>
            </a:r>
            <a:r>
              <a:rPr lang="en-GB" u="sng">
                <a:hlinkClick r:id="rId10" tooltip="https://sustainabilitymethods.org/index.php/Co-Working"/>
              </a:rPr>
              <a:t>https://sustainabilitymethods.org/index.php/Co-Working</a:t>
            </a:r>
            <a:endParaRPr lang="en-GB"/>
          </a:p>
          <a:p>
            <a:pPr marL="0" indent="0">
              <a:buNone/>
              <a:defRPr/>
            </a:pPr>
            <a:endParaRPr lang="en-GB"/>
          </a:p>
          <a:p>
            <a:pPr marL="0" indent="0">
              <a:buNone/>
              <a:defRPr/>
            </a:pPr>
            <a:endParaRPr lang="en-GB"/>
          </a:p>
          <a:p>
            <a:pPr>
              <a:defRPr/>
            </a:pPr>
            <a:endParaRPr lang="en-GB"/>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vert="horz"/>
          <a:lstStyle/>
          <a:p>
            <a:pPr>
              <a:defRPr/>
            </a:pPr>
            <a:r>
              <a:rPr lang="de-DE"/>
              <a:t>Sources</a:t>
            </a:r>
            <a:endParaRPr/>
          </a:p>
        </p:txBody>
      </p:sp>
      <p:sp>
        <p:nvSpPr>
          <p:cNvPr id="3" name="Textplatzhalter 2"/>
          <p:cNvSpPr>
            <a:spLocks noGrp="1"/>
          </p:cNvSpPr>
          <p:nvPr>
            <p:ph idx="1"/>
          </p:nvPr>
        </p:nvSpPr>
        <p:spPr bwMode="auto"/>
        <p:txBody>
          <a:bodyPr/>
          <a:lstStyle/>
          <a:p>
            <a:pPr>
              <a:defRPr/>
            </a:pPr>
            <a:r>
              <a:rPr lang="en-US" sz="2000">
                <a:latin typeface="Arial"/>
                <a:ea typeface="Times New Roman"/>
                <a:cs typeface="Arial"/>
              </a:rPr>
              <a:t>Berry, D. C. (1983): </a:t>
            </a:r>
            <a:r>
              <a:rPr lang="en-US" sz="2000" i="1">
                <a:latin typeface="Arial"/>
                <a:ea typeface="Times New Roman"/>
                <a:cs typeface="Arial"/>
              </a:rPr>
              <a:t>Metacognitive experience and transfer of logical reasoning.</a:t>
            </a:r>
            <a:r>
              <a:rPr lang="en-US" sz="2000">
                <a:latin typeface="Arial"/>
                <a:ea typeface="Times New Roman"/>
                <a:cs typeface="Arial"/>
              </a:rPr>
              <a:t> In: The Quarterly Journal of Experimental Psychology Section A, </a:t>
            </a:r>
            <a:r>
              <a:rPr lang="en-US" sz="2000" i="1">
                <a:latin typeface="Arial"/>
                <a:ea typeface="Times New Roman"/>
                <a:cs typeface="Arial"/>
              </a:rPr>
              <a:t>35</a:t>
            </a:r>
            <a:r>
              <a:rPr lang="en-US" sz="2000">
                <a:latin typeface="Arial"/>
                <a:ea typeface="Times New Roman"/>
                <a:cs typeface="Arial"/>
              </a:rPr>
              <a:t>(1), 39–49. </a:t>
            </a:r>
            <a:endParaRPr/>
          </a:p>
          <a:p>
            <a:pPr>
              <a:defRPr/>
            </a:pPr>
            <a:r>
              <a:rPr lang="de-DE" sz="2000">
                <a:latin typeface="Arial"/>
                <a:cs typeface="Arial"/>
              </a:rPr>
              <a:t>Brainzucker</a:t>
            </a:r>
            <a:r>
              <a:rPr lang="de-DE" sz="2000">
                <a:latin typeface="Arial"/>
                <a:cs typeface="Arial"/>
              </a:rPr>
              <a:t> (o.J.): </a:t>
            </a:r>
            <a:r>
              <a:rPr lang="de-DE" sz="2000">
                <a:latin typeface="Arial"/>
                <a:cs typeface="Arial"/>
              </a:rPr>
              <a:t>What</a:t>
            </a:r>
            <a:r>
              <a:rPr lang="de-DE" sz="2000">
                <a:latin typeface="Arial"/>
                <a:cs typeface="Arial"/>
              </a:rPr>
              <a:t> </a:t>
            </a:r>
            <a:r>
              <a:rPr lang="de-DE" sz="2000">
                <a:latin typeface="Arial"/>
                <a:cs typeface="Arial"/>
              </a:rPr>
              <a:t>Is</a:t>
            </a:r>
            <a:r>
              <a:rPr lang="de-DE" sz="2000">
                <a:latin typeface="Arial"/>
                <a:cs typeface="Arial"/>
              </a:rPr>
              <a:t> </a:t>
            </a:r>
            <a:r>
              <a:rPr lang="de-DE" sz="2000">
                <a:latin typeface="Arial"/>
                <a:cs typeface="Arial"/>
              </a:rPr>
              <a:t>the</a:t>
            </a:r>
            <a:r>
              <a:rPr lang="de-DE" sz="2000">
                <a:latin typeface="Arial"/>
                <a:cs typeface="Arial"/>
              </a:rPr>
              <a:t> Feynman </a:t>
            </a:r>
            <a:r>
              <a:rPr lang="de-DE" sz="2000">
                <a:latin typeface="Arial"/>
                <a:cs typeface="Arial"/>
              </a:rPr>
              <a:t>Technique</a:t>
            </a:r>
            <a:r>
              <a:rPr lang="de-DE" sz="2000">
                <a:latin typeface="Arial"/>
                <a:cs typeface="Arial"/>
              </a:rPr>
              <a:t>. </a:t>
            </a:r>
            <a:r>
              <a:rPr lang="de-DE" sz="2000">
                <a:latin typeface="Arial"/>
                <a:cs typeface="Arial"/>
              </a:rPr>
              <a:t>Aberufen</a:t>
            </a:r>
            <a:r>
              <a:rPr lang="de-DE" sz="2000">
                <a:latin typeface="Arial"/>
                <a:cs typeface="Arial"/>
              </a:rPr>
              <a:t> am 30.09.2023 unter: https://www.brainzucker.com/article/what-is-the-feynman-technique.</a:t>
            </a:r>
            <a:endParaRPr/>
          </a:p>
          <a:p>
            <a:pPr>
              <a:defRPr/>
            </a:pPr>
            <a:r>
              <a:rPr lang="en-US" sz="2000">
                <a:latin typeface="Arial"/>
                <a:ea typeface="Times New Roman"/>
                <a:cs typeface="Arial"/>
              </a:rPr>
              <a:t>Dunlosky</a:t>
            </a:r>
            <a:r>
              <a:rPr lang="en-US" sz="2000">
                <a:latin typeface="Arial"/>
                <a:ea typeface="Times New Roman"/>
                <a:cs typeface="Arial"/>
              </a:rPr>
              <a:t>, J., Rawson, K. A., Marsh, E. J., Nathan, M. J., &amp; Willingham, D. T. (2013): </a:t>
            </a:r>
            <a:r>
              <a:rPr lang="en-US" sz="2000" i="1">
                <a:latin typeface="Arial"/>
                <a:ea typeface="Times New Roman"/>
                <a:cs typeface="Arial"/>
              </a:rPr>
              <a:t>Improving students’ learning with effective learning techniques: Promising directions from cognitive and educational psychology</a:t>
            </a:r>
            <a:r>
              <a:rPr lang="en-US" sz="2000">
                <a:latin typeface="Arial"/>
                <a:ea typeface="Times New Roman"/>
                <a:cs typeface="Arial"/>
              </a:rPr>
              <a:t>. </a:t>
            </a:r>
            <a:r>
              <a:rPr lang="de-DE" sz="2000">
                <a:latin typeface="Arial"/>
                <a:ea typeface="Times New Roman"/>
                <a:cs typeface="Arial"/>
              </a:rPr>
              <a:t>In: Psychological Science in </a:t>
            </a:r>
            <a:r>
              <a:rPr lang="de-DE" sz="2000">
                <a:latin typeface="Arial"/>
                <a:ea typeface="Times New Roman"/>
                <a:cs typeface="Arial"/>
              </a:rPr>
              <a:t>the</a:t>
            </a:r>
            <a:r>
              <a:rPr lang="de-DE" sz="2000">
                <a:latin typeface="Arial"/>
                <a:ea typeface="Times New Roman"/>
                <a:cs typeface="Arial"/>
              </a:rPr>
              <a:t> Public Interest, 14(1), 4-58.</a:t>
            </a:r>
            <a:endParaRPr/>
          </a:p>
          <a:p>
            <a:pPr>
              <a:defRPr/>
            </a:pPr>
            <a:r>
              <a:rPr lang="de-DE" sz="2000">
                <a:latin typeface="Arial"/>
                <a:ea typeface="Times New Roman"/>
                <a:cs typeface="Arial"/>
              </a:rPr>
              <a:t>Ebbinghaus, H. (1885): </a:t>
            </a:r>
            <a:r>
              <a:rPr lang="de-DE" sz="2000" i="1">
                <a:latin typeface="Arial"/>
                <a:ea typeface="Times New Roman"/>
                <a:cs typeface="Arial"/>
              </a:rPr>
              <a:t>Über das Gedächtnis</a:t>
            </a:r>
            <a:r>
              <a:rPr lang="de-DE" sz="2000">
                <a:latin typeface="Arial"/>
                <a:ea typeface="Times New Roman"/>
                <a:cs typeface="Arial"/>
              </a:rPr>
              <a:t>. </a:t>
            </a:r>
            <a:r>
              <a:rPr lang="en-US" sz="2000">
                <a:latin typeface="Arial"/>
                <a:ea typeface="Times New Roman"/>
                <a:cs typeface="Arial"/>
              </a:rPr>
              <a:t>Leipzig: Duncker &amp; </a:t>
            </a:r>
            <a:r>
              <a:rPr lang="en-US" sz="2000">
                <a:latin typeface="Arial"/>
                <a:ea typeface="Times New Roman"/>
                <a:cs typeface="Arial"/>
              </a:rPr>
              <a:t>Humblot</a:t>
            </a:r>
            <a:r>
              <a:rPr lang="en-US" sz="2000">
                <a:latin typeface="Arial"/>
                <a:ea typeface="Times New Roman"/>
                <a:cs typeface="Arial"/>
              </a:rPr>
              <a:t>.</a:t>
            </a:r>
            <a:endParaRPr/>
          </a:p>
          <a:p>
            <a:pPr>
              <a:defRPr/>
            </a:pPr>
            <a:r>
              <a:rPr lang="de-DE" sz="2000">
                <a:solidFill>
                  <a:srgbClr val="353535"/>
                </a:solidFill>
                <a:latin typeface="Arial"/>
                <a:cs typeface="Arial"/>
              </a:rPr>
              <a:t>Literary</a:t>
            </a:r>
            <a:r>
              <a:rPr lang="de-DE" sz="2000">
                <a:solidFill>
                  <a:srgbClr val="353535"/>
                </a:solidFill>
                <a:latin typeface="Arial"/>
                <a:cs typeface="Arial"/>
              </a:rPr>
              <a:t> Terms (2015): </a:t>
            </a:r>
            <a:r>
              <a:rPr lang="de-DE" sz="2000">
                <a:solidFill>
                  <a:srgbClr val="353535"/>
                </a:solidFill>
                <a:latin typeface="Arial"/>
                <a:cs typeface="Arial"/>
              </a:rPr>
              <a:t>Retrieved</a:t>
            </a:r>
            <a:r>
              <a:rPr lang="de-DE" sz="2000">
                <a:solidFill>
                  <a:srgbClr val="353535"/>
                </a:solidFill>
                <a:latin typeface="Arial"/>
                <a:cs typeface="Arial"/>
              </a:rPr>
              <a:t> November 3, 2015, </a:t>
            </a:r>
            <a:r>
              <a:rPr lang="de-DE" sz="2000">
                <a:solidFill>
                  <a:srgbClr val="353535"/>
                </a:solidFill>
                <a:latin typeface="Arial"/>
                <a:cs typeface="Arial"/>
              </a:rPr>
              <a:t>from</a:t>
            </a:r>
            <a:r>
              <a:rPr lang="de-DE" sz="2000">
                <a:solidFill>
                  <a:srgbClr val="353535"/>
                </a:solidFill>
                <a:latin typeface="Arial"/>
                <a:cs typeface="Arial"/>
              </a:rPr>
              <a:t> https://</a:t>
            </a:r>
            <a:r>
              <a:rPr lang="de-DE" sz="2000">
                <a:solidFill>
                  <a:srgbClr val="353535"/>
                </a:solidFill>
                <a:latin typeface="Arial"/>
                <a:cs typeface="Arial"/>
              </a:rPr>
              <a:t>literaryterms.net</a:t>
            </a:r>
            <a:r>
              <a:rPr lang="de-DE" sz="2000">
                <a:solidFill>
                  <a:srgbClr val="353535"/>
                </a:solidFill>
                <a:latin typeface="Arial"/>
                <a:cs typeface="Arial"/>
              </a:rPr>
              <a:t>/</a:t>
            </a:r>
            <a:r>
              <a:rPr lang="de-DE" sz="2000">
                <a:solidFill>
                  <a:srgbClr val="353535"/>
                </a:solidFill>
                <a:latin typeface="Arial"/>
                <a:cs typeface="Arial"/>
              </a:rPr>
              <a:t>mnemonic</a:t>
            </a:r>
            <a:r>
              <a:rPr lang="de-DE" sz="2000">
                <a:solidFill>
                  <a:srgbClr val="353535"/>
                </a:solidFill>
                <a:latin typeface="Arial"/>
                <a:cs typeface="Arial"/>
              </a:rPr>
              <a:t>/.</a:t>
            </a:r>
            <a:endParaRPr lang="de-DE" sz="2000">
              <a:latin typeface="Arial"/>
              <a:ea typeface="Calibri"/>
              <a:cs typeface="Arial"/>
            </a:endParaRPr>
          </a:p>
          <a:p>
            <a:pPr>
              <a:defRPr/>
            </a:pPr>
            <a:r>
              <a:rPr lang="en-US" sz="2000">
                <a:latin typeface="Arial"/>
                <a:ea typeface="Times New Roman"/>
                <a:cs typeface="Arial"/>
              </a:rPr>
              <a:t>Ramin</a:t>
            </a:r>
            <a:r>
              <a:rPr lang="en-US" sz="2000">
                <a:latin typeface="Arial"/>
                <a:ea typeface="Times New Roman"/>
                <a:cs typeface="Arial"/>
              </a:rPr>
              <a:t>, M. (2022): Learning for exams. In: Sustainability Methods Wiki. </a:t>
            </a:r>
            <a:r>
              <a:rPr lang="en-US" sz="2000">
                <a:latin typeface="Arial"/>
                <a:ea typeface="Times New Roman"/>
                <a:cs typeface="Arial"/>
              </a:rPr>
              <a:t>Abgerufen</a:t>
            </a:r>
            <a:r>
              <a:rPr lang="en-US" sz="2000">
                <a:latin typeface="Arial"/>
                <a:ea typeface="Times New Roman"/>
                <a:cs typeface="Arial"/>
              </a:rPr>
              <a:t> am 30.09.2023 </a:t>
            </a:r>
            <a:r>
              <a:rPr lang="en-US" sz="2000">
                <a:latin typeface="Arial"/>
                <a:ea typeface="Times New Roman"/>
                <a:cs typeface="Arial"/>
              </a:rPr>
              <a:t>unter</a:t>
            </a:r>
            <a:r>
              <a:rPr lang="en-US" sz="2000">
                <a:latin typeface="Arial"/>
                <a:ea typeface="Times New Roman"/>
                <a:cs typeface="Arial"/>
              </a:rPr>
              <a:t>: https://</a:t>
            </a:r>
            <a:r>
              <a:rPr lang="en-US" sz="2000">
                <a:latin typeface="Arial"/>
                <a:ea typeface="Times New Roman"/>
                <a:cs typeface="Arial"/>
              </a:rPr>
              <a:t>sustainabilitymethods.org</a:t>
            </a:r>
            <a:r>
              <a:rPr lang="en-US" sz="2000">
                <a:latin typeface="Arial"/>
                <a:ea typeface="Times New Roman"/>
                <a:cs typeface="Arial"/>
              </a:rPr>
              <a:t>/</a:t>
            </a:r>
            <a:r>
              <a:rPr lang="en-US" sz="2000">
                <a:latin typeface="Arial"/>
                <a:ea typeface="Times New Roman"/>
                <a:cs typeface="Arial"/>
              </a:rPr>
              <a:t>index.php</a:t>
            </a:r>
            <a:r>
              <a:rPr lang="en-US" sz="2000">
                <a:latin typeface="Arial"/>
                <a:ea typeface="Times New Roman"/>
                <a:cs typeface="Arial"/>
              </a:rPr>
              <a:t>/</a:t>
            </a:r>
            <a:r>
              <a:rPr lang="en-US" sz="2000">
                <a:latin typeface="Arial"/>
                <a:ea typeface="Times New Roman"/>
                <a:cs typeface="Arial"/>
              </a:rPr>
              <a:t>Learning_for_exams</a:t>
            </a:r>
            <a:r>
              <a:rPr lang="en-US" sz="2000">
                <a:latin typeface="Arial"/>
                <a:ea typeface="Times New Roman"/>
                <a:cs typeface="Arial"/>
              </a:rPr>
              <a:t>.</a:t>
            </a:r>
            <a:endParaRPr/>
          </a:p>
          <a:p>
            <a:pPr>
              <a:defRPr/>
            </a:pPr>
            <a:r>
              <a:rPr lang="de-DE" sz="2000">
                <a:latin typeface="Arial"/>
                <a:cs typeface="Arial"/>
              </a:rPr>
              <a:t>ResearchGate</a:t>
            </a:r>
            <a:r>
              <a:rPr lang="de-DE" sz="2000">
                <a:latin typeface="Arial"/>
                <a:cs typeface="Arial"/>
              </a:rPr>
              <a:t> (o.J.): Ebbinghaus </a:t>
            </a:r>
            <a:r>
              <a:rPr lang="de-DE" sz="2000">
                <a:latin typeface="Arial"/>
                <a:cs typeface="Arial"/>
              </a:rPr>
              <a:t>Forgetting</a:t>
            </a:r>
            <a:r>
              <a:rPr lang="de-DE" sz="2000">
                <a:latin typeface="Arial"/>
                <a:cs typeface="Arial"/>
              </a:rPr>
              <a:t> </a:t>
            </a:r>
            <a:r>
              <a:rPr lang="de-DE" sz="2000">
                <a:latin typeface="Arial"/>
                <a:cs typeface="Arial"/>
              </a:rPr>
              <a:t>Curve</a:t>
            </a:r>
            <a:r>
              <a:rPr lang="de-DE" sz="2000">
                <a:latin typeface="Arial"/>
                <a:cs typeface="Arial"/>
              </a:rPr>
              <a:t> and Review Cycle. Abgerufen am 30.09.2023 unter: https://</a:t>
            </a:r>
            <a:r>
              <a:rPr lang="de-DE" sz="2000">
                <a:latin typeface="Arial"/>
                <a:cs typeface="Arial"/>
              </a:rPr>
              <a:t>www.researchgate.net</a:t>
            </a:r>
            <a:r>
              <a:rPr lang="de-DE" sz="2000">
                <a:latin typeface="Arial"/>
                <a:cs typeface="Arial"/>
              </a:rPr>
              <a:t>/</a:t>
            </a:r>
            <a:r>
              <a:rPr lang="de-DE" sz="2000">
                <a:latin typeface="Arial"/>
                <a:cs typeface="Arial"/>
              </a:rPr>
              <a:t>figure</a:t>
            </a:r>
            <a:r>
              <a:rPr lang="de-DE" sz="2000">
                <a:latin typeface="Arial"/>
                <a:cs typeface="Arial"/>
              </a:rPr>
              <a:t>/Ebbinghaus-forgetting-curve-and-review-cycle_fig1_324816198.</a:t>
            </a:r>
            <a:endParaRPr lang="de-DE" sz="2000">
              <a:latin typeface="Arial"/>
              <a:ea typeface="Calibri"/>
              <a:cs typeface="Arial"/>
            </a:endParaRPr>
          </a:p>
          <a:p>
            <a:pPr>
              <a:defRPr/>
            </a:pPr>
            <a:r>
              <a:rPr lang="de-DE" sz="2000">
                <a:latin typeface="Arial"/>
                <a:cs typeface="Arial"/>
              </a:rPr>
              <a:t>Universe </a:t>
            </a:r>
            <a:r>
              <a:rPr lang="de-DE" sz="2000">
                <a:latin typeface="Arial"/>
                <a:cs typeface="Arial"/>
              </a:rPr>
              <a:t>of</a:t>
            </a:r>
            <a:r>
              <a:rPr lang="de-DE" sz="2000">
                <a:latin typeface="Arial"/>
                <a:cs typeface="Arial"/>
              </a:rPr>
              <a:t> Memory (o.J.): </a:t>
            </a:r>
            <a:r>
              <a:rPr lang="de-DE" sz="2000">
                <a:latin typeface="Arial"/>
                <a:cs typeface="Arial"/>
              </a:rPr>
              <a:t>Interleaved</a:t>
            </a:r>
            <a:r>
              <a:rPr lang="de-DE" sz="2000">
                <a:latin typeface="Arial"/>
                <a:cs typeface="Arial"/>
              </a:rPr>
              <a:t> </a:t>
            </a:r>
            <a:r>
              <a:rPr lang="de-DE" sz="2000">
                <a:latin typeface="Arial"/>
                <a:cs typeface="Arial"/>
              </a:rPr>
              <a:t>Practise</a:t>
            </a:r>
            <a:r>
              <a:rPr lang="de-DE" sz="2000">
                <a:latin typeface="Arial"/>
                <a:cs typeface="Arial"/>
              </a:rPr>
              <a:t>.  </a:t>
            </a:r>
            <a:r>
              <a:rPr lang="de-DE" sz="2000">
                <a:latin typeface="Arial"/>
                <a:cs typeface="Arial"/>
              </a:rPr>
              <a:t>When</a:t>
            </a:r>
            <a:r>
              <a:rPr lang="de-DE" sz="2000">
                <a:latin typeface="Arial"/>
                <a:cs typeface="Arial"/>
              </a:rPr>
              <a:t> and </a:t>
            </a:r>
            <a:r>
              <a:rPr lang="de-DE" sz="2000">
                <a:latin typeface="Arial"/>
                <a:cs typeface="Arial"/>
              </a:rPr>
              <a:t>how</a:t>
            </a:r>
            <a:r>
              <a:rPr lang="de-DE" sz="2000">
                <a:latin typeface="Arial"/>
                <a:cs typeface="Arial"/>
              </a:rPr>
              <a:t> </a:t>
            </a:r>
            <a:r>
              <a:rPr lang="de-DE" sz="2000">
                <a:latin typeface="Arial"/>
                <a:cs typeface="Arial"/>
              </a:rPr>
              <a:t>to</a:t>
            </a:r>
            <a:r>
              <a:rPr lang="de-DE" sz="2000">
                <a:latin typeface="Arial"/>
                <a:cs typeface="Arial"/>
              </a:rPr>
              <a:t> </a:t>
            </a:r>
            <a:r>
              <a:rPr lang="de-DE" sz="2000">
                <a:latin typeface="Arial"/>
                <a:cs typeface="Arial"/>
              </a:rPr>
              <a:t>use</a:t>
            </a:r>
            <a:r>
              <a:rPr lang="de-DE" sz="2000">
                <a:latin typeface="Arial"/>
                <a:cs typeface="Arial"/>
              </a:rPr>
              <a:t> </a:t>
            </a:r>
            <a:r>
              <a:rPr lang="de-DE" sz="2000">
                <a:latin typeface="Arial"/>
                <a:cs typeface="Arial"/>
              </a:rPr>
              <a:t>it</a:t>
            </a:r>
            <a:r>
              <a:rPr lang="de-DE" sz="2000">
                <a:latin typeface="Arial"/>
                <a:cs typeface="Arial"/>
              </a:rPr>
              <a:t> </a:t>
            </a:r>
            <a:r>
              <a:rPr lang="de-DE" sz="2000">
                <a:latin typeface="Arial"/>
                <a:cs typeface="Arial"/>
              </a:rPr>
              <a:t>to</a:t>
            </a:r>
            <a:r>
              <a:rPr lang="de-DE" sz="2000">
                <a:latin typeface="Arial"/>
                <a:cs typeface="Arial"/>
              </a:rPr>
              <a:t> </a:t>
            </a:r>
            <a:r>
              <a:rPr lang="de-DE" sz="2000">
                <a:latin typeface="Arial"/>
                <a:cs typeface="Arial"/>
              </a:rPr>
              <a:t>maximize</a:t>
            </a:r>
            <a:r>
              <a:rPr lang="de-DE" sz="2000">
                <a:latin typeface="Arial"/>
                <a:cs typeface="Arial"/>
              </a:rPr>
              <a:t> </a:t>
            </a:r>
            <a:r>
              <a:rPr lang="de-DE" sz="2000">
                <a:latin typeface="Arial"/>
                <a:cs typeface="Arial"/>
              </a:rPr>
              <a:t>your</a:t>
            </a:r>
            <a:r>
              <a:rPr lang="de-DE" sz="2000">
                <a:latin typeface="Arial"/>
                <a:cs typeface="Arial"/>
              </a:rPr>
              <a:t> </a:t>
            </a:r>
            <a:r>
              <a:rPr lang="de-DE" sz="2000">
                <a:latin typeface="Arial"/>
                <a:cs typeface="Arial"/>
              </a:rPr>
              <a:t>learning</a:t>
            </a:r>
            <a:r>
              <a:rPr lang="de-DE" sz="2000">
                <a:latin typeface="Arial"/>
                <a:cs typeface="Arial"/>
              </a:rPr>
              <a:t> </a:t>
            </a:r>
            <a:r>
              <a:rPr lang="de-DE" sz="2000">
                <a:latin typeface="Arial"/>
                <a:cs typeface="Arial"/>
              </a:rPr>
              <a:t>pace</a:t>
            </a:r>
            <a:r>
              <a:rPr lang="de-DE" sz="2000">
                <a:latin typeface="Arial"/>
                <a:cs typeface="Arial"/>
              </a:rPr>
              <a:t>.  Abgerufen am 30.09.2023 unter: https://</a:t>
            </a:r>
            <a:r>
              <a:rPr lang="de-DE" sz="2000">
                <a:latin typeface="Arial"/>
                <a:cs typeface="Arial"/>
              </a:rPr>
              <a:t>universeofmemory.com</a:t>
            </a:r>
            <a:r>
              <a:rPr lang="de-DE" sz="2000">
                <a:latin typeface="Arial"/>
                <a:cs typeface="Arial"/>
              </a:rPr>
              <a:t>/</a:t>
            </a:r>
            <a:r>
              <a:rPr lang="de-DE" sz="2000">
                <a:latin typeface="Arial"/>
                <a:cs typeface="Arial"/>
              </a:rPr>
              <a:t>interleaved</a:t>
            </a:r>
            <a:r>
              <a:rPr lang="de-DE" sz="2000">
                <a:latin typeface="Arial"/>
                <a:cs typeface="Arial"/>
              </a:rPr>
              <a:t>-</a:t>
            </a:r>
            <a:r>
              <a:rPr lang="de-DE" sz="2000">
                <a:latin typeface="Arial"/>
                <a:cs typeface="Arial"/>
              </a:rPr>
              <a:t>practice</a:t>
            </a:r>
            <a:r>
              <a:rPr lang="de-DE" sz="2000">
                <a:latin typeface="Arial"/>
                <a:cs typeface="Arial"/>
              </a:rPr>
              <a:t>-</a:t>
            </a:r>
            <a:r>
              <a:rPr lang="de-DE" sz="2000">
                <a:latin typeface="Arial"/>
                <a:cs typeface="Arial"/>
              </a:rPr>
              <a:t>maximize</a:t>
            </a:r>
            <a:r>
              <a:rPr lang="de-DE" sz="2000">
                <a:latin typeface="Arial"/>
                <a:cs typeface="Arial"/>
              </a:rPr>
              <a:t>-</a:t>
            </a:r>
            <a:r>
              <a:rPr lang="de-DE" sz="2000">
                <a:latin typeface="Arial"/>
                <a:cs typeface="Arial"/>
              </a:rPr>
              <a:t>learning</a:t>
            </a:r>
            <a:r>
              <a:rPr lang="de-DE" sz="2000">
                <a:latin typeface="Arial"/>
                <a:cs typeface="Arial"/>
              </a:rPr>
              <a:t>-pace/.</a:t>
            </a:r>
            <a:endParaRPr lang="de-DE" sz="2000">
              <a:latin typeface="Arial"/>
              <a:ea typeface="Times New Roman"/>
              <a:cs typeface="Arial"/>
            </a:endParaRPr>
          </a:p>
          <a:p>
            <a:pPr>
              <a:defRPr/>
            </a:pPr>
            <a:endParaRPr lang="de-DE" sz="20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4A71E891A511D040A52CA52D008DEB36" ma:contentTypeVersion="3" ma:contentTypeDescription="Ein neues Dokument erstellen." ma:contentTypeScope="" ma:versionID="4cba4315779cb03d474ae37b2c0aa786">
  <xsd:schema xmlns:xsd="http://www.w3.org/2001/XMLSchema" xmlns:xs="http://www.w3.org/2001/XMLSchema" xmlns:p="http://schemas.microsoft.com/office/2006/metadata/properties" xmlns:ns2="e0647eb4-fdd8-4a76-905c-ef029484ffcd" targetNamespace="http://schemas.microsoft.com/office/2006/metadata/properties" ma:root="true" ma:fieldsID="ffc498f6898bc391fabeb722ec17ef06" ns2:_="">
    <xsd:import namespace="e0647eb4-fdd8-4a76-905c-ef029484ffc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47eb4-fdd8-4a76-905c-ef029484ff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0496C20-5D8F-4DCB-8E1E-A650C8F92C94}"/>
</file>

<file path=customXml/itemProps2.xml><?xml version="1.0" encoding="utf-8"?>
<ds:datastoreItem xmlns:ds="http://schemas.openxmlformats.org/officeDocument/2006/customXml" ds:itemID="{490F0D2F-C64F-4332-9BD6-0AA03851E986}"/>
</file>

<file path=customXml/itemProps3.xml><?xml version="1.0" encoding="utf-8"?>
<ds:datastoreItem xmlns:ds="http://schemas.openxmlformats.org/officeDocument/2006/customXml" ds:itemID="{604AD99C-92E6-4E8C-9A5B-374F2D8A92D7}"/>
</file>

<file path=docProps/app.xml><?xml version="1.0" encoding="utf-8"?>
<Properties xmlns="http://schemas.openxmlformats.org/officeDocument/2006/extended-properties" xmlns:vt="http://schemas.openxmlformats.org/officeDocument/2006/docPropsVTypes">
  <Template/>
  <TotalTime>0</TotalTime>
  <Words>0</Words>
  <Application>onlyoffice/7.5.1.23</Application>
  <DocSecurity>0</DocSecurity>
  <PresentationFormat>Custom</PresentationFormat>
  <Paragraphs>0</Paragraphs>
  <Slides>24</Slides>
  <Notes>24</Notes>
  <HiddenSlides>0</HiddenSlides>
  <MMClips>2</MMClips>
  <ScaleCrop>0</ScaleCrop>
  <HeadingPairs>
    <vt:vector size="4" baseType="variant">
      <vt:variant>
        <vt:lpstr>Theme</vt:lpstr>
      </vt:variant>
      <vt:variant>
        <vt:i4>1</vt:i4>
      </vt:variant>
      <vt:variant>
        <vt:lpstr>Slide Titles</vt:lpstr>
      </vt:variant>
      <vt:variant>
        <vt:i4>24</vt:i4>
      </vt:variant>
    </vt:vector>
  </HeadingPairs>
  <TitlesOfParts>
    <vt:vector size="25"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finnja.a.voltolina@stud.leuphana.de</cp:lastModifiedBy>
  <cp:revision>7</cp:revision>
  <dcterms:created xsi:type="dcterms:W3CDTF">2006-08-16T00:00:00Z</dcterms:created>
  <dcterms:modified xsi:type="dcterms:W3CDTF">2024-09-03T23:48:10Z</dcterms:modified>
  <cp:category/>
  <dc:identifier>DAGKdR2DXUk</dc:identifier>
  <cp:contentStatus/>
  <dc:language/>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0x0101004A71E891A511D040A52CA52D008DEB36</vt:lpwstr>
  </property>
</Properties>
</file>