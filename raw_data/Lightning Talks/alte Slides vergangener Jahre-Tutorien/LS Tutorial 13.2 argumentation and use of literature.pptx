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entation.xml" ContentType="application/vnd.openxmlformats-officedocument.presentationml.presentation.main+xml"/>
  <Override PartName="/ppt/notesSlides/notesSlide7.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slideLayouts/slideLayout9.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72" r:id="rId4"/>
    <p:sldId id="263" r:id="rId5"/>
    <p:sldId id="273" r:id="rId6"/>
    <p:sldId id="274" r:id="rId7"/>
    <p:sldId id="275" r:id="rId8"/>
    <p:sldId id="276" r:id="rId9"/>
    <p:sldId id="277" r:id="rId10"/>
    <p:sldId id="278" r:id="rId11"/>
    <p:sldId id="279" r:id="rId12"/>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EF8F37-1144-4FBD-A913-FE8CA0A488DB}" v="4" dt="2024-11-15T17:58:49.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8784" autoAdjust="0"/>
  </p:normalViewPr>
  <p:slideViewPr>
    <p:cSldViewPr>
      <p:cViewPr varScale="1">
        <p:scale>
          <a:sx n="61" d="100"/>
          <a:sy n="61" d="100"/>
        </p:scale>
        <p:origin x="1304" y="216"/>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E8AB545-A7A2-C64E-BEC8-51F178C6B1AA}" type="datetimeFigureOut">
              <a:rPr lang="de-DE"/>
              <a:t>20.11.24</a:t>
            </a:fld>
            <a:endParaRPr lang="de-DE"/>
          </a:p>
        </p:txBody>
      </p:sp>
      <p:sp>
        <p:nvSpPr>
          <p:cNvPr id="4" name="Folienbildplatzhalt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91C7837A-BE0C-8E44-AC6E-3BD867A160FB}" type="slidenum">
              <a:rPr lang="de-DE"/>
              <a:t>‹Nr.›</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cribbr.com/methodology/dedutive-reasonin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19F92545-A449-DB66-AD86-B8829FA33A24}"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Here you can introduce the students to the topic of the presentation.</a:t>
            </a:r>
          </a:p>
          <a:p>
            <a:pPr marL="171450" indent="-171450">
              <a:buFont typeface="Arial" panose="020B0604020202020204" pitchFamily="34" charset="0"/>
              <a:buChar char="•"/>
              <a:defRPr/>
            </a:pPr>
            <a:r>
              <a:rPr lang="de-DE" dirty="0"/>
              <a:t>The aim is to provide an overview of argumentation in academic texts and the use of literature in writing.</a:t>
            </a:r>
          </a:p>
          <a:p>
            <a:pPr marL="171450" indent="-171450">
              <a:buFont typeface="Arial" panose="020B0604020202020204" pitchFamily="34" charset="0"/>
              <a:buChar char="•"/>
              <a:defRPr/>
            </a:pPr>
            <a:r>
              <a:rPr lang="de-DE" dirty="0"/>
              <a:t>How can we argue in our assignments and how can we deal with the arguments of other texts?</a:t>
            </a:r>
          </a:p>
          <a:p>
            <a:pPr>
              <a:defRPr/>
            </a:pPr>
            <a:endParaRPr dirty="0"/>
          </a:p>
        </p:txBody>
      </p:sp>
      <p:sp>
        <p:nvSpPr>
          <p:cNvPr id="4" name="Slide Number Placeholder 3"/>
          <p:cNvSpPr>
            <a:spLocks noGrp="1"/>
          </p:cNvSpPr>
          <p:nvPr>
            <p:ph type="sldNum" sz="quarter" idx="10"/>
          </p:nvPr>
        </p:nvSpPr>
        <p:spPr bwMode="auto"/>
        <p:txBody>
          <a:bodyPr/>
          <a:lstStyle/>
          <a:p>
            <a:pPr>
              <a:defRPr/>
            </a:pPr>
            <a:fld id="{E728B066-5110-A3C5-54B0-06711937EB16}"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de-DE" dirty="0"/>
              <a:t>What is an argument? On this slide you will find a definition of the term "argument" that you can use to discuss the topic with the students.</a:t>
            </a:r>
          </a:p>
          <a:p>
            <a:pPr>
              <a:defRPr/>
            </a:pPr>
            <a:r>
              <a:rPr lang="de-DE" dirty="0"/>
              <a:t>You can also find more ideas on how to address the topic in the Writing Center's "</a:t>
            </a:r>
            <a:r>
              <a:rPr lang="de-DE" dirty="0" err="1"/>
              <a:t>How To </a:t>
            </a:r>
            <a:r>
              <a:rPr lang="de-DE" dirty="0"/>
              <a:t>Argumentation" document. </a:t>
            </a:r>
          </a:p>
          <a:p>
            <a:pPr>
              <a:defRPr/>
            </a:pPr>
            <a:r>
              <a:rPr lang="de-DE" dirty="0"/>
              <a:t>Arguments essentially consist of three parts: </a:t>
            </a:r>
          </a:p>
          <a:p>
            <a:pPr marL="457200" indent="-317500">
              <a:buFontTx/>
              <a:buChar char="-"/>
              <a:defRPr/>
            </a:pPr>
            <a:r>
              <a:rPr lang="de-DE" dirty="0"/>
              <a:t>Claim;</a:t>
            </a:r>
          </a:p>
          <a:p>
            <a:pPr marL="457200" indent="-317500">
              <a:buFontTx/>
              <a:buChar char="-"/>
              <a:defRPr/>
            </a:pPr>
            <a:r>
              <a:rPr lang="de-DE" dirty="0"/>
              <a:t>Reasons;</a:t>
            </a:r>
          </a:p>
          <a:p>
            <a:pPr marL="457200" indent="-317500">
              <a:buFontTx/>
              <a:buChar char="-"/>
              <a:defRPr/>
            </a:pPr>
            <a:r>
              <a:rPr lang="de-DE" dirty="0"/>
              <a:t>and an example (Writing Center - </a:t>
            </a:r>
            <a:r>
              <a:rPr lang="de-DE" dirty="0" err="1"/>
              <a:t>How To </a:t>
            </a:r>
            <a:r>
              <a:rPr lang="de-DE" dirty="0"/>
              <a:t>Argumentation).</a:t>
            </a:r>
          </a:p>
          <a:p>
            <a:pPr marL="457200" indent="-317500">
              <a:buFontTx/>
              <a:buChar char="-"/>
              <a:defRPr/>
            </a:pPr>
            <a:r>
              <a:rPr lang="de-DE" dirty="0"/>
              <a:t>We have also introduced the concept of logic as an introduction to the concepts of deduction, induction and abduction on the next slide. </a:t>
            </a:r>
          </a:p>
          <a:p>
            <a:pPr marL="457200" indent="-317500">
              <a:buFontTx/>
              <a:buChar char="-"/>
              <a:defRPr/>
            </a:pPr>
            <a:r>
              <a:rPr lang="de-DE" dirty="0"/>
              <a:t>Logic is important for building arguments and evaluating them.</a:t>
            </a:r>
          </a:p>
        </p:txBody>
      </p:sp>
      <p:sp>
        <p:nvSpPr>
          <p:cNvPr id="4" name="Slide Number Placeholder 3"/>
          <p:cNvSpPr>
            <a:spLocks noGrp="1"/>
          </p:cNvSpPr>
          <p:nvPr>
            <p:ph type="sldNum" sz="quarter" idx="10"/>
          </p:nvPr>
        </p:nvSpPr>
        <p:spPr bwMode="auto"/>
        <p:txBody>
          <a:bodyPr/>
          <a:lstStyle/>
          <a:p>
            <a:pPr>
              <a:defRPr/>
            </a:pPr>
            <a:fld id="{7471B3FE-3E19-9699-2082-F0DE2FB8F64F}" type="slidenum">
              <a:rPr/>
              <a:t>3</a:t>
            </a:fld>
            <a:endParaRPr/>
          </a:p>
        </p:txBody>
      </p:sp>
    </p:spTree>
    <p:extLst>
      <p:ext uri="{BB962C8B-B14F-4D97-AF65-F5344CB8AC3E}">
        <p14:creationId xmlns:p14="http://schemas.microsoft.com/office/powerpoint/2010/main" val="3481869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de-DE" dirty="0"/>
              <a:t>Following on from the topic of logic on the previous slide, this slide presents the definition of some types of arguments.</a:t>
            </a:r>
          </a:p>
          <a:p>
            <a:pPr>
              <a:defRPr/>
            </a:pPr>
            <a:endParaRPr lang="de-DE" dirty="0"/>
          </a:p>
          <a:p>
            <a:pPr>
              <a:defRPr/>
            </a:pPr>
            <a:r>
              <a:rPr lang="de-DE" b="1" dirty="0"/>
              <a:t>Suggestion: </a:t>
            </a:r>
            <a:r>
              <a:rPr lang="de-DE" b="0" dirty="0"/>
              <a:t>Before explaining the two types of reasoning, you should first ask the group. Ask if they know any type of argumentation and if they are willing to explain how they think it works. </a:t>
            </a:r>
            <a:endParaRPr lang="de-DE" dirty="0"/>
          </a:p>
          <a:p>
            <a:pPr>
              <a:defRPr/>
            </a:pPr>
            <a:endParaRPr lang="de-DE" b="1" dirty="0"/>
          </a:p>
          <a:p>
            <a:pPr>
              <a:defRPr/>
            </a:pPr>
            <a:r>
              <a:rPr lang="de-DE" dirty="0"/>
              <a:t>The aim is to introduce students to some of the possible types of argumentation and to explain the reasons for this type of argumentation. A brief explanation and examples of deduction and induction can be found under the following link:</a:t>
            </a:r>
          </a:p>
          <a:p>
            <a:pPr marL="139700" indent="0">
              <a:buNone/>
              <a:defRPr/>
            </a:pPr>
            <a:endParaRPr lang="de-DE" dirty="0"/>
          </a:p>
          <a:p>
            <a:pPr marL="457200" indent="-317500">
              <a:defRPr/>
            </a:pPr>
            <a:r>
              <a:rPr lang="de-DE" dirty="0"/>
              <a:t>https://www.scribbr.com/methodology/inductive-deductive-reasoning/#:~:text=What's%20the%20difference%20between%20inductive,general%20premises%20to%20specific%20conclusions.</a:t>
            </a:r>
          </a:p>
          <a:p>
            <a:pPr marL="139700" indent="0">
              <a:buNone/>
              <a:defRPr/>
            </a:pPr>
            <a:endParaRPr lang="de-DE" dirty="0"/>
          </a:p>
          <a:p>
            <a:pPr marL="139700" indent="0">
              <a:buNone/>
              <a:defRPr/>
            </a:pPr>
            <a:endParaRPr lang="de-DE" dirty="0"/>
          </a:p>
          <a:p>
            <a:pPr>
              <a:defRPr/>
            </a:pPr>
            <a:endParaRPr lang="de-DE" dirty="0"/>
          </a:p>
          <a:p>
            <a:pPr>
              <a:defRPr/>
            </a:pPr>
            <a:endParaRPr dirty="0"/>
          </a:p>
        </p:txBody>
      </p:sp>
      <p:sp>
        <p:nvSpPr>
          <p:cNvPr id="4" name="Slide Number Placeholder 3"/>
          <p:cNvSpPr>
            <a:spLocks noGrp="1"/>
          </p:cNvSpPr>
          <p:nvPr>
            <p:ph type="sldNum" sz="quarter" idx="10"/>
          </p:nvPr>
        </p:nvSpPr>
        <p:spPr bwMode="auto"/>
        <p:txBody>
          <a:bodyPr/>
          <a:lstStyle/>
          <a:p>
            <a:pPr>
              <a:defRPr/>
            </a:pPr>
            <a:fld id="{4A24D2D8-62D4-80C9-C19D-BE20DF4F97F0}"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FE4FB-25B6-EA0E-3116-BD04AC39B8A4}"/>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E6DF7D1A-BDDB-D92F-DC27-FA63CC8C8DA7}"/>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E2126CEA-29C3-FCBA-07DB-FD926FF43C40}"/>
              </a:ext>
            </a:extLst>
          </p:cNvPr>
          <p:cNvSpPr>
            <a:spLocks noGrp="1"/>
          </p:cNvSpPr>
          <p:nvPr>
            <p:ph type="body" idx="1"/>
          </p:nvPr>
        </p:nvSpPr>
        <p:spPr bwMode="auto"/>
        <p:txBody>
          <a:bodyPr/>
          <a:lstStyle/>
          <a:p>
            <a:pPr>
              <a:defRPr/>
            </a:pPr>
            <a:r>
              <a:rPr lang="de-DE" dirty="0"/>
              <a:t>On this slide, we will take a closer look at the types of argumentation. The aim is to explain how this type of argumentation can be applied in the context of academic research. </a:t>
            </a:r>
          </a:p>
          <a:p>
            <a:pPr>
              <a:defRPr/>
            </a:pPr>
            <a:r>
              <a:rPr lang="de-DE" dirty="0"/>
              <a:t>The first type of reasoning we will look at is inductive reasoning. </a:t>
            </a:r>
          </a:p>
          <a:p>
            <a:pPr>
              <a:defRPr/>
            </a:pPr>
            <a:r>
              <a:rPr lang="de-DE" dirty="0"/>
              <a:t>The image was taken from this </a:t>
            </a:r>
            <a:r>
              <a:rPr lang="de-DE" dirty="0" err="1"/>
              <a:t>website</a:t>
            </a:r>
            <a:r>
              <a:rPr lang="de-DE" dirty="0"/>
              <a:t>: https://www.scribbr.com/methodology/inductive-reasoning/</a:t>
            </a:r>
          </a:p>
          <a:p>
            <a:pPr>
              <a:defRPr/>
            </a:pPr>
            <a:r>
              <a:rPr lang="de-DE" dirty="0" err="1"/>
              <a:t>You</a:t>
            </a:r>
            <a:r>
              <a:rPr lang="de-DE" dirty="0"/>
              <a:t> </a:t>
            </a:r>
            <a:r>
              <a:rPr lang="de-DE" dirty="0" err="1"/>
              <a:t>can</a:t>
            </a:r>
            <a:r>
              <a:rPr lang="de-DE" dirty="0"/>
              <a:t> find </a:t>
            </a:r>
            <a:r>
              <a:rPr lang="de-DE" dirty="0" err="1"/>
              <a:t>further</a:t>
            </a:r>
            <a:r>
              <a:rPr lang="de-DE" dirty="0"/>
              <a:t> ideas on how to introduce </a:t>
            </a:r>
            <a:r>
              <a:rPr lang="de-DE" dirty="0" err="1"/>
              <a:t>the</a:t>
            </a:r>
            <a:r>
              <a:rPr lang="de-DE" dirty="0"/>
              <a:t> </a:t>
            </a:r>
            <a:r>
              <a:rPr lang="de-DE" dirty="0" err="1"/>
              <a:t>topic</a:t>
            </a:r>
            <a:r>
              <a:rPr lang="de-DE" dirty="0"/>
              <a:t> on </a:t>
            </a:r>
            <a:r>
              <a:rPr lang="de-DE" dirty="0" err="1"/>
              <a:t>scribbr</a:t>
            </a:r>
            <a:r>
              <a:rPr lang="de-DE" dirty="0"/>
              <a:t>. </a:t>
            </a:r>
          </a:p>
        </p:txBody>
      </p:sp>
      <p:sp>
        <p:nvSpPr>
          <p:cNvPr id="4" name="Slide Number Placeholder 3">
            <a:extLst>
              <a:ext uri="{FF2B5EF4-FFF2-40B4-BE49-F238E27FC236}">
                <a16:creationId xmlns:a16="http://schemas.microsoft.com/office/drawing/2014/main" id="{A22D6BE7-6626-14C1-FD3C-A1DE39AAFCAB}"/>
              </a:ext>
            </a:extLst>
          </p:cNvPr>
          <p:cNvSpPr>
            <a:spLocks noGrp="1"/>
          </p:cNvSpPr>
          <p:nvPr>
            <p:ph type="sldNum" sz="quarter" idx="10"/>
          </p:nvPr>
        </p:nvSpPr>
        <p:spPr bwMode="auto"/>
        <p:txBody>
          <a:bodyPr/>
          <a:lstStyle/>
          <a:p>
            <a:pPr>
              <a:defRPr/>
            </a:pPr>
            <a:fld id="{7471B3FE-3E19-9699-2082-F0DE2FB8F64F}" type="slidenum">
              <a:rPr/>
              <a:t>5</a:t>
            </a:fld>
            <a:endParaRPr/>
          </a:p>
        </p:txBody>
      </p:sp>
    </p:spTree>
    <p:extLst>
      <p:ext uri="{BB962C8B-B14F-4D97-AF65-F5344CB8AC3E}">
        <p14:creationId xmlns:p14="http://schemas.microsoft.com/office/powerpoint/2010/main" val="2448903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CCDBE-B0D6-73C6-800D-276A5C48714D}"/>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6E31FAE0-BA8B-9A3F-C9BF-53A12B53A7B3}"/>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9A3BBFAE-3252-9AC1-576B-0FEC63E211F9}"/>
              </a:ext>
            </a:extLst>
          </p:cNvPr>
          <p:cNvSpPr>
            <a:spLocks noGrp="1"/>
          </p:cNvSpPr>
          <p:nvPr>
            <p:ph type="body" idx="1"/>
          </p:nvPr>
        </p:nvSpPr>
        <p:spPr bwMode="auto"/>
        <p:txBody>
          <a:bodyPr/>
          <a:lstStyle/>
          <a:p>
            <a:pPr>
              <a:defRPr/>
            </a:pPr>
            <a:r>
              <a:rPr lang="de-DE" dirty="0"/>
              <a:t>The second reasoning we want to address is deductive reasoning. You can find more examples and explanations on this topic on the </a:t>
            </a:r>
            <a:r>
              <a:rPr lang="de-DE" dirty="0" err="1"/>
              <a:t>website</a:t>
            </a:r>
            <a:r>
              <a:rPr lang="de-DE" dirty="0"/>
              <a:t> (</a:t>
            </a:r>
            <a:r>
              <a:rPr lang="en-US" sz="1200" dirty="0">
                <a:hlinkClick r:id="rId3"/>
              </a:rPr>
              <a:t>https://www.scribbr.com/methodology/dedutive-reasoning/</a:t>
            </a:r>
            <a:r>
              <a:rPr lang="en-US" sz="1200" dirty="0"/>
              <a:t>)</a:t>
            </a:r>
            <a:endParaRPr lang="de-DE" dirty="0"/>
          </a:p>
          <a:p>
            <a:pPr>
              <a:defRPr/>
            </a:pPr>
            <a:r>
              <a:rPr lang="de-DE" b="1" dirty="0"/>
              <a:t>Post-it </a:t>
            </a:r>
            <a:r>
              <a:rPr lang="de-DE" b="1" dirty="0" err="1"/>
              <a:t>note</a:t>
            </a:r>
            <a:r>
              <a:rPr lang="de-DE" b="1" dirty="0"/>
              <a:t>: </a:t>
            </a:r>
            <a:r>
              <a:rPr lang="de-DE" dirty="0"/>
              <a:t>"The methods you use influence your reasoning". This means that certain types of methods are related to or favor certain types of reasoning. </a:t>
            </a:r>
          </a:p>
          <a:p>
            <a:pPr>
              <a:defRPr/>
            </a:pPr>
            <a:r>
              <a:rPr lang="de-DE" b="1" dirty="0"/>
              <a:t>Example: </a:t>
            </a:r>
            <a:r>
              <a:rPr lang="de-DE" dirty="0"/>
              <a:t>Statistical methods with a large sample favor deductive reasoning. </a:t>
            </a:r>
            <a:endParaRPr lang="de-DE" b="1" dirty="0"/>
          </a:p>
        </p:txBody>
      </p:sp>
      <p:sp>
        <p:nvSpPr>
          <p:cNvPr id="4" name="Slide Number Placeholder 3">
            <a:extLst>
              <a:ext uri="{FF2B5EF4-FFF2-40B4-BE49-F238E27FC236}">
                <a16:creationId xmlns:a16="http://schemas.microsoft.com/office/drawing/2014/main" id="{04300F4D-33C8-1A14-5785-D8B95CA57165}"/>
              </a:ext>
            </a:extLst>
          </p:cNvPr>
          <p:cNvSpPr>
            <a:spLocks noGrp="1"/>
          </p:cNvSpPr>
          <p:nvPr>
            <p:ph type="sldNum" sz="quarter" idx="10"/>
          </p:nvPr>
        </p:nvSpPr>
        <p:spPr bwMode="auto"/>
        <p:txBody>
          <a:bodyPr/>
          <a:lstStyle/>
          <a:p>
            <a:pPr>
              <a:defRPr/>
            </a:pPr>
            <a:fld id="{7471B3FE-3E19-9699-2082-F0DE2FB8F64F}" type="slidenum">
              <a:rPr/>
              <a:t>6</a:t>
            </a:fld>
            <a:endParaRPr/>
          </a:p>
        </p:txBody>
      </p:sp>
    </p:spTree>
    <p:extLst>
      <p:ext uri="{BB962C8B-B14F-4D97-AF65-F5344CB8AC3E}">
        <p14:creationId xmlns:p14="http://schemas.microsoft.com/office/powerpoint/2010/main" val="129590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71998-65A3-362F-164E-4680B63F6DBD}"/>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AFED6F17-5903-EACB-1883-A34961DCDC2B}"/>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443B8362-98E6-AB53-28A8-C73FFF46D27A}"/>
              </a:ext>
            </a:extLst>
          </p:cNvPr>
          <p:cNvSpPr>
            <a:spLocks noGrp="1"/>
          </p:cNvSpPr>
          <p:nvPr>
            <p:ph type="body" idx="1"/>
          </p:nvPr>
        </p:nvSpPr>
        <p:spPr bwMode="auto"/>
        <p:txBody>
          <a:bodyPr/>
          <a:lstStyle/>
          <a:p>
            <a:pPr marL="457200" indent="-317500">
              <a:defRPr/>
            </a:pPr>
            <a:r>
              <a:rPr lang="de-DE" dirty="0"/>
              <a:t>This checklist can be found in the document "Argumentation - First Steps" from the Writing Center. It is a guide on how to approach or write your own arguments. </a:t>
            </a:r>
          </a:p>
          <a:p>
            <a:pPr marL="457200" indent="-317500">
              <a:defRPr/>
            </a:pPr>
            <a:r>
              <a:rPr lang="de-DE" dirty="0"/>
              <a:t>You can go through the list with the students.</a:t>
            </a:r>
          </a:p>
          <a:p>
            <a:pPr marL="457200" indent="-317500">
              <a:defRPr/>
            </a:pPr>
            <a:r>
              <a:rPr lang="de-DE" b="1" dirty="0"/>
              <a:t>Tip</a:t>
            </a:r>
            <a:r>
              <a:rPr lang="de-DE" dirty="0"/>
              <a:t>: Ask the students what they do to check their own (written) arguments. Whether they can give their colleagues any other advice than that listed in the checklist.</a:t>
            </a:r>
            <a:endParaRPr lang="de-DE" b="1" dirty="0"/>
          </a:p>
        </p:txBody>
      </p:sp>
      <p:sp>
        <p:nvSpPr>
          <p:cNvPr id="4" name="Slide Number Placeholder 3">
            <a:extLst>
              <a:ext uri="{FF2B5EF4-FFF2-40B4-BE49-F238E27FC236}">
                <a16:creationId xmlns:a16="http://schemas.microsoft.com/office/drawing/2014/main" id="{AF2EADB4-B5C6-747D-3442-841A7D970B07}"/>
              </a:ext>
            </a:extLst>
          </p:cNvPr>
          <p:cNvSpPr>
            <a:spLocks noGrp="1"/>
          </p:cNvSpPr>
          <p:nvPr>
            <p:ph type="sldNum" sz="quarter" idx="10"/>
          </p:nvPr>
        </p:nvSpPr>
        <p:spPr bwMode="auto"/>
        <p:txBody>
          <a:bodyPr/>
          <a:lstStyle/>
          <a:p>
            <a:pPr>
              <a:defRPr/>
            </a:pPr>
            <a:fld id="{7471B3FE-3E19-9699-2082-F0DE2FB8F64F}" type="slidenum">
              <a:rPr/>
              <a:t>7</a:t>
            </a:fld>
            <a:endParaRPr/>
          </a:p>
        </p:txBody>
      </p:sp>
    </p:spTree>
    <p:extLst>
      <p:ext uri="{BB962C8B-B14F-4D97-AF65-F5344CB8AC3E}">
        <p14:creationId xmlns:p14="http://schemas.microsoft.com/office/powerpoint/2010/main" val="2955046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2246-DB3D-9ADB-67EE-52B6C1B1064E}"/>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793330DA-75CD-6E6F-AD10-47874418B2C0}"/>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4E069ACC-1B3B-0C59-B8C4-30E991778BC8}"/>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dirty="0"/>
              <a:t>In this final part of our presentation, we will look at how students can engage with the arguments of other texts. </a:t>
            </a:r>
          </a:p>
          <a:p>
            <a:pPr marL="171450" indent="-171450">
              <a:buFont typeface="Arial" panose="020B0604020202020204" pitchFamily="34" charset="0"/>
              <a:buChar char="•"/>
              <a:defRPr/>
            </a:pPr>
            <a:r>
              <a:rPr lang="de-DE" dirty="0"/>
              <a:t>An essential feature of engaging with the arguments of other texts is </a:t>
            </a:r>
            <a:r>
              <a:rPr lang="de-DE" dirty="0" err="1"/>
              <a:t>understanding</a:t>
            </a:r>
            <a:r>
              <a:rPr lang="de-DE" dirty="0"/>
              <a:t> </a:t>
            </a:r>
            <a:r>
              <a:rPr lang="de-DE" dirty="0" err="1"/>
              <a:t>the</a:t>
            </a:r>
            <a:r>
              <a:rPr lang="de-DE" dirty="0"/>
              <a:t> arguments.</a:t>
            </a:r>
          </a:p>
          <a:p>
            <a:pPr marL="171450" indent="-171450">
              <a:buFont typeface="Arial" panose="020B0604020202020204" pitchFamily="34" charset="0"/>
              <a:buChar char="•"/>
              <a:defRPr/>
            </a:pPr>
            <a:r>
              <a:rPr lang="de-DE" dirty="0"/>
              <a:t>It is important to clarify that the understanding of arguments is multi-layered and can be achieved, for example, through critical reading. </a:t>
            </a:r>
          </a:p>
        </p:txBody>
      </p:sp>
      <p:sp>
        <p:nvSpPr>
          <p:cNvPr id="4" name="Slide Number Placeholder 3">
            <a:extLst>
              <a:ext uri="{FF2B5EF4-FFF2-40B4-BE49-F238E27FC236}">
                <a16:creationId xmlns:a16="http://schemas.microsoft.com/office/drawing/2014/main" id="{2AE91DCE-A53F-2A55-A5F0-7110E70CC7D2}"/>
              </a:ext>
            </a:extLst>
          </p:cNvPr>
          <p:cNvSpPr>
            <a:spLocks noGrp="1"/>
          </p:cNvSpPr>
          <p:nvPr>
            <p:ph type="sldNum" sz="quarter" idx="10"/>
          </p:nvPr>
        </p:nvSpPr>
        <p:spPr bwMode="auto"/>
        <p:txBody>
          <a:bodyPr/>
          <a:lstStyle/>
          <a:p>
            <a:pPr>
              <a:defRPr/>
            </a:pPr>
            <a:fld id="{7471B3FE-3E19-9699-2082-F0DE2FB8F64F}" type="slidenum">
              <a:rPr/>
              <a:t>8</a:t>
            </a:fld>
            <a:endParaRPr/>
          </a:p>
        </p:txBody>
      </p:sp>
    </p:spTree>
    <p:extLst>
      <p:ext uri="{BB962C8B-B14F-4D97-AF65-F5344CB8AC3E}">
        <p14:creationId xmlns:p14="http://schemas.microsoft.com/office/powerpoint/2010/main" val="4113120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5C0E-A830-40FB-3D86-60ABCA2B9866}"/>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AEDE50D6-23F8-9349-45B9-1042DE15B808}"/>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B4E82BEF-198C-F634-962A-C552408DEF61}"/>
              </a:ext>
            </a:extLst>
          </p:cNvPr>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buFont typeface="Arial"/>
              <a:buChar char="●"/>
              <a:defRPr/>
            </a:pPr>
            <a:r>
              <a:rPr lang="de-DE" dirty="0"/>
              <a:t>This </a:t>
            </a:r>
            <a:r>
              <a:rPr lang="de-DE" dirty="0" err="1"/>
              <a:t>checklist</a:t>
            </a:r>
            <a:r>
              <a:rPr lang="de-DE" dirty="0"/>
              <a:t> is also included in the Writing Center's "</a:t>
            </a:r>
            <a:r>
              <a:rPr lang="de-DE" dirty="0" err="1"/>
              <a:t>Arguing</a:t>
            </a:r>
            <a:r>
              <a:rPr lang="de-DE" dirty="0"/>
              <a:t> - First </a:t>
            </a:r>
            <a:r>
              <a:rPr lang="de-DE" dirty="0" err="1"/>
              <a:t>Steps</a:t>
            </a:r>
            <a:r>
              <a:rPr lang="de-DE" dirty="0"/>
              <a:t>" document (in the supplemental materials for </a:t>
            </a:r>
            <a:r>
              <a:rPr lang="de-DE" dirty="0" err="1"/>
              <a:t>this</a:t>
            </a:r>
            <a:r>
              <a:rPr lang="de-DE" dirty="0"/>
              <a:t> </a:t>
            </a:r>
            <a:r>
              <a:rPr lang="de-DE" dirty="0" err="1"/>
              <a:t>week</a:t>
            </a:r>
            <a:r>
              <a:rPr lang="de-DE" dirty="0"/>
              <a:t>)</a:t>
            </a:r>
          </a:p>
          <a:p>
            <a:pPr marL="457200" marR="0" lvl="0" indent="-317500" algn="l" defTabSz="914400">
              <a:lnSpc>
                <a:spcPct val="100000"/>
              </a:lnSpc>
              <a:spcBef>
                <a:spcPts val="0"/>
              </a:spcBef>
              <a:spcAft>
                <a:spcPts val="0"/>
              </a:spcAft>
              <a:buClr>
                <a:srgbClr val="000000"/>
              </a:buClr>
              <a:buSzPts val="1400"/>
              <a:buFont typeface="Arial"/>
              <a:buChar char="●"/>
              <a:defRPr/>
            </a:pPr>
            <a:r>
              <a:rPr lang="de-DE" dirty="0"/>
              <a:t>These are ideas for questions that students can ask when reading a text so that they can understand and critically analyze the arguments. </a:t>
            </a:r>
          </a:p>
        </p:txBody>
      </p:sp>
      <p:sp>
        <p:nvSpPr>
          <p:cNvPr id="4" name="Slide Number Placeholder 3">
            <a:extLst>
              <a:ext uri="{FF2B5EF4-FFF2-40B4-BE49-F238E27FC236}">
                <a16:creationId xmlns:a16="http://schemas.microsoft.com/office/drawing/2014/main" id="{933B5148-1BB0-26A0-1400-CA58FF3DE285}"/>
              </a:ext>
            </a:extLst>
          </p:cNvPr>
          <p:cNvSpPr>
            <a:spLocks noGrp="1"/>
          </p:cNvSpPr>
          <p:nvPr>
            <p:ph type="sldNum" sz="quarter" idx="10"/>
          </p:nvPr>
        </p:nvSpPr>
        <p:spPr bwMode="auto"/>
        <p:txBody>
          <a:bodyPr/>
          <a:lstStyle/>
          <a:p>
            <a:pPr>
              <a:defRPr/>
            </a:pPr>
            <a:fld id="{7471B3FE-3E19-9699-2082-F0DE2FB8F64F}" type="slidenum">
              <a:rPr/>
              <a:t>9</a:t>
            </a:fld>
            <a:endParaRPr/>
          </a:p>
        </p:txBody>
      </p:sp>
    </p:spTree>
    <p:extLst>
      <p:ext uri="{BB962C8B-B14F-4D97-AF65-F5344CB8AC3E}">
        <p14:creationId xmlns:p14="http://schemas.microsoft.com/office/powerpoint/2010/main" val="2588161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9658F-FE8F-CBE6-A152-168EA20A333A}"/>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0C084990-2666-F1C3-5F52-BD052B3FAA71}"/>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13AC0A98-15E1-CF56-9645-6159109FD9E0}"/>
              </a:ext>
            </a:extLst>
          </p:cNvPr>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buFont typeface="Arial"/>
              <a:buChar char="●"/>
              <a:defRPr/>
            </a:pPr>
            <a:r>
              <a:rPr lang="de-DE" dirty="0"/>
              <a:t>Here </a:t>
            </a:r>
            <a:r>
              <a:rPr lang="de-DE" dirty="0" err="1"/>
              <a:t>you</a:t>
            </a:r>
            <a:r>
              <a:rPr lang="de-DE" dirty="0"/>
              <a:t> </a:t>
            </a:r>
            <a:r>
              <a:rPr lang="de-DE" dirty="0" err="1"/>
              <a:t>can</a:t>
            </a:r>
            <a:r>
              <a:rPr lang="de-DE" dirty="0"/>
              <a:t> </a:t>
            </a:r>
            <a:r>
              <a:rPr lang="de-DE" dirty="0" err="1"/>
              <a:t>decide</a:t>
            </a:r>
            <a:r>
              <a:rPr lang="de-DE" dirty="0"/>
              <a:t>: </a:t>
            </a:r>
            <a:r>
              <a:rPr lang="de-DE" dirty="0" err="1"/>
              <a:t>what</a:t>
            </a:r>
            <a:r>
              <a:rPr lang="de-DE" dirty="0"/>
              <a:t> </a:t>
            </a:r>
            <a:r>
              <a:rPr lang="de-DE" dirty="0" err="1"/>
              <a:t>you</a:t>
            </a:r>
            <a:r>
              <a:rPr lang="de-DE" dirty="0"/>
              <a:t> </a:t>
            </a:r>
            <a:r>
              <a:rPr lang="de-DE" dirty="0" err="1"/>
              <a:t>think</a:t>
            </a:r>
            <a:r>
              <a:rPr lang="de-DE" dirty="0"/>
              <a:t> </a:t>
            </a:r>
            <a:r>
              <a:rPr lang="de-DE" dirty="0" err="1"/>
              <a:t>is</a:t>
            </a:r>
            <a:r>
              <a:rPr lang="de-DE" dirty="0"/>
              <a:t> </a:t>
            </a:r>
            <a:r>
              <a:rPr lang="de-DE" dirty="0" err="1"/>
              <a:t>more</a:t>
            </a:r>
            <a:r>
              <a:rPr lang="de-DE" dirty="0"/>
              <a:t> </a:t>
            </a:r>
            <a:r>
              <a:rPr lang="de-DE" dirty="0" err="1"/>
              <a:t>important</a:t>
            </a:r>
            <a:r>
              <a:rPr lang="de-DE" dirty="0"/>
              <a:t> </a:t>
            </a:r>
            <a:r>
              <a:rPr lang="de-DE" dirty="0" err="1"/>
              <a:t>for</a:t>
            </a:r>
            <a:r>
              <a:rPr lang="de-DE" dirty="0"/>
              <a:t> </a:t>
            </a:r>
            <a:r>
              <a:rPr lang="de-DE" dirty="0" err="1"/>
              <a:t>the</a:t>
            </a:r>
            <a:r>
              <a:rPr lang="de-DE" dirty="0"/>
              <a:t> </a:t>
            </a:r>
            <a:r>
              <a:rPr lang="de-DE" dirty="0" err="1"/>
              <a:t>Ersties</a:t>
            </a:r>
            <a:r>
              <a:rPr lang="de-DE" dirty="0"/>
              <a:t> </a:t>
            </a:r>
            <a:r>
              <a:rPr lang="de-DE" dirty="0" err="1"/>
              <a:t>to</a:t>
            </a:r>
            <a:r>
              <a:rPr lang="de-DE" dirty="0"/>
              <a:t> </a:t>
            </a:r>
            <a:r>
              <a:rPr lang="de-DE" dirty="0" err="1"/>
              <a:t>understand</a:t>
            </a:r>
            <a:r>
              <a:rPr lang="de-DE" dirty="0"/>
              <a:t>, </a:t>
            </a:r>
            <a:r>
              <a:rPr lang="de-DE" dirty="0" err="1"/>
              <a:t>you</a:t>
            </a:r>
            <a:r>
              <a:rPr lang="de-DE" dirty="0"/>
              <a:t> </a:t>
            </a:r>
            <a:r>
              <a:rPr lang="de-DE" dirty="0" err="1"/>
              <a:t>can</a:t>
            </a:r>
            <a:r>
              <a:rPr lang="de-DE" dirty="0"/>
              <a:t> </a:t>
            </a:r>
            <a:r>
              <a:rPr lang="de-DE" dirty="0" err="1"/>
              <a:t>delete</a:t>
            </a:r>
            <a:r>
              <a:rPr lang="de-DE" dirty="0"/>
              <a:t> </a:t>
            </a:r>
            <a:r>
              <a:rPr lang="de-DE" dirty="0" err="1"/>
              <a:t>the</a:t>
            </a:r>
            <a:r>
              <a:rPr lang="de-DE" dirty="0"/>
              <a:t> not-chosen </a:t>
            </a:r>
            <a:r>
              <a:rPr lang="de-DE" dirty="0" err="1"/>
              <a:t>exercise</a:t>
            </a:r>
            <a:endParaRPr lang="de-DE" dirty="0"/>
          </a:p>
          <a:p>
            <a:pPr marL="457200" marR="0" lvl="0" indent="-317500" algn="l" defTabSz="914400">
              <a:lnSpc>
                <a:spcPct val="100000"/>
              </a:lnSpc>
              <a:spcBef>
                <a:spcPts val="0"/>
              </a:spcBef>
              <a:spcAft>
                <a:spcPts val="0"/>
              </a:spcAft>
              <a:buClr>
                <a:srgbClr val="000000"/>
              </a:buClr>
              <a:buSzPts val="1400"/>
              <a:buFont typeface="Arial"/>
              <a:buChar char="●"/>
              <a:defRPr/>
            </a:pPr>
            <a:r>
              <a:rPr lang="de-DE" dirty="0"/>
              <a:t>Go through the checklist for your own argumentation, first steps in argumentation in </a:t>
            </a:r>
            <a:r>
              <a:rPr lang="de-DE" dirty="0" err="1"/>
              <a:t>the</a:t>
            </a:r>
            <a:r>
              <a:rPr lang="de-DE" dirty="0"/>
              <a:t> </a:t>
            </a:r>
            <a:r>
              <a:rPr lang="de-DE" dirty="0" err="1"/>
              <a:t>appendix</a:t>
            </a:r>
            <a:endParaRPr lang="de-DE" dirty="0"/>
          </a:p>
          <a:p>
            <a:pPr marL="457200" marR="0" lvl="0" indent="-317500" algn="l" defTabSz="914400">
              <a:lnSpc>
                <a:spcPct val="100000"/>
              </a:lnSpc>
              <a:spcBef>
                <a:spcPts val="0"/>
              </a:spcBef>
              <a:spcAft>
                <a:spcPts val="0"/>
              </a:spcAft>
              <a:buClr>
                <a:srgbClr val="000000"/>
              </a:buClr>
              <a:buSzPts val="1400"/>
              <a:buFont typeface="Arial"/>
              <a:buChar char="●"/>
              <a:defRPr/>
            </a:pPr>
            <a:r>
              <a:rPr lang="de-DE" dirty="0"/>
              <a:t>Go </a:t>
            </a:r>
            <a:r>
              <a:rPr lang="de-DE" dirty="0" err="1"/>
              <a:t>through</a:t>
            </a:r>
            <a:r>
              <a:rPr lang="de-DE" dirty="0"/>
              <a:t> </a:t>
            </a:r>
            <a:r>
              <a:rPr lang="de-DE" dirty="0" err="1"/>
              <a:t>the</a:t>
            </a:r>
            <a:r>
              <a:rPr lang="de-DE" dirty="0"/>
              <a:t> </a:t>
            </a:r>
            <a:r>
              <a:rPr lang="de-DE" dirty="0" err="1"/>
              <a:t>challenges</a:t>
            </a:r>
            <a:r>
              <a:rPr lang="de-DE" dirty="0"/>
              <a:t> </a:t>
            </a:r>
            <a:r>
              <a:rPr lang="de-DE" dirty="0" err="1"/>
              <a:t>of</a:t>
            </a:r>
            <a:r>
              <a:rPr lang="de-DE" dirty="0"/>
              <a:t> </a:t>
            </a:r>
            <a:r>
              <a:rPr lang="de-DE" dirty="0" err="1"/>
              <a:t>arguing</a:t>
            </a:r>
            <a:endParaRPr lang="de-DE" dirty="0"/>
          </a:p>
          <a:p>
            <a:pPr marL="139700" marR="0" lvl="0" indent="0" algn="l" defTabSz="914400">
              <a:lnSpc>
                <a:spcPct val="100000"/>
              </a:lnSpc>
              <a:spcBef>
                <a:spcPts val="0"/>
              </a:spcBef>
              <a:spcAft>
                <a:spcPts val="0"/>
              </a:spcAft>
              <a:buClr>
                <a:srgbClr val="000000"/>
              </a:buClr>
              <a:buSzPts val="1400"/>
              <a:buFont typeface="Arial"/>
              <a:buNone/>
              <a:defRPr/>
            </a:pPr>
            <a:endParaRPr lang="de-DE" dirty="0"/>
          </a:p>
        </p:txBody>
      </p:sp>
      <p:sp>
        <p:nvSpPr>
          <p:cNvPr id="4" name="Slide Number Placeholder 3">
            <a:extLst>
              <a:ext uri="{FF2B5EF4-FFF2-40B4-BE49-F238E27FC236}">
                <a16:creationId xmlns:a16="http://schemas.microsoft.com/office/drawing/2014/main" id="{A6B610A2-88ED-D36A-BDAE-E988D55376EA}"/>
              </a:ext>
            </a:extLst>
          </p:cNvPr>
          <p:cNvSpPr>
            <a:spLocks noGrp="1"/>
          </p:cNvSpPr>
          <p:nvPr>
            <p:ph type="sldNum" sz="quarter" idx="10"/>
          </p:nvPr>
        </p:nvSpPr>
        <p:spPr bwMode="auto"/>
        <p:txBody>
          <a:bodyPr/>
          <a:lstStyle/>
          <a:p>
            <a:pPr>
              <a:defRPr/>
            </a:pPr>
            <a:fld id="{7471B3FE-3E19-9699-2082-F0DE2FB8F64F}" type="slidenum">
              <a:rPr/>
              <a:t>10</a:t>
            </a:fld>
            <a:endParaRPr/>
          </a:p>
        </p:txBody>
      </p:sp>
    </p:spTree>
    <p:extLst>
      <p:ext uri="{BB962C8B-B14F-4D97-AF65-F5344CB8AC3E}">
        <p14:creationId xmlns:p14="http://schemas.microsoft.com/office/powerpoint/2010/main" val="4226073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BB3D3-5A5B-9740-2A5C-06FF135805A9}"/>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F403A2C2-98EE-3B5E-6396-86220005C42D}"/>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01A4E3A0-BD6D-7CD1-4E4B-C959A52F9DF9}"/>
              </a:ext>
            </a:extLst>
          </p:cNvPr>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de-DE" dirty="0"/>
              <a:t>This is a blank slide that you can use to do an introductory activating activity with your group (if you start the session with this presentation). </a:t>
            </a:r>
            <a:endParaRPr lang="en-GB" dirty="0"/>
          </a:p>
          <a:p>
            <a:pPr>
              <a:defRPr/>
            </a:pPr>
            <a:endParaRPr dirty="0"/>
          </a:p>
        </p:txBody>
      </p:sp>
      <p:sp>
        <p:nvSpPr>
          <p:cNvPr id="4" name="Slide Number Placeholder 3">
            <a:extLst>
              <a:ext uri="{FF2B5EF4-FFF2-40B4-BE49-F238E27FC236}">
                <a16:creationId xmlns:a16="http://schemas.microsoft.com/office/drawing/2014/main" id="{267525B1-815A-34BB-4CA8-16143830ACC6}"/>
              </a:ext>
            </a:extLst>
          </p:cNvPr>
          <p:cNvSpPr>
            <a:spLocks noGrp="1"/>
          </p:cNvSpPr>
          <p:nvPr>
            <p:ph type="sldNum" sz="quarter" idx="10"/>
          </p:nvPr>
        </p:nvSpPr>
        <p:spPr bwMode="auto"/>
        <p:txBody>
          <a:bodyPr/>
          <a:lstStyle/>
          <a:p>
            <a:pPr>
              <a:defRPr/>
            </a:pPr>
            <a:fld id="{7471B3FE-3E19-9699-2082-F0DE2FB8F64F}" type="slidenum">
              <a:rPr/>
              <a:t>11</a:t>
            </a:fld>
            <a:endParaRPr/>
          </a:p>
        </p:txBody>
      </p:sp>
    </p:spTree>
    <p:extLst>
      <p:ext uri="{BB962C8B-B14F-4D97-AF65-F5344CB8AC3E}">
        <p14:creationId xmlns:p14="http://schemas.microsoft.com/office/powerpoint/2010/main" val="9612277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2205643" y="2410767"/>
            <a:ext cx="13716000" cy="3581400"/>
          </a:xfrm>
        </p:spPr>
        <p:txBody>
          <a:bodyPr anchor="b"/>
          <a:lstStyle>
            <a:lvl1pPr algn="ctr">
              <a:defRPr sz="6000"/>
            </a:lvl1pPr>
          </a:lstStyle>
          <a:p>
            <a:pPr>
              <a:defRPr/>
            </a:pPr>
            <a:r>
              <a:rPr lang="de-DE"/>
              <a:t>Titel</a:t>
            </a:r>
            <a:endParaRPr/>
          </a:p>
        </p:txBody>
      </p:sp>
      <p:sp>
        <p:nvSpPr>
          <p:cNvPr id="3" name="Untertitel 2"/>
          <p:cNvSpPr>
            <a:spLocks noGrp="1"/>
          </p:cNvSpPr>
          <p:nvPr>
            <p:ph type="subTitle" idx="1" hasCustomPrompt="1"/>
          </p:nvPr>
        </p:nvSpPr>
        <p:spPr bwMode="auto">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de-DE"/>
              <a:t>Tutor*in: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4" name="Untertitel 2"/>
          <p:cNvSpPr txBox="1"/>
          <p:nvPr userDrawn="1"/>
        </p:nvSpPr>
        <p:spPr bwMode="auto">
          <a:xfrm>
            <a:off x="2205642" y="6228658"/>
            <a:ext cx="13716000" cy="1276046"/>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Master-Untertitelformat bearbeiten</a:t>
            </a:r>
            <a:endParaRPr/>
          </a:p>
        </p:txBody>
      </p:sp>
      <p:sp>
        <p:nvSpPr>
          <p:cNvPr id="5" name="Untertitel 2"/>
          <p:cNvSpPr txBox="1"/>
          <p:nvPr userDrawn="1"/>
        </p:nvSpPr>
        <p:spPr bwMode="auto">
          <a:xfrm>
            <a:off x="9144000" y="7982337"/>
            <a:ext cx="6777643" cy="783192"/>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Datum: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6000"/>
            </a:lvl1pPr>
          </a:lstStyle>
          <a:p>
            <a:pPr>
              <a:defRPr/>
            </a:pPr>
            <a:r>
              <a:rPr lang="de-DE"/>
              <a:t>Agenda</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2018666" y="506518"/>
            <a:ext cx="2809405" cy="264333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562784" y="442467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1766" y="-260603"/>
            <a:ext cx="3894251" cy="4068485"/>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4998235" y="987245"/>
            <a:ext cx="3473526" cy="291463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4548476" y="-705407"/>
            <a:ext cx="3201123" cy="3188050"/>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366738" y="782145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050506" y="-563810"/>
            <a:ext cx="2158222" cy="2864923"/>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3" name="Inhaltsplatzhalter 2"/>
          <p:cNvSpPr>
            <a:spLocks noGrp="1"/>
          </p:cNvSpPr>
          <p:nvPr>
            <p:ph idx="1" hasCustomPrompt="1"/>
          </p:nvPr>
        </p:nvSpPr>
        <p:spPr bwMode="auto">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483674"/>
          </a:xfrm>
        </p:spPr>
        <p:txBody>
          <a:bodyPr lIns="90000" anchor="ctr"/>
          <a:lstStyle>
            <a:lvl1pPr>
              <a:defRPr sz="6000"/>
            </a:lvl1pPr>
          </a:lstStyle>
          <a:p>
            <a:pPr>
              <a:defRPr/>
            </a:pPr>
            <a:r>
              <a:rPr lang="de-DE"/>
              <a:t>Check-In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01860"/>
            <a:ext cx="14400000" cy="1260000"/>
          </a:xfrm>
        </p:spPr>
        <p:txBody>
          <a:bodyPr/>
          <a:lstStyle/>
          <a:p>
            <a:pPr>
              <a:defRPr/>
            </a:pPr>
            <a:r>
              <a:rPr lang="de-DE"/>
              <a:t>Überschrift</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06800" y="2171700"/>
            <a:ext cx="14400000" cy="3955611"/>
          </a:xfrm>
        </p:spPr>
        <p:txBody>
          <a:bodyPr lIns="90000" anchor="b"/>
          <a:lstStyle>
            <a:lvl1pPr>
              <a:defRPr sz="6000"/>
            </a:lvl1pPr>
          </a:lstStyle>
          <a:p>
            <a:pPr>
              <a:defRPr/>
            </a:pPr>
            <a:r>
              <a:rPr lang="de-DE"/>
              <a:t>Überschrift</a:t>
            </a:r>
            <a:endParaRPr/>
          </a:p>
        </p:txBody>
      </p:sp>
      <p:sp>
        <p:nvSpPr>
          <p:cNvPr id="3" name="Textplatzhalter 2"/>
          <p:cNvSpPr>
            <a:spLocks noGrp="1"/>
          </p:cNvSpPr>
          <p:nvPr>
            <p:ph type="body" idx="1"/>
          </p:nvPr>
        </p:nvSpPr>
        <p:spPr bwMode="auto">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PAUSE</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ENERGIZER</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66765"/>
            <a:ext cx="14400000" cy="1260000"/>
          </a:xfrm>
        </p:spPr>
        <p:txBody>
          <a:bodyPr/>
          <a:lstStyle/>
          <a:p>
            <a:pPr>
              <a:defRPr/>
            </a:pPr>
            <a:r>
              <a:rPr lang="de-DE"/>
              <a:t>Überschrift</a:t>
            </a:r>
            <a:endParaRPr/>
          </a:p>
        </p:txBody>
      </p:sp>
      <p:sp>
        <p:nvSpPr>
          <p:cNvPr id="3" name="Inhaltsplatzhalter 2"/>
          <p:cNvSpPr>
            <a:spLocks noGrp="1"/>
          </p:cNvSpPr>
          <p:nvPr>
            <p:ph sz="half" idx="1"/>
          </p:nvPr>
        </p:nvSpPr>
        <p:spPr bwMode="auto">
          <a:xfrm>
            <a:off x="19440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92202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6" name="Freeform 10"/>
          <p:cNvSpPr/>
          <p:nvPr userDrawn="1"/>
        </p:nvSpPr>
        <p:spPr bwMode="auto">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21" name="Freeform 5"/>
          <p:cNvSpPr/>
          <p:nvPr userDrawn="1"/>
        </p:nvSpPr>
        <p:spPr bwMode="auto">
          <a:xfrm rot="1600841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22" name="Freeform 7"/>
          <p:cNvSpPr/>
          <p:nvPr userDrawn="1"/>
        </p:nvSpPr>
        <p:spPr bwMode="auto">
          <a:xfrm rot="7860678">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23"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4"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174623"/>
            <a:ext cx="14400000" cy="1260000"/>
          </a:xfrm>
        </p:spPr>
        <p:txBody>
          <a:bodyPr/>
          <a:lstStyle/>
          <a:p>
            <a:pPr>
              <a:defRPr/>
            </a:pPr>
            <a:r>
              <a:rPr lang="de-DE"/>
              <a:t>Überschrift</a:t>
            </a:r>
            <a:endParaRPr/>
          </a:p>
        </p:txBody>
      </p:sp>
      <p:sp>
        <p:nvSpPr>
          <p:cNvPr id="3" name="Textplatzhalter 2"/>
          <p:cNvSpPr>
            <a:spLocks noGrp="1"/>
          </p:cNvSpPr>
          <p:nvPr>
            <p:ph type="body" idx="1"/>
          </p:nvPr>
        </p:nvSpPr>
        <p:spPr bwMode="auto">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4" name="Inhaltsplatzhalter 3"/>
          <p:cNvSpPr>
            <a:spLocks noGrp="1"/>
          </p:cNvSpPr>
          <p:nvPr>
            <p:ph sz="half" idx="2"/>
          </p:nvPr>
        </p:nvSpPr>
        <p:spPr bwMode="auto">
          <a:xfrm>
            <a:off x="1944000" y="3757613"/>
            <a:ext cx="7052362"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9258301" y="3757613"/>
            <a:ext cx="7085700"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2" name="Freeform 4"/>
          <p:cNvSpPr/>
          <p:nvPr userDrawn="1"/>
        </p:nvSpPr>
        <p:spPr bwMode="auto">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5" name="Freeform 7"/>
          <p:cNvSpPr/>
          <p:nvPr userDrawn="1"/>
        </p:nvSpPr>
        <p:spPr bwMode="auto">
          <a:xfrm rot="7860678">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6" name="Freeform 8"/>
          <p:cNvSpPr/>
          <p:nvPr userDrawn="1"/>
        </p:nvSpPr>
        <p:spPr bwMode="auto">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7" name="Freeform 9"/>
          <p:cNvSpPr/>
          <p:nvPr userDrawn="1"/>
        </p:nvSpPr>
        <p:spPr bwMode="auto">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0" name="Freeform 12"/>
          <p:cNvSpPr/>
          <p:nvPr userDrawn="1"/>
        </p:nvSpPr>
        <p:spPr bwMode="auto">
          <a:xfrm rot="7628196">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21"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2" name="Freeform 2"/>
          <p:cNvSpPr/>
          <p:nvPr userDrawn="1"/>
        </p:nvSpPr>
        <p:spPr bwMode="auto">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23"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4" name="Freeform 6"/>
          <p:cNvSpPr/>
          <p:nvPr userDrawn="1"/>
        </p:nvSpPr>
        <p:spPr bwMode="auto">
          <a:xfrm rot="7860678">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24" name="Freeform 10"/>
          <p:cNvSpPr/>
          <p:nvPr userDrawn="1"/>
        </p:nvSpPr>
        <p:spPr bwMode="auto">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4"/>
          <p:cNvSpPr/>
          <p:nvPr userDrawn="1"/>
        </p:nvSpPr>
        <p:spPr bwMode="auto">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5" name="Freeform 2"/>
          <p:cNvSpPr/>
          <p:nvPr userDrawn="1"/>
        </p:nvSpPr>
        <p:spPr bwMode="auto">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6"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7" name="Freeform 4"/>
          <p:cNvSpPr/>
          <p:nvPr userDrawn="1"/>
        </p:nvSpPr>
        <p:spPr bwMode="auto">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8" name="Freeform 5"/>
          <p:cNvSpPr/>
          <p:nvPr userDrawn="1"/>
        </p:nvSpPr>
        <p:spPr bwMode="auto">
          <a:xfrm rot="1600841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9" name="Freeform 6"/>
          <p:cNvSpPr/>
          <p:nvPr userDrawn="1"/>
        </p:nvSpPr>
        <p:spPr bwMode="auto">
          <a:xfrm rot="7860678">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
        <p:nvSpPr>
          <p:cNvPr id="11" name="Freeform 8"/>
          <p:cNvSpPr/>
          <p:nvPr userDrawn="1"/>
        </p:nvSpPr>
        <p:spPr bwMode="auto">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12" name="Freeform 9"/>
          <p:cNvSpPr/>
          <p:nvPr userDrawn="1"/>
        </p:nvSpPr>
        <p:spPr bwMode="auto">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a:p>
        </p:txBody>
      </p:sp>
      <p:sp>
        <p:nvSpPr>
          <p:cNvPr id="13" name="Freeform 10"/>
          <p:cNvSpPr/>
          <p:nvPr userDrawn="1"/>
        </p:nvSpPr>
        <p:spPr bwMode="auto">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14" name="Freeform 11"/>
          <p:cNvSpPr/>
          <p:nvPr userDrawn="1"/>
        </p:nvSpPr>
        <p:spPr bwMode="auto">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a:p>
        </p:txBody>
      </p:sp>
      <p:sp>
        <p:nvSpPr>
          <p:cNvPr id="15" name="Freeform 12"/>
          <p:cNvSpPr/>
          <p:nvPr userDrawn="1"/>
        </p:nvSpPr>
        <p:spPr bwMode="auto">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16"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481138"/>
            <a:ext cx="5235566" cy="1260000"/>
          </a:xfrm>
        </p:spPr>
        <p:txBody>
          <a:bodyPr anchor="b"/>
          <a:lstStyle>
            <a:lvl1pPr>
              <a:defRPr sz="3200"/>
            </a:lvl1pPr>
          </a:lstStyle>
          <a:p>
            <a:pPr>
              <a:defRPr/>
            </a:pPr>
            <a:r>
              <a:rPr lang="de-DE"/>
              <a:t>Überschrift</a:t>
            </a:r>
            <a:endParaRPr/>
          </a:p>
        </p:txBody>
      </p:sp>
      <p:sp>
        <p:nvSpPr>
          <p:cNvPr id="3" name="Inhaltsplatzhalter 2"/>
          <p:cNvSpPr>
            <a:spLocks noGrp="1"/>
          </p:cNvSpPr>
          <p:nvPr>
            <p:ph idx="1"/>
          </p:nvPr>
        </p:nvSpPr>
        <p:spPr bwMode="auto">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22"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23"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24"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25"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26"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27"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a:p>
        </p:txBody>
      </p:sp>
      <p:sp>
        <p:nvSpPr>
          <p:cNvPr id="28"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a:p>
        </p:txBody>
      </p:sp>
      <p:sp>
        <p:nvSpPr>
          <p:cNvPr id="29"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a:p>
        </p:txBody>
      </p:sp>
      <p:sp>
        <p:nvSpPr>
          <p:cNvPr id="30"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31"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32"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de-DE"/>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9"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4"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5"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6"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8"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Titel 1"/>
          <p:cNvSpPr txBox="1"/>
          <p:nvPr userDrawn="1"/>
        </p:nvSpPr>
        <p:spPr bwMode="auto">
          <a:xfrm>
            <a:off x="1944000" y="1481138"/>
            <a:ext cx="5235566" cy="1260000"/>
          </a:xfrm>
          <a:prstGeom prst="rect">
            <a:avLst/>
          </a:prstGeom>
        </p:spPr>
        <p:txBody>
          <a:bodyPr vert="horz" lIns="91440" tIns="45720" rIns="91440" bIns="4572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a:t>Überschrift</a:t>
            </a:r>
            <a:endParaRPr/>
          </a:p>
        </p:txBody>
      </p:sp>
      <p:sp>
        <p:nvSpPr>
          <p:cNvPr id="22" name="Textplatzhalter 3"/>
          <p:cNvSpPr>
            <a:spLocks noGrp="1"/>
          </p:cNvSpPr>
          <p:nvPr>
            <p:ph type="body" sz="half" idx="11"/>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24"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3"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30294"/>
          </a:xfrm>
        </p:spPr>
        <p:txBody>
          <a:bodyPr anchor="ctr"/>
          <a:lstStyle>
            <a:lvl1pPr algn="ctr">
              <a:defRPr sz="6000"/>
            </a:lvl1pPr>
          </a:lstStyle>
          <a:p>
            <a:pPr>
              <a:defRPr/>
            </a:pPr>
            <a:r>
              <a:rPr lang="de-DE"/>
              <a:t>Gibt es offene Fragen?</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21384"/>
          </a:xfrm>
        </p:spPr>
        <p:txBody>
          <a:bodyPr anchor="ctr"/>
          <a:lstStyle>
            <a:lvl1pPr algn="ctr">
              <a:defRPr sz="6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15876905" y="4807323"/>
            <a:ext cx="2373813" cy="1592764"/>
          </a:xfrm>
          <a:prstGeom prst="rect">
            <a:avLst/>
          </a:prstGeom>
        </p:spPr>
      </p:pic>
      <p:pic>
        <p:nvPicPr>
          <p:cNvPr id="18" name="Grafik 17"/>
          <p:cNvPicPr>
            <a:picLocks noChangeAspect="1"/>
          </p:cNvPicPr>
          <p:nvPr userDrawn="1"/>
        </p:nvPicPr>
        <p:blipFill>
          <a:blip r:embed="rId3"/>
          <a:stretch/>
        </p:blipFill>
        <p:spPr bwMode="auto">
          <a:xfrm>
            <a:off x="12021566" y="6891802"/>
            <a:ext cx="1502640" cy="1592764"/>
          </a:xfrm>
          <a:prstGeom prst="rect">
            <a:avLst/>
          </a:prstGeom>
        </p:spPr>
      </p:pic>
      <p:pic>
        <p:nvPicPr>
          <p:cNvPr id="19" name="Grafik 18"/>
          <p:cNvPicPr>
            <a:picLocks noChangeAspect="1"/>
          </p:cNvPicPr>
          <p:nvPr userDrawn="1"/>
        </p:nvPicPr>
        <p:blipFill>
          <a:blip r:embed="rId4"/>
          <a:stretch/>
        </p:blipFill>
        <p:spPr bwMode="auto">
          <a:xfrm>
            <a:off x="13639800" y="6638689"/>
            <a:ext cx="1949303" cy="1592764"/>
          </a:xfrm>
          <a:prstGeom prst="rect">
            <a:avLst/>
          </a:prstGeom>
        </p:spPr>
      </p:pic>
      <p:pic>
        <p:nvPicPr>
          <p:cNvPr id="20" name="Grafik 19"/>
          <p:cNvPicPr>
            <a:picLocks noChangeAspect="1"/>
          </p:cNvPicPr>
          <p:nvPr userDrawn="1"/>
        </p:nvPicPr>
        <p:blipFill>
          <a:blip r:embed="rId5"/>
          <a:stretch/>
        </p:blipFill>
        <p:spPr bwMode="auto">
          <a:xfrm>
            <a:off x="9677723" y="6922092"/>
            <a:ext cx="2258684" cy="1592764"/>
          </a:xfrm>
          <a:prstGeom prst="rect">
            <a:avLst/>
          </a:prstGeom>
        </p:spPr>
      </p:pic>
      <p:pic>
        <p:nvPicPr>
          <p:cNvPr id="21" name="Grafik 20"/>
          <p:cNvPicPr>
            <a:picLocks noChangeAspect="1"/>
          </p:cNvPicPr>
          <p:nvPr userDrawn="1"/>
        </p:nvPicPr>
        <p:blipFill>
          <a:blip r:embed="rId6"/>
          <a:stretch/>
        </p:blipFill>
        <p:spPr bwMode="auto">
          <a:xfrm>
            <a:off x="11326904" y="5064484"/>
            <a:ext cx="2033866" cy="1592764"/>
          </a:xfrm>
          <a:prstGeom prst="rect">
            <a:avLst/>
          </a:prstGeom>
        </p:spPr>
      </p:pic>
      <p:pic>
        <p:nvPicPr>
          <p:cNvPr id="22" name="Grafik 21"/>
          <p:cNvPicPr>
            <a:picLocks noChangeAspect="1"/>
          </p:cNvPicPr>
          <p:nvPr userDrawn="1"/>
        </p:nvPicPr>
        <p:blipFill>
          <a:blip r:embed="rId7"/>
          <a:stretch/>
        </p:blipFill>
        <p:spPr bwMode="auto">
          <a:xfrm>
            <a:off x="14485268" y="3220983"/>
            <a:ext cx="1775341" cy="1592764"/>
          </a:xfrm>
          <a:prstGeom prst="rect">
            <a:avLst/>
          </a:prstGeom>
        </p:spPr>
      </p:pic>
      <p:pic>
        <p:nvPicPr>
          <p:cNvPr id="23" name="Grafik 22"/>
          <p:cNvPicPr>
            <a:picLocks noChangeAspect="1"/>
          </p:cNvPicPr>
          <p:nvPr userDrawn="1"/>
        </p:nvPicPr>
        <p:blipFill>
          <a:blip r:embed="rId8"/>
          <a:stretch/>
        </p:blipFill>
        <p:spPr bwMode="auto">
          <a:xfrm>
            <a:off x="16220430" y="8526750"/>
            <a:ext cx="2080242" cy="1592764"/>
          </a:xfrm>
          <a:prstGeom prst="rect">
            <a:avLst/>
          </a:prstGeom>
        </p:spPr>
      </p:pic>
      <p:pic>
        <p:nvPicPr>
          <p:cNvPr id="24" name="Grafik 23"/>
          <p:cNvPicPr>
            <a:picLocks noChangeAspect="1"/>
          </p:cNvPicPr>
          <p:nvPr userDrawn="1"/>
        </p:nvPicPr>
        <p:blipFill>
          <a:blip r:embed="rId9"/>
          <a:stretch/>
        </p:blipFill>
        <p:spPr bwMode="auto">
          <a:xfrm>
            <a:off x="2349260" y="4800008"/>
            <a:ext cx="2193219" cy="1592764"/>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16093202" y="3146603"/>
            <a:ext cx="2157516" cy="1592764"/>
          </a:xfrm>
          <a:prstGeom prst="rect">
            <a:avLst/>
          </a:prstGeom>
        </p:spPr>
      </p:pic>
      <p:grpSp>
        <p:nvGrpSpPr>
          <p:cNvPr id="27" name="Google Shape;418;p40"/>
          <p:cNvGrpSpPr>
            <a:grpSpLocks noChangeAspect="1"/>
          </p:cNvGrpSpPr>
          <p:nvPr userDrawn="1"/>
        </p:nvGrpSpPr>
        <p:grpSpPr bwMode="auto">
          <a:xfrm>
            <a:off x="2970519" y="3831315"/>
            <a:ext cx="1196899" cy="839754"/>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0" name="Google Shape;421;p40"/>
          <p:cNvGrpSpPr>
            <a:grpSpLocks noChangeAspect="1"/>
          </p:cNvGrpSpPr>
          <p:nvPr userDrawn="1"/>
        </p:nvGrpSpPr>
        <p:grpSpPr bwMode="auto">
          <a:xfrm>
            <a:off x="910516" y="742994"/>
            <a:ext cx="1205798" cy="1180532"/>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5" name="Google Shape;426;p40"/>
          <p:cNvGrpSpPr>
            <a:grpSpLocks noChangeAspect="1"/>
          </p:cNvGrpSpPr>
          <p:nvPr userDrawn="1"/>
        </p:nvGrpSpPr>
        <p:grpSpPr bwMode="auto">
          <a:xfrm>
            <a:off x="6088394" y="3574688"/>
            <a:ext cx="974938" cy="974938"/>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8" name="Google Shape;429;p40"/>
          <p:cNvGrpSpPr>
            <a:grpSpLocks noChangeAspect="1"/>
          </p:cNvGrpSpPr>
          <p:nvPr userDrawn="1"/>
        </p:nvGrpSpPr>
        <p:grpSpPr bwMode="auto">
          <a:xfrm>
            <a:off x="4514349" y="3536997"/>
            <a:ext cx="1005134" cy="1005134"/>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42" name="Google Shape;488;p40"/>
          <p:cNvSpPr>
            <a:spLocks noChangeAspect="1"/>
          </p:cNvSpPr>
          <p:nvPr userDrawn="1"/>
        </p:nvSpPr>
        <p:spPr bwMode="auto">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3" name="Google Shape;489;p40"/>
          <p:cNvSpPr>
            <a:spLocks noChangeAspect="1"/>
          </p:cNvSpPr>
          <p:nvPr userDrawn="1"/>
        </p:nvSpPr>
        <p:spPr bwMode="auto">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44" name="Google Shape;490;p40"/>
          <p:cNvGrpSpPr>
            <a:grpSpLocks noChangeAspect="1"/>
          </p:cNvGrpSpPr>
          <p:nvPr userDrawn="1"/>
        </p:nvGrpSpPr>
        <p:grpSpPr bwMode="auto">
          <a:xfrm>
            <a:off x="7906067" y="1750254"/>
            <a:ext cx="1622856" cy="1562899"/>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pic>
        <p:nvPicPr>
          <p:cNvPr id="58" name="Grafik 57"/>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p:cNvPicPr>
            <a:picLocks noChangeAspect="1" noChangeArrowheads="1"/>
          </p:cNvPicPr>
          <p:nvPr userDrawn="1"/>
        </p:nvPicPr>
        <p:blipFill>
          <a:blip r:embed="rId12"/>
          <a:stretch/>
        </p:blipFill>
        <p:spPr bwMode="auto">
          <a:xfrm>
            <a:off x="11700124" y="890575"/>
            <a:ext cx="2921000" cy="2108200"/>
          </a:xfrm>
          <a:prstGeom prst="rect">
            <a:avLst/>
          </a:prstGeom>
          <a:noFill/>
        </p:spPr>
      </p:pic>
      <p:pic>
        <p:nvPicPr>
          <p:cNvPr id="1028" name="Picture 4"/>
          <p:cNvPicPr>
            <a:picLocks noChangeAspect="1" noChangeArrowheads="1"/>
          </p:cNvPicPr>
          <p:nvPr userDrawn="1"/>
        </p:nvPicPr>
        <p:blipFill>
          <a:blip r:embed="rId13"/>
          <a:stretch/>
        </p:blipFill>
        <p:spPr bwMode="auto">
          <a:xfrm>
            <a:off x="14529618" y="1217924"/>
            <a:ext cx="3721100" cy="2082800"/>
          </a:xfrm>
          <a:prstGeom prst="rect">
            <a:avLst/>
          </a:prstGeom>
          <a:noFill/>
        </p:spPr>
      </p:pic>
      <p:pic>
        <p:nvPicPr>
          <p:cNvPr id="1030" name="Picture 6"/>
          <p:cNvPicPr>
            <a:picLocks noChangeAspect="1" noChangeArrowheads="1"/>
          </p:cNvPicPr>
          <p:nvPr userDrawn="1"/>
        </p:nvPicPr>
        <p:blipFill>
          <a:blip r:embed="rId14"/>
          <a:stretch/>
        </p:blipFill>
        <p:spPr bwMode="auto">
          <a:xfrm>
            <a:off x="13755809" y="4850217"/>
            <a:ext cx="1726057" cy="1453522"/>
          </a:xfrm>
          <a:prstGeom prst="rect">
            <a:avLst/>
          </a:prstGeom>
          <a:noFill/>
        </p:spPr>
      </p:pic>
      <p:pic>
        <p:nvPicPr>
          <p:cNvPr id="1032" name="Picture 8"/>
          <p:cNvPicPr>
            <a:picLocks noChangeAspect="1" noChangeArrowheads="1"/>
          </p:cNvPicPr>
          <p:nvPr userDrawn="1"/>
        </p:nvPicPr>
        <p:blipFill>
          <a:blip r:embed="rId15"/>
          <a:stretch/>
        </p:blipFill>
        <p:spPr bwMode="auto">
          <a:xfrm>
            <a:off x="12232967" y="3095399"/>
            <a:ext cx="1887615" cy="1754818"/>
          </a:xfrm>
          <a:prstGeom prst="rect">
            <a:avLst/>
          </a:prstGeom>
          <a:noFill/>
        </p:spPr>
      </p:pic>
      <p:pic>
        <p:nvPicPr>
          <p:cNvPr id="1034" name="Picture 10"/>
          <p:cNvPicPr>
            <a:picLocks noChangeAspect="1" noChangeArrowheads="1"/>
          </p:cNvPicPr>
          <p:nvPr userDrawn="1"/>
        </p:nvPicPr>
        <p:blipFill>
          <a:blip r:embed="rId16"/>
          <a:stretch/>
        </p:blipFill>
        <p:spPr bwMode="auto">
          <a:xfrm>
            <a:off x="8675959" y="5412782"/>
            <a:ext cx="2620189" cy="1074812"/>
          </a:xfrm>
          <a:prstGeom prst="rect">
            <a:avLst/>
          </a:prstGeom>
          <a:noFill/>
        </p:spPr>
      </p:pic>
      <p:pic>
        <p:nvPicPr>
          <p:cNvPr id="1036" name="Picture 12"/>
          <p:cNvPicPr>
            <a:picLocks noChangeAspect="1" noChangeArrowheads="1"/>
          </p:cNvPicPr>
          <p:nvPr userDrawn="1"/>
        </p:nvPicPr>
        <p:blipFill>
          <a:blip r:embed="rId17"/>
          <a:stretch/>
        </p:blipFill>
        <p:spPr bwMode="auto">
          <a:xfrm>
            <a:off x="11417133" y="8901354"/>
            <a:ext cx="2390510" cy="1157224"/>
          </a:xfrm>
          <a:prstGeom prst="rect">
            <a:avLst/>
          </a:prstGeom>
          <a:noFill/>
        </p:spPr>
      </p:pic>
      <p:pic>
        <p:nvPicPr>
          <p:cNvPr id="1038" name="Picture 14"/>
          <p:cNvPicPr>
            <a:picLocks noChangeAspect="1" noChangeArrowheads="1"/>
          </p:cNvPicPr>
          <p:nvPr userDrawn="1"/>
        </p:nvPicPr>
        <p:blipFill>
          <a:blip r:embed="rId18"/>
          <a:stretch/>
        </p:blipFill>
        <p:spPr bwMode="auto">
          <a:xfrm>
            <a:off x="7303731" y="6936730"/>
            <a:ext cx="2288833" cy="1587749"/>
          </a:xfrm>
          <a:prstGeom prst="rect">
            <a:avLst/>
          </a:prstGeom>
          <a:noFill/>
        </p:spPr>
      </p:pic>
      <p:pic>
        <p:nvPicPr>
          <p:cNvPr id="1039" name="Picture 15"/>
          <p:cNvPicPr>
            <a:picLocks noChangeAspect="1" noChangeArrowheads="1"/>
          </p:cNvPicPr>
          <p:nvPr userDrawn="1"/>
        </p:nvPicPr>
        <p:blipFill>
          <a:blip r:embed="rId19"/>
          <a:stretch/>
        </p:blipFill>
        <p:spPr bwMode="auto">
          <a:xfrm>
            <a:off x="16184729" y="6678395"/>
            <a:ext cx="1949303" cy="1519457"/>
          </a:xfrm>
          <a:prstGeom prst="rect">
            <a:avLst/>
          </a:prstGeom>
          <a:noFill/>
        </p:spPr>
      </p:pic>
      <p:pic>
        <p:nvPicPr>
          <p:cNvPr id="1040" name="Picture 16"/>
          <p:cNvPicPr>
            <a:picLocks noChangeAspect="1" noChangeArrowheads="1"/>
          </p:cNvPicPr>
          <p:nvPr userDrawn="1"/>
        </p:nvPicPr>
        <p:blipFill>
          <a:blip r:embed="rId20"/>
          <a:stretch/>
        </p:blipFill>
        <p:spPr bwMode="auto">
          <a:xfrm>
            <a:off x="5525448" y="6847298"/>
            <a:ext cx="1562381" cy="1577404"/>
          </a:xfrm>
          <a:prstGeom prst="rect">
            <a:avLst/>
          </a:prstGeom>
          <a:noFill/>
        </p:spPr>
      </p:pic>
      <p:pic>
        <p:nvPicPr>
          <p:cNvPr id="1045" name="Picture 21"/>
          <p:cNvPicPr>
            <a:picLocks noChangeAspect="1" noChangeArrowheads="1"/>
          </p:cNvPicPr>
          <p:nvPr userDrawn="1"/>
        </p:nvPicPr>
        <p:blipFill>
          <a:blip r:embed="rId21"/>
          <a:stretch/>
        </p:blipFill>
        <p:spPr bwMode="auto">
          <a:xfrm>
            <a:off x="9443146" y="9086104"/>
            <a:ext cx="1646901" cy="979116"/>
          </a:xfrm>
          <a:prstGeom prst="rect">
            <a:avLst/>
          </a:prstGeom>
          <a:noFill/>
        </p:spPr>
      </p:pic>
      <p:pic>
        <p:nvPicPr>
          <p:cNvPr id="1047" name="Picture 23"/>
          <p:cNvPicPr>
            <a:picLocks noChangeAspect="1" noChangeArrowheads="1"/>
          </p:cNvPicPr>
          <p:nvPr userDrawn="1"/>
        </p:nvPicPr>
        <p:blipFill>
          <a:blip r:embed="rId22"/>
          <a:stretch/>
        </p:blipFill>
        <p:spPr bwMode="auto">
          <a:xfrm>
            <a:off x="4958330" y="8641236"/>
            <a:ext cx="1939938" cy="1363792"/>
          </a:xfrm>
          <a:prstGeom prst="rect">
            <a:avLst/>
          </a:prstGeom>
          <a:noFill/>
        </p:spPr>
      </p:pic>
      <p:pic>
        <p:nvPicPr>
          <p:cNvPr id="1048" name="Picture 24"/>
          <p:cNvPicPr>
            <a:picLocks noChangeAspect="1" noChangeArrowheads="1"/>
          </p:cNvPicPr>
          <p:nvPr userDrawn="1"/>
        </p:nvPicPr>
        <p:blipFill>
          <a:blip r:embed="rId23"/>
          <a:stretch/>
        </p:blipFill>
        <p:spPr bwMode="auto">
          <a:xfrm>
            <a:off x="7255942" y="8924883"/>
            <a:ext cx="1706562" cy="1137709"/>
          </a:xfrm>
          <a:prstGeom prst="rect">
            <a:avLst/>
          </a:prstGeom>
          <a:noFill/>
        </p:spPr>
      </p:pic>
      <p:pic>
        <p:nvPicPr>
          <p:cNvPr id="1050" name="Picture 26"/>
          <p:cNvPicPr>
            <a:picLocks noChangeAspect="1" noChangeArrowheads="1"/>
          </p:cNvPicPr>
          <p:nvPr userDrawn="1"/>
        </p:nvPicPr>
        <p:blipFill>
          <a:blip r:embed="rId24"/>
          <a:stretch/>
        </p:blipFill>
        <p:spPr bwMode="auto">
          <a:xfrm>
            <a:off x="14059336" y="8424702"/>
            <a:ext cx="2033866" cy="1538664"/>
          </a:xfrm>
          <a:prstGeom prst="rect">
            <a:avLst/>
          </a:prstGeom>
          <a:noFill/>
        </p:spPr>
      </p:pic>
      <p:pic>
        <p:nvPicPr>
          <p:cNvPr id="1052" name="Picture 28"/>
          <p:cNvPicPr>
            <a:picLocks noChangeAspect="1" noChangeArrowheads="1"/>
          </p:cNvPicPr>
          <p:nvPr userDrawn="1"/>
        </p:nvPicPr>
        <p:blipFill>
          <a:blip r:embed="rId25"/>
          <a:stretch/>
        </p:blipFill>
        <p:spPr bwMode="auto">
          <a:xfrm>
            <a:off x="4693598" y="4800301"/>
            <a:ext cx="1663700" cy="1524000"/>
          </a:xfrm>
          <a:prstGeom prst="rect">
            <a:avLst/>
          </a:prstGeom>
          <a:noFill/>
        </p:spPr>
      </p:pic>
      <p:pic>
        <p:nvPicPr>
          <p:cNvPr id="1053" name="Picture 29"/>
          <p:cNvPicPr>
            <a:picLocks noChangeAspect="1" noChangeArrowheads="1"/>
          </p:cNvPicPr>
          <p:nvPr userDrawn="1"/>
        </p:nvPicPr>
        <p:blipFill>
          <a:blip r:embed="rId26"/>
          <a:stretch/>
        </p:blipFill>
        <p:spPr bwMode="auto">
          <a:xfrm>
            <a:off x="6494308" y="5049355"/>
            <a:ext cx="1803400" cy="1562100"/>
          </a:xfrm>
          <a:prstGeom prst="rect">
            <a:avLst/>
          </a:prstGeom>
          <a:noFill/>
        </p:spPr>
      </p:pic>
      <p:pic>
        <p:nvPicPr>
          <p:cNvPr id="1055" name="Picture 31"/>
          <p:cNvPicPr>
            <a:picLocks noChangeAspect="1" noChangeArrowheads="1"/>
          </p:cNvPicPr>
          <p:nvPr userDrawn="1"/>
        </p:nvPicPr>
        <p:blipFill>
          <a:blip r:embed="rId27"/>
          <a:stretch/>
        </p:blipFill>
        <p:spPr bwMode="auto">
          <a:xfrm>
            <a:off x="2382363" y="8468714"/>
            <a:ext cx="1658539" cy="1494652"/>
          </a:xfrm>
          <a:prstGeom prst="rect">
            <a:avLst/>
          </a:prstGeom>
          <a:noFill/>
        </p:spPr>
      </p:pic>
      <p:pic>
        <p:nvPicPr>
          <p:cNvPr id="1057" name="Picture 33"/>
          <p:cNvPicPr>
            <a:picLocks noChangeAspect="1" noChangeArrowheads="1"/>
          </p:cNvPicPr>
          <p:nvPr userDrawn="1"/>
        </p:nvPicPr>
        <p:blipFill>
          <a:blip r:embed="rId28"/>
          <a:stretch/>
        </p:blipFill>
        <p:spPr bwMode="auto">
          <a:xfrm>
            <a:off x="2775411" y="6582177"/>
            <a:ext cx="2565400" cy="1612900"/>
          </a:xfrm>
          <a:prstGeom prst="rect">
            <a:avLst/>
          </a:prstGeom>
          <a:noFill/>
        </p:spPr>
      </p:pic>
      <p:pic>
        <p:nvPicPr>
          <p:cNvPr id="1059" name="Picture 35"/>
          <p:cNvPicPr>
            <a:picLocks noChangeAspect="1" noChangeArrowheads="1"/>
          </p:cNvPicPr>
          <p:nvPr userDrawn="1"/>
        </p:nvPicPr>
        <p:blipFill>
          <a:blip r:embed="rId29"/>
          <a:stretch/>
        </p:blipFill>
        <p:spPr bwMode="auto">
          <a:xfrm>
            <a:off x="9831262" y="2000770"/>
            <a:ext cx="1868862" cy="1211023"/>
          </a:xfrm>
          <a:prstGeom prst="rect">
            <a:avLst/>
          </a:prstGeom>
          <a:noFill/>
        </p:spPr>
      </p:pic>
      <p:pic>
        <p:nvPicPr>
          <p:cNvPr id="1061" name="Picture 37"/>
          <p:cNvPicPr>
            <a:picLocks noChangeAspect="1" noChangeArrowheads="1"/>
          </p:cNvPicPr>
          <p:nvPr userDrawn="1"/>
        </p:nvPicPr>
        <p:blipFill>
          <a:blip r:embed="rId30"/>
          <a:stretch/>
        </p:blipFill>
        <p:spPr bwMode="auto">
          <a:xfrm>
            <a:off x="7359737" y="3540548"/>
            <a:ext cx="2377773" cy="1319821"/>
          </a:xfrm>
          <a:prstGeom prst="rect">
            <a:avLst/>
          </a:prstGeom>
          <a:noFill/>
        </p:spPr>
      </p:pic>
      <p:pic>
        <p:nvPicPr>
          <p:cNvPr id="1063" name="Picture 39"/>
          <p:cNvPicPr>
            <a:picLocks noChangeAspect="1" noChangeArrowheads="1"/>
          </p:cNvPicPr>
          <p:nvPr userDrawn="1"/>
        </p:nvPicPr>
        <p:blipFill>
          <a:blip r:embed="rId31"/>
          <a:stretch/>
        </p:blipFill>
        <p:spPr bwMode="auto">
          <a:xfrm>
            <a:off x="197038" y="6967110"/>
            <a:ext cx="2098998" cy="1547746"/>
          </a:xfrm>
          <a:prstGeom prst="rect">
            <a:avLst/>
          </a:prstGeom>
          <a:noFill/>
        </p:spPr>
      </p:pic>
      <p:pic>
        <p:nvPicPr>
          <p:cNvPr id="1065" name="Picture 41"/>
          <p:cNvPicPr>
            <a:picLocks noChangeAspect="1" noChangeArrowheads="1"/>
          </p:cNvPicPr>
          <p:nvPr userDrawn="1"/>
        </p:nvPicPr>
        <p:blipFill>
          <a:blip r:embed="rId32"/>
          <a:stretch/>
        </p:blipFill>
        <p:spPr bwMode="auto">
          <a:xfrm>
            <a:off x="27529" y="8712074"/>
            <a:ext cx="2167269" cy="1429476"/>
          </a:xfrm>
          <a:prstGeom prst="rect">
            <a:avLst/>
          </a:prstGeom>
          <a:noFill/>
        </p:spPr>
      </p:pic>
      <p:sp>
        <p:nvSpPr>
          <p:cNvPr id="60" name="Textfeld 59"/>
          <p:cNvSpPr txBox="1"/>
          <p:nvPr userDrawn="1"/>
        </p:nvSpPr>
        <p:spPr bwMode="auto">
          <a:xfrm>
            <a:off x="305392" y="2225969"/>
            <a:ext cx="2416046" cy="369332"/>
          </a:xfrm>
          <a:prstGeom prst="rect">
            <a:avLst/>
          </a:prstGeom>
          <a:noFill/>
        </p:spPr>
        <p:txBody>
          <a:bodyPr wrap="none" rtlCol="0">
            <a:spAutoFit/>
          </a:bodyPr>
          <a:lstStyle/>
          <a:p>
            <a:pPr>
              <a:defRPr/>
            </a:pPr>
            <a:r>
              <a:rPr lang="de-DE"/>
              <a:t>Icon für extra Material</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18"/>
            <a:stretch/>
          </a:blipFill>
        </p:spPr>
        <p:txBody>
          <a:bodyPr/>
          <a:lstStyle/>
          <a:p>
            <a:pP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hyperlink" Target="https://www.scribbr.com/methodology/inductive-reasoning/"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hyperlink" Target="https://www.scribbr.com/methodology/dedutive-reasoning/"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plato.stanford.edu/archives/fall2022/entries/argument/"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hyperlink" Target="https://writingcenter.unc.edu/tips-and-tools/argument/" TargetMode="External"/><Relationship Id="rId5" Type="http://schemas.openxmlformats.org/officeDocument/2006/relationships/hyperlink" Target="https://www.scribbr.com/methodology/inductive-reasoning/" TargetMode="External"/><Relationship Id="rId4" Type="http://schemas.openxmlformats.org/officeDocument/2006/relationships/hyperlink" Target="https://doi.org/10.1007/1-4020-3907-7_2"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dirty="0"/>
              <a:t>Argumentation and use of literature</a:t>
            </a:r>
          </a:p>
        </p:txBody>
      </p:sp>
      <p:sp>
        <p:nvSpPr>
          <p:cNvPr id="3" name="Untertitel 2"/>
          <p:cNvSpPr>
            <a:spLocks noGrp="1"/>
          </p:cNvSpPr>
          <p:nvPr>
            <p:ph type="subTitle" idx="1"/>
          </p:nvPr>
        </p:nvSpPr>
        <p:spPr bwMode="auto"/>
        <p:txBody>
          <a:bodyPr/>
          <a:lstStyle/>
          <a:p>
            <a:pPr>
              <a:defRPr/>
            </a:pPr>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1944000" y="1943100"/>
            <a:ext cx="14400000" cy="1260000"/>
          </a:xfrm>
        </p:spPr>
        <p:txBody>
          <a:bodyPr/>
          <a:lstStyle/>
          <a:p>
            <a:pPr>
              <a:defRPr/>
            </a:pPr>
            <a:r>
              <a:rPr lang="de-DE" dirty="0"/>
              <a:t>Agenda</a:t>
            </a:r>
          </a:p>
        </p:txBody>
      </p:sp>
      <p:sp>
        <p:nvSpPr>
          <p:cNvPr id="3" name="Inhaltsplatzhalter 2"/>
          <p:cNvSpPr>
            <a:spLocks noGrp="1"/>
          </p:cNvSpPr>
          <p:nvPr>
            <p:ph idx="1"/>
          </p:nvPr>
        </p:nvSpPr>
        <p:spPr bwMode="auto">
          <a:xfrm>
            <a:off x="5029201" y="4000500"/>
            <a:ext cx="8915400" cy="6480000"/>
          </a:xfrm>
        </p:spPr>
        <p:txBody>
          <a:bodyPr/>
          <a:lstStyle/>
          <a:p>
            <a:pPr>
              <a:lnSpc>
                <a:spcPct val="150000"/>
              </a:lnSpc>
              <a:defRPr/>
            </a:pPr>
            <a:r>
              <a:rPr lang="de-DE" dirty="0" err="1"/>
              <a:t>What</a:t>
            </a:r>
            <a:r>
              <a:rPr lang="de-DE" dirty="0"/>
              <a:t> is an argument</a:t>
            </a:r>
          </a:p>
          <a:p>
            <a:pPr>
              <a:lnSpc>
                <a:spcPct val="150000"/>
              </a:lnSpc>
              <a:defRPr/>
            </a:pPr>
            <a:r>
              <a:rPr lang="de-DE" dirty="0" err="1"/>
              <a:t>How</a:t>
            </a:r>
            <a:r>
              <a:rPr lang="de-DE" dirty="0"/>
              <a:t> </a:t>
            </a:r>
            <a:r>
              <a:rPr lang="de-DE" dirty="0" err="1"/>
              <a:t>to</a:t>
            </a:r>
            <a:r>
              <a:rPr lang="de-DE" dirty="0"/>
              <a:t> argue?</a:t>
            </a:r>
          </a:p>
          <a:p>
            <a:pPr>
              <a:lnSpc>
                <a:spcPct val="150000"/>
              </a:lnSpc>
              <a:defRPr/>
            </a:pPr>
            <a:r>
              <a:rPr lang="de-DE" dirty="0"/>
              <a:t>Dealing with the argumentation in texts</a:t>
            </a:r>
          </a:p>
          <a:p>
            <a:pPr>
              <a:lnSpc>
                <a:spcPct val="150000"/>
              </a:lnSpc>
              <a:defRPr/>
            </a:pPr>
            <a:r>
              <a:rPr lang="de-DE" dirty="0"/>
              <a:t>Exercise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1944000" y="1366765"/>
            <a:ext cx="14400000" cy="1260000"/>
          </a:xfrm>
        </p:spPr>
        <p:txBody>
          <a:bodyPr anchor="ctr">
            <a:normAutofit/>
          </a:bodyPr>
          <a:lstStyle/>
          <a:p>
            <a:pPr>
              <a:defRPr/>
            </a:pPr>
            <a:r>
              <a:rPr lang="de-DE" dirty="0"/>
              <a:t>What is an argument?</a:t>
            </a:r>
          </a:p>
        </p:txBody>
      </p:sp>
      <p:sp>
        <p:nvSpPr>
          <p:cNvPr id="4" name="Content Placeholder 3">
            <a:extLst>
              <a:ext uri="{FF2B5EF4-FFF2-40B4-BE49-F238E27FC236}">
                <a16:creationId xmlns:a16="http://schemas.microsoft.com/office/drawing/2014/main" id="{58DBA0B8-9F9F-247D-7D1C-87EDB8627731}"/>
              </a:ext>
            </a:extLst>
          </p:cNvPr>
          <p:cNvSpPr txBox="1">
            <a:spLocks noGrp="1"/>
          </p:cNvSpPr>
          <p:nvPr>
            <p:ph sz="half" idx="2"/>
          </p:nvPr>
        </p:nvSpPr>
        <p:spPr bwMode="auto">
          <a:xfrm>
            <a:off x="1944000" y="2738437"/>
            <a:ext cx="14400000" cy="2100263"/>
          </a:xfrm>
        </p:spPr>
        <p:txBody>
          <a:bodyPr rtlCol="0">
            <a:normAutofit lnSpcReduction="10000"/>
          </a:bodyPr>
          <a:lstStyle/>
          <a:p>
            <a:pPr>
              <a:lnSpc>
                <a:spcPct val="150000"/>
              </a:lnSpc>
              <a:defRPr/>
            </a:pPr>
            <a:r>
              <a:rPr lang="de-DE" sz="3200" i="1" dirty="0"/>
              <a:t>An argument can be defined as a complex symbolic structure in which some parts, called premises, support another part, the conclusion (</a:t>
            </a:r>
            <a:r>
              <a:rPr lang="de-DE" sz="3200" i="1" dirty="0" err="1"/>
              <a:t>Dutihl Novaes</a:t>
            </a:r>
            <a:r>
              <a:rPr lang="de-DE" sz="3200" i="1" dirty="0"/>
              <a:t>, 2022).</a:t>
            </a:r>
            <a:endParaRPr lang="en-GB" sz="3200" dirty="0"/>
          </a:p>
        </p:txBody>
      </p:sp>
      <p:sp>
        <p:nvSpPr>
          <p:cNvPr id="7" name="TextBox 6">
            <a:extLst>
              <a:ext uri="{FF2B5EF4-FFF2-40B4-BE49-F238E27FC236}">
                <a16:creationId xmlns:a16="http://schemas.microsoft.com/office/drawing/2014/main" id="{CD0C944E-52A1-EC44-BCF6-9C918DC72C2E}"/>
              </a:ext>
            </a:extLst>
          </p:cNvPr>
          <p:cNvSpPr txBox="1"/>
          <p:nvPr/>
        </p:nvSpPr>
        <p:spPr bwMode="auto">
          <a:xfrm>
            <a:off x="10287000" y="5661690"/>
            <a:ext cx="7200000" cy="2955746"/>
          </a:xfrm>
          <a:prstGeom prst="rect">
            <a:avLst/>
          </a:prstGeom>
          <a:noFill/>
        </p:spPr>
        <p:txBody>
          <a:bodyPr wrap="square" rtlCol="0">
            <a:spAutoFit/>
          </a:bodyPr>
          <a:lstStyle/>
          <a:p>
            <a:pPr marL="285750" indent="-285750">
              <a:lnSpc>
                <a:spcPct val="150000"/>
              </a:lnSpc>
              <a:buFont typeface="Arial"/>
              <a:buChar char="•"/>
              <a:defRPr/>
            </a:pPr>
            <a:r>
              <a:rPr lang="de-DE" sz="3200" dirty="0"/>
              <a:t>Logic is the study of forms of argumentation and the development of standards and criteria for evaluating arguments. </a:t>
            </a:r>
            <a:endParaRPr lang="en-GB" sz="3200" dirty="0"/>
          </a:p>
        </p:txBody>
      </p:sp>
      <p:pic>
        <p:nvPicPr>
          <p:cNvPr id="9" name="Picture 8">
            <a:extLst>
              <a:ext uri="{FF2B5EF4-FFF2-40B4-BE49-F238E27FC236}">
                <a16:creationId xmlns:a16="http://schemas.microsoft.com/office/drawing/2014/main" id="{0D68156E-0F57-39CB-8BBE-69B983D2AE45}"/>
              </a:ext>
            </a:extLst>
          </p:cNvPr>
          <p:cNvPicPr>
            <a:picLocks noChangeAspect="1"/>
          </p:cNvPicPr>
          <p:nvPr/>
        </p:nvPicPr>
        <p:blipFill>
          <a:blip r:embed="rId3"/>
          <a:stretch>
            <a:fillRect/>
          </a:stretch>
        </p:blipFill>
        <p:spPr>
          <a:xfrm>
            <a:off x="1944000" y="4838700"/>
            <a:ext cx="7200000" cy="3709090"/>
          </a:xfrm>
          <a:prstGeom prst="rect">
            <a:avLst/>
          </a:prstGeom>
        </p:spPr>
      </p:pic>
    </p:spTree>
    <p:extLst>
      <p:ext uri="{BB962C8B-B14F-4D97-AF65-F5344CB8AC3E}">
        <p14:creationId xmlns:p14="http://schemas.microsoft.com/office/powerpoint/2010/main" val="344657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What is an argument?</a:t>
            </a:r>
          </a:p>
        </p:txBody>
      </p:sp>
      <p:sp>
        <p:nvSpPr>
          <p:cNvPr id="3" name="Inhaltsplatzhalter 2"/>
          <p:cNvSpPr>
            <a:spLocks noGrp="1"/>
          </p:cNvSpPr>
          <p:nvPr>
            <p:ph sz="half" idx="1"/>
          </p:nvPr>
        </p:nvSpPr>
        <p:spPr bwMode="auto">
          <a:xfrm>
            <a:off x="1918600" y="3352800"/>
            <a:ext cx="6311000" cy="5681663"/>
          </a:xfrm>
        </p:spPr>
        <p:txBody>
          <a:bodyPr>
            <a:normAutofit fontScale="85000" lnSpcReduction="10000"/>
          </a:bodyPr>
          <a:lstStyle/>
          <a:p>
            <a:pPr marL="0" indent="0" algn="ctr">
              <a:lnSpc>
                <a:spcPct val="150000"/>
              </a:lnSpc>
              <a:buNone/>
              <a:defRPr/>
            </a:pPr>
            <a:r>
              <a:rPr lang="pt-BR" sz="3200" b="1" dirty="0">
                <a:solidFill>
                  <a:srgbClr val="65979C"/>
                </a:solidFill>
              </a:rPr>
              <a:t>Deduction</a:t>
            </a:r>
          </a:p>
          <a:p>
            <a:pPr marL="171450" indent="-171450">
              <a:lnSpc>
                <a:spcPct val="150000"/>
              </a:lnSpc>
              <a:buFont typeface="Arial"/>
              <a:buChar char="•"/>
              <a:defRPr/>
            </a:pPr>
            <a:r>
              <a:rPr lang="de-DE" sz="3200" dirty="0"/>
              <a:t>The logical model in which specific expectations of hypotheses are developed on the basis of general principles. (</a:t>
            </a:r>
            <a:r>
              <a:rPr lang="de-DE" sz="3200" dirty="0" err="1"/>
              <a:t>Babbie</a:t>
            </a:r>
            <a:r>
              <a:rPr lang="de-DE" sz="3200" dirty="0"/>
              <a:t>, 2016, p. 525).</a:t>
            </a:r>
          </a:p>
          <a:p>
            <a:pPr marL="171450" indent="-171450">
              <a:lnSpc>
                <a:spcPct val="150000"/>
              </a:lnSpc>
              <a:buFont typeface="Arial"/>
              <a:buChar char="•"/>
              <a:defRPr/>
            </a:pPr>
            <a:endParaRPr lang="de-DE" sz="3200" dirty="0"/>
          </a:p>
          <a:p>
            <a:pPr marL="171450" indent="-171450">
              <a:lnSpc>
                <a:spcPct val="150000"/>
              </a:lnSpc>
              <a:buFont typeface="Arial"/>
              <a:buChar char="•"/>
              <a:defRPr/>
            </a:pPr>
            <a:r>
              <a:rPr lang="de-DE" sz="3200" dirty="0"/>
              <a:t>Moves from the general to the specific.</a:t>
            </a:r>
          </a:p>
          <a:p>
            <a:pPr marL="171450" indent="-171450">
              <a:lnSpc>
                <a:spcPct val="150000"/>
              </a:lnSpc>
              <a:buFont typeface="Arial"/>
              <a:buChar char="•"/>
              <a:defRPr/>
            </a:pPr>
            <a:r>
              <a:rPr lang="de-DE" sz="3200" dirty="0"/>
              <a:t>Examination of the existing theory.</a:t>
            </a:r>
            <a:endParaRPr lang="de-DE" dirty="0"/>
          </a:p>
          <a:p>
            <a:pPr marL="0" indent="0">
              <a:lnSpc>
                <a:spcPct val="150000"/>
              </a:lnSpc>
              <a:buNone/>
              <a:defRPr/>
            </a:pPr>
            <a:endParaRPr lang="de-DE" sz="3200" dirty="0"/>
          </a:p>
        </p:txBody>
      </p:sp>
      <p:sp>
        <p:nvSpPr>
          <p:cNvPr id="4" name="Inhaltsplatzhalter 3"/>
          <p:cNvSpPr>
            <a:spLocks noGrp="1"/>
          </p:cNvSpPr>
          <p:nvPr>
            <p:ph sz="half" idx="2"/>
          </p:nvPr>
        </p:nvSpPr>
        <p:spPr bwMode="auto">
          <a:xfrm>
            <a:off x="9525000" y="3354029"/>
            <a:ext cx="6819000" cy="5681663"/>
          </a:xfrm>
        </p:spPr>
        <p:txBody>
          <a:bodyPr>
            <a:normAutofit fontScale="85000" lnSpcReduction="10000"/>
          </a:bodyPr>
          <a:lstStyle/>
          <a:p>
            <a:pPr marL="0" indent="0" algn="ctr">
              <a:lnSpc>
                <a:spcPct val="150000"/>
              </a:lnSpc>
              <a:buNone/>
              <a:defRPr/>
            </a:pPr>
            <a:r>
              <a:rPr lang="pt-BR" sz="3200" b="1" dirty="0" err="1">
                <a:solidFill>
                  <a:srgbClr val="F6C782"/>
                </a:solidFill>
              </a:rPr>
              <a:t>Induction</a:t>
            </a:r>
            <a:endParaRPr lang="de-DE" sz="3200" dirty="0"/>
          </a:p>
          <a:p>
            <a:pPr marL="171450" indent="-171450">
              <a:lnSpc>
                <a:spcPct val="150000"/>
              </a:lnSpc>
              <a:buFont typeface="Arial"/>
              <a:buChar char="•"/>
              <a:defRPr/>
            </a:pPr>
            <a:r>
              <a:rPr lang="de-DE" sz="3200" dirty="0"/>
              <a:t>The logical model in which general principles are developed from specific observations. (</a:t>
            </a:r>
            <a:r>
              <a:rPr lang="de-DE" sz="3200" dirty="0" err="1"/>
              <a:t>Babbie</a:t>
            </a:r>
            <a:r>
              <a:rPr lang="de-DE" sz="3200" dirty="0"/>
              <a:t>, 2016, p. 527).</a:t>
            </a:r>
            <a:br>
              <a:rPr lang="de-DE" sz="3200" dirty="0"/>
            </a:br>
            <a:endParaRPr lang="de-DE" sz="3200" dirty="0"/>
          </a:p>
          <a:p>
            <a:pPr marL="171450" indent="-171450" algn="just">
              <a:lnSpc>
                <a:spcPct val="150000"/>
              </a:lnSpc>
              <a:buFont typeface="Arial"/>
              <a:buChar char="•"/>
              <a:defRPr/>
            </a:pPr>
            <a:r>
              <a:rPr lang="de-DE" sz="3200" dirty="0"/>
              <a:t>Moving from the specific to the general. </a:t>
            </a:r>
          </a:p>
          <a:p>
            <a:pPr marL="171450" indent="-171450" algn="just">
              <a:lnSpc>
                <a:spcPct val="150000"/>
              </a:lnSpc>
              <a:buFont typeface="Arial"/>
              <a:buChar char="•"/>
              <a:defRPr/>
            </a:pPr>
            <a:r>
              <a:rPr lang="de-DE" sz="3200" dirty="0"/>
              <a:t>Development of the </a:t>
            </a:r>
            <a:r>
              <a:rPr lang="de-DE" sz="3200" dirty="0" err="1"/>
              <a:t>theory</a:t>
            </a:r>
            <a:r>
              <a:rPr lang="de-DE" sz="3200" dirty="0"/>
              <a:t>.</a:t>
            </a:r>
          </a:p>
        </p:txBody>
      </p:sp>
      <p:sp>
        <p:nvSpPr>
          <p:cNvPr id="5" name="TextBox 4">
            <a:extLst>
              <a:ext uri="{FF2B5EF4-FFF2-40B4-BE49-F238E27FC236}">
                <a16:creationId xmlns:a16="http://schemas.microsoft.com/office/drawing/2014/main" id="{945A8342-CB72-8D41-8227-05CC37950D7E}"/>
              </a:ext>
            </a:extLst>
          </p:cNvPr>
          <p:cNvSpPr txBox="1"/>
          <p:nvPr/>
        </p:nvSpPr>
        <p:spPr bwMode="auto">
          <a:xfrm>
            <a:off x="5867400" y="2597491"/>
            <a:ext cx="6553200" cy="584775"/>
          </a:xfrm>
          <a:prstGeom prst="rect">
            <a:avLst/>
          </a:prstGeom>
          <a:noFill/>
        </p:spPr>
        <p:txBody>
          <a:bodyPr wrap="square" rtlCol="0">
            <a:spAutoFit/>
          </a:bodyPr>
          <a:lstStyle/>
          <a:p>
            <a:pPr algn="ctr">
              <a:defRPr/>
            </a:pPr>
            <a:r>
              <a:rPr lang="en-GB" sz="3200" b="1" dirty="0">
                <a:solidFill>
                  <a:srgbClr val="7E0D31"/>
                </a:solidFill>
              </a:rPr>
              <a:t>(</a:t>
            </a:r>
            <a:r>
              <a:rPr lang="en-GB" sz="3200" b="1" dirty="0" err="1">
                <a:solidFill>
                  <a:srgbClr val="7E0D31"/>
                </a:solidFill>
              </a:rPr>
              <a:t>Some</a:t>
            </a:r>
            <a:r>
              <a:rPr lang="en-GB" sz="3200" b="1" dirty="0">
                <a:solidFill>
                  <a:srgbClr val="7E0D31"/>
                </a:solidFill>
              </a:rPr>
              <a:t>) </a:t>
            </a:r>
            <a:r>
              <a:rPr lang="en-GB" sz="3200" b="1" dirty="0" err="1">
                <a:solidFill>
                  <a:srgbClr val="7E0D31"/>
                </a:solidFill>
              </a:rPr>
              <a:t>types </a:t>
            </a:r>
            <a:r>
              <a:rPr lang="en-GB" sz="3200" b="1" dirty="0">
                <a:solidFill>
                  <a:srgbClr val="7E0D31"/>
                </a:solidFill>
              </a:rPr>
              <a:t>of </a:t>
            </a:r>
            <a:r>
              <a:rPr lang="en-GB" sz="3200" b="1" dirty="0" err="1">
                <a:solidFill>
                  <a:srgbClr val="7E0D31"/>
                </a:solidFill>
              </a:rPr>
              <a:t>arguments</a:t>
            </a:r>
            <a:endParaRPr lang="en-GB" sz="3200" b="1" dirty="0">
              <a:solidFill>
                <a:srgbClr val="7E0D3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A833942-0BE0-3660-F80B-F64D1642A848}"/>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A52F9FE2-A6A5-3E9F-87A1-F76CB23A2DAD}"/>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argue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093D8A3B-8A22-B919-4910-83DF88C120F0}"/>
              </a:ext>
            </a:extLst>
          </p:cNvPr>
          <p:cNvSpPr>
            <a:spLocks noGrp="1"/>
          </p:cNvSpPr>
          <p:nvPr>
            <p:ph idx="1"/>
          </p:nvPr>
        </p:nvSpPr>
        <p:spPr bwMode="auto">
          <a:xfrm>
            <a:off x="1944000" y="3437846"/>
            <a:ext cx="14400000" cy="2848653"/>
          </a:xfrm>
        </p:spPr>
        <p:txBody>
          <a:bodyPr>
            <a:normAutofit fontScale="92500" lnSpcReduction="10000"/>
          </a:bodyPr>
          <a:lstStyle/>
          <a:p>
            <a:pPr marL="285750" indent="-285750" algn="just">
              <a:lnSpc>
                <a:spcPct val="150000"/>
              </a:lnSpc>
              <a:spcAft>
                <a:spcPts val="600"/>
              </a:spcAft>
              <a:buFont typeface="Arial"/>
              <a:buChar char="•"/>
              <a:defRPr/>
            </a:pPr>
            <a:r>
              <a:rPr lang="de-DE" sz="3000" dirty="0"/>
              <a:t>Inductive reasoning means drawing conclusions from certain observations. </a:t>
            </a:r>
          </a:p>
          <a:p>
            <a:pPr marL="285750" indent="-285750" algn="just">
              <a:lnSpc>
                <a:spcPct val="150000"/>
              </a:lnSpc>
              <a:spcAft>
                <a:spcPts val="600"/>
              </a:spcAft>
              <a:buFont typeface="Arial"/>
              <a:buChar char="•"/>
              <a:defRPr/>
            </a:pPr>
            <a:r>
              <a:rPr lang="de-DE" sz="3000" dirty="0"/>
              <a:t>Inductive research begins with observations or the collection of data. Then you can get an overview of the data and look for patterns. The final step is to draw general conclusions that can be incorporated into theories. (Bhandari, 2022). </a:t>
            </a:r>
          </a:p>
          <a:p>
            <a:pPr>
              <a:lnSpc>
                <a:spcPct val="150000"/>
              </a:lnSpc>
              <a:defRPr/>
            </a:pPr>
            <a:endParaRPr lang="de-DE" sz="3000" dirty="0"/>
          </a:p>
        </p:txBody>
      </p:sp>
      <p:sp>
        <p:nvSpPr>
          <p:cNvPr id="4" name="TextBox 3">
            <a:extLst>
              <a:ext uri="{FF2B5EF4-FFF2-40B4-BE49-F238E27FC236}">
                <a16:creationId xmlns:a16="http://schemas.microsoft.com/office/drawing/2014/main" id="{10D4F689-D8C5-9314-43F9-A06365486634}"/>
              </a:ext>
            </a:extLst>
          </p:cNvPr>
          <p:cNvSpPr txBox="1"/>
          <p:nvPr/>
        </p:nvSpPr>
        <p:spPr bwMode="auto">
          <a:xfrm>
            <a:off x="6172199" y="2792956"/>
            <a:ext cx="5943600" cy="584775"/>
          </a:xfrm>
          <a:prstGeom prst="rect">
            <a:avLst/>
          </a:prstGeom>
          <a:noFill/>
        </p:spPr>
        <p:txBody>
          <a:bodyPr wrap="square" rtlCol="0">
            <a:spAutoFit/>
          </a:bodyPr>
          <a:lstStyle/>
          <a:p>
            <a:pPr>
              <a:defRPr/>
            </a:pPr>
            <a:r>
              <a:rPr lang="de-DE" sz="3200" b="1" dirty="0">
                <a:solidFill>
                  <a:srgbClr val="7E0D31"/>
                </a:solidFill>
              </a:rPr>
              <a:t>Inductive thinking in research </a:t>
            </a:r>
            <a:endParaRPr lang="en-GB" sz="3200" b="1" dirty="0">
              <a:solidFill>
                <a:srgbClr val="7E0D31"/>
              </a:solidFill>
            </a:endParaRPr>
          </a:p>
        </p:txBody>
      </p:sp>
      <p:sp>
        <p:nvSpPr>
          <p:cNvPr id="7" name="TextBox 6">
            <a:extLst>
              <a:ext uri="{FF2B5EF4-FFF2-40B4-BE49-F238E27FC236}">
                <a16:creationId xmlns:a16="http://schemas.microsoft.com/office/drawing/2014/main" id="{6D380C36-D274-5465-F328-B336B7A2B4B8}"/>
              </a:ext>
            </a:extLst>
          </p:cNvPr>
          <p:cNvSpPr txBox="1"/>
          <p:nvPr/>
        </p:nvSpPr>
        <p:spPr bwMode="auto">
          <a:xfrm>
            <a:off x="11582400" y="9357247"/>
            <a:ext cx="3515555" cy="461665"/>
          </a:xfrm>
          <a:prstGeom prst="rect">
            <a:avLst/>
          </a:prstGeom>
          <a:noFill/>
        </p:spPr>
        <p:txBody>
          <a:bodyPr wrap="square" rtlCol="0">
            <a:spAutoFit/>
          </a:bodyPr>
          <a:lstStyle/>
          <a:p>
            <a:pPr>
              <a:defRPr/>
            </a:pPr>
            <a:r>
              <a:rPr lang="pt-BR" sz="1200" dirty="0"/>
              <a:t>Source:</a:t>
            </a:r>
            <a:r>
              <a:rPr lang="en-US" sz="1200" dirty="0">
                <a:hlinkClick r:id="rId3"/>
              </a:rPr>
              <a:t>https://www.scribbr.com/methodology/inductive-reasoning/</a:t>
            </a:r>
            <a:endParaRPr lang="en-GB" sz="1200" dirty="0"/>
          </a:p>
        </p:txBody>
      </p:sp>
      <p:pic>
        <p:nvPicPr>
          <p:cNvPr id="8" name="Picture 7">
            <a:extLst>
              <a:ext uri="{FF2B5EF4-FFF2-40B4-BE49-F238E27FC236}">
                <a16:creationId xmlns:a16="http://schemas.microsoft.com/office/drawing/2014/main" id="{1FCF278E-9EFF-742E-3926-2B5D187EF149}"/>
              </a:ext>
            </a:extLst>
          </p:cNvPr>
          <p:cNvPicPr>
            <a:picLocks noChangeAspect="1"/>
          </p:cNvPicPr>
          <p:nvPr/>
        </p:nvPicPr>
        <p:blipFill>
          <a:blip r:embed="rId4"/>
          <a:stretch>
            <a:fillRect/>
          </a:stretch>
        </p:blipFill>
        <p:spPr>
          <a:xfrm>
            <a:off x="4176152" y="6282069"/>
            <a:ext cx="9935695" cy="2551694"/>
          </a:xfrm>
          <a:prstGeom prst="rect">
            <a:avLst/>
          </a:prstGeom>
        </p:spPr>
      </p:pic>
    </p:spTree>
    <p:extLst>
      <p:ext uri="{BB962C8B-B14F-4D97-AF65-F5344CB8AC3E}">
        <p14:creationId xmlns:p14="http://schemas.microsoft.com/office/powerpoint/2010/main" val="3264444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706E276-2788-9A30-05BD-ABD347DDFE7F}"/>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7F93EE54-54D1-57EE-C795-E360BD6F589A}"/>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argue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6E3C5DCD-05E0-8537-CBD0-3C019805B9A1}"/>
              </a:ext>
            </a:extLst>
          </p:cNvPr>
          <p:cNvSpPr>
            <a:spLocks noGrp="1"/>
          </p:cNvSpPr>
          <p:nvPr>
            <p:ph idx="1"/>
          </p:nvPr>
        </p:nvSpPr>
        <p:spPr bwMode="auto">
          <a:xfrm>
            <a:off x="1944000" y="3426695"/>
            <a:ext cx="14400000" cy="3581400"/>
          </a:xfrm>
        </p:spPr>
        <p:txBody>
          <a:bodyPr>
            <a:normAutofit/>
          </a:bodyPr>
          <a:lstStyle/>
          <a:p>
            <a:pPr marL="285750" indent="-285750" algn="just">
              <a:spcAft>
                <a:spcPts val="600"/>
              </a:spcAft>
              <a:buFont typeface="Arial"/>
              <a:buChar char="•"/>
              <a:defRPr/>
            </a:pPr>
            <a:r>
              <a:rPr lang="de-DE" sz="3000" dirty="0"/>
              <a:t>Moves from general principles to specific observations. </a:t>
            </a:r>
          </a:p>
          <a:p>
            <a:pPr marL="285750" indent="-285750" algn="just">
              <a:spcAft>
                <a:spcPts val="600"/>
              </a:spcAft>
              <a:buFont typeface="Arial"/>
              <a:buChar char="•"/>
              <a:defRPr/>
            </a:pPr>
            <a:r>
              <a:rPr lang="de-DE" sz="3000" dirty="0"/>
              <a:t>It is generally used for quantitative research. </a:t>
            </a:r>
          </a:p>
          <a:p>
            <a:pPr marL="285750" indent="-285750" algn="just">
              <a:lnSpc>
                <a:spcPct val="150000"/>
              </a:lnSpc>
              <a:spcAft>
                <a:spcPts val="600"/>
              </a:spcAft>
              <a:buFont typeface="Arial"/>
              <a:buChar char="•"/>
              <a:defRPr/>
            </a:pPr>
            <a:r>
              <a:rPr lang="de-DE" sz="3000" dirty="0"/>
              <a:t>"In research, you may have come across the so-called hypothetico-deductive method. This is a scientific method in which hypotheses are tested to see if the predictions are supported by real data." (Bhandari, 2022 - own translation). </a:t>
            </a:r>
          </a:p>
        </p:txBody>
      </p:sp>
      <p:sp>
        <p:nvSpPr>
          <p:cNvPr id="4" name="TextBox 3">
            <a:extLst>
              <a:ext uri="{FF2B5EF4-FFF2-40B4-BE49-F238E27FC236}">
                <a16:creationId xmlns:a16="http://schemas.microsoft.com/office/drawing/2014/main" id="{4B00BE67-7C36-2789-3F73-BD7914B822DA}"/>
              </a:ext>
            </a:extLst>
          </p:cNvPr>
          <p:cNvSpPr txBox="1"/>
          <p:nvPr/>
        </p:nvSpPr>
        <p:spPr bwMode="auto">
          <a:xfrm>
            <a:off x="6095999" y="2697460"/>
            <a:ext cx="6096000" cy="584775"/>
          </a:xfrm>
          <a:prstGeom prst="rect">
            <a:avLst/>
          </a:prstGeom>
          <a:noFill/>
        </p:spPr>
        <p:txBody>
          <a:bodyPr wrap="square" rtlCol="0">
            <a:spAutoFit/>
          </a:bodyPr>
          <a:lstStyle/>
          <a:p>
            <a:pPr>
              <a:defRPr/>
            </a:pPr>
            <a:r>
              <a:rPr lang="de-DE" sz="3200" b="1" dirty="0">
                <a:solidFill>
                  <a:srgbClr val="7E0D31"/>
                </a:solidFill>
              </a:rPr>
              <a:t>Deductive thinking in research</a:t>
            </a:r>
            <a:endParaRPr lang="en-GB" sz="3200" b="1" dirty="0">
              <a:solidFill>
                <a:srgbClr val="7E0D31"/>
              </a:solidFill>
            </a:endParaRPr>
          </a:p>
        </p:txBody>
      </p:sp>
      <p:sp>
        <p:nvSpPr>
          <p:cNvPr id="7" name="TextBox 6">
            <a:extLst>
              <a:ext uri="{FF2B5EF4-FFF2-40B4-BE49-F238E27FC236}">
                <a16:creationId xmlns:a16="http://schemas.microsoft.com/office/drawing/2014/main" id="{59C695BB-DBC7-AE84-C20F-A7C1202C6269}"/>
              </a:ext>
            </a:extLst>
          </p:cNvPr>
          <p:cNvSpPr txBox="1"/>
          <p:nvPr/>
        </p:nvSpPr>
        <p:spPr bwMode="auto">
          <a:xfrm>
            <a:off x="10210800" y="9771465"/>
            <a:ext cx="5486400" cy="307777"/>
          </a:xfrm>
          <a:prstGeom prst="rect">
            <a:avLst/>
          </a:prstGeom>
          <a:noFill/>
        </p:spPr>
        <p:txBody>
          <a:bodyPr wrap="square" rtlCol="0">
            <a:spAutoFit/>
          </a:bodyPr>
          <a:lstStyle/>
          <a:p>
            <a:pPr>
              <a:defRPr/>
            </a:pPr>
            <a:r>
              <a:rPr lang="pt-BR" sz="1400" dirty="0"/>
              <a:t>Source:</a:t>
            </a:r>
            <a:r>
              <a:rPr lang="en-US" sz="1400" dirty="0">
                <a:hlinkClick r:id="rId3"/>
              </a:rPr>
              <a:t>https://www.scribbr.com/methodology/dedutive-reasoning/</a:t>
            </a:r>
            <a:endParaRPr lang="en-GB" sz="1400" dirty="0"/>
          </a:p>
        </p:txBody>
      </p:sp>
      <p:pic>
        <p:nvPicPr>
          <p:cNvPr id="6" name="Picture 5" descr="A close-up of a diagram&#10;&#10;Description automatically generated">
            <a:extLst>
              <a:ext uri="{FF2B5EF4-FFF2-40B4-BE49-F238E27FC236}">
                <a16:creationId xmlns:a16="http://schemas.microsoft.com/office/drawing/2014/main" id="{3EC959E5-91BA-8BD0-255E-764763522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593" y="6713513"/>
            <a:ext cx="16394813" cy="3057952"/>
          </a:xfrm>
          <a:prstGeom prst="rect">
            <a:avLst/>
          </a:prstGeom>
        </p:spPr>
      </p:pic>
    </p:spTree>
    <p:extLst>
      <p:ext uri="{BB962C8B-B14F-4D97-AF65-F5344CB8AC3E}">
        <p14:creationId xmlns:p14="http://schemas.microsoft.com/office/powerpoint/2010/main" val="3468963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A8E1CDB-6AAB-D188-4CC5-7DBE15A897A1}"/>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95FDEA39-CCDD-CD9E-1EF1-38353A07375D}"/>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t>
            </a:r>
            <a:r>
              <a:rPr lang="de-DE" dirty="0" err="1"/>
              <a:t>argue</a:t>
            </a:r>
            <a:r>
              <a:rPr lang="de-DE" dirty="0"/>
              <a:t>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519990CB-9CF4-9AED-A956-2E2803B15E9F}"/>
              </a:ext>
            </a:extLst>
          </p:cNvPr>
          <p:cNvSpPr>
            <a:spLocks noGrp="1"/>
          </p:cNvSpPr>
          <p:nvPr>
            <p:ph idx="1"/>
          </p:nvPr>
        </p:nvSpPr>
        <p:spPr bwMode="auto">
          <a:xfrm>
            <a:off x="1600200" y="3599482"/>
            <a:ext cx="15011400" cy="6245819"/>
          </a:xfrm>
        </p:spPr>
        <p:txBody>
          <a:bodyPr>
            <a:normAutofit fontScale="70000" lnSpcReduction="20000"/>
          </a:bodyPr>
          <a:lstStyle/>
          <a:p>
            <a:pPr marL="285750" indent="-285750" algn="just">
              <a:lnSpc>
                <a:spcPct val="170000"/>
              </a:lnSpc>
              <a:spcAft>
                <a:spcPts val="1200"/>
              </a:spcAft>
              <a:buFont typeface="Arial"/>
              <a:buChar char="•"/>
              <a:defRPr/>
            </a:pPr>
            <a:r>
              <a:rPr lang="de-DE" sz="3300" b="0" i="0" dirty="0">
                <a:solidFill>
                  <a:srgbClr val="000000"/>
                </a:solidFill>
                <a:latin typeface="Arial"/>
              </a:rPr>
              <a:t>A prerequisite for argumentative writing is to have a position that you want to convince people of. Therefore, formulate your point of view or a thesis before you start writing. (Example: "I am of the opinion that...").</a:t>
            </a:r>
            <a:endParaRPr lang="de-DE" sz="3300" dirty="0">
              <a:latin typeface="Arial"/>
            </a:endParaRPr>
          </a:p>
          <a:p>
            <a:pPr marL="285750" indent="-285750" algn="just">
              <a:lnSpc>
                <a:spcPct val="170000"/>
              </a:lnSpc>
              <a:spcAft>
                <a:spcPts val="1200"/>
              </a:spcAft>
              <a:buFont typeface="Arial"/>
              <a:buChar char="•"/>
              <a:defRPr/>
            </a:pPr>
            <a:r>
              <a:rPr lang="de-DE" sz="3300" b="0" i="0" dirty="0">
                <a:solidFill>
                  <a:srgbClr val="000000"/>
                </a:solidFill>
                <a:latin typeface="Arial"/>
              </a:rPr>
              <a:t>Before you start writing, formulate the aim of your argument (example: "I want to make it clear that ..." / "I want to convince F that ...").</a:t>
            </a:r>
            <a:endParaRPr lang="de-DE" sz="3300" dirty="0">
              <a:latin typeface="Arial"/>
            </a:endParaRPr>
          </a:p>
          <a:p>
            <a:pPr marL="285750" indent="-285750" algn="just">
              <a:lnSpc>
                <a:spcPct val="170000"/>
              </a:lnSpc>
              <a:spcAft>
                <a:spcPts val="1200"/>
              </a:spcAft>
              <a:buFont typeface="Arial"/>
              <a:buChar char="•"/>
              <a:defRPr/>
            </a:pPr>
            <a:r>
              <a:rPr lang="de-DE" sz="3300" b="0" i="0" dirty="0">
                <a:solidFill>
                  <a:srgbClr val="000000"/>
                </a:solidFill>
                <a:latin typeface="Arial"/>
              </a:rPr>
              <a:t>Think about which materials and data you want to use to support your position or thesis (e.g. empirical data, quotes, images, graphics, etc.). Collect and group these materials in such a way that they relate to your argumentative goal</a:t>
            </a:r>
            <a:r>
              <a:rPr lang="de-DE" sz="3300" dirty="0">
                <a:latin typeface="Arial"/>
              </a:rPr>
              <a:t>. </a:t>
            </a:r>
            <a:endParaRPr lang="de-DE" sz="3300" dirty="0"/>
          </a:p>
          <a:p>
            <a:pPr algn="just">
              <a:lnSpc>
                <a:spcPct val="170000"/>
              </a:lnSpc>
              <a:spcAft>
                <a:spcPts val="1200"/>
              </a:spcAft>
              <a:defRPr/>
            </a:pPr>
            <a:r>
              <a:rPr lang="de-DE" sz="3300" dirty="0">
                <a:latin typeface="Arial"/>
              </a:rPr>
              <a:t>(...)</a:t>
            </a:r>
            <a:endParaRPr lang="de-DE" sz="3300" dirty="0"/>
          </a:p>
          <a:p>
            <a:pPr>
              <a:lnSpc>
                <a:spcPct val="170000"/>
              </a:lnSpc>
              <a:spcAft>
                <a:spcPts val="1200"/>
              </a:spcAft>
              <a:defRPr/>
            </a:pPr>
            <a:r>
              <a:rPr lang="de-DE" sz="3300" b="1" dirty="0">
                <a:solidFill>
                  <a:srgbClr val="65979C"/>
                </a:solidFill>
                <a:latin typeface="Arial"/>
              </a:rPr>
              <a:t>Please consult the original material for the continuation of the list (Arguing - First steps)</a:t>
            </a:r>
            <a:br>
              <a:rPr lang="de-DE" sz="1600" dirty="0"/>
            </a:br>
            <a:endParaRPr lang="de-DE" sz="1600" dirty="0"/>
          </a:p>
        </p:txBody>
      </p:sp>
      <p:sp>
        <p:nvSpPr>
          <p:cNvPr id="4" name="TextBox 3">
            <a:extLst>
              <a:ext uri="{FF2B5EF4-FFF2-40B4-BE49-F238E27FC236}">
                <a16:creationId xmlns:a16="http://schemas.microsoft.com/office/drawing/2014/main" id="{2A90506B-1167-6BB4-C21D-2C75AEB7B9C5}"/>
              </a:ext>
            </a:extLst>
          </p:cNvPr>
          <p:cNvSpPr txBox="1"/>
          <p:nvPr/>
        </p:nvSpPr>
        <p:spPr bwMode="auto">
          <a:xfrm>
            <a:off x="4533900" y="2561860"/>
            <a:ext cx="9144000" cy="954107"/>
          </a:xfrm>
          <a:prstGeom prst="rect">
            <a:avLst/>
          </a:prstGeom>
          <a:noFill/>
        </p:spPr>
        <p:txBody>
          <a:bodyPr wrap="square" rtlCol="0">
            <a:spAutoFit/>
          </a:bodyPr>
          <a:lstStyle/>
          <a:p>
            <a:pPr algn="ctr">
              <a:defRPr/>
            </a:pPr>
            <a:r>
              <a:rPr lang="de-DE" sz="2800" b="1" dirty="0">
                <a:solidFill>
                  <a:srgbClr val="7E0D31"/>
                </a:solidFill>
              </a:rPr>
              <a:t>Checklist for your own argumentation (Moll and Thielmann 2017, 181-82)</a:t>
            </a:r>
            <a:endParaRPr lang="de-DE" sz="2000" dirty="0"/>
          </a:p>
        </p:txBody>
      </p:sp>
    </p:spTree>
    <p:extLst>
      <p:ext uri="{BB962C8B-B14F-4D97-AF65-F5344CB8AC3E}">
        <p14:creationId xmlns:p14="http://schemas.microsoft.com/office/powerpoint/2010/main" val="335210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A388ED0-AC49-1010-9C86-7D6C8CB49B1C}"/>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59D06707-191E-5217-2357-53AD83AC3FA0}"/>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t>
            </a:r>
            <a:r>
              <a:rPr lang="de-DE" dirty="0" err="1"/>
              <a:t>argue</a:t>
            </a:r>
            <a:r>
              <a:rPr lang="de-DE" dirty="0"/>
              <a:t>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A20304EE-280A-3584-0C53-BE8345C2261F}"/>
              </a:ext>
            </a:extLst>
          </p:cNvPr>
          <p:cNvSpPr>
            <a:spLocks noGrp="1"/>
          </p:cNvSpPr>
          <p:nvPr>
            <p:ph idx="1"/>
          </p:nvPr>
        </p:nvSpPr>
        <p:spPr bwMode="auto">
          <a:xfrm>
            <a:off x="1524000" y="2882559"/>
            <a:ext cx="15544800" cy="6832941"/>
          </a:xfrm>
        </p:spPr>
        <p:txBody>
          <a:bodyPr>
            <a:normAutofit fontScale="85000" lnSpcReduction="20000"/>
          </a:bodyPr>
          <a:lstStyle/>
          <a:p>
            <a:pPr marL="285750" indent="-285750" algn="just">
              <a:lnSpc>
                <a:spcPct val="170000"/>
              </a:lnSpc>
              <a:spcAft>
                <a:spcPts val="600"/>
              </a:spcAft>
              <a:buFont typeface="Arial"/>
              <a:buChar char="•"/>
              <a:defRPr/>
            </a:pPr>
            <a:r>
              <a:rPr lang="de-DE" dirty="0"/>
              <a:t>Understanding is necessary in order to recognize the strengths and weaknesses of the arguments, among other things.</a:t>
            </a:r>
          </a:p>
          <a:p>
            <a:pPr marL="285750" indent="-285750" algn="just">
              <a:lnSpc>
                <a:spcPct val="170000"/>
              </a:lnSpc>
              <a:spcAft>
                <a:spcPts val="600"/>
              </a:spcAft>
              <a:buFont typeface="Arial"/>
              <a:buChar char="•"/>
              <a:defRPr/>
            </a:pPr>
            <a:r>
              <a:rPr lang="de-DE" dirty="0"/>
              <a:t>Understanding why an argument might be weak is also part of the task.</a:t>
            </a:r>
          </a:p>
          <a:p>
            <a:pPr marL="0" indent="0" algn="just">
              <a:lnSpc>
                <a:spcPct val="170000"/>
              </a:lnSpc>
              <a:spcAft>
                <a:spcPts val="600"/>
              </a:spcAft>
              <a:buNone/>
              <a:defRPr/>
            </a:pPr>
            <a:r>
              <a:rPr lang="de-DE" sz="3200" b="1" dirty="0">
                <a:solidFill>
                  <a:srgbClr val="7E0D31"/>
                </a:solidFill>
              </a:rPr>
              <a:t>	Critical reading</a:t>
            </a:r>
          </a:p>
          <a:p>
            <a:pPr marL="285750" indent="-285750" algn="just">
              <a:lnSpc>
                <a:spcPct val="170000"/>
              </a:lnSpc>
              <a:spcAft>
                <a:spcPts val="600"/>
              </a:spcAft>
              <a:buFont typeface="Arial"/>
              <a:buChar char="•"/>
              <a:defRPr/>
            </a:pPr>
            <a:r>
              <a:rPr lang="de-DE" dirty="0">
                <a:solidFill>
                  <a:schemeClr val="tx1"/>
                </a:solidFill>
              </a:rPr>
              <a:t>Critical reading makes it easier to understand arguments. </a:t>
            </a:r>
            <a:endParaRPr lang="de-DE" dirty="0"/>
          </a:p>
          <a:p>
            <a:pPr marL="285750" indent="-285750" algn="just">
              <a:lnSpc>
                <a:spcPct val="170000"/>
              </a:lnSpc>
              <a:spcAft>
                <a:spcPts val="600"/>
              </a:spcAft>
              <a:buFont typeface="Arial"/>
              <a:buChar char="•"/>
              <a:defRPr/>
            </a:pPr>
            <a:r>
              <a:rPr lang="de-DE" dirty="0">
                <a:solidFill>
                  <a:schemeClr val="tx1"/>
                </a:solidFill>
              </a:rPr>
              <a:t>As you read, ask yourself questions like "What is the author trying to prove?" and "Do you agree with the author?". Does the author adequately justify their argument? (...) </a:t>
            </a:r>
          </a:p>
          <a:p>
            <a:pPr marL="285750" indent="-285750" algn="just">
              <a:lnSpc>
                <a:spcPct val="170000"/>
              </a:lnSpc>
              <a:spcAft>
                <a:spcPts val="600"/>
              </a:spcAft>
              <a:defRPr/>
            </a:pPr>
            <a:r>
              <a:rPr lang="de-DE" sz="2800" dirty="0">
                <a:solidFill>
                  <a:schemeClr val="tx1"/>
                </a:solidFill>
              </a:rPr>
              <a:t>As </a:t>
            </a:r>
            <a:r>
              <a:rPr lang="de-DE" sz="2800" dirty="0" err="1">
                <a:solidFill>
                  <a:schemeClr val="tx1"/>
                </a:solidFill>
              </a:rPr>
              <a:t>you</a:t>
            </a:r>
            <a:r>
              <a:rPr lang="de-DE" sz="2800" dirty="0">
                <a:solidFill>
                  <a:schemeClr val="tx1"/>
                </a:solidFill>
              </a:rPr>
              <a:t> </a:t>
            </a:r>
            <a:r>
              <a:rPr lang="de-DE" sz="2800" dirty="0" err="1">
                <a:solidFill>
                  <a:schemeClr val="tx1"/>
                </a:solidFill>
              </a:rPr>
              <a:t>become</a:t>
            </a:r>
            <a:r>
              <a:rPr lang="de-DE" sz="2800" dirty="0">
                <a:solidFill>
                  <a:schemeClr val="tx1"/>
                </a:solidFill>
              </a:rPr>
              <a:t> </a:t>
            </a:r>
            <a:r>
              <a:rPr lang="de-DE" sz="2800" dirty="0" err="1">
                <a:solidFill>
                  <a:schemeClr val="tx1"/>
                </a:solidFill>
              </a:rPr>
              <a:t>accustomed</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reading</a:t>
            </a:r>
            <a:r>
              <a:rPr lang="de-DE" sz="2800" dirty="0">
                <a:solidFill>
                  <a:schemeClr val="tx1"/>
                </a:solidFill>
              </a:rPr>
              <a:t> </a:t>
            </a:r>
            <a:r>
              <a:rPr lang="de-DE" sz="2800" dirty="0" err="1">
                <a:solidFill>
                  <a:schemeClr val="tx1"/>
                </a:solidFill>
              </a:rPr>
              <a:t>critically</a:t>
            </a:r>
            <a:r>
              <a:rPr lang="de-DE" sz="2800" dirty="0">
                <a:solidFill>
                  <a:schemeClr val="tx1"/>
                </a:solidFill>
              </a:rPr>
              <a:t>, </a:t>
            </a:r>
            <a:r>
              <a:rPr lang="de-DE" sz="2800" dirty="0" err="1">
                <a:solidFill>
                  <a:schemeClr val="tx1"/>
                </a:solidFill>
              </a:rPr>
              <a:t>you</a:t>
            </a:r>
            <a:r>
              <a:rPr lang="de-DE" sz="2800" dirty="0">
                <a:solidFill>
                  <a:schemeClr val="tx1"/>
                </a:solidFill>
              </a:rPr>
              <a:t> will </a:t>
            </a:r>
            <a:r>
              <a:rPr lang="de-DE" sz="2800" dirty="0" err="1">
                <a:solidFill>
                  <a:schemeClr val="tx1"/>
                </a:solidFill>
              </a:rPr>
              <a:t>begin</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recognize</a:t>
            </a:r>
            <a:r>
              <a:rPr lang="de-DE" sz="2800" dirty="0">
                <a:solidFill>
                  <a:schemeClr val="tx1"/>
                </a:solidFill>
              </a:rPr>
              <a:t> </a:t>
            </a:r>
            <a:r>
              <a:rPr lang="de-DE" sz="2800" dirty="0" err="1">
                <a:solidFill>
                  <a:schemeClr val="tx1"/>
                </a:solidFill>
              </a:rPr>
              <a:t>the</a:t>
            </a:r>
            <a:r>
              <a:rPr lang="de-DE" sz="2800" dirty="0">
                <a:solidFill>
                  <a:schemeClr val="tx1"/>
                </a:solidFill>
              </a:rPr>
              <a:t> </a:t>
            </a:r>
            <a:r>
              <a:rPr lang="de-DE" sz="2800" dirty="0" err="1">
                <a:solidFill>
                  <a:schemeClr val="tx1"/>
                </a:solidFill>
              </a:rPr>
              <a:t>sometimes</a:t>
            </a:r>
            <a:r>
              <a:rPr lang="de-DE" sz="2800" dirty="0">
                <a:solidFill>
                  <a:schemeClr val="tx1"/>
                </a:solidFill>
              </a:rPr>
              <a:t> </a:t>
            </a:r>
            <a:r>
              <a:rPr lang="de-DE" sz="2800" dirty="0" err="1">
                <a:solidFill>
                  <a:schemeClr val="tx1"/>
                </a:solidFill>
              </a:rPr>
              <a:t>hidden</a:t>
            </a:r>
            <a:r>
              <a:rPr lang="de-DE" sz="2800" dirty="0">
                <a:solidFill>
                  <a:schemeClr val="tx1"/>
                </a:solidFill>
              </a:rPr>
              <a:t> </a:t>
            </a:r>
            <a:r>
              <a:rPr lang="de-DE" sz="2800" dirty="0" err="1">
                <a:solidFill>
                  <a:schemeClr val="tx1"/>
                </a:solidFill>
              </a:rPr>
              <a:t>intentions</a:t>
            </a:r>
            <a:r>
              <a:rPr lang="de-DE" sz="2800" dirty="0">
                <a:solidFill>
                  <a:schemeClr val="tx1"/>
                </a:solidFill>
              </a:rPr>
              <a:t> of </a:t>
            </a:r>
            <a:r>
              <a:rPr lang="de-DE" sz="2800" dirty="0" err="1">
                <a:solidFill>
                  <a:schemeClr val="tx1"/>
                </a:solidFill>
              </a:rPr>
              <a:t>other</a:t>
            </a:r>
            <a:r>
              <a:rPr lang="de-DE" sz="2800" dirty="0">
                <a:solidFill>
                  <a:schemeClr val="tx1"/>
                </a:solidFill>
              </a:rPr>
              <a:t> </a:t>
            </a:r>
            <a:r>
              <a:rPr lang="de-DE" sz="2800" dirty="0" err="1">
                <a:solidFill>
                  <a:schemeClr val="tx1"/>
                </a:solidFill>
              </a:rPr>
              <a:t>writers</a:t>
            </a:r>
            <a:r>
              <a:rPr lang="de-DE" sz="2800" dirty="0">
                <a:solidFill>
                  <a:schemeClr val="tx1"/>
                </a:solidFill>
              </a:rPr>
              <a:t>, and </a:t>
            </a:r>
            <a:r>
              <a:rPr lang="de-DE" sz="2800" dirty="0" err="1">
                <a:solidFill>
                  <a:schemeClr val="tx1"/>
                </a:solidFill>
              </a:rPr>
              <a:t>you</a:t>
            </a:r>
            <a:r>
              <a:rPr lang="de-DE" sz="2800" dirty="0">
                <a:solidFill>
                  <a:schemeClr val="tx1"/>
                </a:solidFill>
              </a:rPr>
              <a:t> </a:t>
            </a:r>
            <a:r>
              <a:rPr lang="de-DE" sz="2800" dirty="0" err="1">
                <a:solidFill>
                  <a:schemeClr val="tx1"/>
                </a:solidFill>
              </a:rPr>
              <a:t>can</a:t>
            </a:r>
            <a:r>
              <a:rPr lang="de-DE" sz="2800" dirty="0">
                <a:solidFill>
                  <a:schemeClr val="tx1"/>
                </a:solidFill>
              </a:rPr>
              <a:t> </a:t>
            </a:r>
            <a:r>
              <a:rPr lang="de-DE" sz="2800" dirty="0" err="1">
                <a:solidFill>
                  <a:schemeClr val="tx1"/>
                </a:solidFill>
              </a:rPr>
              <a:t>use</a:t>
            </a:r>
            <a:r>
              <a:rPr lang="de-DE" sz="2800" dirty="0">
                <a:solidFill>
                  <a:schemeClr val="tx1"/>
                </a:solidFill>
              </a:rPr>
              <a:t> </a:t>
            </a:r>
            <a:r>
              <a:rPr lang="de-DE" sz="2800" dirty="0" err="1">
                <a:solidFill>
                  <a:schemeClr val="tx1"/>
                </a:solidFill>
              </a:rPr>
              <a:t>this</a:t>
            </a:r>
            <a:r>
              <a:rPr lang="de-DE" sz="2800" dirty="0">
                <a:solidFill>
                  <a:schemeClr val="tx1"/>
                </a:solidFill>
              </a:rPr>
              <a:t> </a:t>
            </a:r>
            <a:r>
              <a:rPr lang="de-DE" sz="2800" dirty="0" err="1">
                <a:solidFill>
                  <a:schemeClr val="tx1"/>
                </a:solidFill>
              </a:rPr>
              <a:t>skill</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improve</a:t>
            </a:r>
            <a:r>
              <a:rPr lang="de-DE" sz="2800" dirty="0">
                <a:solidFill>
                  <a:schemeClr val="tx1"/>
                </a:solidFill>
              </a:rPr>
              <a:t> </a:t>
            </a:r>
            <a:r>
              <a:rPr lang="de-DE" sz="2800" dirty="0" err="1">
                <a:solidFill>
                  <a:schemeClr val="tx1"/>
                </a:solidFill>
              </a:rPr>
              <a:t>your</a:t>
            </a:r>
            <a:r>
              <a:rPr lang="de-DE" sz="2800" dirty="0">
                <a:solidFill>
                  <a:schemeClr val="tx1"/>
                </a:solidFill>
              </a:rPr>
              <a:t> own </a:t>
            </a:r>
            <a:r>
              <a:rPr lang="de-DE" sz="2800" dirty="0" err="1">
                <a:solidFill>
                  <a:schemeClr val="tx1"/>
                </a:solidFill>
              </a:rPr>
              <a:t>ability</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formulate</a:t>
            </a:r>
            <a:r>
              <a:rPr lang="de-DE" sz="2800" dirty="0">
                <a:solidFill>
                  <a:schemeClr val="tx1"/>
                </a:solidFill>
              </a:rPr>
              <a:t> </a:t>
            </a:r>
            <a:r>
              <a:rPr lang="de-DE" sz="2800" dirty="0" err="1">
                <a:solidFill>
                  <a:schemeClr val="tx1"/>
                </a:solidFill>
              </a:rPr>
              <a:t>effective</a:t>
            </a:r>
            <a:r>
              <a:rPr lang="de-DE" sz="2800" dirty="0">
                <a:solidFill>
                  <a:schemeClr val="tx1"/>
                </a:solidFill>
              </a:rPr>
              <a:t> </a:t>
            </a:r>
            <a:r>
              <a:rPr lang="de-DE" sz="2800" dirty="0" err="1">
                <a:solidFill>
                  <a:schemeClr val="tx1"/>
                </a:solidFill>
              </a:rPr>
              <a:t>arguments</a:t>
            </a:r>
            <a:r>
              <a:rPr lang="de-DE" sz="2800" dirty="0">
                <a:solidFill>
                  <a:schemeClr val="tx1"/>
                </a:solidFill>
              </a:rPr>
              <a:t>." (UNC-Chapel Hill Writing Center, 2021 - own </a:t>
            </a:r>
            <a:r>
              <a:rPr lang="de-DE" sz="2800" dirty="0" err="1">
                <a:solidFill>
                  <a:schemeClr val="tx1"/>
                </a:solidFill>
              </a:rPr>
              <a:t>translation</a:t>
            </a:r>
            <a:r>
              <a:rPr lang="de-DE" sz="2800" dirty="0">
                <a:solidFill>
                  <a:schemeClr val="tx1"/>
                </a:solidFill>
              </a:rPr>
              <a:t>)</a:t>
            </a:r>
            <a:endParaRPr lang="de-DE" sz="2800" dirty="0"/>
          </a:p>
          <a:p>
            <a:pPr marL="285750" indent="-285750" algn="just">
              <a:lnSpc>
                <a:spcPct val="170000"/>
              </a:lnSpc>
              <a:spcAft>
                <a:spcPts val="600"/>
              </a:spcAft>
              <a:buFont typeface="Arial"/>
              <a:buChar char="•"/>
              <a:defRPr/>
            </a:pPr>
            <a:endParaRPr lang="de-DE" dirty="0"/>
          </a:p>
        </p:txBody>
      </p:sp>
    </p:spTree>
    <p:extLst>
      <p:ext uri="{BB962C8B-B14F-4D97-AF65-F5344CB8AC3E}">
        <p14:creationId xmlns:p14="http://schemas.microsoft.com/office/powerpoint/2010/main" val="1219506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4BBF4C0-59EF-56B5-2B9C-E7ADC6596F44}"/>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2434A21B-A575-4507-53D4-7713A18D6BF4}"/>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deal with an argument in </a:t>
            </a:r>
            <a:r>
              <a:rPr lang="de-DE" dirty="0" err="1"/>
              <a:t>other</a:t>
            </a:r>
            <a:r>
              <a:rPr lang="de-DE" dirty="0"/>
              <a:t> </a:t>
            </a:r>
            <a:r>
              <a:rPr lang="de-DE" dirty="0" err="1"/>
              <a:t>texts</a:t>
            </a:r>
            <a:endParaRPr lang="de-DE" dirty="0"/>
          </a:p>
        </p:txBody>
      </p:sp>
      <p:sp>
        <p:nvSpPr>
          <p:cNvPr id="4" name="TextBox 3">
            <a:extLst>
              <a:ext uri="{FF2B5EF4-FFF2-40B4-BE49-F238E27FC236}">
                <a16:creationId xmlns:a16="http://schemas.microsoft.com/office/drawing/2014/main" id="{AD8CA377-F642-9346-42CB-98C7B0B8D637}"/>
              </a:ext>
            </a:extLst>
          </p:cNvPr>
          <p:cNvSpPr txBox="1"/>
          <p:nvPr/>
        </p:nvSpPr>
        <p:spPr bwMode="auto">
          <a:xfrm>
            <a:off x="1912102" y="2367632"/>
            <a:ext cx="11353639" cy="3584379"/>
          </a:xfrm>
          <a:prstGeom prst="rect">
            <a:avLst/>
          </a:prstGeom>
          <a:noFill/>
        </p:spPr>
        <p:txBody>
          <a:bodyPr wrap="square" rtlCol="0">
            <a:spAutoFit/>
          </a:bodyPr>
          <a:lstStyle/>
          <a:p>
            <a:pPr>
              <a:lnSpc>
                <a:spcPct val="150000"/>
              </a:lnSpc>
              <a:defRPr/>
            </a:pPr>
            <a:r>
              <a:rPr lang="en-GB" sz="2200" b="1" i="1" dirty="0">
                <a:solidFill>
                  <a:srgbClr val="7E0D31"/>
                </a:solidFill>
                <a:latin typeface="Arial"/>
              </a:rPr>
              <a:t>Thesis and Claims</a:t>
            </a:r>
            <a:br>
              <a:rPr lang="en-GB" sz="2200" b="0" i="1" dirty="0">
                <a:solidFill>
                  <a:srgbClr val="000000"/>
                </a:solidFill>
                <a:latin typeface="Arial"/>
              </a:rPr>
            </a:br>
            <a:r>
              <a:rPr lang="en-GB" sz="2200" b="0" i="0" dirty="0">
                <a:solidFill>
                  <a:srgbClr val="000000"/>
                </a:solidFill>
                <a:latin typeface="Arial"/>
              </a:rPr>
              <a:t>□ Is the author's claim or thesis clear?</a:t>
            </a:r>
            <a:br>
              <a:rPr lang="en-GB" sz="2200" b="0" i="0" dirty="0">
                <a:solidFill>
                  <a:srgbClr val="000000"/>
                </a:solidFill>
                <a:latin typeface="Arial"/>
              </a:rPr>
            </a:br>
            <a:r>
              <a:rPr lang="en-GB" sz="2200" b="0" i="0" dirty="0">
                <a:solidFill>
                  <a:srgbClr val="000000"/>
                </a:solidFill>
                <a:latin typeface="Arial"/>
              </a:rPr>
              <a:t>□ Are any parts of the argument based on logos, pathos, or ethos?</a:t>
            </a:r>
            <a:br>
              <a:rPr lang="en-GB" sz="2200" b="0" i="0" dirty="0">
                <a:solidFill>
                  <a:srgbClr val="000000"/>
                </a:solidFill>
                <a:latin typeface="Arial"/>
              </a:rPr>
            </a:br>
            <a:r>
              <a:rPr lang="en-GB" sz="2200" b="0" i="0" dirty="0">
                <a:solidFill>
                  <a:srgbClr val="000000"/>
                </a:solidFill>
                <a:latin typeface="Arial"/>
              </a:rPr>
              <a:t>□ Are any premises false or questionable?</a:t>
            </a:r>
            <a:br>
              <a:rPr lang="en-GB" sz="2200" b="0" i="0" dirty="0">
                <a:solidFill>
                  <a:srgbClr val="000000"/>
                </a:solidFill>
                <a:latin typeface="Arial"/>
              </a:rPr>
            </a:br>
            <a:r>
              <a:rPr lang="en-GB" sz="2200" b="0" i="0" dirty="0">
                <a:solidFill>
                  <a:srgbClr val="000000"/>
                </a:solidFill>
                <a:latin typeface="Arial"/>
              </a:rPr>
              <a:t>□ Is the logic - deductive or inductive - valid?</a:t>
            </a:r>
            <a:br>
              <a:rPr lang="en-GB" sz="2200" b="0" i="0" dirty="0">
                <a:solidFill>
                  <a:srgbClr val="000000"/>
                </a:solidFill>
                <a:latin typeface="Arial"/>
              </a:rPr>
            </a:br>
            <a:r>
              <a:rPr lang="en-GB" sz="2200" b="0" i="0" dirty="0">
                <a:solidFill>
                  <a:srgbClr val="000000"/>
                </a:solidFill>
                <a:latin typeface="Arial"/>
              </a:rPr>
              <a:t>□ Are important terms and concepts defined satisfactorily?</a:t>
            </a:r>
            <a:br>
              <a:rPr lang="en-GB" sz="2200" b="0" i="0" dirty="0">
                <a:solidFill>
                  <a:srgbClr val="000000"/>
                </a:solidFill>
                <a:latin typeface="Arial"/>
              </a:rPr>
            </a:br>
            <a:r>
              <a:rPr lang="en-GB" sz="2200" b="0" i="0" dirty="0">
                <a:solidFill>
                  <a:srgbClr val="000000"/>
                </a:solidFill>
                <a:latin typeface="Arial"/>
              </a:rPr>
              <a:t>□ Does the writer make assumptions that are problematic for his or her argument?</a:t>
            </a:r>
            <a:r>
              <a:rPr lang="en-GB" sz="2200" dirty="0">
                <a:latin typeface="Arial"/>
              </a:rPr>
              <a:t>  </a:t>
            </a:r>
          </a:p>
        </p:txBody>
      </p:sp>
      <p:sp>
        <p:nvSpPr>
          <p:cNvPr id="5" name="TextBox 4">
            <a:extLst>
              <a:ext uri="{FF2B5EF4-FFF2-40B4-BE49-F238E27FC236}">
                <a16:creationId xmlns:a16="http://schemas.microsoft.com/office/drawing/2014/main" id="{2A8DFF55-C7F7-3CA6-691C-E1FE64C3B56C}"/>
              </a:ext>
            </a:extLst>
          </p:cNvPr>
          <p:cNvSpPr txBox="1"/>
          <p:nvPr/>
        </p:nvSpPr>
        <p:spPr bwMode="auto">
          <a:xfrm>
            <a:off x="1944000" y="5808816"/>
            <a:ext cx="11848200" cy="3076548"/>
          </a:xfrm>
          <a:prstGeom prst="rect">
            <a:avLst/>
          </a:prstGeom>
          <a:noFill/>
        </p:spPr>
        <p:txBody>
          <a:bodyPr wrap="square" rtlCol="0">
            <a:spAutoFit/>
          </a:bodyPr>
          <a:lstStyle/>
          <a:p>
            <a:pPr>
              <a:lnSpc>
                <a:spcPct val="150000"/>
              </a:lnSpc>
              <a:defRPr/>
            </a:pPr>
            <a:r>
              <a:rPr lang="en-GB" sz="2200" b="1" i="1" dirty="0">
                <a:solidFill>
                  <a:srgbClr val="65979C"/>
                </a:solidFill>
                <a:latin typeface="Arial"/>
              </a:rPr>
              <a:t>Support and Evidence</a:t>
            </a:r>
            <a:br>
              <a:rPr lang="en-GB" sz="2200" b="0" i="1" dirty="0">
                <a:solidFill>
                  <a:srgbClr val="000000"/>
                </a:solidFill>
                <a:latin typeface="Arial"/>
              </a:rPr>
            </a:br>
            <a:r>
              <a:rPr lang="en-GB" sz="2200" b="0" i="0" dirty="0">
                <a:solidFill>
                  <a:srgbClr val="000000"/>
                </a:solidFill>
                <a:latin typeface="Arial"/>
              </a:rPr>
              <a:t>□ Does the writer use evidence to support his or her claims?</a:t>
            </a:r>
            <a:br>
              <a:rPr lang="en-GB" sz="2200" b="0" i="0" dirty="0">
                <a:solidFill>
                  <a:srgbClr val="000000"/>
                </a:solidFill>
                <a:latin typeface="Arial"/>
              </a:rPr>
            </a:br>
            <a:r>
              <a:rPr lang="en-GB" sz="2200" b="0" i="0" dirty="0">
                <a:solidFill>
                  <a:srgbClr val="000000"/>
                </a:solidFill>
                <a:latin typeface="Arial"/>
              </a:rPr>
              <a:t>□ Are the examples - imagined, invented, or hypothetical - relevant and convincing?</a:t>
            </a:r>
            <a:br>
              <a:rPr lang="en-GB" sz="2200" b="0" i="0" dirty="0">
                <a:solidFill>
                  <a:srgbClr val="000000"/>
                </a:solidFill>
                <a:latin typeface="Arial"/>
              </a:rPr>
            </a:br>
            <a:r>
              <a:rPr lang="en-GB" sz="2200" b="0" i="0" dirty="0">
                <a:solidFill>
                  <a:srgbClr val="000000"/>
                </a:solidFill>
                <a:latin typeface="Arial"/>
              </a:rPr>
              <a:t>□ Are the statistics (if any) relevant, accurate, and complete?</a:t>
            </a:r>
            <a:br>
              <a:rPr lang="en-GB" sz="2200" b="0" i="0" dirty="0">
                <a:solidFill>
                  <a:srgbClr val="000000"/>
                </a:solidFill>
                <a:latin typeface="Arial"/>
              </a:rPr>
            </a:br>
            <a:r>
              <a:rPr lang="en-GB" sz="2200" b="0" i="0" dirty="0">
                <a:solidFill>
                  <a:srgbClr val="000000"/>
                </a:solidFill>
                <a:latin typeface="Arial"/>
              </a:rPr>
              <a:t>□ Are other interpretations of evidence possible?</a:t>
            </a:r>
            <a:br>
              <a:rPr lang="en-GB" sz="2200" b="0" i="0" dirty="0">
                <a:solidFill>
                  <a:srgbClr val="000000"/>
                </a:solidFill>
                <a:latin typeface="Arial"/>
              </a:rPr>
            </a:br>
            <a:r>
              <a:rPr lang="en-GB" sz="2200" b="0" i="0" dirty="0">
                <a:solidFill>
                  <a:srgbClr val="000000"/>
                </a:solidFill>
                <a:latin typeface="Arial"/>
              </a:rPr>
              <a:t>□ Can authorities who offer evidence be considered impartial</a:t>
            </a:r>
            <a:r>
              <a:rPr lang="en-GB" sz="2200" dirty="0">
                <a:latin typeface="Arial"/>
              </a:rPr>
              <a:t>? </a:t>
            </a:r>
            <a:endParaRPr lang="en-GB" sz="2200" dirty="0"/>
          </a:p>
        </p:txBody>
      </p:sp>
      <p:sp>
        <p:nvSpPr>
          <p:cNvPr id="6" name="TextBox 5">
            <a:extLst>
              <a:ext uri="{FF2B5EF4-FFF2-40B4-BE49-F238E27FC236}">
                <a16:creationId xmlns:a16="http://schemas.microsoft.com/office/drawing/2014/main" id="{CBF0AA95-0C49-FD6A-4644-FE4143D52CE6}"/>
              </a:ext>
            </a:extLst>
          </p:cNvPr>
          <p:cNvSpPr txBox="1"/>
          <p:nvPr/>
        </p:nvSpPr>
        <p:spPr bwMode="auto">
          <a:xfrm>
            <a:off x="1951088" y="8733946"/>
            <a:ext cx="12725400" cy="1553054"/>
          </a:xfrm>
          <a:prstGeom prst="rect">
            <a:avLst/>
          </a:prstGeom>
          <a:noFill/>
        </p:spPr>
        <p:txBody>
          <a:bodyPr wrap="square" rtlCol="0">
            <a:spAutoFit/>
          </a:bodyPr>
          <a:lstStyle/>
          <a:p>
            <a:pPr>
              <a:lnSpc>
                <a:spcPct val="150000"/>
              </a:lnSpc>
              <a:defRPr/>
            </a:pPr>
            <a:r>
              <a:rPr lang="en-GB" sz="2200" b="1" i="1" dirty="0">
                <a:solidFill>
                  <a:srgbClr val="F6C782"/>
                </a:solidFill>
                <a:latin typeface="Arial"/>
              </a:rPr>
              <a:t>Fairness</a:t>
            </a:r>
            <a:br>
              <a:rPr lang="en-GB" sz="2200" b="0" i="1" dirty="0">
                <a:solidFill>
                  <a:srgbClr val="000000"/>
                </a:solidFill>
                <a:latin typeface="Arial"/>
              </a:rPr>
            </a:br>
            <a:r>
              <a:rPr lang="en-GB" sz="2200" b="0" i="0" dirty="0">
                <a:solidFill>
                  <a:srgbClr val="000000"/>
                </a:solidFill>
                <a:latin typeface="Arial"/>
              </a:rPr>
              <a:t>□ Are alternative viewpoints and counterexamples adequately considered?</a:t>
            </a:r>
            <a:br>
              <a:rPr lang="en-GB" sz="2200" b="0" i="0" dirty="0">
                <a:solidFill>
                  <a:srgbClr val="000000"/>
                </a:solidFill>
                <a:latin typeface="Arial"/>
              </a:rPr>
            </a:br>
            <a:r>
              <a:rPr lang="en-GB" sz="2200" b="0" i="0" dirty="0">
                <a:solidFill>
                  <a:srgbClr val="000000"/>
                </a:solidFill>
                <a:latin typeface="Arial"/>
              </a:rPr>
              <a:t>□ Is the writer's tone and use of language appropriate to the subject and the audience</a:t>
            </a:r>
            <a:r>
              <a:rPr lang="en-GB" sz="2200" dirty="0">
                <a:latin typeface="Arial"/>
              </a:rPr>
              <a:t>? </a:t>
            </a:r>
            <a:endParaRPr lang="en-GB" sz="2200" dirty="0"/>
          </a:p>
        </p:txBody>
      </p:sp>
      <p:sp>
        <p:nvSpPr>
          <p:cNvPr id="7" name="TextBox 6">
            <a:extLst>
              <a:ext uri="{FF2B5EF4-FFF2-40B4-BE49-F238E27FC236}">
                <a16:creationId xmlns:a16="http://schemas.microsoft.com/office/drawing/2014/main" id="{F444783C-D3ED-778E-D580-E627B276FA7D}"/>
              </a:ext>
            </a:extLst>
          </p:cNvPr>
          <p:cNvSpPr txBox="1"/>
          <p:nvPr/>
        </p:nvSpPr>
        <p:spPr bwMode="auto">
          <a:xfrm>
            <a:off x="11277600" y="3930753"/>
            <a:ext cx="6069118" cy="830997"/>
          </a:xfrm>
          <a:prstGeom prst="rect">
            <a:avLst/>
          </a:prstGeom>
          <a:noFill/>
        </p:spPr>
        <p:txBody>
          <a:bodyPr wrap="square" rtlCol="0">
            <a:spAutoFit/>
          </a:bodyPr>
          <a:lstStyle/>
          <a:p>
            <a:pPr algn="ctr">
              <a:defRPr/>
            </a:pPr>
            <a:r>
              <a:rPr lang="de-DE" sz="2400" b="1" dirty="0">
                <a:solidFill>
                  <a:srgbClr val="7E0D31"/>
                </a:solidFill>
              </a:rPr>
              <a:t>Checklist for analyzing an argument</a:t>
            </a:r>
            <a:endParaRPr sz="2400" dirty="0"/>
          </a:p>
          <a:p>
            <a:pPr algn="ctr">
              <a:defRPr/>
            </a:pPr>
            <a:r>
              <a:rPr lang="en-GB" sz="2400" b="1" dirty="0">
                <a:solidFill>
                  <a:srgbClr val="7E0D31"/>
                </a:solidFill>
              </a:rPr>
              <a:t>Barnet et al, 2005</a:t>
            </a:r>
            <a:endParaRPr sz="2400" dirty="0"/>
          </a:p>
        </p:txBody>
      </p:sp>
    </p:spTree>
    <p:extLst>
      <p:ext uri="{BB962C8B-B14F-4D97-AF65-F5344CB8AC3E}">
        <p14:creationId xmlns:p14="http://schemas.microsoft.com/office/powerpoint/2010/main" val="398917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9EBED6D-264B-2940-0DE8-1D11BB8BF061}"/>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F0E35D7E-7A61-4B7E-0E86-2942301179D6}"/>
              </a:ext>
            </a:extLst>
          </p:cNvPr>
          <p:cNvSpPr>
            <a:spLocks noGrp="1"/>
          </p:cNvSpPr>
          <p:nvPr>
            <p:ph type="title"/>
          </p:nvPr>
        </p:nvSpPr>
        <p:spPr bwMode="auto"/>
        <p:txBody>
          <a:bodyPr>
            <a:normAutofit/>
          </a:bodyPr>
          <a:lstStyle/>
          <a:p>
            <a:pPr>
              <a:defRPr/>
            </a:pPr>
            <a:r>
              <a:rPr lang="de-DE" sz="6000" dirty="0"/>
              <a:t>Exercise</a:t>
            </a:r>
          </a:p>
        </p:txBody>
      </p:sp>
      <p:sp>
        <p:nvSpPr>
          <p:cNvPr id="3" name="Inhaltsplatzhalter 2">
            <a:extLst>
              <a:ext uri="{FF2B5EF4-FFF2-40B4-BE49-F238E27FC236}">
                <a16:creationId xmlns:a16="http://schemas.microsoft.com/office/drawing/2014/main" id="{0D2715D4-B175-0B94-AC52-16F179E8B80E}"/>
              </a:ext>
            </a:extLst>
          </p:cNvPr>
          <p:cNvSpPr>
            <a:spLocks noGrp="1"/>
          </p:cNvSpPr>
          <p:nvPr>
            <p:ph idx="1"/>
          </p:nvPr>
        </p:nvSpPr>
        <p:spPr bwMode="auto">
          <a:xfrm>
            <a:off x="2762700" y="2933700"/>
            <a:ext cx="12762600" cy="6480000"/>
          </a:xfrm>
        </p:spPr>
        <p:txBody>
          <a:bodyPr>
            <a:normAutofit/>
          </a:bodyPr>
          <a:lstStyle/>
          <a:p>
            <a:pPr marL="0" indent="0" algn="ctr">
              <a:lnSpc>
                <a:spcPct val="150000"/>
              </a:lnSpc>
              <a:buNone/>
              <a:defRPr/>
            </a:pPr>
            <a:r>
              <a:rPr lang="de-DE" sz="4000" b="0" i="0" u="none" strike="noStrike" baseline="0" dirty="0"/>
              <a:t>Go </a:t>
            </a:r>
            <a:r>
              <a:rPr lang="de-DE" sz="4000" b="0" i="0" u="none" strike="noStrike" baseline="0" dirty="0" err="1"/>
              <a:t>through</a:t>
            </a:r>
            <a:r>
              <a:rPr lang="de-DE" sz="4000" b="0" i="0" u="none" strike="noStrike" baseline="0" dirty="0"/>
              <a:t> </a:t>
            </a:r>
            <a:r>
              <a:rPr lang="de-DE" sz="4000" b="0" i="0" u="none" strike="noStrike" baseline="0" dirty="0" err="1"/>
              <a:t>the</a:t>
            </a:r>
            <a:r>
              <a:rPr lang="de-DE" sz="4000" b="0" i="0" u="none" strike="noStrike" baseline="0" dirty="0"/>
              <a:t> </a:t>
            </a:r>
            <a:r>
              <a:rPr lang="de-DE" sz="4000" b="0" i="0" u="none" strike="noStrike" baseline="0" dirty="0" err="1"/>
              <a:t>checklist</a:t>
            </a:r>
            <a:r>
              <a:rPr lang="de-DE" sz="4000" b="0" i="0" u="none" strike="noStrike" baseline="0" dirty="0"/>
              <a:t> for your own argumentation</a:t>
            </a:r>
          </a:p>
          <a:p>
            <a:pPr marL="0" indent="0" algn="ctr">
              <a:lnSpc>
                <a:spcPct val="150000"/>
              </a:lnSpc>
              <a:buNone/>
              <a:defRPr/>
            </a:pPr>
            <a:r>
              <a:rPr lang="de-DE" sz="4000" dirty="0"/>
              <a:t>or</a:t>
            </a:r>
            <a:endParaRPr lang="de-DE" sz="4000" b="0" i="0" u="none" strike="noStrike" baseline="0" dirty="0"/>
          </a:p>
          <a:p>
            <a:pPr marL="0" indent="0" algn="ctr">
              <a:lnSpc>
                <a:spcPct val="150000"/>
              </a:lnSpc>
              <a:buNone/>
              <a:defRPr/>
            </a:pPr>
            <a:r>
              <a:rPr lang="de-DE" sz="4000" dirty="0"/>
              <a:t>Go </a:t>
            </a:r>
            <a:r>
              <a:rPr lang="de-DE" sz="4000" dirty="0" err="1"/>
              <a:t>through</a:t>
            </a:r>
            <a:r>
              <a:rPr lang="de-DE" sz="4000" dirty="0"/>
              <a:t> </a:t>
            </a:r>
            <a:r>
              <a:rPr lang="de-DE" sz="4000" dirty="0" err="1"/>
              <a:t>the</a:t>
            </a:r>
            <a:r>
              <a:rPr lang="de-DE" sz="4000" dirty="0"/>
              <a:t> </a:t>
            </a:r>
            <a:r>
              <a:rPr lang="de-DE" sz="4000" dirty="0" err="1"/>
              <a:t>challenges</a:t>
            </a:r>
            <a:r>
              <a:rPr lang="de-DE" sz="4000" dirty="0"/>
              <a:t> of arguing</a:t>
            </a:r>
            <a:endParaRPr lang="de-DE" sz="5400" dirty="0"/>
          </a:p>
        </p:txBody>
      </p:sp>
    </p:spTree>
    <p:extLst>
      <p:ext uri="{BB962C8B-B14F-4D97-AF65-F5344CB8AC3E}">
        <p14:creationId xmlns:p14="http://schemas.microsoft.com/office/powerpoint/2010/main" val="2873288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36EF92D-78A8-DA08-3F90-13EEFC8C29AC}"/>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C7FD6C8D-FD49-A590-E63C-51BA47B90417}"/>
              </a:ext>
            </a:extLst>
          </p:cNvPr>
          <p:cNvSpPr>
            <a:spLocks noGrp="1"/>
          </p:cNvSpPr>
          <p:nvPr>
            <p:ph type="title"/>
          </p:nvPr>
        </p:nvSpPr>
        <p:spPr bwMode="auto"/>
        <p:txBody>
          <a:bodyPr/>
          <a:lstStyle/>
          <a:p>
            <a:pPr>
              <a:defRPr/>
            </a:pPr>
            <a:r>
              <a:rPr lang="de-DE" dirty="0"/>
              <a:t>Sources</a:t>
            </a:r>
          </a:p>
        </p:txBody>
      </p:sp>
      <p:sp>
        <p:nvSpPr>
          <p:cNvPr id="3" name="Inhaltsplatzhalter 2">
            <a:extLst>
              <a:ext uri="{FF2B5EF4-FFF2-40B4-BE49-F238E27FC236}">
                <a16:creationId xmlns:a16="http://schemas.microsoft.com/office/drawing/2014/main" id="{CFD5DD6C-D7EA-DCB6-4A96-77068D21F6D0}"/>
              </a:ext>
            </a:extLst>
          </p:cNvPr>
          <p:cNvSpPr>
            <a:spLocks noGrp="1"/>
          </p:cNvSpPr>
          <p:nvPr>
            <p:ph idx="1"/>
          </p:nvPr>
        </p:nvSpPr>
        <p:spPr bwMode="auto"/>
        <p:txBody>
          <a:bodyPr/>
          <a:lstStyle/>
          <a:p>
            <a:pPr>
              <a:defRPr/>
            </a:pPr>
            <a:r>
              <a:rPr lang="de-DE" sz="2800" dirty="0" err="1"/>
              <a:t>Dutilh Novaes</a:t>
            </a:r>
            <a:r>
              <a:rPr lang="de-DE" sz="2800" dirty="0"/>
              <a:t>, Catarina, "Argument and Argumentation", The Stanford Encyclopedia </a:t>
            </a:r>
            <a:r>
              <a:rPr lang="de-DE" sz="2800" dirty="0" err="1"/>
              <a:t>of </a:t>
            </a:r>
            <a:r>
              <a:rPr lang="de-DE" sz="2800" dirty="0"/>
              <a:t>Philosophy (Fall 2022 Edition), Edward N. </a:t>
            </a:r>
            <a:r>
              <a:rPr lang="de-DE" sz="2800" dirty="0" err="1"/>
              <a:t>Zalta </a:t>
            </a:r>
            <a:r>
              <a:rPr lang="de-DE" sz="2800" dirty="0"/>
              <a:t>(</a:t>
            </a:r>
            <a:r>
              <a:rPr lang="de-DE" sz="2800" dirty="0" err="1"/>
              <a:t>ed.</a:t>
            </a:r>
            <a:r>
              <a:rPr lang="de-DE" sz="2800" dirty="0"/>
              <a:t>), </a:t>
            </a:r>
            <a:r>
              <a:rPr lang="de-DE" sz="2800" dirty="0" err="1"/>
              <a:t>forthcoming </a:t>
            </a:r>
            <a:r>
              <a:rPr lang="de-DE" sz="2800" u="sng" dirty="0">
                <a:hlinkClick r:id="rId3" tooltip="https://plato.stanford.edu/archives/fall2022/entries/argument/"/>
              </a:rPr>
              <a:t>https://plato.stanford.edu/archives/fall2022/entries/argument/</a:t>
            </a:r>
            <a:endParaRPr lang="de-DE" sz="2800" dirty="0"/>
          </a:p>
          <a:p>
            <a:pPr>
              <a:defRPr/>
            </a:pPr>
            <a:r>
              <a:rPr lang="de-DE" sz="2800" dirty="0" err="1"/>
              <a:t>Aliseda</a:t>
            </a:r>
            <a:r>
              <a:rPr lang="de-DE" sz="2800" dirty="0"/>
              <a:t>, A. (2006). WHAT IS ABDUCTION? OVERVIEW AND PROPOSAL FOR INVESTIGATION. In: ABDUCTIVE REASONING. Synthese Library, </a:t>
            </a:r>
            <a:r>
              <a:rPr lang="de-DE" sz="2800" dirty="0" err="1"/>
              <a:t>vol </a:t>
            </a:r>
            <a:r>
              <a:rPr lang="de-DE" sz="2800" dirty="0"/>
              <a:t>330. Springer, Dordrecht. </a:t>
            </a:r>
            <a:r>
              <a:rPr lang="de-DE" sz="2800" u="sng" dirty="0">
                <a:hlinkClick r:id="rId4" tooltip="https://doi.org/10.1007/1-4020-3907-7_2"/>
              </a:rPr>
              <a:t>https://doi.org/10.1007/1-4020-3907-7_2</a:t>
            </a:r>
            <a:endParaRPr lang="de-DE" sz="2800" dirty="0"/>
          </a:p>
          <a:p>
            <a:pPr>
              <a:defRPr/>
            </a:pPr>
            <a:r>
              <a:rPr lang="de-DE" sz="2800" dirty="0"/>
              <a:t>Bhandari, P. (2022, </a:t>
            </a:r>
            <a:r>
              <a:rPr lang="de-DE" sz="2800" dirty="0" err="1"/>
              <a:t>July </a:t>
            </a:r>
            <a:r>
              <a:rPr lang="de-DE" sz="2800" dirty="0"/>
              <a:t>15). </a:t>
            </a:r>
            <a:r>
              <a:rPr lang="de-DE" sz="2800" dirty="0" err="1"/>
              <a:t>Inductive Reasoning </a:t>
            </a:r>
            <a:r>
              <a:rPr lang="de-DE" sz="2800" dirty="0"/>
              <a:t>| </a:t>
            </a:r>
            <a:r>
              <a:rPr lang="de-DE" sz="2800" dirty="0" err="1"/>
              <a:t>Types</a:t>
            </a:r>
            <a:r>
              <a:rPr lang="de-DE" sz="2800" dirty="0"/>
              <a:t>, </a:t>
            </a:r>
            <a:r>
              <a:rPr lang="de-DE" sz="2800" dirty="0" err="1"/>
              <a:t>Examples</a:t>
            </a:r>
            <a:r>
              <a:rPr lang="de-DE" sz="2800" dirty="0"/>
              <a:t>, Explanation. </a:t>
            </a:r>
            <a:r>
              <a:rPr lang="de-DE" sz="2800" dirty="0" err="1"/>
              <a:t>Scribbr</a:t>
            </a:r>
            <a:r>
              <a:rPr lang="de-DE" sz="2800" dirty="0"/>
              <a:t>. </a:t>
            </a:r>
            <a:r>
              <a:rPr lang="de-DE" sz="2800" dirty="0" err="1"/>
              <a:t>Retrieved </a:t>
            </a:r>
            <a:r>
              <a:rPr lang="de-DE" sz="2800" dirty="0"/>
              <a:t>August 4, 2022, </a:t>
            </a:r>
            <a:r>
              <a:rPr lang="de-DE" sz="2800" dirty="0" err="1"/>
              <a:t>from </a:t>
            </a:r>
            <a:r>
              <a:rPr lang="de-DE" sz="2800" u="sng" dirty="0">
                <a:hlinkClick r:id="rId5" tooltip="https://www.scribbr.com/methodology/inductive-reasoning/"/>
              </a:rPr>
              <a:t>https://www.scribbr.com/methodology/inductive-reasoning/</a:t>
            </a:r>
            <a:endParaRPr lang="de-DE" sz="2800" dirty="0"/>
          </a:p>
          <a:p>
            <a:pPr>
              <a:defRPr/>
            </a:pPr>
            <a:r>
              <a:rPr lang="de-DE" sz="2800" dirty="0"/>
              <a:t>UNC-Chapel Hill Writing Center. (2021, June 14). Argument -. The Writing Center - University </a:t>
            </a:r>
            <a:r>
              <a:rPr lang="de-DE" sz="2800" dirty="0" err="1"/>
              <a:t>of </a:t>
            </a:r>
            <a:r>
              <a:rPr lang="de-DE" sz="2800" dirty="0"/>
              <a:t>North Carolina at Chapel Hill. </a:t>
            </a:r>
            <a:r>
              <a:rPr lang="de-DE" sz="2800" dirty="0" err="1"/>
              <a:t>Retrieved </a:t>
            </a:r>
            <a:r>
              <a:rPr lang="de-DE" sz="2800" dirty="0"/>
              <a:t>August 10, 2022, </a:t>
            </a:r>
            <a:r>
              <a:rPr lang="de-DE" sz="2800" dirty="0" err="1"/>
              <a:t>from </a:t>
            </a:r>
            <a:r>
              <a:rPr lang="de-DE" sz="2800" u="sng" dirty="0">
                <a:hlinkClick r:id="rId6" tooltip="https://writingcenter.unc.edu/tips-and-tools/argument/"/>
              </a:rPr>
              <a:t>https://writingcenter.unc.edu/tips-and-tools/argument/</a:t>
            </a:r>
            <a:endParaRPr lang="de-DE" sz="2800" dirty="0"/>
          </a:p>
          <a:p>
            <a:pPr>
              <a:defRPr/>
            </a:pPr>
            <a:r>
              <a:rPr lang="de-DE" sz="2800" dirty="0"/>
              <a:t>Moll, Melanie and Winfried Thielmann. 2017. academic German. How to do it and what is important. Studying, but the right way. UVK Verlagsgesellschaft mbH: Konstanz. http://www.utb-studi-ebook.de/9783838546506.</a:t>
            </a:r>
            <a:endParaRPr lang="de-DE" dirty="0"/>
          </a:p>
          <a:p>
            <a:pPr marL="0" indent="0">
              <a:buNone/>
              <a:defRPr/>
            </a:pPr>
            <a:endParaRPr lang="de-DE" dirty="0"/>
          </a:p>
          <a:p>
            <a:pPr>
              <a:defRPr/>
            </a:pPr>
            <a:endParaRPr lang="de-DE" dirty="0"/>
          </a:p>
        </p:txBody>
      </p:sp>
    </p:spTree>
    <p:extLst>
      <p:ext uri="{BB962C8B-B14F-4D97-AF65-F5344CB8AC3E}">
        <p14:creationId xmlns:p14="http://schemas.microsoft.com/office/powerpoint/2010/main" val="295755616"/>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620E14-497F-4BEF-A7DD-D6E4F60D4C32}"/>
</file>

<file path=customXml/itemProps2.xml><?xml version="1.0" encoding="utf-8"?>
<ds:datastoreItem xmlns:ds="http://schemas.openxmlformats.org/officeDocument/2006/customXml" ds:itemID="{8319A66E-0EEC-43B0-95B7-B10DA9193450}"/>
</file>

<file path=customXml/itemProps3.xml><?xml version="1.0" encoding="utf-8"?>
<ds:datastoreItem xmlns:ds="http://schemas.openxmlformats.org/officeDocument/2006/customXml" ds:itemID="{25AA0290-57A0-406C-AA7E-5EE400750001}"/>
</file>

<file path=docProps/app.xml><?xml version="1.0" encoding="utf-8"?>
<Properties xmlns="http://schemas.openxmlformats.org/officeDocument/2006/extended-properties" xmlns:vt="http://schemas.openxmlformats.org/officeDocument/2006/docPropsVTypes">
  <Template/>
  <TotalTime>0</TotalTime>
  <Words>1787</Words>
  <Application>Microsoft Macintosh PowerPoint</Application>
  <DocSecurity>0</DocSecurity>
  <PresentationFormat>Benutzerdefiniert</PresentationFormat>
  <Paragraphs>111</Paragraphs>
  <Slides>11</Slides>
  <Notes>11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11</vt:i4>
      </vt:variant>
    </vt:vector>
  </HeadingPairs>
  <TitlesOfParts>
    <vt:vector size="14" baseType="lpstr">
      <vt:lpstr>Aptos</vt:lpstr>
      <vt:lpstr>Arial</vt:lpstr>
      <vt:lpstr>Benutzerdefiniertes Design</vt:lpstr>
      <vt:lpstr>Argumentation and use of literature</vt:lpstr>
      <vt:lpstr>Agenda</vt:lpstr>
      <vt:lpstr>What is an argument?</vt:lpstr>
      <vt:lpstr>What is an argument?</vt:lpstr>
      <vt:lpstr>How to argue in your own academic papers</vt:lpstr>
      <vt:lpstr>How to argue in your own academic papers</vt:lpstr>
      <vt:lpstr>How to argue in your own academic papers</vt:lpstr>
      <vt:lpstr>How to argue in your own academic papers</vt:lpstr>
      <vt:lpstr>How to deal with an argument in other texts</vt:lpstr>
      <vt:lpstr>Exercise</vt:lpstr>
      <vt:lpstr>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docId:7222061CCAE091F1FA6DAE782E5268D5</cp:keywords>
  <dc:description/>
  <cp:lastModifiedBy>Elina Brücher</cp:lastModifiedBy>
  <cp:revision>8</cp:revision>
  <dcterms:created xsi:type="dcterms:W3CDTF">2006-08-16T00:00:00Z</dcterms:created>
  <dcterms:modified xsi:type="dcterms:W3CDTF">2024-11-20T10:35:31Z</dcterms:modified>
  <cp:category/>
  <dc:identifier>DAGKdR2DXUk</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