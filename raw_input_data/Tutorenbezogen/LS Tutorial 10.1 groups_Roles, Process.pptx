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notesMasterIdLst>
    <p:notesMasterId r:id="rId17"/>
  </p:notesMasterIdLst>
  <p:sldIdLst>
    <p:sldId id="256" r:id="rId5"/>
    <p:sldId id="257" r:id="rId6"/>
    <p:sldId id="283" r:id="rId7"/>
    <p:sldId id="284" r:id="rId8"/>
    <p:sldId id="274" r:id="rId9"/>
    <p:sldId id="277" r:id="rId10"/>
    <p:sldId id="273" r:id="rId11"/>
    <p:sldId id="278" r:id="rId12"/>
    <p:sldId id="279" r:id="rId13"/>
    <p:sldId id="280" r:id="rId14"/>
    <p:sldId id="275" r:id="rId15"/>
    <p:sldId id="282" r:id="rId16"/>
  </p:sldIdLst>
  <p:sldSz cx="18288000" cy="10287000"/>
  <p:notesSz cx="6858000" cy="9144000"/>
  <p:embeddedFontLst>
    <p:embeddedFont>
      <p:font typeface="Lora" pitchFamily="2"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56" autoAdjust="0"/>
    <p:restoredTop sz="71870" autoAdjust="0"/>
  </p:normalViewPr>
  <p:slideViewPr>
    <p:cSldViewPr>
      <p:cViewPr varScale="1">
        <p:scale>
          <a:sx n="77" d="100"/>
          <a:sy n="77" d="100"/>
        </p:scale>
        <p:origin x="248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63D79E-94B5-7147-8292-14AB8ED711A6}" type="doc">
      <dgm:prSet loTypeId="urn:microsoft.com/office/officeart/2005/8/layout/cycle3" loCatId="" qsTypeId="urn:microsoft.com/office/officeart/2005/8/quickstyle/simple1#1" qsCatId="simple" csTypeId="urn:microsoft.com/office/officeart/2005/8/colors/accent2_3" csCatId="accent2" phldr="1"/>
      <dgm:spPr bwMode="auto"/>
      <dgm:t>
        <a:bodyPr/>
        <a:lstStyle/>
        <a:p>
          <a:pPr>
            <a:defRPr/>
          </a:pPr>
          <a:endParaRPr lang="de-DE"/>
        </a:p>
      </dgm:t>
    </dgm:pt>
    <dgm:pt modelId="{BC796772-8EDE-3840-8349-01C55D32944B}">
      <dgm:prSet phldrT="[Text]" custT="1"/>
      <dgm:spPr bwMode="auto">
        <a:solidFill>
          <a:srgbClr val="844C64"/>
        </a:solidFill>
      </dgm:spPr>
      <dgm:t>
        <a:bodyPr/>
        <a:lstStyle/>
        <a:p>
          <a:pPr algn="ctr">
            <a:defRPr/>
          </a:pPr>
          <a:r>
            <a:rPr lang="de-DE" sz="2800" b="1" kern="1200" dirty="0" err="1">
              <a:solidFill>
                <a:srgbClr val="FFFFFF"/>
              </a:solidFill>
              <a:latin typeface="Arial" panose="020B0604020202020204"/>
              <a:ea typeface="+mn-ea"/>
              <a:cs typeface="+mn-cs"/>
            </a:rPr>
            <a:t>Forming</a:t>
          </a:r>
          <a:endParaRPr lang="de-DE" sz="2800" b="1" kern="1200" dirty="0">
            <a:solidFill>
              <a:srgbClr val="FFFFFF"/>
            </a:solidFill>
            <a:latin typeface="Arial" panose="020B0604020202020204"/>
            <a:ea typeface="+mn-ea"/>
            <a:cs typeface="+mn-cs"/>
          </a:endParaRPr>
        </a:p>
      </dgm:t>
    </dgm:pt>
    <dgm:pt modelId="{7166DC73-F89B-304D-A593-94013881FBC1}" type="parTrans" cxnId="{B418910D-5E92-C24C-9456-6F87ACD3E96A}">
      <dgm:prSet/>
      <dgm:spPr bwMode="auto"/>
      <dgm:t>
        <a:bodyPr/>
        <a:lstStyle/>
        <a:p>
          <a:pPr>
            <a:defRPr/>
          </a:pPr>
          <a:endParaRPr lang="de-DE"/>
        </a:p>
      </dgm:t>
    </dgm:pt>
    <dgm:pt modelId="{BE7859C7-5F75-2541-9B9C-06619EB0C340}" type="sibTrans" cxnId="{B418910D-5E92-C24C-9456-6F87ACD3E96A}">
      <dgm:prSet/>
      <dgm:spPr bwMode="auto"/>
      <dgm:t>
        <a:bodyPr/>
        <a:lstStyle/>
        <a:p>
          <a:pPr>
            <a:defRPr/>
          </a:pPr>
          <a:endParaRPr lang="de-DE"/>
        </a:p>
      </dgm:t>
    </dgm:pt>
    <dgm:pt modelId="{A9080EC8-1228-4486-B6B3-B353BC7EA838}">
      <dgm:prSet phldrT="[Text]" custT="1"/>
      <dgm:spPr bwMode="auto">
        <a:solidFill>
          <a:srgbClr val="844C64"/>
        </a:solidFill>
      </dgm:spPr>
      <dgm:t>
        <a:bodyPr/>
        <a:lstStyle/>
        <a:p>
          <a:pPr algn="ctr">
            <a:buNone/>
            <a:defRPr/>
          </a:pPr>
          <a:r>
            <a:rPr lang="de-DE" sz="2200" i="1" kern="1200" dirty="0" err="1">
              <a:solidFill>
                <a:srgbClr val="FFFFFF"/>
              </a:solidFill>
              <a:latin typeface="Arial" panose="020B0604020202020204"/>
              <a:ea typeface="+mn-ea"/>
              <a:cs typeface="+mn-cs"/>
            </a:rPr>
            <a:t>Meet</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Orientate</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Get</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to</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know</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Adapt</a:t>
          </a:r>
          <a:endParaRPr sz="2200" i="1" kern="1200" dirty="0">
            <a:solidFill>
              <a:srgbClr val="FFFFFF"/>
            </a:solidFill>
            <a:latin typeface="Arial" panose="020B0604020202020204"/>
            <a:ea typeface="+mn-ea"/>
            <a:cs typeface="+mn-cs"/>
          </a:endParaRPr>
        </a:p>
      </dgm:t>
    </dgm:pt>
    <dgm:pt modelId="{644A7BF7-9984-494D-A0C7-C5B068AA831A}" type="parTrans" cxnId="{E84E7DE7-2D3C-4062-ADF8-BE241C0E91E3}">
      <dgm:prSet/>
      <dgm:spPr/>
      <dgm:t>
        <a:bodyPr/>
        <a:lstStyle/>
        <a:p>
          <a:endParaRPr lang="de-DE"/>
        </a:p>
      </dgm:t>
    </dgm:pt>
    <dgm:pt modelId="{332FB701-5115-493D-96C5-28DF2E20FF4E}" type="sibTrans" cxnId="{E84E7DE7-2D3C-4062-ADF8-BE241C0E91E3}">
      <dgm:prSet/>
      <dgm:spPr/>
      <dgm:t>
        <a:bodyPr/>
        <a:lstStyle/>
        <a:p>
          <a:endParaRPr lang="de-DE"/>
        </a:p>
      </dgm:t>
    </dgm:pt>
    <dgm:pt modelId="{0CFEF3CB-4782-4F94-9074-D57B6D2A5E0A}">
      <dgm:prSet phldrT="[Text]"/>
      <dgm:spPr bwMode="auto">
        <a:solidFill>
          <a:srgbClr val="A6607D"/>
        </a:solidFill>
      </dgm:spPr>
      <dgm:t>
        <a:bodyPr/>
        <a:lstStyle/>
        <a:p>
          <a:pPr algn="ctr">
            <a:buNone/>
            <a:defRPr/>
          </a:pPr>
          <a:r>
            <a:rPr lang="de-DE" b="1" dirty="0" err="1"/>
            <a:t>Storming</a:t>
          </a:r>
          <a:endParaRPr lang="de-DE" b="1" dirty="0"/>
        </a:p>
      </dgm:t>
    </dgm:pt>
    <dgm:pt modelId="{8C8430FB-B936-4816-B2D6-CF2C701E372E}" type="parTrans" cxnId="{A3EDC6FA-5726-4646-9F64-166CF1EED8AB}">
      <dgm:prSet/>
      <dgm:spPr/>
      <dgm:t>
        <a:bodyPr/>
        <a:lstStyle/>
        <a:p>
          <a:endParaRPr lang="de-DE"/>
        </a:p>
      </dgm:t>
    </dgm:pt>
    <dgm:pt modelId="{E00D8BAC-EEED-478A-AB44-3128A34733AB}" type="sibTrans" cxnId="{A3EDC6FA-5726-4646-9F64-166CF1EED8AB}">
      <dgm:prSet/>
      <dgm:spPr/>
      <dgm:t>
        <a:bodyPr/>
        <a:lstStyle/>
        <a:p>
          <a:endParaRPr lang="de-DE"/>
        </a:p>
      </dgm:t>
    </dgm:pt>
    <dgm:pt modelId="{4994258D-1BCF-4FB0-A2DE-682CCED967EE}">
      <dgm:prSet phldrT="[Text]"/>
      <dgm:spPr bwMode="auto">
        <a:solidFill>
          <a:srgbClr val="A6607D"/>
        </a:solidFill>
      </dgm:spPr>
      <dgm:t>
        <a:bodyPr/>
        <a:lstStyle/>
        <a:p>
          <a:pPr algn="ctr">
            <a:buNone/>
            <a:defRPr/>
          </a:pPr>
          <a:r>
            <a:rPr lang="de-DE" i="1" dirty="0"/>
            <a:t>Take </a:t>
          </a:r>
          <a:r>
            <a:rPr lang="de-DE" i="1" dirty="0" err="1"/>
            <a:t>up</a:t>
          </a:r>
          <a:r>
            <a:rPr lang="de-DE" i="1" dirty="0"/>
            <a:t> </a:t>
          </a:r>
          <a:r>
            <a:rPr lang="de-DE" i="1" dirty="0" err="1"/>
            <a:t>space</a:t>
          </a:r>
          <a:r>
            <a:rPr lang="de-DE" i="1" dirty="0"/>
            <a:t>
Express different </a:t>
          </a:r>
          <a:r>
            <a:rPr lang="de-DE" i="1" dirty="0" err="1"/>
            <a:t>interests</a:t>
          </a:r>
          <a:r>
            <a:rPr lang="de-DE" i="1" dirty="0"/>
            <a:t>
</a:t>
          </a:r>
          <a:r>
            <a:rPr lang="de-DE" i="1" dirty="0" err="1"/>
            <a:t>Differentiate</a:t>
          </a:r>
          <a:r>
            <a:rPr lang="de-DE" i="1" dirty="0"/>
            <a:t> </a:t>
          </a:r>
          <a:r>
            <a:rPr lang="de-DE" i="1" dirty="0" err="1"/>
            <a:t>yourself</a:t>
          </a:r>
          <a:endParaRPr dirty="0"/>
        </a:p>
      </dgm:t>
    </dgm:pt>
    <dgm:pt modelId="{89FA466F-C912-4124-9505-E5C71C65D3C8}" type="parTrans" cxnId="{FE07700D-A4D0-43FA-A2A6-530A672C17FC}">
      <dgm:prSet/>
      <dgm:spPr/>
      <dgm:t>
        <a:bodyPr/>
        <a:lstStyle/>
        <a:p>
          <a:endParaRPr lang="de-DE"/>
        </a:p>
      </dgm:t>
    </dgm:pt>
    <dgm:pt modelId="{5099C133-1B26-4D9A-9BED-A79947F0D282}" type="sibTrans" cxnId="{FE07700D-A4D0-43FA-A2A6-530A672C17FC}">
      <dgm:prSet/>
      <dgm:spPr/>
      <dgm:t>
        <a:bodyPr/>
        <a:lstStyle/>
        <a:p>
          <a:endParaRPr lang="de-DE"/>
        </a:p>
      </dgm:t>
    </dgm:pt>
    <dgm:pt modelId="{3AC58692-E6A0-4996-BAE8-C8501F3E9898}">
      <dgm:prSet phldrT="[Text]"/>
      <dgm:spPr bwMode="auto">
        <a:solidFill>
          <a:srgbClr val="CBA8B7"/>
        </a:solidFill>
      </dgm:spPr>
      <dgm:t>
        <a:bodyPr anchor="t"/>
        <a:lstStyle/>
        <a:p>
          <a:pPr algn="ctr">
            <a:buNone/>
            <a:defRPr/>
          </a:pPr>
          <a:r>
            <a:rPr lang="de-DE" b="1" dirty="0" err="1"/>
            <a:t>Norming</a:t>
          </a:r>
          <a:endParaRPr lang="de-DE" b="1" dirty="0"/>
        </a:p>
      </dgm:t>
    </dgm:pt>
    <dgm:pt modelId="{31323338-E6F5-47F8-A02A-FDE7B4EE7517}" type="parTrans" cxnId="{ED2EC9B3-563C-418A-BDB2-255089F4B1F7}">
      <dgm:prSet/>
      <dgm:spPr/>
      <dgm:t>
        <a:bodyPr/>
        <a:lstStyle/>
        <a:p>
          <a:endParaRPr lang="de-DE"/>
        </a:p>
      </dgm:t>
    </dgm:pt>
    <dgm:pt modelId="{BA007BF7-3831-49F9-9C85-473AE990686A}" type="sibTrans" cxnId="{ED2EC9B3-563C-418A-BDB2-255089F4B1F7}">
      <dgm:prSet/>
      <dgm:spPr/>
      <dgm:t>
        <a:bodyPr/>
        <a:lstStyle/>
        <a:p>
          <a:endParaRPr lang="de-DE"/>
        </a:p>
      </dgm:t>
    </dgm:pt>
    <dgm:pt modelId="{FA1C7E1B-CB14-4B49-93E2-827467811138}">
      <dgm:prSet phldrT="[Text]"/>
      <dgm:spPr bwMode="auto">
        <a:solidFill>
          <a:srgbClr val="CBA8B7"/>
        </a:solidFill>
      </dgm:spPr>
      <dgm:t>
        <a:bodyPr anchor="t"/>
        <a:lstStyle/>
        <a:p>
          <a:pPr algn="ctr">
            <a:buNone/>
            <a:defRPr/>
          </a:pPr>
          <a:r>
            <a:rPr lang="de-DE" i="1" dirty="0" err="1"/>
            <a:t>Establish</a:t>
          </a:r>
          <a:r>
            <a:rPr lang="de-DE" i="1" dirty="0"/>
            <a:t> </a:t>
          </a:r>
          <a:r>
            <a:rPr lang="de-DE" i="1" dirty="0" err="1"/>
            <a:t>rules</a:t>
          </a:r>
          <a:r>
            <a:rPr lang="de-DE" i="1" dirty="0"/>
            <a:t>
</a:t>
          </a:r>
          <a:r>
            <a:rPr lang="de-DE" i="1" dirty="0" err="1"/>
            <a:t>Simplify</a:t>
          </a:r>
          <a:r>
            <a:rPr lang="de-DE" i="1" dirty="0"/>
            <a:t> </a:t>
          </a:r>
          <a:r>
            <a:rPr lang="de-DE" i="1" dirty="0" err="1"/>
            <a:t>collaboration</a:t>
          </a:r>
          <a:r>
            <a:rPr lang="de-DE" i="1" dirty="0"/>
            <a:t>
Clarify </a:t>
          </a:r>
          <a:r>
            <a:rPr lang="de-DE" i="1" dirty="0" err="1"/>
            <a:t>procedure</a:t>
          </a:r>
          <a:endParaRPr dirty="0"/>
        </a:p>
      </dgm:t>
    </dgm:pt>
    <dgm:pt modelId="{331E822A-A2D7-40E4-8FB5-80B760DFE194}" type="parTrans" cxnId="{FA3BB0BB-4B13-4A87-8FF7-DE22A6FEB574}">
      <dgm:prSet/>
      <dgm:spPr/>
      <dgm:t>
        <a:bodyPr/>
        <a:lstStyle/>
        <a:p>
          <a:endParaRPr lang="de-DE"/>
        </a:p>
      </dgm:t>
    </dgm:pt>
    <dgm:pt modelId="{372E0367-B6E9-4582-A67C-C31775381564}" type="sibTrans" cxnId="{FA3BB0BB-4B13-4A87-8FF7-DE22A6FEB574}">
      <dgm:prSet/>
      <dgm:spPr/>
      <dgm:t>
        <a:bodyPr/>
        <a:lstStyle/>
        <a:p>
          <a:endParaRPr lang="de-DE"/>
        </a:p>
      </dgm:t>
    </dgm:pt>
    <dgm:pt modelId="{8212A40E-59D5-4806-99D9-6D52E93FE835}">
      <dgm:prSet phldrT="[Text]"/>
      <dgm:spPr bwMode="auto">
        <a:solidFill>
          <a:srgbClr val="7E0D31"/>
        </a:solidFill>
      </dgm:spPr>
      <dgm:t>
        <a:bodyPr anchor="t"/>
        <a:lstStyle/>
        <a:p>
          <a:pPr algn="ctr">
            <a:buNone/>
            <a:defRPr/>
          </a:pPr>
          <a:r>
            <a:rPr lang="de-DE" b="1" dirty="0"/>
            <a:t>Performing</a:t>
          </a:r>
        </a:p>
      </dgm:t>
    </dgm:pt>
    <dgm:pt modelId="{DB584343-2669-44F3-B30D-54E9E9A80F42}" type="parTrans" cxnId="{79E1A5F9-46BC-4609-8123-FF32454FB5AD}">
      <dgm:prSet/>
      <dgm:spPr/>
      <dgm:t>
        <a:bodyPr/>
        <a:lstStyle/>
        <a:p>
          <a:endParaRPr lang="de-DE"/>
        </a:p>
      </dgm:t>
    </dgm:pt>
    <dgm:pt modelId="{500FBC42-2723-4FD5-97C3-B0D4469D2234}" type="sibTrans" cxnId="{79E1A5F9-46BC-4609-8123-FF32454FB5AD}">
      <dgm:prSet/>
      <dgm:spPr/>
      <dgm:t>
        <a:bodyPr/>
        <a:lstStyle/>
        <a:p>
          <a:endParaRPr lang="de-DE"/>
        </a:p>
      </dgm:t>
    </dgm:pt>
    <dgm:pt modelId="{8A806CFB-9F20-4C2C-923F-CF1763611FD2}">
      <dgm:prSet phldrT="[Text]"/>
      <dgm:spPr bwMode="auto">
        <a:solidFill>
          <a:srgbClr val="7E0D31"/>
        </a:solidFill>
      </dgm:spPr>
      <dgm:t>
        <a:bodyPr anchor="t"/>
        <a:lstStyle/>
        <a:p>
          <a:pPr algn="ctr">
            <a:buNone/>
            <a:defRPr/>
          </a:pPr>
          <a:r>
            <a:rPr lang="de-DE" i="1" dirty="0" err="1"/>
            <a:t>Build</a:t>
          </a:r>
          <a:r>
            <a:rPr lang="de-DE" i="1" dirty="0"/>
            <a:t> </a:t>
          </a:r>
          <a:r>
            <a:rPr lang="de-DE" i="1" dirty="0" err="1"/>
            <a:t>trust</a:t>
          </a:r>
          <a:r>
            <a:rPr lang="de-DE" i="1" dirty="0"/>
            <a:t>
Take </a:t>
          </a:r>
          <a:r>
            <a:rPr lang="de-DE" i="1" dirty="0" err="1"/>
            <a:t>risks</a:t>
          </a:r>
          <a:r>
            <a:rPr lang="de-DE" i="1" dirty="0"/>
            <a:t>
Use </a:t>
          </a:r>
          <a:r>
            <a:rPr lang="de-DE" i="1" dirty="0" err="1"/>
            <a:t>differences</a:t>
          </a:r>
          <a:r>
            <a:rPr lang="de-DE" i="1" dirty="0"/>
            <a:t> </a:t>
          </a:r>
          <a:r>
            <a:rPr lang="de-DE" i="1" dirty="0" err="1"/>
            <a:t>productively</a:t>
          </a:r>
          <a:endParaRPr dirty="0"/>
        </a:p>
      </dgm:t>
    </dgm:pt>
    <dgm:pt modelId="{0C1B08C1-A2E1-45B2-B1C1-8472482594DB}" type="parTrans" cxnId="{5E1B9E4D-4BC6-4448-95C2-B63A82FF0FB5}">
      <dgm:prSet/>
      <dgm:spPr/>
      <dgm:t>
        <a:bodyPr/>
        <a:lstStyle/>
        <a:p>
          <a:endParaRPr lang="de-DE"/>
        </a:p>
      </dgm:t>
    </dgm:pt>
    <dgm:pt modelId="{047867B2-6BC8-4DB4-8C16-B14079E8E356}" type="sibTrans" cxnId="{5E1B9E4D-4BC6-4448-95C2-B63A82FF0FB5}">
      <dgm:prSet/>
      <dgm:spPr/>
      <dgm:t>
        <a:bodyPr/>
        <a:lstStyle/>
        <a:p>
          <a:endParaRPr lang="de-DE"/>
        </a:p>
      </dgm:t>
    </dgm:pt>
    <dgm:pt modelId="{004E7438-A44B-A146-A2EF-FE9C14AF9D06}" type="pres">
      <dgm:prSet presAssocID="{4763D79E-94B5-7147-8292-14AB8ED711A6}" presName="Name0" presStyleCnt="0">
        <dgm:presLayoutVars>
          <dgm:dir/>
          <dgm:resizeHandles val="exact"/>
        </dgm:presLayoutVars>
      </dgm:prSet>
      <dgm:spPr bwMode="auto"/>
    </dgm:pt>
    <dgm:pt modelId="{67554C22-F4B8-C846-890F-3541F0B53602}" type="pres">
      <dgm:prSet presAssocID="{4763D79E-94B5-7147-8292-14AB8ED711A6}" presName="cycle" presStyleCnt="0"/>
      <dgm:spPr bwMode="auto"/>
    </dgm:pt>
    <dgm:pt modelId="{CD48E6E1-B31A-5A49-A844-8308F75EE1BC}" type="pres">
      <dgm:prSet presAssocID="{BC796772-8EDE-3840-8349-01C55D32944B}" presName="nodeFirstNode" presStyleLbl="node1" presStyleIdx="0" presStyleCnt="4" custScaleX="95400" custScaleY="95400" custRadScaleRad="136539">
        <dgm:presLayoutVars>
          <dgm:bulletEnabled val="1"/>
        </dgm:presLayoutVars>
      </dgm:prSet>
      <dgm:spPr bwMode="auto"/>
    </dgm:pt>
    <dgm:pt modelId="{B79D1ED6-144E-5C43-AD24-E66B1D798F79}" type="pres">
      <dgm:prSet presAssocID="{BE7859C7-5F75-2541-9B9C-06619EB0C340}" presName="sibTransFirstNode" presStyleLbl="bgShp" presStyleIdx="0" presStyleCnt="1"/>
      <dgm:spPr bwMode="auto"/>
    </dgm:pt>
    <dgm:pt modelId="{14E4CFFE-B993-4397-AD69-51E724E49535}" type="pres">
      <dgm:prSet presAssocID="{0CFEF3CB-4782-4F94-9074-D57B6D2A5E0A}" presName="nodeFollowingNodes" presStyleLbl="node1" presStyleIdx="1" presStyleCnt="4" custScaleX="95400" custScaleY="95400" custRadScaleRad="177632">
        <dgm:presLayoutVars>
          <dgm:bulletEnabled val="1"/>
        </dgm:presLayoutVars>
      </dgm:prSet>
      <dgm:spPr/>
    </dgm:pt>
    <dgm:pt modelId="{59C03366-A0AD-4424-AE5B-31F7E499E71A}" type="pres">
      <dgm:prSet presAssocID="{3AC58692-E6A0-4996-BAE8-C8501F3E9898}" presName="nodeFollowingNodes" presStyleLbl="node1" presStyleIdx="2" presStyleCnt="4" custScaleX="95400" custScaleY="95400" custRadScaleRad="105400">
        <dgm:presLayoutVars>
          <dgm:bulletEnabled val="1"/>
        </dgm:presLayoutVars>
      </dgm:prSet>
      <dgm:spPr/>
    </dgm:pt>
    <dgm:pt modelId="{5A1C2995-2429-4B5E-BCDA-35906FA0614E}" type="pres">
      <dgm:prSet presAssocID="{8212A40E-59D5-4806-99D9-6D52E93FE835}" presName="nodeFollowingNodes" presStyleLbl="node1" presStyleIdx="3" presStyleCnt="4" custScaleX="95400" custScaleY="95400" custRadScaleRad="178196">
        <dgm:presLayoutVars>
          <dgm:bulletEnabled val="1"/>
        </dgm:presLayoutVars>
      </dgm:prSet>
      <dgm:spPr/>
    </dgm:pt>
  </dgm:ptLst>
  <dgm:cxnLst>
    <dgm:cxn modelId="{AB4D6F0C-5DDB-4A60-B885-9DF888738E8D}" type="presOf" srcId="{8212A40E-59D5-4806-99D9-6D52E93FE835}" destId="{5A1C2995-2429-4B5E-BCDA-35906FA0614E}" srcOrd="0" destOrd="0" presId="urn:microsoft.com/office/officeart/2005/8/layout/cycle3"/>
    <dgm:cxn modelId="{FE07700D-A4D0-43FA-A2A6-530A672C17FC}" srcId="{0CFEF3CB-4782-4F94-9074-D57B6D2A5E0A}" destId="{4994258D-1BCF-4FB0-A2DE-682CCED967EE}" srcOrd="0" destOrd="0" parTransId="{89FA466F-C912-4124-9505-E5C71C65D3C8}" sibTransId="{5099C133-1B26-4D9A-9BED-A79947F0D282}"/>
    <dgm:cxn modelId="{B418910D-5E92-C24C-9456-6F87ACD3E96A}" srcId="{4763D79E-94B5-7147-8292-14AB8ED711A6}" destId="{BC796772-8EDE-3840-8349-01C55D32944B}" srcOrd="0" destOrd="0" parTransId="{7166DC73-F89B-304D-A593-94013881FBC1}" sibTransId="{BE7859C7-5F75-2541-9B9C-06619EB0C340}"/>
    <dgm:cxn modelId="{59B5A40E-452F-4754-A0C0-CBDDD64FC686}" type="presOf" srcId="{8A806CFB-9F20-4C2C-923F-CF1763611FD2}" destId="{5A1C2995-2429-4B5E-BCDA-35906FA0614E}" srcOrd="0" destOrd="1" presId="urn:microsoft.com/office/officeart/2005/8/layout/cycle3"/>
    <dgm:cxn modelId="{B0040241-FD95-47DD-A25A-44283D7BA592}" type="presOf" srcId="{FA1C7E1B-CB14-4B49-93E2-827467811138}" destId="{59C03366-A0AD-4424-AE5B-31F7E499E71A}" srcOrd="0" destOrd="1" presId="urn:microsoft.com/office/officeart/2005/8/layout/cycle3"/>
    <dgm:cxn modelId="{5E1B9E4D-4BC6-4448-95C2-B63A82FF0FB5}" srcId="{8212A40E-59D5-4806-99D9-6D52E93FE835}" destId="{8A806CFB-9F20-4C2C-923F-CF1763611FD2}" srcOrd="0" destOrd="0" parTransId="{0C1B08C1-A2E1-45B2-B1C1-8472482594DB}" sibTransId="{047867B2-6BC8-4DB4-8C16-B14079E8E356}"/>
    <dgm:cxn modelId="{EE751B80-9078-5947-9E14-A175F2921F6D}" type="presOf" srcId="{BE7859C7-5F75-2541-9B9C-06619EB0C340}" destId="{B79D1ED6-144E-5C43-AD24-E66B1D798F79}" srcOrd="0" destOrd="0" presId="urn:microsoft.com/office/officeart/2005/8/layout/cycle3"/>
    <dgm:cxn modelId="{7818B182-19AD-E844-B932-B2C5F8003B1B}" type="presOf" srcId="{4763D79E-94B5-7147-8292-14AB8ED711A6}" destId="{004E7438-A44B-A146-A2EF-FE9C14AF9D06}" srcOrd="0" destOrd="0" presId="urn:microsoft.com/office/officeart/2005/8/layout/cycle3"/>
    <dgm:cxn modelId="{0FC9B78F-584B-4C1F-8FEC-8A33EEFF7F5E}" type="presOf" srcId="{3AC58692-E6A0-4996-BAE8-C8501F3E9898}" destId="{59C03366-A0AD-4424-AE5B-31F7E499E71A}" srcOrd="0" destOrd="0" presId="urn:microsoft.com/office/officeart/2005/8/layout/cycle3"/>
    <dgm:cxn modelId="{1074DCAB-FFA6-46CC-9BE1-CDC08D628725}" type="presOf" srcId="{4994258D-1BCF-4FB0-A2DE-682CCED967EE}" destId="{14E4CFFE-B993-4397-AD69-51E724E49535}" srcOrd="0" destOrd="1" presId="urn:microsoft.com/office/officeart/2005/8/layout/cycle3"/>
    <dgm:cxn modelId="{ED2EC9B3-563C-418A-BDB2-255089F4B1F7}" srcId="{4763D79E-94B5-7147-8292-14AB8ED711A6}" destId="{3AC58692-E6A0-4996-BAE8-C8501F3E9898}" srcOrd="2" destOrd="0" parTransId="{31323338-E6F5-47F8-A02A-FDE7B4EE7517}" sibTransId="{BA007BF7-3831-49F9-9C85-473AE990686A}"/>
    <dgm:cxn modelId="{FA3BB0BB-4B13-4A87-8FF7-DE22A6FEB574}" srcId="{3AC58692-E6A0-4996-BAE8-C8501F3E9898}" destId="{FA1C7E1B-CB14-4B49-93E2-827467811138}" srcOrd="0" destOrd="0" parTransId="{331E822A-A2D7-40E4-8FB5-80B760DFE194}" sibTransId="{372E0367-B6E9-4582-A67C-C31775381564}"/>
    <dgm:cxn modelId="{CE108BBF-3DD7-514C-B723-CC6584A07189}" type="presOf" srcId="{BC796772-8EDE-3840-8349-01C55D32944B}" destId="{CD48E6E1-B31A-5A49-A844-8308F75EE1BC}" srcOrd="0" destOrd="0" presId="urn:microsoft.com/office/officeart/2005/8/layout/cycle3"/>
    <dgm:cxn modelId="{5BCA36CB-9AAF-49B7-BFE5-0F8459DC969E}" type="presOf" srcId="{0CFEF3CB-4782-4F94-9074-D57B6D2A5E0A}" destId="{14E4CFFE-B993-4397-AD69-51E724E49535}" srcOrd="0" destOrd="0" presId="urn:microsoft.com/office/officeart/2005/8/layout/cycle3"/>
    <dgm:cxn modelId="{31E67DE5-0BE0-4D0C-B7B4-C631905B5AFA}" type="presOf" srcId="{A9080EC8-1228-4486-B6B3-B353BC7EA838}" destId="{CD48E6E1-B31A-5A49-A844-8308F75EE1BC}" srcOrd="0" destOrd="1" presId="urn:microsoft.com/office/officeart/2005/8/layout/cycle3"/>
    <dgm:cxn modelId="{E84E7DE7-2D3C-4062-ADF8-BE241C0E91E3}" srcId="{BC796772-8EDE-3840-8349-01C55D32944B}" destId="{A9080EC8-1228-4486-B6B3-B353BC7EA838}" srcOrd="0" destOrd="0" parTransId="{644A7BF7-9984-494D-A0C7-C5B068AA831A}" sibTransId="{332FB701-5115-493D-96C5-28DF2E20FF4E}"/>
    <dgm:cxn modelId="{79E1A5F9-46BC-4609-8123-FF32454FB5AD}" srcId="{4763D79E-94B5-7147-8292-14AB8ED711A6}" destId="{8212A40E-59D5-4806-99D9-6D52E93FE835}" srcOrd="3" destOrd="0" parTransId="{DB584343-2669-44F3-B30D-54E9E9A80F42}" sibTransId="{500FBC42-2723-4FD5-97C3-B0D4469D2234}"/>
    <dgm:cxn modelId="{A3EDC6FA-5726-4646-9F64-166CF1EED8AB}" srcId="{4763D79E-94B5-7147-8292-14AB8ED711A6}" destId="{0CFEF3CB-4782-4F94-9074-D57B6D2A5E0A}" srcOrd="1" destOrd="0" parTransId="{8C8430FB-B936-4816-B2D6-CF2C701E372E}" sibTransId="{E00D8BAC-EEED-478A-AB44-3128A34733AB}"/>
    <dgm:cxn modelId="{848BE977-7FEE-D04C-99B5-80CCEB77626F}" type="presParOf" srcId="{004E7438-A44B-A146-A2EF-FE9C14AF9D06}" destId="{67554C22-F4B8-C846-890F-3541F0B53602}" srcOrd="0" destOrd="0" presId="urn:microsoft.com/office/officeart/2005/8/layout/cycle3"/>
    <dgm:cxn modelId="{B048D245-1A17-524F-85EA-11F729472A77}" type="presParOf" srcId="{67554C22-F4B8-C846-890F-3541F0B53602}" destId="{CD48E6E1-B31A-5A49-A844-8308F75EE1BC}" srcOrd="0" destOrd="0" presId="urn:microsoft.com/office/officeart/2005/8/layout/cycle3"/>
    <dgm:cxn modelId="{0E3A96FE-41B1-2746-97DB-2B49782D3251}" type="presParOf" srcId="{67554C22-F4B8-C846-890F-3541F0B53602}" destId="{B79D1ED6-144E-5C43-AD24-E66B1D798F79}" srcOrd="1" destOrd="0" presId="urn:microsoft.com/office/officeart/2005/8/layout/cycle3"/>
    <dgm:cxn modelId="{D2A0F9A8-87E9-4641-A5EF-CFEA9F90EA9B}" type="presParOf" srcId="{67554C22-F4B8-C846-890F-3541F0B53602}" destId="{14E4CFFE-B993-4397-AD69-51E724E49535}" srcOrd="2" destOrd="0" presId="urn:microsoft.com/office/officeart/2005/8/layout/cycle3"/>
    <dgm:cxn modelId="{0352D273-D4C4-4E2E-AB0B-9B08D5CEB777}" type="presParOf" srcId="{67554C22-F4B8-C846-890F-3541F0B53602}" destId="{59C03366-A0AD-4424-AE5B-31F7E499E71A}" srcOrd="3" destOrd="0" presId="urn:microsoft.com/office/officeart/2005/8/layout/cycle3"/>
    <dgm:cxn modelId="{BB11DAEF-D5D0-4A3D-9FD7-61289B1AE3CC}" type="presParOf" srcId="{67554C22-F4B8-C846-890F-3541F0B53602}" destId="{5A1C2995-2429-4B5E-BCDA-35906FA0614E}" srcOrd="4"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9D1ED6-144E-5C43-AD24-E66B1D798F79}">
      <dsp:nvSpPr>
        <dsp:cNvPr id="0" name=""/>
        <dsp:cNvSpPr/>
      </dsp:nvSpPr>
      <dsp:spPr bwMode="auto">
        <a:xfrm>
          <a:off x="3020475" y="-143597"/>
          <a:ext cx="6698030" cy="6698030"/>
        </a:xfrm>
        <a:prstGeom prst="circularArrow">
          <a:avLst>
            <a:gd name="adj1" fmla="val 4668"/>
            <a:gd name="adj2" fmla="val 272909"/>
            <a:gd name="adj3" fmla="val 12954306"/>
            <a:gd name="adj4" fmla="val 17947588"/>
            <a:gd name="adj5" fmla="val 4847"/>
          </a:avLst>
        </a:prstGeom>
        <a:solidFill>
          <a:schemeClr val="accent2">
            <a:tint val="40000"/>
            <a:hueOff val="0"/>
            <a:satOff val="0"/>
            <a:lumOff val="0"/>
            <a:alphaOff val="0"/>
          </a:schemeClr>
        </a:solidFill>
        <a:ln>
          <a:noFill/>
        </a:ln>
        <a:effectLst/>
      </dsp:spPr>
      <dsp:style>
        <a:lnRef idx="0">
          <a:srgbClr val="000000"/>
        </a:lnRef>
        <a:fillRef idx="1">
          <a:srgbClr val="000000"/>
        </a:fillRef>
        <a:effectRef idx="0">
          <a:srgbClr val="000000"/>
        </a:effectRef>
        <a:fontRef idx="minor"/>
      </dsp:style>
    </dsp:sp>
    <dsp:sp modelId="{CD48E6E1-B31A-5A49-A844-8308F75EE1BC}">
      <dsp:nvSpPr>
        <dsp:cNvPr id="0" name=""/>
        <dsp:cNvSpPr/>
      </dsp:nvSpPr>
      <dsp:spPr bwMode="auto">
        <a:xfrm>
          <a:off x="4209486" y="0"/>
          <a:ext cx="4320007" cy="2160003"/>
        </a:xfrm>
        <a:prstGeom prst="roundRect">
          <a:avLst/>
        </a:prstGeom>
        <a:solidFill>
          <a:srgbClr val="844C64"/>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defRPr/>
          </a:pPr>
          <a:r>
            <a:rPr lang="de-DE" sz="2800" b="1" kern="1200" dirty="0" err="1">
              <a:solidFill>
                <a:srgbClr val="FFFFFF"/>
              </a:solidFill>
              <a:latin typeface="Arial" panose="020B0604020202020204"/>
              <a:ea typeface="+mn-ea"/>
              <a:cs typeface="+mn-cs"/>
            </a:rPr>
            <a:t>Forming</a:t>
          </a:r>
          <a:endParaRPr lang="de-DE" sz="2800" b="1" kern="1200" dirty="0">
            <a:solidFill>
              <a:srgbClr val="FFFFFF"/>
            </a:solidFill>
            <a:latin typeface="Arial" panose="020B0604020202020204"/>
            <a:ea typeface="+mn-ea"/>
            <a:cs typeface="+mn-cs"/>
          </a:endParaRPr>
        </a:p>
        <a:p>
          <a:pPr marL="228600" lvl="1" indent="-228600" algn="ctr" defTabSz="977900">
            <a:lnSpc>
              <a:spcPct val="90000"/>
            </a:lnSpc>
            <a:spcBef>
              <a:spcPct val="0"/>
            </a:spcBef>
            <a:spcAft>
              <a:spcPct val="15000"/>
            </a:spcAft>
            <a:buNone/>
            <a:defRPr/>
          </a:pPr>
          <a:r>
            <a:rPr lang="de-DE" sz="2200" i="1" kern="1200" dirty="0" err="1">
              <a:solidFill>
                <a:srgbClr val="FFFFFF"/>
              </a:solidFill>
              <a:latin typeface="Arial" panose="020B0604020202020204"/>
              <a:ea typeface="+mn-ea"/>
              <a:cs typeface="+mn-cs"/>
            </a:rPr>
            <a:t>Meet</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Orientate</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Get</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to</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know</a:t>
          </a:r>
          <a:r>
            <a:rPr lang="de-DE" sz="2200" i="1" kern="1200" dirty="0">
              <a:solidFill>
                <a:srgbClr val="FFFFFF"/>
              </a:solidFill>
              <a:latin typeface="Arial" panose="020B0604020202020204"/>
              <a:ea typeface="+mn-ea"/>
              <a:cs typeface="+mn-cs"/>
            </a:rPr>
            <a:t>
</a:t>
          </a:r>
          <a:r>
            <a:rPr lang="de-DE" sz="2200" i="1" kern="1200" dirty="0" err="1">
              <a:solidFill>
                <a:srgbClr val="FFFFFF"/>
              </a:solidFill>
              <a:latin typeface="Arial" panose="020B0604020202020204"/>
              <a:ea typeface="+mn-ea"/>
              <a:cs typeface="+mn-cs"/>
            </a:rPr>
            <a:t>Adapt</a:t>
          </a:r>
          <a:endParaRPr sz="2200" i="1" kern="1200" dirty="0">
            <a:solidFill>
              <a:srgbClr val="FFFFFF"/>
            </a:solidFill>
            <a:latin typeface="Arial" panose="020B0604020202020204"/>
            <a:ea typeface="+mn-ea"/>
            <a:cs typeface="+mn-cs"/>
          </a:endParaRPr>
        </a:p>
      </dsp:txBody>
      <dsp:txXfrm>
        <a:off x="4314929" y="105443"/>
        <a:ext cx="4109121" cy="1949117"/>
      </dsp:txXfrm>
    </dsp:sp>
    <dsp:sp modelId="{14E4CFFE-B993-4397-AD69-51E724E49535}">
      <dsp:nvSpPr>
        <dsp:cNvPr id="0" name=""/>
        <dsp:cNvSpPr/>
      </dsp:nvSpPr>
      <dsp:spPr bwMode="auto">
        <a:xfrm>
          <a:off x="8418973" y="2458718"/>
          <a:ext cx="4320007" cy="2160003"/>
        </a:xfrm>
        <a:prstGeom prst="roundRect">
          <a:avLst/>
        </a:prstGeom>
        <a:solidFill>
          <a:srgbClr val="A6607D"/>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18110" tIns="118110" rIns="118110" bIns="118110" numCol="1" spcCol="1270" anchor="t" anchorCtr="0">
          <a:noAutofit/>
        </a:bodyPr>
        <a:lstStyle/>
        <a:p>
          <a:pPr marL="0" lvl="0" indent="0" algn="ctr" defTabSz="1377950">
            <a:lnSpc>
              <a:spcPct val="90000"/>
            </a:lnSpc>
            <a:spcBef>
              <a:spcPct val="0"/>
            </a:spcBef>
            <a:spcAft>
              <a:spcPct val="35000"/>
            </a:spcAft>
            <a:buNone/>
            <a:defRPr/>
          </a:pPr>
          <a:r>
            <a:rPr lang="de-DE" sz="3100" b="1" kern="1200" dirty="0" err="1"/>
            <a:t>Storming</a:t>
          </a:r>
          <a:endParaRPr lang="de-DE" sz="3100" b="1" kern="1200" dirty="0"/>
        </a:p>
        <a:p>
          <a:pPr marL="228600" lvl="1" indent="-228600" algn="ctr" defTabSz="1066800">
            <a:lnSpc>
              <a:spcPct val="90000"/>
            </a:lnSpc>
            <a:spcBef>
              <a:spcPct val="0"/>
            </a:spcBef>
            <a:spcAft>
              <a:spcPct val="15000"/>
            </a:spcAft>
            <a:buNone/>
            <a:defRPr/>
          </a:pPr>
          <a:r>
            <a:rPr lang="de-DE" sz="2400" i="1" kern="1200" dirty="0"/>
            <a:t>Take </a:t>
          </a:r>
          <a:r>
            <a:rPr lang="de-DE" sz="2400" i="1" kern="1200" dirty="0" err="1"/>
            <a:t>up</a:t>
          </a:r>
          <a:r>
            <a:rPr lang="de-DE" sz="2400" i="1" kern="1200" dirty="0"/>
            <a:t> </a:t>
          </a:r>
          <a:r>
            <a:rPr lang="de-DE" sz="2400" i="1" kern="1200" dirty="0" err="1"/>
            <a:t>space</a:t>
          </a:r>
          <a:r>
            <a:rPr lang="de-DE" sz="2400" i="1" kern="1200" dirty="0"/>
            <a:t>
Express different </a:t>
          </a:r>
          <a:r>
            <a:rPr lang="de-DE" sz="2400" i="1" kern="1200" dirty="0" err="1"/>
            <a:t>interests</a:t>
          </a:r>
          <a:r>
            <a:rPr lang="de-DE" sz="2400" i="1" kern="1200" dirty="0"/>
            <a:t>
</a:t>
          </a:r>
          <a:r>
            <a:rPr lang="de-DE" sz="2400" i="1" kern="1200" dirty="0" err="1"/>
            <a:t>Differentiate</a:t>
          </a:r>
          <a:r>
            <a:rPr lang="de-DE" sz="2400" i="1" kern="1200" dirty="0"/>
            <a:t> </a:t>
          </a:r>
          <a:r>
            <a:rPr lang="de-DE" sz="2400" i="1" kern="1200" dirty="0" err="1"/>
            <a:t>yourself</a:t>
          </a:r>
          <a:endParaRPr sz="2400" kern="1200" dirty="0"/>
        </a:p>
      </dsp:txBody>
      <dsp:txXfrm>
        <a:off x="8524416" y="2564161"/>
        <a:ext cx="4109121" cy="1949117"/>
      </dsp:txXfrm>
    </dsp:sp>
    <dsp:sp modelId="{59C03366-A0AD-4424-AE5B-31F7E499E71A}">
      <dsp:nvSpPr>
        <dsp:cNvPr id="0" name=""/>
        <dsp:cNvSpPr/>
      </dsp:nvSpPr>
      <dsp:spPr bwMode="auto">
        <a:xfrm>
          <a:off x="4209486" y="4917436"/>
          <a:ext cx="4320007" cy="2160003"/>
        </a:xfrm>
        <a:prstGeom prst="roundRect">
          <a:avLst/>
        </a:prstGeom>
        <a:solidFill>
          <a:srgbClr val="CBA8B7"/>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18110" tIns="118110" rIns="118110" bIns="118110" numCol="1" spcCol="1270" anchor="t" anchorCtr="0">
          <a:noAutofit/>
        </a:bodyPr>
        <a:lstStyle/>
        <a:p>
          <a:pPr marL="0" lvl="0" indent="0" algn="ctr" defTabSz="1377950">
            <a:lnSpc>
              <a:spcPct val="90000"/>
            </a:lnSpc>
            <a:spcBef>
              <a:spcPct val="0"/>
            </a:spcBef>
            <a:spcAft>
              <a:spcPct val="35000"/>
            </a:spcAft>
            <a:buNone/>
            <a:defRPr/>
          </a:pPr>
          <a:r>
            <a:rPr lang="de-DE" sz="3100" b="1" kern="1200" dirty="0" err="1"/>
            <a:t>Norming</a:t>
          </a:r>
          <a:endParaRPr lang="de-DE" sz="3100" b="1" kern="1200" dirty="0"/>
        </a:p>
        <a:p>
          <a:pPr marL="228600" lvl="1" indent="-228600" algn="ctr" defTabSz="1066800">
            <a:lnSpc>
              <a:spcPct val="90000"/>
            </a:lnSpc>
            <a:spcBef>
              <a:spcPct val="0"/>
            </a:spcBef>
            <a:spcAft>
              <a:spcPct val="15000"/>
            </a:spcAft>
            <a:buNone/>
            <a:defRPr/>
          </a:pPr>
          <a:r>
            <a:rPr lang="de-DE" sz="2400" i="1" kern="1200" dirty="0" err="1"/>
            <a:t>Establish</a:t>
          </a:r>
          <a:r>
            <a:rPr lang="de-DE" sz="2400" i="1" kern="1200" dirty="0"/>
            <a:t> </a:t>
          </a:r>
          <a:r>
            <a:rPr lang="de-DE" sz="2400" i="1" kern="1200" dirty="0" err="1"/>
            <a:t>rules</a:t>
          </a:r>
          <a:r>
            <a:rPr lang="de-DE" sz="2400" i="1" kern="1200" dirty="0"/>
            <a:t>
</a:t>
          </a:r>
          <a:r>
            <a:rPr lang="de-DE" sz="2400" i="1" kern="1200" dirty="0" err="1"/>
            <a:t>Simplify</a:t>
          </a:r>
          <a:r>
            <a:rPr lang="de-DE" sz="2400" i="1" kern="1200" dirty="0"/>
            <a:t> </a:t>
          </a:r>
          <a:r>
            <a:rPr lang="de-DE" sz="2400" i="1" kern="1200" dirty="0" err="1"/>
            <a:t>collaboration</a:t>
          </a:r>
          <a:r>
            <a:rPr lang="de-DE" sz="2400" i="1" kern="1200" dirty="0"/>
            <a:t>
Clarify </a:t>
          </a:r>
          <a:r>
            <a:rPr lang="de-DE" sz="2400" i="1" kern="1200" dirty="0" err="1"/>
            <a:t>procedure</a:t>
          </a:r>
          <a:endParaRPr sz="2400" kern="1200" dirty="0"/>
        </a:p>
      </dsp:txBody>
      <dsp:txXfrm>
        <a:off x="4314929" y="5022879"/>
        <a:ext cx="4109121" cy="1949117"/>
      </dsp:txXfrm>
    </dsp:sp>
    <dsp:sp modelId="{5A1C2995-2429-4B5E-BCDA-35906FA0614E}">
      <dsp:nvSpPr>
        <dsp:cNvPr id="0" name=""/>
        <dsp:cNvSpPr/>
      </dsp:nvSpPr>
      <dsp:spPr bwMode="auto">
        <a:xfrm>
          <a:off x="0" y="2458718"/>
          <a:ext cx="4320007" cy="2160003"/>
        </a:xfrm>
        <a:prstGeom prst="roundRect">
          <a:avLst/>
        </a:prstGeom>
        <a:solidFill>
          <a:srgbClr val="7E0D31"/>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18110" tIns="118110" rIns="118110" bIns="118110" numCol="1" spcCol="1270" anchor="t" anchorCtr="0">
          <a:noAutofit/>
        </a:bodyPr>
        <a:lstStyle/>
        <a:p>
          <a:pPr marL="0" lvl="0" indent="0" algn="ctr" defTabSz="1377950">
            <a:lnSpc>
              <a:spcPct val="90000"/>
            </a:lnSpc>
            <a:spcBef>
              <a:spcPct val="0"/>
            </a:spcBef>
            <a:spcAft>
              <a:spcPct val="35000"/>
            </a:spcAft>
            <a:buNone/>
            <a:defRPr/>
          </a:pPr>
          <a:r>
            <a:rPr lang="de-DE" sz="3100" b="1" kern="1200" dirty="0"/>
            <a:t>Performing</a:t>
          </a:r>
        </a:p>
        <a:p>
          <a:pPr marL="228600" lvl="1" indent="-228600" algn="ctr" defTabSz="1066800">
            <a:lnSpc>
              <a:spcPct val="90000"/>
            </a:lnSpc>
            <a:spcBef>
              <a:spcPct val="0"/>
            </a:spcBef>
            <a:spcAft>
              <a:spcPct val="15000"/>
            </a:spcAft>
            <a:buNone/>
            <a:defRPr/>
          </a:pPr>
          <a:r>
            <a:rPr lang="de-DE" sz="2400" i="1" kern="1200" dirty="0" err="1"/>
            <a:t>Build</a:t>
          </a:r>
          <a:r>
            <a:rPr lang="de-DE" sz="2400" i="1" kern="1200" dirty="0"/>
            <a:t> </a:t>
          </a:r>
          <a:r>
            <a:rPr lang="de-DE" sz="2400" i="1" kern="1200" dirty="0" err="1"/>
            <a:t>trust</a:t>
          </a:r>
          <a:r>
            <a:rPr lang="de-DE" sz="2400" i="1" kern="1200" dirty="0"/>
            <a:t>
Take </a:t>
          </a:r>
          <a:r>
            <a:rPr lang="de-DE" sz="2400" i="1" kern="1200" dirty="0" err="1"/>
            <a:t>risks</a:t>
          </a:r>
          <a:r>
            <a:rPr lang="de-DE" sz="2400" i="1" kern="1200" dirty="0"/>
            <a:t>
Use </a:t>
          </a:r>
          <a:r>
            <a:rPr lang="de-DE" sz="2400" i="1" kern="1200" dirty="0" err="1"/>
            <a:t>differences</a:t>
          </a:r>
          <a:r>
            <a:rPr lang="de-DE" sz="2400" i="1" kern="1200" dirty="0"/>
            <a:t> </a:t>
          </a:r>
          <a:r>
            <a:rPr lang="de-DE" sz="2400" i="1" kern="1200" dirty="0" err="1"/>
            <a:t>productively</a:t>
          </a:r>
          <a:endParaRPr sz="2400" kern="1200" dirty="0"/>
        </a:p>
      </dsp:txBody>
      <dsp:txXfrm>
        <a:off x="105443" y="2564161"/>
        <a:ext cx="4109121" cy="1949117"/>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AB545-A7A2-C64E-BEC8-51F178C6B1AA}" type="datetimeFigureOut">
              <a:rPr lang="de-DE" smtClean="0"/>
              <a:t>22.06.2026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7837A-BE0C-8E44-AC6E-3BD867A160FB}" type="slidenum">
              <a:rPr lang="de-DE" smtClean="0"/>
              <a:t>‹Nr.›</a:t>
            </a:fld>
            <a:endParaRPr lang="de-DE"/>
          </a:p>
        </p:txBody>
      </p:sp>
    </p:spTree>
    <p:extLst>
      <p:ext uri="{BB962C8B-B14F-4D97-AF65-F5344CB8AC3E}">
        <p14:creationId xmlns:p14="http://schemas.microsoft.com/office/powerpoint/2010/main" val="347103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457200" marR="0" lvl="0" indent="-317500" algn="l" defTabSz="914400" eaLnBrk="1" fontAlgn="auto" latinLnBrk="0" hangingPunct="1">
              <a:lnSpc>
                <a:spcPct val="100000"/>
              </a:lnSpc>
              <a:spcBef>
                <a:spcPts val="0"/>
              </a:spcBef>
              <a:spcAft>
                <a:spcPts val="0"/>
              </a:spcAft>
              <a:buClr>
                <a:srgbClr val="000000"/>
              </a:buClr>
              <a:buSzPts val="1400"/>
              <a:buFont typeface="Arial"/>
              <a:buChar char="●"/>
              <a:tabLst/>
              <a:defRPr/>
            </a:pPr>
            <a:r>
              <a:rPr lang="de-DE" dirty="0"/>
              <a:t>In </a:t>
            </a:r>
            <a:r>
              <a:rPr lang="de-DE" dirty="0" err="1"/>
              <a:t>the</a:t>
            </a:r>
            <a:r>
              <a:rPr lang="de-DE" dirty="0"/>
              <a:t> </a:t>
            </a:r>
            <a:r>
              <a:rPr lang="de-DE" dirty="0" err="1"/>
              <a:t>modules</a:t>
            </a:r>
            <a:r>
              <a:rPr lang="de-DE" dirty="0"/>
              <a:t> </a:t>
            </a:r>
            <a:r>
              <a:rPr lang="de-DE" dirty="0" err="1"/>
              <a:t>Responsibility</a:t>
            </a:r>
            <a:r>
              <a:rPr lang="de-DE" dirty="0"/>
              <a:t> and Methods, </a:t>
            </a:r>
            <a:r>
              <a:rPr lang="de-DE" dirty="0" err="1"/>
              <a:t>the</a:t>
            </a:r>
            <a:r>
              <a:rPr lang="de-DE" dirty="0"/>
              <a:t> </a:t>
            </a:r>
            <a:r>
              <a:rPr lang="de-DE" dirty="0" err="1"/>
              <a:t>students</a:t>
            </a:r>
            <a:r>
              <a:rPr lang="de-DE" dirty="0"/>
              <a:t> will </a:t>
            </a:r>
            <a:r>
              <a:rPr lang="de-DE" dirty="0" err="1"/>
              <a:t>develop</a:t>
            </a:r>
            <a:r>
              <a:rPr lang="de-DE" dirty="0"/>
              <a:t> </a:t>
            </a:r>
            <a:r>
              <a:rPr lang="de-DE" dirty="0" err="1"/>
              <a:t>projects</a:t>
            </a:r>
            <a:r>
              <a:rPr lang="de-DE" dirty="0"/>
              <a:t> in </a:t>
            </a:r>
            <a:r>
              <a:rPr lang="de-DE" dirty="0" err="1"/>
              <a:t>the</a:t>
            </a:r>
            <a:r>
              <a:rPr lang="de-DE" dirty="0"/>
              <a:t> form </a:t>
            </a:r>
            <a:r>
              <a:rPr lang="de-DE" dirty="0" err="1"/>
              <a:t>of</a:t>
            </a:r>
            <a:r>
              <a:rPr lang="de-DE" dirty="0"/>
              <a:t> </a:t>
            </a:r>
            <a:r>
              <a:rPr lang="de-DE" dirty="0" err="1"/>
              <a:t>group</a:t>
            </a:r>
            <a:r>
              <a:rPr lang="de-DE" dirty="0"/>
              <a:t> </a:t>
            </a:r>
            <a:r>
              <a:rPr lang="de-DE" dirty="0" err="1"/>
              <a:t>work</a:t>
            </a:r>
            <a:r>
              <a:rPr lang="de-DE" dirty="0"/>
              <a:t>. </a:t>
            </a:r>
            <a:r>
              <a:rPr lang="de-DE" dirty="0" err="1"/>
              <a:t>They</a:t>
            </a:r>
            <a:r>
              <a:rPr lang="de-DE" dirty="0"/>
              <a:t> will </a:t>
            </a:r>
            <a:r>
              <a:rPr lang="de-DE" dirty="0" err="1"/>
              <a:t>definitely</a:t>
            </a:r>
            <a:r>
              <a:rPr lang="de-DE" dirty="0"/>
              <a:t> </a:t>
            </a:r>
            <a:r>
              <a:rPr lang="de-DE" dirty="0" err="1"/>
              <a:t>encounter</a:t>
            </a:r>
            <a:r>
              <a:rPr lang="de-DE" dirty="0"/>
              <a:t> </a:t>
            </a:r>
            <a:r>
              <a:rPr lang="de-DE" dirty="0" err="1"/>
              <a:t>this</a:t>
            </a:r>
            <a:r>
              <a:rPr lang="de-DE" dirty="0"/>
              <a:t> </a:t>
            </a:r>
            <a:r>
              <a:rPr lang="de-DE" dirty="0" err="1"/>
              <a:t>way</a:t>
            </a:r>
            <a:r>
              <a:rPr lang="de-DE" dirty="0"/>
              <a:t> </a:t>
            </a:r>
            <a:r>
              <a:rPr lang="de-DE" dirty="0" err="1"/>
              <a:t>of</a:t>
            </a:r>
            <a:r>
              <a:rPr lang="de-DE" dirty="0"/>
              <a:t> </a:t>
            </a:r>
            <a:r>
              <a:rPr lang="de-DE" dirty="0" err="1"/>
              <a:t>working</a:t>
            </a:r>
            <a:r>
              <a:rPr lang="de-DE" dirty="0"/>
              <a:t> </a:t>
            </a:r>
            <a:r>
              <a:rPr lang="de-DE" dirty="0" err="1"/>
              <a:t>again</a:t>
            </a:r>
            <a:r>
              <a:rPr lang="de-DE" dirty="0"/>
              <a:t> in </a:t>
            </a:r>
            <a:r>
              <a:rPr lang="de-DE" dirty="0" err="1"/>
              <a:t>their</a:t>
            </a:r>
            <a:r>
              <a:rPr lang="de-DE" dirty="0"/>
              <a:t> </a:t>
            </a:r>
            <a:r>
              <a:rPr lang="de-DE" dirty="0" err="1"/>
              <a:t>future</a:t>
            </a:r>
            <a:r>
              <a:rPr lang="de-DE" dirty="0"/>
              <a:t> </a:t>
            </a:r>
            <a:r>
              <a:rPr lang="de-DE" dirty="0" err="1"/>
              <a:t>university</a:t>
            </a:r>
            <a:r>
              <a:rPr lang="de-DE" dirty="0"/>
              <a:t> </a:t>
            </a:r>
            <a:r>
              <a:rPr lang="de-DE" dirty="0" err="1"/>
              <a:t>careers</a:t>
            </a:r>
            <a:r>
              <a:rPr lang="de-DE" dirty="0"/>
              <a:t>.
With </a:t>
            </a:r>
            <a:r>
              <a:rPr lang="de-DE" dirty="0" err="1"/>
              <a:t>this</a:t>
            </a:r>
            <a:r>
              <a:rPr lang="de-DE" dirty="0"/>
              <a:t> </a:t>
            </a:r>
            <a:r>
              <a:rPr lang="de-DE" dirty="0" err="1"/>
              <a:t>session</a:t>
            </a:r>
            <a:r>
              <a:rPr lang="de-DE" dirty="0"/>
              <a:t>, </a:t>
            </a:r>
            <a:r>
              <a:rPr lang="de-DE" dirty="0" err="1"/>
              <a:t>they</a:t>
            </a:r>
            <a:r>
              <a:rPr lang="de-DE" dirty="0"/>
              <a:t> </a:t>
            </a:r>
            <a:r>
              <a:rPr lang="de-DE" dirty="0" err="1"/>
              <a:t>shall</a:t>
            </a:r>
            <a:r>
              <a:rPr lang="de-DE" dirty="0"/>
              <a:t> </a:t>
            </a:r>
            <a:r>
              <a:rPr lang="de-DE" dirty="0" err="1"/>
              <a:t>understand</a:t>
            </a:r>
            <a:r>
              <a:rPr lang="de-DE" dirty="0"/>
              <a:t> </a:t>
            </a:r>
            <a:r>
              <a:rPr lang="de-DE" dirty="0" err="1"/>
              <a:t>how</a:t>
            </a:r>
            <a:r>
              <a:rPr lang="de-DE" dirty="0"/>
              <a:t> </a:t>
            </a:r>
            <a:r>
              <a:rPr lang="de-DE" dirty="0" err="1"/>
              <a:t>groups</a:t>
            </a:r>
            <a:r>
              <a:rPr lang="de-DE" dirty="0"/>
              <a:t> </a:t>
            </a:r>
            <a:r>
              <a:rPr lang="de-DE" dirty="0" err="1"/>
              <a:t>work</a:t>
            </a:r>
            <a:r>
              <a:rPr lang="de-DE" dirty="0"/>
              <a:t> </a:t>
            </a:r>
            <a:r>
              <a:rPr lang="de-DE" dirty="0" err="1"/>
              <a:t>together</a:t>
            </a:r>
            <a:r>
              <a:rPr lang="de-DE" dirty="0"/>
              <a:t> </a:t>
            </a:r>
            <a:r>
              <a:rPr lang="de-DE" dirty="0" err="1"/>
              <a:t>most</a:t>
            </a:r>
            <a:r>
              <a:rPr lang="de-DE" dirty="0"/>
              <a:t> </a:t>
            </a:r>
            <a:r>
              <a:rPr lang="de-DE" dirty="0" err="1"/>
              <a:t>effectively</a:t>
            </a:r>
            <a:r>
              <a:rPr lang="de-DE" dirty="0"/>
              <a:t> and </a:t>
            </a:r>
            <a:r>
              <a:rPr lang="de-DE" dirty="0" err="1"/>
              <a:t>how</a:t>
            </a:r>
            <a:r>
              <a:rPr lang="de-DE" dirty="0"/>
              <a:t> </a:t>
            </a:r>
            <a:r>
              <a:rPr lang="de-DE" dirty="0" err="1"/>
              <a:t>they</a:t>
            </a:r>
            <a:r>
              <a:rPr lang="de-DE" dirty="0"/>
              <a:t> </a:t>
            </a:r>
            <a:r>
              <a:rPr lang="de-DE" dirty="0" err="1"/>
              <a:t>can</a:t>
            </a:r>
            <a:r>
              <a:rPr lang="de-DE" dirty="0"/>
              <a:t> </a:t>
            </a:r>
            <a:r>
              <a:rPr lang="de-DE" dirty="0" err="1"/>
              <a:t>organize</a:t>
            </a:r>
            <a:r>
              <a:rPr lang="de-DE" dirty="0"/>
              <a:t> </a:t>
            </a:r>
            <a:r>
              <a:rPr lang="de-DE" dirty="0" err="1"/>
              <a:t>themselves</a:t>
            </a:r>
            <a:r>
              <a:rPr lang="de-DE" dirty="0"/>
              <a:t> </a:t>
            </a:r>
            <a:r>
              <a:rPr lang="de-DE" dirty="0" err="1"/>
              <a:t>to</a:t>
            </a:r>
            <a:r>
              <a:rPr lang="de-DE" dirty="0"/>
              <a:t> </a:t>
            </a:r>
            <a:r>
              <a:rPr lang="de-DE" dirty="0" err="1"/>
              <a:t>reach</a:t>
            </a:r>
            <a:r>
              <a:rPr lang="de-DE" dirty="0"/>
              <a:t> a </a:t>
            </a:r>
            <a:r>
              <a:rPr lang="de-DE" dirty="0" err="1"/>
              <a:t>goal</a:t>
            </a:r>
            <a:r>
              <a:rPr lang="de-DE" dirty="0"/>
              <a:t> </a:t>
            </a:r>
            <a:r>
              <a:rPr lang="de-DE" dirty="0" err="1"/>
              <a:t>without</a:t>
            </a:r>
            <a:r>
              <a:rPr lang="de-DE" dirty="0"/>
              <a:t> </a:t>
            </a:r>
            <a:r>
              <a:rPr lang="de-DE" dirty="0" err="1"/>
              <a:t>many</a:t>
            </a:r>
            <a:r>
              <a:rPr lang="de-DE" dirty="0"/>
              <a:t> </a:t>
            </a:r>
            <a:r>
              <a:rPr lang="de-DE" dirty="0" err="1"/>
              <a:t>headaches</a:t>
            </a:r>
            <a:r>
              <a:rPr lang="de-DE" dirty="0"/>
              <a:t>.</a:t>
            </a:r>
          </a:p>
          <a:p>
            <a:pPr marL="457200" marR="0" lvl="0" indent="-317500" algn="l" defTabSz="914400" eaLnBrk="1" fontAlgn="auto" latinLnBrk="0" hangingPunct="1">
              <a:lnSpc>
                <a:spcPct val="100000"/>
              </a:lnSpc>
              <a:spcBef>
                <a:spcPts val="0"/>
              </a:spcBef>
              <a:spcAft>
                <a:spcPts val="0"/>
              </a:spcAft>
              <a:buClr>
                <a:srgbClr val="000000"/>
              </a:buClr>
              <a:buSzPts val="1400"/>
              <a:buFont typeface="Arial"/>
              <a:buChar char="●"/>
              <a:tabLst/>
              <a:defRPr/>
            </a:pPr>
            <a:r>
              <a:rPr lang="de-DE" dirty="0" err="1"/>
              <a:t>Preparation</a:t>
            </a:r>
            <a:r>
              <a:rPr lang="de-DE" dirty="0"/>
              <a:t>: (</a:t>
            </a:r>
            <a:r>
              <a:rPr lang="de-DE" dirty="0" err="1"/>
              <a:t>suggesting</a:t>
            </a:r>
            <a:r>
              <a:rPr lang="de-DE" dirty="0"/>
              <a:t> a </a:t>
            </a:r>
            <a:r>
              <a:rPr lang="de-DE" dirty="0" err="1"/>
              <a:t>Belbin</a:t>
            </a:r>
            <a:r>
              <a:rPr lang="de-DE" dirty="0"/>
              <a:t> </a:t>
            </a:r>
            <a:r>
              <a:rPr lang="de-DE" dirty="0" err="1"/>
              <a:t>role</a:t>
            </a:r>
            <a:r>
              <a:rPr lang="de-DE" dirty="0"/>
              <a:t> </a:t>
            </a:r>
            <a:r>
              <a:rPr lang="de-DE" dirty="0" err="1"/>
              <a:t>for</a:t>
            </a:r>
            <a:r>
              <a:rPr lang="de-DE" dirty="0"/>
              <a:t> </a:t>
            </a:r>
            <a:r>
              <a:rPr lang="de-DE" dirty="0" err="1"/>
              <a:t>the</a:t>
            </a:r>
            <a:r>
              <a:rPr lang="de-DE" dirty="0"/>
              <a:t> </a:t>
            </a:r>
            <a:r>
              <a:rPr lang="de-DE" dirty="0" err="1"/>
              <a:t>other</a:t>
            </a:r>
            <a:r>
              <a:rPr lang="de-DE" dirty="0"/>
              <a:t> </a:t>
            </a:r>
            <a:r>
              <a:rPr lang="de-DE" dirty="0" err="1"/>
              <a:t>person</a:t>
            </a:r>
            <a:r>
              <a:rPr lang="de-DE" dirty="0"/>
              <a:t>) I </a:t>
            </a:r>
            <a:r>
              <a:rPr lang="de-DE" dirty="0" err="1"/>
              <a:t>recommend</a:t>
            </a:r>
            <a:r>
              <a:rPr lang="de-DE" dirty="0"/>
              <a:t> </a:t>
            </a:r>
            <a:r>
              <a:rPr lang="de-DE" dirty="0" err="1"/>
              <a:t>that</a:t>
            </a:r>
            <a:r>
              <a:rPr lang="de-DE" dirty="0"/>
              <a:t> </a:t>
            </a:r>
            <a:r>
              <a:rPr lang="de-DE" dirty="0" err="1"/>
              <a:t>you</a:t>
            </a:r>
            <a:r>
              <a:rPr lang="de-DE" dirty="0"/>
              <a:t> </a:t>
            </a:r>
            <a:r>
              <a:rPr lang="de-DE" dirty="0" err="1"/>
              <a:t>either</a:t>
            </a:r>
            <a:r>
              <a:rPr lang="de-DE" dirty="0"/>
              <a:t> </a:t>
            </a:r>
            <a:r>
              <a:rPr lang="de-DE" dirty="0" err="1"/>
              <a:t>print</a:t>
            </a:r>
            <a:r>
              <a:rPr lang="de-DE" dirty="0"/>
              <a:t> out </a:t>
            </a:r>
            <a:r>
              <a:rPr lang="de-DE" dirty="0" err="1"/>
              <a:t>the</a:t>
            </a:r>
            <a:r>
              <a:rPr lang="de-DE" dirty="0"/>
              <a:t> </a:t>
            </a:r>
            <a:r>
              <a:rPr lang="de-DE" dirty="0" err="1"/>
              <a:t>Belbin</a:t>
            </a:r>
            <a:r>
              <a:rPr lang="de-DE" dirty="0"/>
              <a:t> </a:t>
            </a:r>
            <a:r>
              <a:rPr lang="de-DE" dirty="0" err="1"/>
              <a:t>Role</a:t>
            </a:r>
            <a:r>
              <a:rPr lang="de-DE" dirty="0"/>
              <a:t>-sheet (in </a:t>
            </a:r>
            <a:r>
              <a:rPr lang="de-DE" dirty="0" err="1"/>
              <a:t>the</a:t>
            </a:r>
            <a:r>
              <a:rPr lang="de-DE" dirty="0"/>
              <a:t> </a:t>
            </a:r>
            <a:r>
              <a:rPr lang="de-DE" dirty="0" err="1"/>
              <a:t>materials</a:t>
            </a:r>
            <a:r>
              <a:rPr lang="de-DE" dirty="0"/>
              <a:t> </a:t>
            </a:r>
            <a:r>
              <a:rPr lang="de-DE" dirty="0" err="1"/>
              <a:t>folder</a:t>
            </a:r>
            <a:r>
              <a:rPr lang="de-DE" dirty="0"/>
              <a:t>) </a:t>
            </a:r>
            <a:r>
              <a:rPr lang="de-DE" dirty="0" err="1"/>
              <a:t>or</a:t>
            </a:r>
            <a:r>
              <a:rPr lang="de-DE" dirty="0"/>
              <a:t> </a:t>
            </a:r>
            <a:r>
              <a:rPr lang="de-DE" dirty="0" err="1"/>
              <a:t>make</a:t>
            </a:r>
            <a:r>
              <a:rPr lang="de-DE" dirty="0"/>
              <a:t> </a:t>
            </a:r>
            <a:r>
              <a:rPr lang="de-DE" dirty="0" err="1"/>
              <a:t>it</a:t>
            </a:r>
            <a:r>
              <a:rPr lang="de-DE" dirty="0"/>
              <a:t> </a:t>
            </a:r>
            <a:r>
              <a:rPr lang="de-DE" dirty="0" err="1"/>
              <a:t>available</a:t>
            </a:r>
            <a:r>
              <a:rPr lang="de-DE" dirty="0"/>
              <a:t> on </a:t>
            </a:r>
            <a:r>
              <a:rPr lang="de-DE" dirty="0" err="1"/>
              <a:t>MyStudy</a:t>
            </a:r>
            <a:r>
              <a:rPr lang="de-DE" dirty="0"/>
              <a:t>.</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1</a:t>
            </a:fld>
            <a:endParaRPr lang="de-DE"/>
          </a:p>
        </p:txBody>
      </p:sp>
    </p:spTree>
    <p:extLst>
      <p:ext uri="{BB962C8B-B14F-4D97-AF65-F5344CB8AC3E}">
        <p14:creationId xmlns:p14="http://schemas.microsoft.com/office/powerpoint/2010/main" val="1569557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Take 5mins, create a mind map for each question.</a:t>
            </a:r>
          </a:p>
          <a:p>
            <a:pPr>
              <a:defRPr/>
            </a:pPr>
            <a:r>
              <a:rPr lang="en-US" dirty="0"/>
              <a:t>
Example answers for 1: </a:t>
            </a:r>
          </a:p>
          <a:p>
            <a:pPr marL="171450" indent="-171450">
              <a:buFont typeface="Arial" panose="020B0604020202020204" pitchFamily="34" charset="0"/>
              <a:buChar char="•"/>
              <a:defRPr/>
            </a:pPr>
            <a:r>
              <a:rPr lang="en-US" dirty="0"/>
              <a:t>several people</a:t>
            </a:r>
          </a:p>
          <a:p>
            <a:pPr marL="171450" indent="-171450">
              <a:buFont typeface="Arial" panose="020B0604020202020204" pitchFamily="34" charset="0"/>
              <a:buChar char="•"/>
              <a:defRPr/>
            </a:pPr>
            <a:r>
              <a:rPr lang="en-US" dirty="0"/>
              <a:t>division of tasks</a:t>
            </a:r>
          </a:p>
          <a:p>
            <a:pPr marL="171450" indent="-171450">
              <a:buFont typeface="Arial" panose="020B0604020202020204" pitchFamily="34" charset="0"/>
              <a:buChar char="•"/>
              <a:defRPr/>
            </a:pPr>
            <a:r>
              <a:rPr lang="en-US" dirty="0"/>
              <a:t>Interaction</a:t>
            </a:r>
          </a:p>
          <a:p>
            <a:pPr marL="171450" indent="-171450">
              <a:buFont typeface="Arial" panose="020B0604020202020204" pitchFamily="34" charset="0"/>
              <a:buChar char="•"/>
              <a:defRPr/>
            </a:pPr>
            <a:r>
              <a:rPr lang="en-US" dirty="0"/>
              <a:t>self-organization (also interdisciplinary cooperation as a ubiquitous phenomenon in the world of work) </a:t>
            </a:r>
          </a:p>
          <a:p>
            <a:pPr marL="0" indent="0">
              <a:buFont typeface="Arial" panose="020B0604020202020204" pitchFamily="34" charset="0"/>
              <a:buNone/>
              <a:defRPr/>
            </a:pPr>
            <a:r>
              <a:rPr lang="en-US" dirty="0"/>
              <a:t>Answers for 2: </a:t>
            </a:r>
          </a:p>
          <a:p>
            <a:pPr marL="171450" indent="-171450">
              <a:buFont typeface="Arial" panose="020B0604020202020204" pitchFamily="34" charset="0"/>
              <a:buChar char="•"/>
              <a:defRPr/>
            </a:pPr>
            <a:r>
              <a:rPr lang="en-US" dirty="0"/>
              <a:t>divide again into 2 mind maps (opportunities vs. challenges) on blackboard / whiteboard</a:t>
            </a:r>
          </a:p>
          <a:p>
            <a:pPr marL="171450" indent="-171450">
              <a:buFont typeface="Arial" panose="020B0604020202020204" pitchFamily="34" charset="0"/>
              <a:buChar char="•"/>
              <a:defRPr/>
            </a:pPr>
            <a:r>
              <a:rPr lang="en-US" dirty="0"/>
              <a:t>point to treasures of experience from school days; for challenges: how were they solved? &gt; make positive experiences strong!</a:t>
            </a:r>
          </a:p>
          <a:p>
            <a:pPr marL="171450" indent="-171450">
              <a:buFont typeface="Arial" panose="020B0604020202020204" pitchFamily="34" charset="0"/>
              <a:buChar char="•"/>
              <a:defRPr/>
            </a:pPr>
            <a:r>
              <a:rPr lang="en-US" dirty="0"/>
              <a:t>Alternatively use </a:t>
            </a:r>
            <a:r>
              <a:rPr lang="en-US" dirty="0" err="1"/>
              <a:t>MentiMeter</a:t>
            </a:r>
            <a:r>
              <a:rPr lang="en-US" dirty="0"/>
              <a:t>, so that anonymous collection is carried out</a:t>
            </a:r>
          </a:p>
        </p:txBody>
      </p:sp>
      <p:sp>
        <p:nvSpPr>
          <p:cNvPr id="4" name="Foliennummernplatzhalter 3"/>
          <p:cNvSpPr>
            <a:spLocks noGrp="1"/>
          </p:cNvSpPr>
          <p:nvPr>
            <p:ph type="sldNum" sz="quarter" idx="5"/>
          </p:nvPr>
        </p:nvSpPr>
        <p:spPr/>
        <p:txBody>
          <a:bodyPr/>
          <a:lstStyle/>
          <a:p>
            <a:fld id="{91C7837A-BE0C-8E44-AC6E-3BD867A160FB}" type="slidenum">
              <a:rPr lang="de-DE" smtClean="0"/>
              <a:t>3</a:t>
            </a:fld>
            <a:endParaRPr lang="de-DE"/>
          </a:p>
        </p:txBody>
      </p:sp>
    </p:spTree>
    <p:extLst>
      <p:ext uri="{BB962C8B-B14F-4D97-AF65-F5344CB8AC3E}">
        <p14:creationId xmlns:p14="http://schemas.microsoft.com/office/powerpoint/2010/main" val="2540136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311149" indent="-171450">
              <a:buSzPts val="1400"/>
              <a:defRPr/>
            </a:pPr>
            <a:r>
              <a:rPr lang="en-US" sz="1200" b="0" i="0" u="none" strike="noStrike" cap="none" spc="0" dirty="0">
                <a:solidFill>
                  <a:srgbClr val="000000"/>
                </a:solidFill>
                <a:latin typeface="Arial"/>
                <a:ea typeface="Arial"/>
                <a:cs typeface="Arial"/>
              </a:rPr>
              <a:t>Input from the tutor</a:t>
            </a:r>
          </a:p>
          <a:p>
            <a:pPr marL="311149" indent="-171450">
              <a:buSzPts val="1400"/>
              <a:defRPr/>
            </a:pPr>
            <a:r>
              <a:rPr lang="en-US" sz="1200" b="0" i="0" u="none" strike="noStrike" cap="none" spc="0" dirty="0">
                <a:solidFill>
                  <a:srgbClr val="000000"/>
                </a:solidFill>
                <a:latin typeface="Arial"/>
                <a:ea typeface="Arial"/>
                <a:cs typeface="Arial"/>
              </a:rPr>
              <a:t>What are the most important tips for effective teams that can and should be derived from the characteristics of groups and teams?
To 1.: Which tasks exist from the point of view of the team? Are these desirable, accepted, motivating and, above all, meaningful for the team? Is there agreement on paths and goals?
Re 2.: Does interaction and communication work as required and coordinated? Is information exchanged, tasks worked on together and coordinated, and are decisions made sensibly? Where are any barriers and what can improve interaction?  (Topic of another session: 11.2 Nonviolent Communication &amp; Social Lazing)
Re 3: Is there a meaningful, stable and conflict-free role differentiation? Are there clear responsibilities and limits of responsibilities? Are all team roles important for the task filled? &gt; this will be discussed in the next section of the Belbin roles</a:t>
            </a:r>
          </a:p>
          <a:p>
            <a:pPr marL="311149" indent="-171450">
              <a:buSzPts val="1400"/>
              <a:defRPr/>
            </a:pPr>
            <a:endParaRPr lang="en-US" sz="1200" b="0" i="0" u="none" strike="noStrike" cap="none" spc="0" dirty="0">
              <a:solidFill>
                <a:srgbClr val="000000"/>
              </a:solidFill>
              <a:latin typeface="Arial"/>
              <a:ea typeface="Arial"/>
              <a:cs typeface="Arial"/>
            </a:endParaRPr>
          </a:p>
          <a:p>
            <a:pPr marL="311149" indent="-171450">
              <a:buSzPts val="1400"/>
              <a:defRPr/>
            </a:pPr>
            <a:r>
              <a:rPr lang="en-US" sz="1200" b="0" i="0" u="none" strike="noStrike" cap="none" spc="0" dirty="0">
                <a:solidFill>
                  <a:srgbClr val="000000"/>
                </a:solidFill>
                <a:latin typeface="Arial"/>
                <a:ea typeface="Arial"/>
                <a:cs typeface="Arial"/>
              </a:rPr>
              <a:t>If you are interested, find out more here: https://wpgs.de/fachtexte/gruppen-und-teams/team-gruppe-definition-merkmale-unterschied/#Tipps_fuer_handlungsfaehige_Teams</a:t>
            </a:r>
            <a:endParaRPr lang="en-US" i="1" dirty="0"/>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4</a:t>
            </a:fld>
            <a:endParaRPr lang="de-DE"/>
          </a:p>
        </p:txBody>
      </p:sp>
    </p:spTree>
    <p:extLst>
      <p:ext uri="{BB962C8B-B14F-4D97-AF65-F5344CB8AC3E}">
        <p14:creationId xmlns:p14="http://schemas.microsoft.com/office/powerpoint/2010/main" val="3002017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Before we talk about how best to organize ourselves with others, we take a look at ourselves: what personality traits do we see for ourselves?</a:t>
            </a:r>
          </a:p>
          <a:p>
            <a:pPr>
              <a:defRPr/>
            </a:pPr>
            <a:endParaRPr lang="en-US" dirty="0"/>
          </a:p>
          <a:p>
            <a:pPr>
              <a:defRPr/>
            </a:pPr>
            <a:r>
              <a:rPr lang="en-US" dirty="0"/>
              <a:t>Based on this, in the second step we can consider which role we can take on in a group, and which ones do not make sense in any case due to character traits.</a:t>
            </a:r>
          </a:p>
        </p:txBody>
      </p:sp>
      <p:sp>
        <p:nvSpPr>
          <p:cNvPr id="4" name="Foliennummernplatzhalter 3"/>
          <p:cNvSpPr>
            <a:spLocks noGrp="1"/>
          </p:cNvSpPr>
          <p:nvPr>
            <p:ph type="sldNum" sz="quarter" idx="5"/>
          </p:nvPr>
        </p:nvSpPr>
        <p:spPr/>
        <p:txBody>
          <a:bodyPr/>
          <a:lstStyle/>
          <a:p>
            <a:fld id="{91C7837A-BE0C-8E44-AC6E-3BD867A160FB}" type="slidenum">
              <a:rPr lang="de-DE" smtClean="0"/>
              <a:t>5</a:t>
            </a:fld>
            <a:endParaRPr lang="de-DE"/>
          </a:p>
        </p:txBody>
      </p:sp>
    </p:spTree>
    <p:extLst>
      <p:ext uri="{BB962C8B-B14F-4D97-AF65-F5344CB8AC3E}">
        <p14:creationId xmlns:p14="http://schemas.microsoft.com/office/powerpoint/2010/main" val="2355318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buFont typeface="Arial" panose="020B0604020202020204" pitchFamily="34" charset="0"/>
              <a:buNone/>
              <a:defRPr/>
            </a:pPr>
            <a:r>
              <a:rPr lang="en-US" dirty="0"/>
              <a:t>For tutors:</a:t>
            </a:r>
          </a:p>
          <a:p>
            <a:pPr marL="171450" indent="-171450">
              <a:buFont typeface="Arial" panose="020B0604020202020204" pitchFamily="34" charset="0"/>
              <a:buChar char="•"/>
              <a:defRPr/>
            </a:pPr>
            <a:r>
              <a:rPr lang="en-US" dirty="0"/>
              <a:t>First, you present this overview to the students. Afterwards, they could either take about 5mins to reflect on themselves (where do I classify myself?) </a:t>
            </a:r>
            <a:r>
              <a:rPr lang="en-US" b="1" i="1" dirty="0"/>
              <a:t>or </a:t>
            </a:r>
            <a:r>
              <a:rPr lang="en-US" b="0" i="0" dirty="0"/>
              <a:t>take an equivalent online-test (10mins long), e.g. here: bigfive-test.com – there‘s several language options.</a:t>
            </a:r>
          </a:p>
          <a:p>
            <a:pPr marL="171450" indent="-171450">
              <a:buFont typeface="Arial" panose="020B0604020202020204" pitchFamily="34" charset="0"/>
              <a:buChar char="•"/>
              <a:defRPr/>
            </a:pPr>
            <a:r>
              <a:rPr lang="en-US" b="0" i="0" dirty="0"/>
              <a:t>Present the steps after one another, just as suggested by the animation. The following </a:t>
            </a:r>
            <a:r>
              <a:rPr lang="en-US" b="0" i="0" dirty="0" err="1"/>
              <a:t>infos</a:t>
            </a:r>
            <a:r>
              <a:rPr lang="en-US" b="0" i="0" dirty="0"/>
              <a:t> are side </a:t>
            </a:r>
            <a:r>
              <a:rPr lang="en-US" b="0" i="0" dirty="0" err="1"/>
              <a:t>infos</a:t>
            </a:r>
            <a:r>
              <a:rPr lang="en-US" b="0" i="0" dirty="0"/>
              <a:t>:</a:t>
            </a:r>
          </a:p>
          <a:p>
            <a:pPr marL="628650" lvl="1" indent="-171450">
              <a:buFont typeface="Arial" panose="020B0604020202020204" pitchFamily="34" charset="0"/>
              <a:buChar char="•"/>
              <a:defRPr/>
            </a:pPr>
            <a:r>
              <a:rPr lang="en-US" dirty="0"/>
              <a:t>In principle, the more pronounced a characteristic, the more beneficial it is for group work. However, it should not be a question of understanding weaknesses as deficits and therefore having to change them. It is important to understand ourselves better in order to be able to work as stress-free as possible in contact with others.
Of course, the characteristics of the Big Five are also dependent on the form of the day. Emotional mood is just as important!</a:t>
            </a:r>
          </a:p>
          <a:p>
            <a:pPr marL="628650" lvl="1" indent="-171450">
              <a:buFont typeface="Arial" panose="020B0604020202020204" pitchFamily="34" charset="0"/>
              <a:buChar char="•"/>
              <a:defRPr/>
            </a:pPr>
            <a:r>
              <a:rPr lang="en-US" dirty="0"/>
              <a:t>For group work: Therefore, it is always advisable to start the meeting with a "check in", i.e. roughly coordinate the current needs and emotional states. By knowing what's going on in each other's lives, we can better understand why they act and decide a certain way.</a:t>
            </a:r>
          </a:p>
          <a:p>
            <a:pPr lvl="0">
              <a:defRPr/>
            </a:pPr>
            <a:endParaRPr lang="en-US" dirty="0"/>
          </a:p>
        </p:txBody>
      </p:sp>
      <p:sp>
        <p:nvSpPr>
          <p:cNvPr id="4" name="Foliennummernplatzhalter 3"/>
          <p:cNvSpPr>
            <a:spLocks noGrp="1"/>
          </p:cNvSpPr>
          <p:nvPr>
            <p:ph type="sldNum" sz="quarter" idx="5"/>
          </p:nvPr>
        </p:nvSpPr>
        <p:spPr/>
        <p:txBody>
          <a:bodyPr/>
          <a:lstStyle/>
          <a:p>
            <a:fld id="{91C7837A-BE0C-8E44-AC6E-3BD867A160FB}" type="slidenum">
              <a:rPr lang="de-DE" smtClean="0"/>
              <a:t>6</a:t>
            </a:fld>
            <a:endParaRPr lang="de-DE"/>
          </a:p>
        </p:txBody>
      </p:sp>
    </p:spTree>
    <p:extLst>
      <p:ext uri="{BB962C8B-B14F-4D97-AF65-F5344CB8AC3E}">
        <p14:creationId xmlns:p14="http://schemas.microsoft.com/office/powerpoint/2010/main" val="270529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Now that we know which characteristics suit us particularly well, it's about orienting ourselves in groups.</a:t>
            </a:r>
          </a:p>
          <a:p>
            <a:pPr>
              <a:defRPr/>
            </a:pPr>
            <a:endParaRPr lang="en-US" dirty="0"/>
          </a:p>
          <a:p>
            <a:pPr marL="171450" indent="-171450">
              <a:buFont typeface="Arial" panose="020B0604020202020204" pitchFamily="34" charset="0"/>
              <a:buChar char="•"/>
              <a:defRPr/>
            </a:pPr>
            <a:r>
              <a:rPr lang="en-US" dirty="0"/>
              <a:t>You may no longer have the opportunity to optimally assemble your teams according to suitable character types. But an awareness of personalities and competencies can definitely make you more team-oriented.
Short input: In the 1970s, psychology professor Meredith Belbin studied the effects of team composition from different personality types on team performance. As a result, he developed the concept of nine team roles. He found that team structures are (can) be composed of certain role patterns. Such a team role refers to behavioral patterns that a member of the team shows, with whom he identifies and which the other team members expect from this person.
Problems arise when </a:t>
            </a:r>
          </a:p>
          <a:p>
            <a:pPr marL="628650" lvl="1" indent="-171450">
              <a:buFont typeface="Arial" panose="020B0604020202020204" pitchFamily="34" charset="0"/>
              <a:buChar char="•"/>
              <a:defRPr/>
            </a:pPr>
            <a:r>
              <a:rPr lang="en-US" dirty="0"/>
              <a:t>1) the team member does not perform the role; </a:t>
            </a:r>
          </a:p>
          <a:p>
            <a:pPr marL="628650" lvl="1" indent="-171450">
              <a:buFont typeface="Arial" panose="020B0604020202020204" pitchFamily="34" charset="0"/>
              <a:buChar char="•"/>
              <a:defRPr/>
            </a:pPr>
            <a:r>
              <a:rPr lang="en-US" dirty="0"/>
              <a:t>2) important roles are not filled; </a:t>
            </a:r>
          </a:p>
          <a:p>
            <a:pPr marL="628650" lvl="1" indent="-171450">
              <a:buFont typeface="Arial" panose="020B0604020202020204" pitchFamily="34" charset="0"/>
              <a:buChar char="•"/>
              <a:defRPr/>
            </a:pPr>
            <a:r>
              <a:rPr lang="en-US" dirty="0"/>
              <a:t>3) several team members compete for the same role (e.g. coordinating the work)</a:t>
            </a:r>
          </a:p>
          <a:p>
            <a:pPr marL="171450" lvl="0" indent="-171450">
              <a:buFont typeface="Arial" panose="020B0604020202020204" pitchFamily="34" charset="0"/>
              <a:buChar char="•"/>
              <a:defRPr/>
            </a:pPr>
            <a:r>
              <a:rPr lang="en-US" dirty="0"/>
              <a:t>according to Belbin, teams are particularly effective when a variety of personality types meet.</a:t>
            </a:r>
          </a:p>
        </p:txBody>
      </p:sp>
      <p:sp>
        <p:nvSpPr>
          <p:cNvPr id="4" name="Foliennummernplatzhalter 3"/>
          <p:cNvSpPr>
            <a:spLocks noGrp="1"/>
          </p:cNvSpPr>
          <p:nvPr>
            <p:ph type="sldNum" sz="quarter" idx="5"/>
          </p:nvPr>
        </p:nvSpPr>
        <p:spPr/>
        <p:txBody>
          <a:bodyPr/>
          <a:lstStyle/>
          <a:p>
            <a:fld id="{91C7837A-BE0C-8E44-AC6E-3BD867A160FB}" type="slidenum">
              <a:rPr lang="de-DE" smtClean="0"/>
              <a:t>7</a:t>
            </a:fld>
            <a:endParaRPr lang="de-DE"/>
          </a:p>
        </p:txBody>
      </p:sp>
    </p:spTree>
    <p:extLst>
      <p:ext uri="{BB962C8B-B14F-4D97-AF65-F5344CB8AC3E}">
        <p14:creationId xmlns:p14="http://schemas.microsoft.com/office/powerpoint/2010/main" val="3369994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For Tutors: Present these roles. </a:t>
            </a:r>
          </a:p>
          <a:p>
            <a:pPr>
              <a:defRPr/>
            </a:pPr>
            <a:r>
              <a:rPr lang="en-US" dirty="0"/>
              <a:t>There are three different types: thinking, action and social</a:t>
            </a:r>
          </a:p>
          <a:p>
            <a:pPr>
              <a:defRPr/>
            </a:pPr>
            <a:r>
              <a:rPr lang="en-US" dirty="0"/>
              <a:t>Start with the thinking roles, then action, then social. The students should listen closely to write down which of their character traits fits a role. To remember they can take notes while you‘re talking.</a:t>
            </a:r>
          </a:p>
          <a:p>
            <a:pPr>
              <a:defRPr/>
            </a:pPr>
            <a:endParaRPr lang="en-US" dirty="0"/>
          </a:p>
          <a:p>
            <a:pPr marL="171450" indent="-171450">
              <a:buFont typeface="Arial" panose="020B0604020202020204" pitchFamily="34" charset="0"/>
              <a:buChar char="•"/>
              <a:defRPr/>
            </a:pPr>
            <a:r>
              <a:rPr lang="en-US" dirty="0"/>
              <a:t>First of all, three main directions can be distinguished: knowledge-oriented, task-oriented and human-oriented team roles.</a:t>
            </a:r>
          </a:p>
          <a:p>
            <a:pPr marL="0" indent="0">
              <a:buFont typeface="Arial" panose="020B0604020202020204" pitchFamily="34" charset="0"/>
              <a:buNone/>
              <a:defRPr/>
            </a:pPr>
            <a:r>
              <a:rPr lang="en-US" dirty="0"/>
              <a:t>
thinking: </a:t>
            </a:r>
          </a:p>
          <a:p>
            <a:pPr marL="171450" indent="-171450">
              <a:buFont typeface="Arial" panose="020B0604020202020204" pitchFamily="34" charset="0"/>
              <a:buChar char="•"/>
              <a:defRPr/>
            </a:pPr>
            <a:r>
              <a:rPr lang="en-US" dirty="0"/>
              <a:t>The </a:t>
            </a:r>
            <a:r>
              <a:rPr lang="en-US" b="1" dirty="0"/>
              <a:t>plant</a:t>
            </a:r>
            <a:r>
              <a:rPr lang="en-US" dirty="0"/>
              <a:t> brings in unconventional ideas, promotes new solutions and innovations with fresh thinking.</a:t>
            </a:r>
          </a:p>
          <a:p>
            <a:pPr marL="171450" indent="-171450">
              <a:buFont typeface="Arial" panose="020B0604020202020204" pitchFamily="34" charset="0"/>
              <a:buChar char="•"/>
              <a:defRPr/>
            </a:pPr>
            <a:r>
              <a:rPr lang="en-US" dirty="0"/>
              <a:t>The </a:t>
            </a:r>
            <a:r>
              <a:rPr lang="en-US" b="1" dirty="0"/>
              <a:t>monitor</a:t>
            </a:r>
            <a:r>
              <a:rPr lang="en-US" dirty="0"/>
              <a:t> stands for judgment; they are the realists; they keep a distanced overview. They are sober, strategic and critical.</a:t>
            </a:r>
          </a:p>
          <a:p>
            <a:pPr marL="171450" indent="-171450">
              <a:buFont typeface="Arial" panose="020B0604020202020204" pitchFamily="34" charset="0"/>
              <a:buChar char="•"/>
              <a:defRPr/>
            </a:pPr>
            <a:r>
              <a:rPr lang="en-US" b="1" dirty="0"/>
              <a:t>Specialists</a:t>
            </a:r>
            <a:r>
              <a:rPr lang="en-US" dirty="0"/>
              <a:t> have specialist expertise. They are committed and self-centered.</a:t>
            </a:r>
          </a:p>
          <a:p>
            <a:pPr marL="0" indent="0">
              <a:buFont typeface="Arial" panose="020B0604020202020204" pitchFamily="34" charset="0"/>
              <a:buNone/>
              <a:defRPr/>
            </a:pPr>
            <a:endParaRPr lang="en-US" dirty="0"/>
          </a:p>
          <a:p>
            <a:pPr lvl="0">
              <a:defRPr/>
            </a:pPr>
            <a:r>
              <a:rPr lang="en-US" dirty="0"/>
              <a:t>action: </a:t>
            </a:r>
          </a:p>
          <a:p>
            <a:pPr marL="171450" lvl="0" indent="-171450">
              <a:buFont typeface="Arial" panose="020B0604020202020204" pitchFamily="34" charset="0"/>
              <a:buChar char="•"/>
              <a:defRPr/>
            </a:pPr>
            <a:r>
              <a:rPr lang="en-US" b="1" dirty="0"/>
              <a:t>Shapers</a:t>
            </a:r>
            <a:r>
              <a:rPr lang="en-US" dirty="0"/>
              <a:t> want to solve team improvements and problems; they are dynamic and work well under pressure. </a:t>
            </a:r>
          </a:p>
          <a:p>
            <a:pPr marL="171450" lvl="0" indent="-171450">
              <a:buFont typeface="Arial" panose="020B0604020202020204" pitchFamily="34" charset="0"/>
              <a:buChar char="•"/>
              <a:defRPr/>
            </a:pPr>
            <a:r>
              <a:rPr lang="en-US" b="1" dirty="0"/>
              <a:t>Implementers</a:t>
            </a:r>
            <a:r>
              <a:rPr lang="en-US" dirty="0"/>
              <a:t> start systematically. are disciplined, reliable and effective. </a:t>
            </a:r>
          </a:p>
          <a:p>
            <a:pPr marL="171450" lvl="0" indent="-171450">
              <a:buFont typeface="Arial" panose="020B0604020202020204" pitchFamily="34" charset="0"/>
              <a:buChar char="•"/>
              <a:defRPr/>
            </a:pPr>
            <a:r>
              <a:rPr lang="en-US" b="1" dirty="0"/>
              <a:t>Completers</a:t>
            </a:r>
            <a:r>
              <a:rPr lang="en-US" dirty="0"/>
              <a:t> bring things to perfection. They are conscientious and punctual.</a:t>
            </a:r>
          </a:p>
          <a:p>
            <a:pPr marL="0" lvl="0" indent="0">
              <a:buFont typeface="Arial" panose="020B0604020202020204" pitchFamily="34" charset="0"/>
              <a:buNone/>
              <a:defRPr/>
            </a:pPr>
            <a:endParaRPr lang="en-US" dirty="0"/>
          </a:p>
          <a:p>
            <a:pPr lvl="0">
              <a:defRPr/>
            </a:pPr>
            <a:r>
              <a:rPr lang="en-US" dirty="0"/>
              <a:t>social: </a:t>
            </a:r>
          </a:p>
          <a:p>
            <a:pPr marL="171450" lvl="0" indent="-171450">
              <a:buFont typeface="Arial" panose="020B0604020202020204" pitchFamily="34" charset="0"/>
              <a:buChar char="•"/>
              <a:defRPr/>
            </a:pPr>
            <a:r>
              <a:rPr lang="en-US" b="1" dirty="0"/>
              <a:t>Co-</a:t>
            </a:r>
            <a:r>
              <a:rPr lang="en-US" b="1" dirty="0" err="1"/>
              <a:t>ordinators</a:t>
            </a:r>
            <a:r>
              <a:rPr lang="en-US" dirty="0"/>
              <a:t> stand for team leadership, they delegate tasks effectively. They are confident and trusting.</a:t>
            </a:r>
          </a:p>
          <a:p>
            <a:pPr marL="171450" lvl="0" indent="-171450">
              <a:buFont typeface="Arial" panose="020B0604020202020204" pitchFamily="34" charset="0"/>
              <a:buChar char="•"/>
              <a:defRPr/>
            </a:pPr>
            <a:r>
              <a:rPr lang="en-US" b="1" dirty="0"/>
              <a:t>Team workers </a:t>
            </a:r>
            <a:r>
              <a:rPr lang="en-US" dirty="0"/>
              <a:t>promote good cooperation. They pay attention to conflicts and resolve existing ones. They are cooperative and diplomatic.</a:t>
            </a:r>
          </a:p>
          <a:p>
            <a:pPr marL="171450" lvl="0" indent="-171450">
              <a:buFont typeface="Arial" panose="020B0604020202020204" pitchFamily="34" charset="0"/>
              <a:buChar char="•"/>
              <a:defRPr/>
            </a:pPr>
            <a:r>
              <a:rPr lang="en-US" b="1" dirty="0"/>
              <a:t>Resource Investigators</a:t>
            </a:r>
            <a:r>
              <a:rPr lang="en-US" dirty="0"/>
              <a:t> can network. They make important contacts outside the team. They are extroverted, communicative and sociable.</a:t>
            </a:r>
          </a:p>
          <a:p>
            <a:pPr marL="0" lvl="0" indent="0">
              <a:buFont typeface="Arial" panose="020B0604020202020204" pitchFamily="34" charset="0"/>
              <a:buNone/>
              <a:defRPr/>
            </a:pPr>
            <a:endParaRPr lang="en-US" dirty="0"/>
          </a:p>
          <a:p>
            <a:pPr lvl="0">
              <a:defRPr/>
            </a:pPr>
            <a:r>
              <a:rPr lang="en-US" dirty="0"/>
              <a:t>Understands these roles as orientations, not determined. </a:t>
            </a:r>
          </a:p>
          <a:p>
            <a:pPr marL="171450" lvl="0" indent="-171450">
              <a:buFont typeface="Arial" panose="020B0604020202020204" pitchFamily="34" charset="0"/>
              <a:buChar char="•"/>
              <a:defRPr/>
            </a:pPr>
            <a:r>
              <a:rPr lang="en-US" dirty="0"/>
              <a:t>It can very well be that one person is suitable for several roles and takes them on in parallel.</a:t>
            </a:r>
          </a:p>
          <a:p>
            <a:pPr marL="171450" lvl="0" indent="-171450">
              <a:buFont typeface="Arial" panose="020B0604020202020204" pitchFamily="34" charset="0"/>
              <a:buChar char="•"/>
              <a:defRPr/>
            </a:pPr>
            <a:r>
              <a:rPr lang="en-US" dirty="0"/>
              <a:t>The Belbin scrolls are a model that has been taken from empiricism and abstracted extensively. So not all roles have to be distributed!</a:t>
            </a:r>
          </a:p>
          <a:p>
            <a:pPr marL="171450" lvl="0" indent="-171450">
              <a:buFont typeface="Arial" panose="020B0604020202020204" pitchFamily="34" charset="0"/>
              <a:buChar char="•"/>
              <a:defRPr/>
            </a:pPr>
            <a:r>
              <a:rPr lang="en-US" dirty="0"/>
              <a:t>At the same time, it is possible that the distribution of roles in the process will change.</a:t>
            </a:r>
          </a:p>
        </p:txBody>
      </p:sp>
      <p:sp>
        <p:nvSpPr>
          <p:cNvPr id="4" name="Foliennummernplatzhalter 3"/>
          <p:cNvSpPr>
            <a:spLocks noGrp="1"/>
          </p:cNvSpPr>
          <p:nvPr>
            <p:ph type="sldNum" sz="quarter" idx="5"/>
          </p:nvPr>
        </p:nvSpPr>
        <p:spPr/>
        <p:txBody>
          <a:bodyPr/>
          <a:lstStyle/>
          <a:p>
            <a:fld id="{91C7837A-BE0C-8E44-AC6E-3BD867A160FB}" type="slidenum">
              <a:rPr lang="de-DE" smtClean="0"/>
              <a:t>8</a:t>
            </a:fld>
            <a:endParaRPr lang="de-DE"/>
          </a:p>
        </p:txBody>
      </p:sp>
    </p:spTree>
    <p:extLst>
      <p:ext uri="{BB962C8B-B14F-4D97-AF65-F5344CB8AC3E}">
        <p14:creationId xmlns:p14="http://schemas.microsoft.com/office/powerpoint/2010/main" val="83765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Put yourself in the role of a teamer. Form pairs of two for this. You tell each other about the result of your personality test, and your partner suggests roles that seem appropriate.</a:t>
            </a:r>
          </a:p>
          <a:p>
            <a:pPr>
              <a:defRPr/>
            </a:pPr>
            <a:r>
              <a:rPr lang="en-US" dirty="0"/>
              <a:t>If it is unambiguous, certain roles may also be discouraged. Also uses the </a:t>
            </a:r>
            <a:r>
              <a:rPr lang="en-US" b="1" dirty="0"/>
              <a:t>worksheet</a:t>
            </a:r>
            <a:r>
              <a:rPr lang="en-US" dirty="0"/>
              <a:t> [AB Belbin rolls with detailed role contributions + characteristics] as a thought support. Then exchange ideas: would you have chosen the same role? Why?</a:t>
            </a:r>
          </a:p>
        </p:txBody>
      </p:sp>
      <p:sp>
        <p:nvSpPr>
          <p:cNvPr id="4" name="Foliennummernplatzhalter 3"/>
          <p:cNvSpPr>
            <a:spLocks noGrp="1"/>
          </p:cNvSpPr>
          <p:nvPr>
            <p:ph type="sldNum" sz="quarter" idx="5"/>
          </p:nvPr>
        </p:nvSpPr>
        <p:spPr/>
        <p:txBody>
          <a:bodyPr/>
          <a:lstStyle/>
          <a:p>
            <a:fld id="{91C7837A-BE0C-8E44-AC6E-3BD867A160FB}" type="slidenum">
              <a:rPr lang="de-DE" smtClean="0"/>
              <a:t>9</a:t>
            </a:fld>
            <a:endParaRPr lang="de-DE"/>
          </a:p>
        </p:txBody>
      </p:sp>
    </p:spTree>
    <p:extLst>
      <p:ext uri="{BB962C8B-B14F-4D97-AF65-F5344CB8AC3E}">
        <p14:creationId xmlns:p14="http://schemas.microsoft.com/office/powerpoint/2010/main" val="1202667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Important: Establish a connection to the group work of the seminars and let them reflect on whether conscious role assumption is taking place. Is there satisfaction? Would I like to take on a different role?
For large groups, exchange in small groups is also conceivable.</a:t>
            </a:r>
          </a:p>
        </p:txBody>
      </p:sp>
      <p:sp>
        <p:nvSpPr>
          <p:cNvPr id="4" name="Foliennummernplatzhalter 3"/>
          <p:cNvSpPr>
            <a:spLocks noGrp="1"/>
          </p:cNvSpPr>
          <p:nvPr>
            <p:ph type="sldNum" sz="quarter" idx="5"/>
          </p:nvPr>
        </p:nvSpPr>
        <p:spPr/>
        <p:txBody>
          <a:bodyPr/>
          <a:lstStyle/>
          <a:p>
            <a:fld id="{91C7837A-BE0C-8E44-AC6E-3BD867A160FB}" type="slidenum">
              <a:rPr lang="de-DE" smtClean="0"/>
              <a:t>10</a:t>
            </a:fld>
            <a:endParaRPr lang="de-DE"/>
          </a:p>
        </p:txBody>
      </p:sp>
    </p:spTree>
    <p:extLst>
      <p:ext uri="{BB962C8B-B14F-4D97-AF65-F5344CB8AC3E}">
        <p14:creationId xmlns:p14="http://schemas.microsoft.com/office/powerpoint/2010/main" val="2894137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457200" indent="-317500">
              <a:buFont typeface="Arial" panose="020B0604020202020204" pitchFamily="34" charset="0"/>
              <a:buChar char="•"/>
              <a:defRPr/>
            </a:pPr>
            <a:r>
              <a:rPr lang="de-DE" dirty="0" err="1"/>
              <a:t>Now</a:t>
            </a:r>
            <a:r>
              <a:rPr lang="de-DE" dirty="0"/>
              <a:t> </a:t>
            </a:r>
            <a:r>
              <a:rPr lang="de-DE" dirty="0" err="1"/>
              <a:t>that</a:t>
            </a:r>
            <a:r>
              <a:rPr lang="de-DE" dirty="0"/>
              <a:t> </a:t>
            </a:r>
            <a:r>
              <a:rPr lang="de-DE" dirty="0" err="1"/>
              <a:t>we</a:t>
            </a:r>
            <a:r>
              <a:rPr lang="de-DE" dirty="0"/>
              <a:t> </a:t>
            </a:r>
            <a:r>
              <a:rPr lang="de-DE" dirty="0" err="1"/>
              <a:t>know</a:t>
            </a:r>
            <a:r>
              <a:rPr lang="de-DE" dirty="0"/>
              <a:t> </a:t>
            </a:r>
            <a:r>
              <a:rPr lang="de-DE" dirty="0" err="1"/>
              <a:t>what</a:t>
            </a:r>
            <a:r>
              <a:rPr lang="de-DE" dirty="0"/>
              <a:t> </a:t>
            </a:r>
            <a:r>
              <a:rPr lang="de-DE" dirty="0" err="1"/>
              <a:t>makes</a:t>
            </a:r>
            <a:r>
              <a:rPr lang="de-DE" dirty="0"/>
              <a:t> </a:t>
            </a:r>
            <a:r>
              <a:rPr lang="de-DE" dirty="0" err="1"/>
              <a:t>teamwork</a:t>
            </a:r>
            <a:r>
              <a:rPr lang="de-DE" dirty="0"/>
              <a:t> </a:t>
            </a:r>
            <a:r>
              <a:rPr lang="de-DE" dirty="0" err="1"/>
              <a:t>effective</a:t>
            </a:r>
            <a:r>
              <a:rPr lang="de-DE" dirty="0"/>
              <a:t> and </a:t>
            </a:r>
            <a:r>
              <a:rPr lang="de-DE" dirty="0" err="1"/>
              <a:t>what</a:t>
            </a:r>
            <a:r>
              <a:rPr lang="de-DE" dirty="0"/>
              <a:t> </a:t>
            </a:r>
            <a:r>
              <a:rPr lang="de-DE" dirty="0" err="1"/>
              <a:t>tasks</a:t>
            </a:r>
            <a:r>
              <a:rPr lang="de-DE" dirty="0"/>
              <a:t> </a:t>
            </a:r>
            <a:r>
              <a:rPr lang="de-DE" dirty="0" err="1"/>
              <a:t>can</a:t>
            </a:r>
            <a:r>
              <a:rPr lang="de-DE" dirty="0"/>
              <a:t> </a:t>
            </a:r>
            <a:r>
              <a:rPr lang="de-DE" dirty="0" err="1"/>
              <a:t>be</a:t>
            </a:r>
            <a:r>
              <a:rPr lang="de-DE" dirty="0"/>
              <a:t> </a:t>
            </a:r>
            <a:r>
              <a:rPr lang="de-DE" dirty="0" err="1"/>
              <a:t>distributed</a:t>
            </a:r>
            <a:r>
              <a:rPr lang="de-DE" dirty="0"/>
              <a:t>, </a:t>
            </a:r>
            <a:r>
              <a:rPr lang="de-DE" dirty="0" err="1"/>
              <a:t>let's</a:t>
            </a:r>
            <a:r>
              <a:rPr lang="de-DE" dirty="0"/>
              <a:t> </a:t>
            </a:r>
            <a:r>
              <a:rPr lang="de-DE" dirty="0" err="1"/>
              <a:t>take</a:t>
            </a:r>
            <a:r>
              <a:rPr lang="de-DE" dirty="0"/>
              <a:t> a </a:t>
            </a:r>
            <a:r>
              <a:rPr lang="de-DE" dirty="0" err="1"/>
              <a:t>look</a:t>
            </a:r>
            <a:r>
              <a:rPr lang="de-DE" dirty="0"/>
              <a:t> at </a:t>
            </a:r>
            <a:r>
              <a:rPr lang="de-DE" dirty="0" err="1"/>
              <a:t>the</a:t>
            </a:r>
            <a:r>
              <a:rPr lang="de-DE" dirty="0"/>
              <a:t> </a:t>
            </a:r>
            <a:r>
              <a:rPr lang="de-DE" dirty="0" err="1"/>
              <a:t>whole</a:t>
            </a:r>
            <a:r>
              <a:rPr lang="de-DE" dirty="0"/>
              <a:t> </a:t>
            </a:r>
            <a:r>
              <a:rPr lang="de-DE" dirty="0" err="1"/>
              <a:t>process</a:t>
            </a:r>
            <a:r>
              <a:rPr lang="de-DE" dirty="0"/>
              <a:t>. </a:t>
            </a:r>
            <a:r>
              <a:rPr lang="de-DE" dirty="0" err="1"/>
              <a:t>It</a:t>
            </a:r>
            <a:r>
              <a:rPr lang="de-DE" dirty="0"/>
              <a:t> </a:t>
            </a:r>
            <a:r>
              <a:rPr lang="de-DE" dirty="0" err="1"/>
              <a:t>is</a:t>
            </a:r>
            <a:r>
              <a:rPr lang="de-DE" dirty="0"/>
              <a:t> </a:t>
            </a:r>
            <a:r>
              <a:rPr lang="de-DE" dirty="0" err="1"/>
              <a:t>important</a:t>
            </a:r>
            <a:r>
              <a:rPr lang="de-DE" dirty="0"/>
              <a:t> </a:t>
            </a:r>
            <a:r>
              <a:rPr lang="de-DE" dirty="0" err="1"/>
              <a:t>from</a:t>
            </a:r>
            <a:r>
              <a:rPr lang="de-DE" dirty="0"/>
              <a:t> </a:t>
            </a:r>
            <a:r>
              <a:rPr lang="de-DE" dirty="0" err="1"/>
              <a:t>the</a:t>
            </a:r>
            <a:r>
              <a:rPr lang="de-DE" dirty="0"/>
              <a:t> </a:t>
            </a:r>
            <a:r>
              <a:rPr lang="de-DE" dirty="0" err="1"/>
              <a:t>beginning</a:t>
            </a:r>
            <a:r>
              <a:rPr lang="de-DE" dirty="0"/>
              <a:t> </a:t>
            </a:r>
            <a:r>
              <a:rPr lang="de-DE" dirty="0" err="1"/>
              <a:t>to</a:t>
            </a:r>
            <a:r>
              <a:rPr lang="de-DE" dirty="0"/>
              <a:t> manage </a:t>
            </a:r>
            <a:r>
              <a:rPr lang="de-DE" dirty="0" err="1"/>
              <a:t>the</a:t>
            </a:r>
            <a:r>
              <a:rPr lang="de-DE" dirty="0"/>
              <a:t> </a:t>
            </a:r>
            <a:r>
              <a:rPr lang="de-DE" dirty="0" err="1"/>
              <a:t>group</a:t>
            </a:r>
            <a:r>
              <a:rPr lang="de-DE" dirty="0"/>
              <a:t> </a:t>
            </a:r>
            <a:r>
              <a:rPr lang="de-DE" dirty="0" err="1"/>
              <a:t>work</a:t>
            </a:r>
            <a:r>
              <a:rPr lang="de-DE" dirty="0"/>
              <a:t> </a:t>
            </a:r>
            <a:r>
              <a:rPr lang="de-DE" dirty="0" err="1"/>
              <a:t>correctly</a:t>
            </a:r>
            <a:r>
              <a:rPr lang="de-DE" dirty="0"/>
              <a:t> in </a:t>
            </a:r>
            <a:r>
              <a:rPr lang="de-DE" dirty="0" err="1"/>
              <a:t>order</a:t>
            </a:r>
            <a:r>
              <a:rPr lang="de-DE" dirty="0"/>
              <a:t> </a:t>
            </a:r>
            <a:r>
              <a:rPr lang="de-DE" dirty="0" err="1"/>
              <a:t>to</a:t>
            </a:r>
            <a:r>
              <a:rPr lang="de-DE" dirty="0"/>
              <a:t> </a:t>
            </a:r>
            <a:r>
              <a:rPr lang="de-DE" dirty="0" err="1"/>
              <a:t>reach</a:t>
            </a:r>
            <a:r>
              <a:rPr lang="de-DE" dirty="0"/>
              <a:t> </a:t>
            </a:r>
            <a:r>
              <a:rPr lang="de-DE" dirty="0" err="1"/>
              <a:t>the</a:t>
            </a:r>
            <a:r>
              <a:rPr lang="de-DE" dirty="0"/>
              <a:t> </a:t>
            </a:r>
            <a:r>
              <a:rPr lang="de-DE" dirty="0" err="1"/>
              <a:t>goal</a:t>
            </a:r>
            <a:r>
              <a:rPr lang="de-DE" dirty="0"/>
              <a:t> </a:t>
            </a:r>
            <a:r>
              <a:rPr lang="de-DE" dirty="0" err="1"/>
              <a:t>with</a:t>
            </a:r>
            <a:r>
              <a:rPr lang="de-DE" dirty="0"/>
              <a:t> </a:t>
            </a:r>
            <a:r>
              <a:rPr lang="de-DE" dirty="0" err="1"/>
              <a:t>as</a:t>
            </a:r>
            <a:r>
              <a:rPr lang="de-DE" dirty="0"/>
              <a:t> </a:t>
            </a:r>
            <a:r>
              <a:rPr lang="de-DE" dirty="0" err="1"/>
              <a:t>few</a:t>
            </a:r>
            <a:r>
              <a:rPr lang="de-DE" dirty="0"/>
              <a:t> </a:t>
            </a:r>
            <a:r>
              <a:rPr lang="de-DE" dirty="0" err="1"/>
              <a:t>obstacles</a:t>
            </a:r>
            <a:r>
              <a:rPr lang="de-DE" dirty="0"/>
              <a:t> </a:t>
            </a:r>
            <a:r>
              <a:rPr lang="de-DE" dirty="0" err="1"/>
              <a:t>as</a:t>
            </a:r>
            <a:r>
              <a:rPr lang="de-DE" dirty="0"/>
              <a:t> possible.</a:t>
            </a:r>
          </a:p>
          <a:p>
            <a:pPr marL="457200" indent="-317500">
              <a:buFont typeface="Arial" panose="020B0604020202020204" pitchFamily="34" charset="0"/>
              <a:buChar char="•"/>
              <a:defRPr/>
            </a:pPr>
            <a:r>
              <a:rPr lang="de-DE" dirty="0"/>
              <a:t>By </a:t>
            </a:r>
            <a:r>
              <a:rPr lang="de-DE" dirty="0" err="1"/>
              <a:t>now</a:t>
            </a:r>
            <a:r>
              <a:rPr lang="de-DE" dirty="0"/>
              <a:t> </a:t>
            </a:r>
            <a:r>
              <a:rPr lang="de-DE" dirty="0" err="1"/>
              <a:t>you</a:t>
            </a:r>
            <a:r>
              <a:rPr lang="de-DE" dirty="0"/>
              <a:t> </a:t>
            </a:r>
            <a:r>
              <a:rPr lang="de-DE" dirty="0" err="1"/>
              <a:t>are</a:t>
            </a:r>
            <a:r>
              <a:rPr lang="de-DE" dirty="0"/>
              <a:t> still at </a:t>
            </a:r>
            <a:r>
              <a:rPr lang="de-DE" dirty="0" err="1"/>
              <a:t>the</a:t>
            </a:r>
            <a:r>
              <a:rPr lang="de-DE" dirty="0"/>
              <a:t> </a:t>
            </a:r>
            <a:r>
              <a:rPr lang="de-DE" dirty="0" err="1"/>
              <a:t>beginning</a:t>
            </a:r>
            <a:r>
              <a:rPr lang="de-DE" dirty="0"/>
              <a:t>, but </a:t>
            </a:r>
            <a:r>
              <a:rPr lang="de-DE" dirty="0" err="1"/>
              <a:t>it</a:t>
            </a:r>
            <a:r>
              <a:rPr lang="de-DE" dirty="0"/>
              <a:t> </a:t>
            </a:r>
            <a:r>
              <a:rPr lang="de-DE" dirty="0" err="1"/>
              <a:t>is</a:t>
            </a:r>
            <a:r>
              <a:rPr lang="de-DE" dirty="0"/>
              <a:t> </a:t>
            </a:r>
            <a:r>
              <a:rPr lang="de-DE" dirty="0" err="1"/>
              <a:t>interesting</a:t>
            </a:r>
            <a:r>
              <a:rPr lang="de-DE" dirty="0"/>
              <a:t> </a:t>
            </a:r>
            <a:r>
              <a:rPr lang="de-DE" dirty="0" err="1"/>
              <a:t>where</a:t>
            </a:r>
            <a:r>
              <a:rPr lang="de-DE" dirty="0"/>
              <a:t> </a:t>
            </a:r>
            <a:r>
              <a:rPr lang="de-DE" dirty="0" err="1"/>
              <a:t>your</a:t>
            </a:r>
            <a:r>
              <a:rPr lang="de-DE" dirty="0"/>
              <a:t> </a:t>
            </a:r>
            <a:r>
              <a:rPr lang="de-DE" dirty="0" err="1"/>
              <a:t>path</a:t>
            </a:r>
            <a:r>
              <a:rPr lang="de-DE" dirty="0"/>
              <a:t> will still </a:t>
            </a:r>
            <a:r>
              <a:rPr lang="de-DE" dirty="0" err="1"/>
              <a:t>lead</a:t>
            </a:r>
            <a:r>
              <a:rPr lang="de-DE" dirty="0"/>
              <a:t>. </a:t>
            </a:r>
            <a:r>
              <a:rPr lang="de-DE" dirty="0" err="1"/>
              <a:t>To</a:t>
            </a:r>
            <a:r>
              <a:rPr lang="de-DE" dirty="0"/>
              <a:t> do </a:t>
            </a:r>
            <a:r>
              <a:rPr lang="de-DE" dirty="0" err="1"/>
              <a:t>this</a:t>
            </a:r>
            <a:r>
              <a:rPr lang="de-DE" dirty="0"/>
              <a:t>, </a:t>
            </a:r>
            <a:r>
              <a:rPr lang="de-DE" dirty="0" err="1"/>
              <a:t>we</a:t>
            </a:r>
            <a:r>
              <a:rPr lang="de-DE" dirty="0"/>
              <a:t> </a:t>
            </a:r>
            <a:r>
              <a:rPr lang="de-DE" dirty="0" err="1"/>
              <a:t>look</a:t>
            </a:r>
            <a:r>
              <a:rPr lang="de-DE" dirty="0"/>
              <a:t> at </a:t>
            </a:r>
            <a:r>
              <a:rPr lang="de-DE" dirty="0" err="1"/>
              <a:t>the</a:t>
            </a:r>
            <a:r>
              <a:rPr lang="de-DE" dirty="0"/>
              <a:t> </a:t>
            </a:r>
            <a:r>
              <a:rPr lang="de-DE" dirty="0" err="1"/>
              <a:t>team</a:t>
            </a:r>
            <a:r>
              <a:rPr lang="de-DE" dirty="0"/>
              <a:t> </a:t>
            </a:r>
            <a:r>
              <a:rPr lang="de-DE" dirty="0" err="1"/>
              <a:t>phases</a:t>
            </a:r>
            <a:r>
              <a:rPr lang="de-DE" dirty="0"/>
              <a:t> after </a:t>
            </a:r>
            <a:r>
              <a:rPr lang="de-DE" dirty="0" err="1"/>
              <a:t>Tuckman</a:t>
            </a:r>
            <a:r>
              <a:rPr lang="de-DE" dirty="0"/>
              <a:t>.
Bruce </a:t>
            </a:r>
            <a:r>
              <a:rPr lang="de-DE" dirty="0" err="1"/>
              <a:t>Tuckman</a:t>
            </a:r>
            <a:r>
              <a:rPr lang="de-DE" dirty="0"/>
              <a:t> </a:t>
            </a:r>
            <a:r>
              <a:rPr lang="de-DE" dirty="0" err="1"/>
              <a:t>developed</a:t>
            </a:r>
            <a:r>
              <a:rPr lang="de-DE" dirty="0"/>
              <a:t> </a:t>
            </a:r>
            <a:r>
              <a:rPr lang="de-DE" dirty="0" err="1"/>
              <a:t>this</a:t>
            </a:r>
            <a:r>
              <a:rPr lang="de-DE" dirty="0"/>
              <a:t> </a:t>
            </a:r>
            <a:r>
              <a:rPr lang="de-DE" dirty="0" err="1"/>
              <a:t>phase</a:t>
            </a:r>
            <a:r>
              <a:rPr lang="de-DE" dirty="0"/>
              <a:t> </a:t>
            </a:r>
            <a:r>
              <a:rPr lang="de-DE" dirty="0" err="1"/>
              <a:t>model</a:t>
            </a:r>
            <a:r>
              <a:rPr lang="de-DE" dirty="0"/>
              <a:t> in 1965. </a:t>
            </a:r>
            <a:r>
              <a:rPr lang="de-DE" dirty="0" err="1"/>
              <a:t>It</a:t>
            </a:r>
            <a:r>
              <a:rPr lang="de-DE" dirty="0"/>
              <a:t> </a:t>
            </a:r>
            <a:r>
              <a:rPr lang="de-DE" dirty="0" err="1"/>
              <a:t>helps</a:t>
            </a:r>
            <a:r>
              <a:rPr lang="de-DE" dirty="0"/>
              <a:t> </a:t>
            </a:r>
            <a:r>
              <a:rPr lang="de-DE" dirty="0" err="1"/>
              <a:t>us</a:t>
            </a:r>
            <a:r>
              <a:rPr lang="de-DE" dirty="0"/>
              <a:t> </a:t>
            </a:r>
            <a:r>
              <a:rPr lang="de-DE" dirty="0" err="1"/>
              <a:t>to</a:t>
            </a:r>
            <a:r>
              <a:rPr lang="de-DE" dirty="0"/>
              <a:t> </a:t>
            </a:r>
            <a:r>
              <a:rPr lang="de-DE" dirty="0" err="1"/>
              <a:t>understand</a:t>
            </a:r>
            <a:r>
              <a:rPr lang="de-DE" dirty="0"/>
              <a:t> </a:t>
            </a:r>
            <a:r>
              <a:rPr lang="de-DE" dirty="0" err="1"/>
              <a:t>the</a:t>
            </a:r>
            <a:r>
              <a:rPr lang="de-DE" dirty="0"/>
              <a:t> </a:t>
            </a:r>
            <a:r>
              <a:rPr lang="de-DE" dirty="0" err="1"/>
              <a:t>process</a:t>
            </a:r>
            <a:r>
              <a:rPr lang="de-DE" dirty="0"/>
              <a:t> </a:t>
            </a:r>
            <a:r>
              <a:rPr lang="de-DE" dirty="0" err="1"/>
              <a:t>of</a:t>
            </a:r>
            <a:r>
              <a:rPr lang="de-DE" dirty="0"/>
              <a:t> </a:t>
            </a:r>
            <a:r>
              <a:rPr lang="de-DE" dirty="0" err="1"/>
              <a:t>team</a:t>
            </a:r>
            <a:r>
              <a:rPr lang="de-DE" dirty="0"/>
              <a:t> </a:t>
            </a:r>
            <a:r>
              <a:rPr lang="de-DE" dirty="0" err="1"/>
              <a:t>building</a:t>
            </a:r>
            <a:r>
              <a:rPr lang="de-DE" dirty="0"/>
              <a:t> and </a:t>
            </a:r>
            <a:r>
              <a:rPr lang="de-DE" dirty="0" err="1"/>
              <a:t>to</a:t>
            </a:r>
            <a:r>
              <a:rPr lang="de-DE" dirty="0"/>
              <a:t> </a:t>
            </a:r>
            <a:r>
              <a:rPr lang="de-DE" dirty="0" err="1"/>
              <a:t>actively</a:t>
            </a:r>
            <a:r>
              <a:rPr lang="de-DE" dirty="0"/>
              <a:t> support it. </a:t>
            </a:r>
          </a:p>
          <a:p>
            <a:pPr marL="914400" lvl="1" indent="-317500">
              <a:buFont typeface="Arial" panose="020B0604020202020204" pitchFamily="34" charset="0"/>
              <a:buChar char="•"/>
              <a:defRPr/>
            </a:pPr>
            <a:r>
              <a:rPr lang="de-DE" dirty="0"/>
              <a:t>In </a:t>
            </a:r>
            <a:r>
              <a:rPr lang="de-DE" dirty="0" err="1"/>
              <a:t>the</a:t>
            </a:r>
            <a:r>
              <a:rPr lang="de-DE" dirty="0"/>
              <a:t> </a:t>
            </a:r>
            <a:r>
              <a:rPr lang="de-DE" dirty="0" err="1"/>
              <a:t>forming</a:t>
            </a:r>
            <a:r>
              <a:rPr lang="de-DE" dirty="0"/>
              <a:t> </a:t>
            </a:r>
            <a:r>
              <a:rPr lang="de-DE" dirty="0" err="1"/>
              <a:t>phase</a:t>
            </a:r>
            <a:r>
              <a:rPr lang="de-DE" dirty="0"/>
              <a:t> </a:t>
            </a:r>
            <a:r>
              <a:rPr lang="de-DE" dirty="0" err="1"/>
              <a:t>you</a:t>
            </a:r>
            <a:r>
              <a:rPr lang="de-DE" dirty="0"/>
              <a:t> </a:t>
            </a:r>
            <a:r>
              <a:rPr lang="de-DE" dirty="0" err="1"/>
              <a:t>meet</a:t>
            </a:r>
            <a:r>
              <a:rPr lang="de-DE" dirty="0"/>
              <a:t> </a:t>
            </a:r>
            <a:r>
              <a:rPr lang="de-DE" dirty="0" err="1"/>
              <a:t>for</a:t>
            </a:r>
            <a:r>
              <a:rPr lang="de-DE" dirty="0"/>
              <a:t> </a:t>
            </a:r>
            <a:r>
              <a:rPr lang="de-DE" dirty="0" err="1"/>
              <a:t>the</a:t>
            </a:r>
            <a:r>
              <a:rPr lang="de-DE" dirty="0"/>
              <a:t> </a:t>
            </a:r>
            <a:r>
              <a:rPr lang="de-DE" dirty="0" err="1"/>
              <a:t>first</a:t>
            </a:r>
            <a:r>
              <a:rPr lang="de-DE" dirty="0"/>
              <a:t> time. </a:t>
            </a:r>
            <a:r>
              <a:rPr lang="de-DE" dirty="0" err="1"/>
              <a:t>You</a:t>
            </a:r>
            <a:r>
              <a:rPr lang="de-DE" dirty="0"/>
              <a:t> </a:t>
            </a:r>
            <a:r>
              <a:rPr lang="de-DE" dirty="0" err="1"/>
              <a:t>get</a:t>
            </a:r>
            <a:r>
              <a:rPr lang="de-DE" dirty="0"/>
              <a:t> </a:t>
            </a:r>
            <a:r>
              <a:rPr lang="de-DE" dirty="0" err="1"/>
              <a:t>to</a:t>
            </a:r>
            <a:r>
              <a:rPr lang="de-DE" dirty="0"/>
              <a:t> </a:t>
            </a:r>
            <a:r>
              <a:rPr lang="de-DE" dirty="0" err="1"/>
              <a:t>know</a:t>
            </a:r>
            <a:r>
              <a:rPr lang="de-DE" dirty="0"/>
              <a:t> </a:t>
            </a:r>
            <a:r>
              <a:rPr lang="de-DE" dirty="0" err="1"/>
              <a:t>each</a:t>
            </a:r>
            <a:r>
              <a:rPr lang="de-DE" dirty="0"/>
              <a:t> </a:t>
            </a:r>
            <a:r>
              <a:rPr lang="de-DE" dirty="0" err="1"/>
              <a:t>other</a:t>
            </a:r>
            <a:r>
              <a:rPr lang="de-DE" dirty="0"/>
              <a:t> </a:t>
            </a:r>
            <a:r>
              <a:rPr lang="de-DE" dirty="0" err="1"/>
              <a:t>carefully</a:t>
            </a:r>
            <a:r>
              <a:rPr lang="de-DE" dirty="0"/>
              <a:t> and </a:t>
            </a:r>
            <a:r>
              <a:rPr lang="de-DE" dirty="0" err="1"/>
              <a:t>politely</a:t>
            </a:r>
            <a:r>
              <a:rPr lang="de-DE" dirty="0"/>
              <a:t> and </a:t>
            </a:r>
            <a:r>
              <a:rPr lang="de-DE" dirty="0" err="1"/>
              <a:t>explore</a:t>
            </a:r>
            <a:r>
              <a:rPr lang="de-DE" dirty="0"/>
              <a:t> </a:t>
            </a:r>
            <a:r>
              <a:rPr lang="de-DE" dirty="0" err="1"/>
              <a:t>boundaries</a:t>
            </a:r>
            <a:r>
              <a:rPr lang="de-DE" dirty="0"/>
              <a:t>.
In </a:t>
            </a:r>
            <a:r>
              <a:rPr lang="de-DE" dirty="0" err="1"/>
              <a:t>the</a:t>
            </a:r>
            <a:r>
              <a:rPr lang="de-DE" dirty="0"/>
              <a:t> </a:t>
            </a:r>
            <a:r>
              <a:rPr lang="de-DE" dirty="0" err="1"/>
              <a:t>storming</a:t>
            </a:r>
            <a:r>
              <a:rPr lang="de-DE" dirty="0"/>
              <a:t> </a:t>
            </a:r>
            <a:r>
              <a:rPr lang="de-DE" dirty="0" err="1"/>
              <a:t>phase</a:t>
            </a:r>
            <a:r>
              <a:rPr lang="de-DE" dirty="0"/>
              <a:t>, personal </a:t>
            </a:r>
            <a:r>
              <a:rPr lang="de-DE" dirty="0" err="1"/>
              <a:t>conflicts</a:t>
            </a:r>
            <a:r>
              <a:rPr lang="de-DE" dirty="0"/>
              <a:t> </a:t>
            </a:r>
            <a:r>
              <a:rPr lang="de-DE" dirty="0" err="1"/>
              <a:t>occur</a:t>
            </a:r>
            <a:r>
              <a:rPr lang="de-DE" dirty="0"/>
              <a:t> </a:t>
            </a:r>
            <a:r>
              <a:rPr lang="de-DE" dirty="0" err="1"/>
              <a:t>because</a:t>
            </a:r>
            <a:r>
              <a:rPr lang="de-DE" dirty="0"/>
              <a:t> </a:t>
            </a:r>
            <a:r>
              <a:rPr lang="de-DE" dirty="0" err="1"/>
              <a:t>rules</a:t>
            </a:r>
            <a:r>
              <a:rPr lang="de-DE" dirty="0"/>
              <a:t> </a:t>
            </a:r>
            <a:r>
              <a:rPr lang="de-DE" dirty="0" err="1"/>
              <a:t>have</a:t>
            </a:r>
            <a:r>
              <a:rPr lang="de-DE" dirty="0"/>
              <a:t> not </a:t>
            </a:r>
            <a:r>
              <a:rPr lang="de-DE" dirty="0" err="1"/>
              <a:t>yet</a:t>
            </a:r>
            <a:r>
              <a:rPr lang="de-DE" dirty="0"/>
              <a:t> </a:t>
            </a:r>
            <a:r>
              <a:rPr lang="de-DE" dirty="0" err="1"/>
              <a:t>been</a:t>
            </a:r>
            <a:r>
              <a:rPr lang="de-DE" dirty="0"/>
              <a:t> </a:t>
            </a:r>
            <a:r>
              <a:rPr lang="de-DE" dirty="0" err="1"/>
              <a:t>established</a:t>
            </a:r>
            <a:r>
              <a:rPr lang="de-DE" dirty="0"/>
              <a:t>. </a:t>
            </a:r>
            <a:r>
              <a:rPr lang="de-DE" dirty="0" err="1"/>
              <a:t>There</a:t>
            </a:r>
            <a:r>
              <a:rPr lang="de-DE" dirty="0"/>
              <a:t> </a:t>
            </a:r>
            <a:r>
              <a:rPr lang="de-DE" dirty="0" err="1"/>
              <a:t>is</a:t>
            </a:r>
            <a:r>
              <a:rPr lang="de-DE" dirty="0"/>
              <a:t> </a:t>
            </a:r>
            <a:r>
              <a:rPr lang="de-DE" dirty="0" err="1"/>
              <a:t>disagreement</a:t>
            </a:r>
            <a:r>
              <a:rPr lang="de-DE" dirty="0"/>
              <a:t> and </a:t>
            </a:r>
            <a:r>
              <a:rPr lang="de-DE" dirty="0" err="1"/>
              <a:t>resistance</a:t>
            </a:r>
            <a:r>
              <a:rPr lang="de-DE" dirty="0"/>
              <a:t>.
In </a:t>
            </a:r>
            <a:r>
              <a:rPr lang="de-DE" dirty="0" err="1"/>
              <a:t>the</a:t>
            </a:r>
            <a:r>
              <a:rPr lang="de-DE" dirty="0"/>
              <a:t> </a:t>
            </a:r>
            <a:r>
              <a:rPr lang="de-DE" dirty="0" err="1"/>
              <a:t>normin</a:t>
            </a:r>
            <a:r>
              <a:rPr lang="de-DE" dirty="0"/>
              <a:t> </a:t>
            </a:r>
            <a:r>
              <a:rPr lang="de-DE" dirty="0" err="1"/>
              <a:t>phase</a:t>
            </a:r>
            <a:r>
              <a:rPr lang="de-DE" dirty="0"/>
              <a:t>, </a:t>
            </a:r>
            <a:r>
              <a:rPr lang="de-DE" dirty="0" err="1"/>
              <a:t>you</a:t>
            </a:r>
            <a:r>
              <a:rPr lang="de-DE" dirty="0"/>
              <a:t> </a:t>
            </a:r>
            <a:r>
              <a:rPr lang="de-DE" dirty="0" err="1"/>
              <a:t>therefore</a:t>
            </a:r>
            <a:r>
              <a:rPr lang="de-DE" dirty="0"/>
              <a:t> </a:t>
            </a:r>
            <a:r>
              <a:rPr lang="de-DE" dirty="0" err="1"/>
              <a:t>clarify</a:t>
            </a:r>
            <a:r>
              <a:rPr lang="de-DE" dirty="0"/>
              <a:t> </a:t>
            </a:r>
            <a:r>
              <a:rPr lang="de-DE" dirty="0" err="1"/>
              <a:t>points</a:t>
            </a:r>
            <a:r>
              <a:rPr lang="de-DE" dirty="0"/>
              <a:t> </a:t>
            </a:r>
            <a:r>
              <a:rPr lang="de-DE" dirty="0" err="1"/>
              <a:t>of</a:t>
            </a:r>
            <a:r>
              <a:rPr lang="de-DE" dirty="0"/>
              <a:t> </a:t>
            </a:r>
            <a:r>
              <a:rPr lang="de-DE" dirty="0" err="1"/>
              <a:t>view</a:t>
            </a:r>
            <a:r>
              <a:rPr lang="de-DE" dirty="0"/>
              <a:t>, </a:t>
            </a:r>
            <a:r>
              <a:rPr lang="de-DE" dirty="0" err="1"/>
              <a:t>rankings</a:t>
            </a:r>
            <a:r>
              <a:rPr lang="de-DE" dirty="0"/>
              <a:t> and </a:t>
            </a:r>
            <a:r>
              <a:rPr lang="de-DE" dirty="0" err="1"/>
              <a:t>roles</a:t>
            </a:r>
            <a:r>
              <a:rPr lang="de-DE" dirty="0"/>
              <a:t> &gt; </a:t>
            </a:r>
            <a:r>
              <a:rPr lang="de-DE" dirty="0" err="1"/>
              <a:t>Belbin</a:t>
            </a:r>
            <a:r>
              <a:rPr lang="de-DE" dirty="0"/>
              <a:t> </a:t>
            </a:r>
            <a:r>
              <a:rPr lang="de-DE" dirty="0" err="1"/>
              <a:t>roles</a:t>
            </a:r>
            <a:r>
              <a:rPr lang="de-DE" dirty="0"/>
              <a:t>. This </a:t>
            </a:r>
            <a:r>
              <a:rPr lang="de-DE" dirty="0" err="1"/>
              <a:t>is</a:t>
            </a:r>
            <a:r>
              <a:rPr lang="de-DE" dirty="0"/>
              <a:t> </a:t>
            </a:r>
            <a:r>
              <a:rPr lang="de-DE" dirty="0" err="1"/>
              <a:t>where</a:t>
            </a:r>
            <a:r>
              <a:rPr lang="de-DE" dirty="0"/>
              <a:t> </a:t>
            </a:r>
            <a:r>
              <a:rPr lang="de-DE" dirty="0" err="1"/>
              <a:t>your</a:t>
            </a:r>
            <a:r>
              <a:rPr lang="de-DE" dirty="0"/>
              <a:t> </a:t>
            </a:r>
            <a:r>
              <a:rPr lang="de-DE" dirty="0" err="1"/>
              <a:t>team</a:t>
            </a:r>
            <a:r>
              <a:rPr lang="de-DE" dirty="0"/>
              <a:t> </a:t>
            </a:r>
            <a:r>
              <a:rPr lang="de-DE" dirty="0" err="1"/>
              <a:t>gets</a:t>
            </a:r>
            <a:r>
              <a:rPr lang="de-DE" dirty="0"/>
              <a:t> </a:t>
            </a:r>
            <a:r>
              <a:rPr lang="de-DE" dirty="0" err="1"/>
              <a:t>its</a:t>
            </a:r>
            <a:r>
              <a:rPr lang="de-DE" dirty="0"/>
              <a:t> form.</a:t>
            </a:r>
          </a:p>
          <a:p>
            <a:pPr marL="457200" lvl="0" indent="-317500">
              <a:buFont typeface="Arial" panose="020B0604020202020204" pitchFamily="34" charset="0"/>
              <a:buChar char="•"/>
              <a:defRPr/>
            </a:pPr>
            <a:r>
              <a:rPr lang="de-DE" dirty="0" err="1"/>
              <a:t>Only</a:t>
            </a:r>
            <a:r>
              <a:rPr lang="de-DE" dirty="0"/>
              <a:t> in </a:t>
            </a:r>
            <a:r>
              <a:rPr lang="de-DE" dirty="0" err="1"/>
              <a:t>the</a:t>
            </a:r>
            <a:r>
              <a:rPr lang="de-DE" dirty="0"/>
              <a:t> </a:t>
            </a:r>
            <a:r>
              <a:rPr lang="de-DE" dirty="0" err="1"/>
              <a:t>performing</a:t>
            </a:r>
            <a:r>
              <a:rPr lang="de-DE" dirty="0"/>
              <a:t> </a:t>
            </a:r>
            <a:r>
              <a:rPr lang="de-DE" dirty="0" err="1"/>
              <a:t>phase</a:t>
            </a:r>
            <a:r>
              <a:rPr lang="de-DE" dirty="0"/>
              <a:t> </a:t>
            </a:r>
            <a:r>
              <a:rPr lang="de-DE" dirty="0" err="1"/>
              <a:t>does</a:t>
            </a:r>
            <a:r>
              <a:rPr lang="de-DE" dirty="0"/>
              <a:t> </a:t>
            </a:r>
            <a:r>
              <a:rPr lang="de-DE" dirty="0" err="1"/>
              <a:t>your</a:t>
            </a:r>
            <a:r>
              <a:rPr lang="de-DE" dirty="0"/>
              <a:t> </a:t>
            </a:r>
            <a:r>
              <a:rPr lang="de-DE" dirty="0" err="1"/>
              <a:t>work</a:t>
            </a:r>
            <a:r>
              <a:rPr lang="de-DE" dirty="0"/>
              <a:t> and </a:t>
            </a:r>
            <a:r>
              <a:rPr lang="de-DE" dirty="0" err="1"/>
              <a:t>communication</a:t>
            </a:r>
            <a:r>
              <a:rPr lang="de-DE" dirty="0"/>
              <a:t> </a:t>
            </a:r>
            <a:r>
              <a:rPr lang="de-DE" dirty="0" err="1"/>
              <a:t>run</a:t>
            </a:r>
            <a:r>
              <a:rPr lang="de-DE" dirty="0"/>
              <a:t> </a:t>
            </a:r>
            <a:r>
              <a:rPr lang="de-DE" dirty="0" err="1"/>
              <a:t>more</a:t>
            </a:r>
            <a:r>
              <a:rPr lang="de-DE" dirty="0"/>
              <a:t> </a:t>
            </a:r>
            <a:r>
              <a:rPr lang="de-DE" dirty="0" err="1"/>
              <a:t>smoothly</a:t>
            </a:r>
            <a:r>
              <a:rPr lang="de-DE" dirty="0"/>
              <a:t>. All </a:t>
            </a:r>
            <a:r>
              <a:rPr lang="de-DE" dirty="0" err="1"/>
              <a:t>members</a:t>
            </a:r>
            <a:r>
              <a:rPr lang="de-DE" dirty="0"/>
              <a:t> </a:t>
            </a:r>
            <a:r>
              <a:rPr lang="de-DE" dirty="0" err="1"/>
              <a:t>are</a:t>
            </a:r>
            <a:r>
              <a:rPr lang="de-DE" dirty="0"/>
              <a:t> at </a:t>
            </a:r>
            <a:r>
              <a:rPr lang="de-DE" dirty="0" err="1"/>
              <a:t>best</a:t>
            </a:r>
            <a:r>
              <a:rPr lang="de-DE" dirty="0"/>
              <a:t> </a:t>
            </a:r>
            <a:r>
              <a:rPr lang="de-DE" dirty="0" err="1"/>
              <a:t>committed</a:t>
            </a:r>
            <a:r>
              <a:rPr lang="de-DE" dirty="0"/>
              <a:t> and </a:t>
            </a:r>
            <a:r>
              <a:rPr lang="de-DE" dirty="0" err="1"/>
              <a:t>solve</a:t>
            </a:r>
            <a:r>
              <a:rPr lang="de-DE" dirty="0"/>
              <a:t> </a:t>
            </a:r>
            <a:r>
              <a:rPr lang="de-DE" dirty="0" err="1"/>
              <a:t>conflicts</a:t>
            </a:r>
            <a:r>
              <a:rPr lang="de-DE" dirty="0"/>
              <a:t> </a:t>
            </a:r>
            <a:r>
              <a:rPr lang="de-DE" dirty="0" err="1"/>
              <a:t>functionally</a:t>
            </a:r>
            <a:r>
              <a:rPr lang="de-DE" dirty="0"/>
              <a:t>. </a:t>
            </a:r>
            <a:r>
              <a:rPr lang="de-DE" dirty="0" err="1"/>
              <a:t>It</a:t>
            </a:r>
            <a:r>
              <a:rPr lang="de-DE" dirty="0"/>
              <a:t> </a:t>
            </a:r>
            <a:r>
              <a:rPr lang="de-DE" dirty="0" err="1"/>
              <a:t>is</a:t>
            </a:r>
            <a:r>
              <a:rPr lang="de-DE" dirty="0"/>
              <a:t> </a:t>
            </a:r>
            <a:r>
              <a:rPr lang="de-DE" dirty="0" err="1"/>
              <a:t>the</a:t>
            </a:r>
            <a:r>
              <a:rPr lang="de-DE" dirty="0"/>
              <a:t> </a:t>
            </a:r>
            <a:r>
              <a:rPr lang="de-DE" dirty="0" err="1"/>
              <a:t>phase</a:t>
            </a:r>
            <a:r>
              <a:rPr lang="de-DE" dirty="0"/>
              <a:t> </a:t>
            </a:r>
            <a:r>
              <a:rPr lang="de-DE" dirty="0" err="1"/>
              <a:t>that</a:t>
            </a:r>
            <a:r>
              <a:rPr lang="de-DE" dirty="0"/>
              <a:t> </a:t>
            </a:r>
            <a:r>
              <a:rPr lang="de-DE" dirty="0" err="1"/>
              <a:t>you</a:t>
            </a:r>
            <a:r>
              <a:rPr lang="de-DE" dirty="0"/>
              <a:t> </a:t>
            </a:r>
            <a:r>
              <a:rPr lang="de-DE" dirty="0" err="1"/>
              <a:t>should</a:t>
            </a:r>
            <a:r>
              <a:rPr lang="de-DE" dirty="0"/>
              <a:t> </a:t>
            </a:r>
            <a:r>
              <a:rPr lang="de-DE" dirty="0" err="1"/>
              <a:t>work</a:t>
            </a:r>
            <a:r>
              <a:rPr lang="de-DE" dirty="0"/>
              <a:t> </a:t>
            </a:r>
            <a:r>
              <a:rPr lang="de-DE" dirty="0" err="1"/>
              <a:t>towards</a:t>
            </a:r>
            <a:r>
              <a:rPr lang="de-DE" dirty="0"/>
              <a:t> </a:t>
            </a:r>
            <a:r>
              <a:rPr lang="de-DE" dirty="0" err="1"/>
              <a:t>as</a:t>
            </a:r>
            <a:r>
              <a:rPr lang="de-DE" dirty="0"/>
              <a:t> </a:t>
            </a:r>
            <a:r>
              <a:rPr lang="de-DE" dirty="0" err="1"/>
              <a:t>much</a:t>
            </a:r>
            <a:r>
              <a:rPr lang="de-DE" dirty="0"/>
              <a:t> </a:t>
            </a:r>
            <a:r>
              <a:rPr lang="de-DE" dirty="0" err="1"/>
              <a:t>as</a:t>
            </a:r>
            <a:r>
              <a:rPr lang="de-DE" dirty="0"/>
              <a:t> possible.</a:t>
            </a:r>
          </a:p>
          <a:p>
            <a:pPr marL="457200" lvl="0" indent="-317500">
              <a:buFont typeface="Arial" panose="020B0604020202020204" pitchFamily="34" charset="0"/>
              <a:buChar char="•"/>
              <a:defRPr/>
            </a:pPr>
            <a:r>
              <a:rPr lang="de-DE" dirty="0"/>
              <a:t>Most </a:t>
            </a:r>
            <a:r>
              <a:rPr lang="de-DE" dirty="0" err="1"/>
              <a:t>teams</a:t>
            </a:r>
            <a:r>
              <a:rPr lang="de-DE" dirty="0"/>
              <a:t> all </a:t>
            </a:r>
            <a:r>
              <a:rPr lang="de-DE" dirty="0" err="1"/>
              <a:t>go</a:t>
            </a:r>
            <a:r>
              <a:rPr lang="de-DE" dirty="0"/>
              <a:t> </a:t>
            </a:r>
            <a:r>
              <a:rPr lang="de-DE" dirty="0" err="1"/>
              <a:t>through</a:t>
            </a:r>
            <a:r>
              <a:rPr lang="de-DE" dirty="0"/>
              <a:t> </a:t>
            </a:r>
            <a:r>
              <a:rPr lang="de-DE" dirty="0" err="1"/>
              <a:t>this</a:t>
            </a:r>
            <a:r>
              <a:rPr lang="de-DE" dirty="0"/>
              <a:t> </a:t>
            </a:r>
            <a:r>
              <a:rPr lang="de-DE" dirty="0" err="1"/>
              <a:t>phase</a:t>
            </a:r>
            <a:r>
              <a:rPr lang="de-DE" dirty="0"/>
              <a:t>, but </a:t>
            </a:r>
            <a:r>
              <a:rPr lang="de-DE" dirty="0" err="1"/>
              <a:t>some</a:t>
            </a:r>
            <a:r>
              <a:rPr lang="de-DE" dirty="0"/>
              <a:t> like </a:t>
            </a:r>
            <a:r>
              <a:rPr lang="de-DE" dirty="0" err="1"/>
              <a:t>storming</a:t>
            </a:r>
            <a:r>
              <a:rPr lang="de-DE" dirty="0"/>
              <a:t> </a:t>
            </a:r>
            <a:r>
              <a:rPr lang="de-DE" dirty="0" err="1"/>
              <a:t>go</a:t>
            </a:r>
            <a:r>
              <a:rPr lang="de-DE" dirty="0"/>
              <a:t> </a:t>
            </a:r>
            <a:r>
              <a:rPr lang="de-DE" dirty="0" err="1"/>
              <a:t>through</a:t>
            </a:r>
            <a:r>
              <a:rPr lang="de-DE" dirty="0"/>
              <a:t> </a:t>
            </a:r>
            <a:r>
              <a:rPr lang="de-DE" dirty="0" err="1"/>
              <a:t>it</a:t>
            </a:r>
            <a:r>
              <a:rPr lang="de-DE" dirty="0"/>
              <a:t> </a:t>
            </a:r>
            <a:r>
              <a:rPr lang="de-DE" dirty="0" err="1"/>
              <a:t>several</a:t>
            </a:r>
            <a:r>
              <a:rPr lang="de-DE" dirty="0"/>
              <a:t> </a:t>
            </a:r>
            <a:r>
              <a:rPr lang="de-DE" dirty="0" err="1"/>
              <a:t>times</a:t>
            </a:r>
            <a:r>
              <a:rPr lang="de-DE" dirty="0"/>
              <a:t>. This </a:t>
            </a:r>
            <a:r>
              <a:rPr lang="de-DE" dirty="0" err="1"/>
              <a:t>is</a:t>
            </a:r>
            <a:r>
              <a:rPr lang="de-DE" dirty="0"/>
              <a:t> </a:t>
            </a:r>
            <a:r>
              <a:rPr lang="de-DE" dirty="0" err="1"/>
              <a:t>completely</a:t>
            </a:r>
            <a:r>
              <a:rPr lang="de-DE" dirty="0"/>
              <a:t> normal. But </a:t>
            </a:r>
            <a:r>
              <a:rPr lang="de-DE" dirty="0" err="1"/>
              <a:t>always</a:t>
            </a:r>
            <a:r>
              <a:rPr lang="de-DE" dirty="0"/>
              <a:t> </a:t>
            </a:r>
            <a:r>
              <a:rPr lang="de-DE" dirty="0" err="1"/>
              <a:t>keep</a:t>
            </a:r>
            <a:r>
              <a:rPr lang="de-DE" dirty="0"/>
              <a:t> an </a:t>
            </a:r>
            <a:r>
              <a:rPr lang="de-DE" dirty="0" err="1"/>
              <a:t>eye</a:t>
            </a:r>
            <a:r>
              <a:rPr lang="de-DE" dirty="0"/>
              <a:t> on </a:t>
            </a:r>
            <a:r>
              <a:rPr lang="de-DE" dirty="0" err="1"/>
              <a:t>the</a:t>
            </a:r>
            <a:r>
              <a:rPr lang="de-DE" dirty="0"/>
              <a:t> </a:t>
            </a:r>
            <a:r>
              <a:rPr lang="de-DE" dirty="0" err="1"/>
              <a:t>goal</a:t>
            </a:r>
            <a:r>
              <a:rPr lang="de-DE" dirty="0"/>
              <a:t> </a:t>
            </a:r>
            <a:r>
              <a:rPr lang="de-DE" dirty="0" err="1"/>
              <a:t>of</a:t>
            </a:r>
            <a:r>
              <a:rPr lang="de-DE" dirty="0"/>
              <a:t> </a:t>
            </a:r>
            <a:r>
              <a:rPr lang="de-DE" dirty="0" err="1"/>
              <a:t>the</a:t>
            </a:r>
            <a:r>
              <a:rPr lang="de-DE" dirty="0"/>
              <a:t> </a:t>
            </a:r>
            <a:r>
              <a:rPr lang="de-DE" dirty="0" err="1"/>
              <a:t>performing</a:t>
            </a:r>
            <a:r>
              <a:rPr lang="de-DE" dirty="0"/>
              <a:t> </a:t>
            </a:r>
            <a:r>
              <a:rPr lang="de-DE" dirty="0" err="1"/>
              <a:t>phase</a:t>
            </a:r>
            <a:r>
              <a:rPr lang="de-DE" dirty="0"/>
              <a:t>.</a:t>
            </a:r>
          </a:p>
          <a:p>
            <a:pPr marL="139700" lvl="0" indent="0">
              <a:buFont typeface="Arial" panose="020B0604020202020204" pitchFamily="34" charset="0"/>
              <a:buNone/>
              <a:defRPr/>
            </a:pPr>
            <a:r>
              <a:rPr lang="de-DE" dirty="0"/>
              <a:t>
</a:t>
            </a:r>
            <a:r>
              <a:rPr lang="de-DE" u="sng" dirty="0" err="1"/>
              <a:t>To</a:t>
            </a:r>
            <a:r>
              <a:rPr lang="de-DE" u="sng" dirty="0"/>
              <a:t> </a:t>
            </a:r>
            <a:r>
              <a:rPr lang="de-DE" u="sng" dirty="0" err="1"/>
              <a:t>the</a:t>
            </a:r>
            <a:r>
              <a:rPr lang="de-DE" u="sng" dirty="0"/>
              <a:t> </a:t>
            </a:r>
            <a:r>
              <a:rPr lang="de-DE" u="sng" dirty="0" err="1"/>
              <a:t>students</a:t>
            </a:r>
            <a:r>
              <a:rPr lang="de-DE" u="sng" dirty="0"/>
              <a:t>: </a:t>
            </a:r>
            <a:r>
              <a:rPr lang="de-DE" dirty="0" err="1"/>
              <a:t>What</a:t>
            </a:r>
            <a:r>
              <a:rPr lang="de-DE" dirty="0"/>
              <a:t> </a:t>
            </a:r>
            <a:r>
              <a:rPr lang="de-DE" dirty="0" err="1"/>
              <a:t>phase</a:t>
            </a:r>
            <a:r>
              <a:rPr lang="de-DE" dirty="0"/>
              <a:t> </a:t>
            </a:r>
            <a:r>
              <a:rPr lang="de-DE" dirty="0" err="1"/>
              <a:t>are</a:t>
            </a:r>
            <a:r>
              <a:rPr lang="de-DE" dirty="0"/>
              <a:t> </a:t>
            </a:r>
            <a:r>
              <a:rPr lang="de-DE" dirty="0" err="1"/>
              <a:t>you</a:t>
            </a:r>
            <a:r>
              <a:rPr lang="de-DE" dirty="0"/>
              <a:t> </a:t>
            </a:r>
            <a:r>
              <a:rPr lang="de-DE" dirty="0" err="1"/>
              <a:t>currently</a:t>
            </a:r>
            <a:r>
              <a:rPr lang="de-DE" dirty="0"/>
              <a:t> in </a:t>
            </a:r>
            <a:r>
              <a:rPr lang="de-DE" dirty="0" err="1"/>
              <a:t>in</a:t>
            </a:r>
            <a:r>
              <a:rPr lang="de-DE" dirty="0"/>
              <a:t> </a:t>
            </a:r>
            <a:r>
              <a:rPr lang="de-DE" dirty="0" err="1"/>
              <a:t>your</a:t>
            </a:r>
            <a:r>
              <a:rPr lang="de-DE" dirty="0"/>
              <a:t> </a:t>
            </a:r>
            <a:r>
              <a:rPr lang="de-DE" dirty="0" err="1"/>
              <a:t>group</a:t>
            </a:r>
            <a:r>
              <a:rPr lang="de-DE" dirty="0"/>
              <a:t> </a:t>
            </a:r>
            <a:r>
              <a:rPr lang="de-DE" dirty="0" err="1"/>
              <a:t>work</a:t>
            </a:r>
            <a:r>
              <a:rPr lang="de-DE" dirty="0"/>
              <a:t>? (</a:t>
            </a:r>
            <a:r>
              <a:rPr lang="de-DE" dirty="0" err="1"/>
              <a:t>presumably</a:t>
            </a:r>
            <a:r>
              <a:rPr lang="de-DE" dirty="0"/>
              <a:t> </a:t>
            </a:r>
            <a:r>
              <a:rPr lang="de-DE" dirty="0" err="1"/>
              <a:t>forming</a:t>
            </a:r>
            <a:r>
              <a:rPr lang="de-DE" dirty="0"/>
              <a:t> </a:t>
            </a:r>
            <a:r>
              <a:rPr lang="de-DE" dirty="0" err="1"/>
              <a:t>or</a:t>
            </a:r>
            <a:r>
              <a:rPr lang="de-DE" dirty="0"/>
              <a:t> </a:t>
            </a:r>
            <a:r>
              <a:rPr lang="de-DE" dirty="0" err="1"/>
              <a:t>storming</a:t>
            </a:r>
            <a:r>
              <a:rPr lang="de-DE" dirty="0"/>
              <a:t>) – Keep in </a:t>
            </a:r>
            <a:r>
              <a:rPr lang="de-DE" dirty="0" err="1"/>
              <a:t>mind</a:t>
            </a:r>
            <a:r>
              <a:rPr lang="de-DE" dirty="0"/>
              <a:t> </a:t>
            </a:r>
            <a:r>
              <a:rPr lang="de-DE" dirty="0" err="1"/>
              <a:t>that</a:t>
            </a:r>
            <a:r>
              <a:rPr lang="de-DE" dirty="0"/>
              <a:t> </a:t>
            </a:r>
            <a:r>
              <a:rPr lang="de-DE" dirty="0" err="1"/>
              <a:t>you</a:t>
            </a:r>
            <a:r>
              <a:rPr lang="de-DE" dirty="0"/>
              <a:t> </a:t>
            </a:r>
            <a:r>
              <a:rPr lang="de-DE" dirty="0" err="1"/>
              <a:t>are</a:t>
            </a:r>
            <a:r>
              <a:rPr lang="de-DE" dirty="0"/>
              <a:t> in </a:t>
            </a:r>
            <a:r>
              <a:rPr lang="de-DE" dirty="0" err="1"/>
              <a:t>the</a:t>
            </a:r>
            <a:r>
              <a:rPr lang="de-DE" dirty="0"/>
              <a:t> </a:t>
            </a:r>
            <a:r>
              <a:rPr lang="de-DE" dirty="0" err="1"/>
              <a:t>performing</a:t>
            </a:r>
            <a:r>
              <a:rPr lang="de-DE" dirty="0"/>
              <a:t> </a:t>
            </a:r>
            <a:r>
              <a:rPr lang="de-DE" dirty="0" err="1"/>
              <a:t>phase</a:t>
            </a:r>
            <a:r>
              <a:rPr lang="de-DE" dirty="0"/>
              <a:t>, i.e. </a:t>
            </a:r>
            <a:r>
              <a:rPr lang="de-DE" dirty="0" err="1"/>
              <a:t>the</a:t>
            </a:r>
            <a:r>
              <a:rPr lang="de-DE" dirty="0"/>
              <a:t> </a:t>
            </a:r>
            <a:r>
              <a:rPr lang="de-DE" dirty="0" err="1"/>
              <a:t>performance</a:t>
            </a:r>
            <a:r>
              <a:rPr lang="de-DE" dirty="0"/>
              <a:t> </a:t>
            </a:r>
            <a:r>
              <a:rPr lang="de-DE" dirty="0" err="1"/>
              <a:t>phase</a:t>
            </a:r>
            <a:r>
              <a:rPr lang="de-DE" dirty="0"/>
              <a:t>. A </a:t>
            </a:r>
            <a:r>
              <a:rPr lang="de-DE" dirty="0" err="1"/>
              <a:t>tool</a:t>
            </a:r>
            <a:r>
              <a:rPr lang="de-DE" dirty="0"/>
              <a:t> </a:t>
            </a:r>
            <a:r>
              <a:rPr lang="de-DE" dirty="0" err="1"/>
              <a:t>that</a:t>
            </a:r>
            <a:r>
              <a:rPr lang="de-DE" dirty="0"/>
              <a:t> </a:t>
            </a:r>
            <a:r>
              <a:rPr lang="de-DE" dirty="0" err="1"/>
              <a:t>can</a:t>
            </a:r>
            <a:r>
              <a:rPr lang="de-DE" dirty="0"/>
              <a:t> </a:t>
            </a:r>
            <a:r>
              <a:rPr lang="de-DE" dirty="0" err="1"/>
              <a:t>help</a:t>
            </a:r>
            <a:r>
              <a:rPr lang="de-DE" dirty="0"/>
              <a:t> </a:t>
            </a:r>
            <a:r>
              <a:rPr lang="de-DE" dirty="0" err="1"/>
              <a:t>you</a:t>
            </a:r>
            <a:r>
              <a:rPr lang="de-DE" dirty="0"/>
              <a:t> at </a:t>
            </a:r>
            <a:r>
              <a:rPr lang="de-DE" dirty="0" err="1"/>
              <a:t>your</a:t>
            </a:r>
            <a:r>
              <a:rPr lang="de-DE" dirty="0"/>
              <a:t> </a:t>
            </a:r>
            <a:r>
              <a:rPr lang="de-DE" dirty="0" err="1"/>
              <a:t>current</a:t>
            </a:r>
            <a:r>
              <a:rPr lang="de-DE" dirty="0"/>
              <a:t> </a:t>
            </a:r>
            <a:r>
              <a:rPr lang="de-DE" dirty="0" err="1"/>
              <a:t>point</a:t>
            </a:r>
            <a:r>
              <a:rPr lang="de-DE" dirty="0"/>
              <a:t> </a:t>
            </a:r>
            <a:r>
              <a:rPr lang="de-DE" dirty="0" err="1"/>
              <a:t>of</a:t>
            </a:r>
            <a:r>
              <a:rPr lang="de-DE" dirty="0"/>
              <a:t> </a:t>
            </a:r>
            <a:r>
              <a:rPr lang="de-DE" dirty="0" err="1"/>
              <a:t>view</a:t>
            </a:r>
            <a:r>
              <a:rPr lang="de-DE" dirty="0"/>
              <a:t> </a:t>
            </a:r>
            <a:r>
              <a:rPr lang="de-DE" dirty="0" err="1"/>
              <a:t>to</a:t>
            </a:r>
            <a:r>
              <a:rPr lang="de-DE" dirty="0"/>
              <a:t> </a:t>
            </a:r>
            <a:r>
              <a:rPr lang="de-DE" dirty="0" err="1"/>
              <a:t>better</a:t>
            </a:r>
            <a:r>
              <a:rPr lang="de-DE" dirty="0"/>
              <a:t> </a:t>
            </a:r>
            <a:r>
              <a:rPr lang="de-DE" dirty="0" err="1"/>
              <a:t>organize</a:t>
            </a:r>
            <a:r>
              <a:rPr lang="de-DE" dirty="0"/>
              <a:t> and </a:t>
            </a:r>
            <a:r>
              <a:rPr lang="de-DE" dirty="0" err="1"/>
              <a:t>focus</a:t>
            </a:r>
            <a:r>
              <a:rPr lang="de-DE" dirty="0"/>
              <a:t> on </a:t>
            </a:r>
            <a:r>
              <a:rPr lang="de-DE" dirty="0" err="1"/>
              <a:t>yourself</a:t>
            </a:r>
            <a:r>
              <a:rPr lang="de-DE" dirty="0"/>
              <a:t> and </a:t>
            </a:r>
            <a:r>
              <a:rPr lang="de-DE" dirty="0" err="1"/>
              <a:t>your</a:t>
            </a:r>
            <a:r>
              <a:rPr lang="de-DE" dirty="0"/>
              <a:t> </a:t>
            </a:r>
            <a:r>
              <a:rPr lang="de-DE" dirty="0" err="1"/>
              <a:t>groups</a:t>
            </a:r>
            <a:r>
              <a:rPr lang="de-DE" dirty="0"/>
              <a:t> </a:t>
            </a:r>
            <a:r>
              <a:rPr lang="de-DE" dirty="0" err="1"/>
              <a:t>is</a:t>
            </a:r>
            <a:r>
              <a:rPr lang="de-DE" dirty="0"/>
              <a:t> </a:t>
            </a:r>
            <a:r>
              <a:rPr lang="de-DE" dirty="0" err="1"/>
              <a:t>the</a:t>
            </a:r>
            <a:r>
              <a:rPr lang="de-DE" dirty="0"/>
              <a:t> Team Canvas.</a:t>
            </a:r>
            <a:endParaRPr lang="de-DE" b="1" dirty="0"/>
          </a:p>
        </p:txBody>
      </p:sp>
      <p:sp>
        <p:nvSpPr>
          <p:cNvPr id="4" name="Foliennummernplatzhalter 3"/>
          <p:cNvSpPr>
            <a:spLocks noGrp="1"/>
          </p:cNvSpPr>
          <p:nvPr>
            <p:ph type="sldNum" sz="quarter" idx="5"/>
          </p:nvPr>
        </p:nvSpPr>
        <p:spPr/>
        <p:txBody>
          <a:bodyPr/>
          <a:lstStyle/>
          <a:p>
            <a:fld id="{91C7837A-BE0C-8E44-AC6E-3BD867A160FB}" type="slidenum">
              <a:rPr lang="de-DE" smtClean="0"/>
              <a:t>11</a:t>
            </a:fld>
            <a:endParaRPr lang="de-DE"/>
          </a:p>
        </p:txBody>
      </p:sp>
    </p:spTree>
    <p:extLst>
      <p:ext uri="{BB962C8B-B14F-4D97-AF65-F5344CB8AC3E}">
        <p14:creationId xmlns:p14="http://schemas.microsoft.com/office/powerpoint/2010/main" val="1616738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defRPr/>
            </a:pPr>
            <a:r>
              <a:rPr lang="de-DE" dirty="0"/>
              <a:t>With </a:t>
            </a:r>
            <a:r>
              <a:rPr lang="de-DE" dirty="0" err="1"/>
              <a:t>the</a:t>
            </a:r>
            <a:r>
              <a:rPr lang="de-DE" dirty="0"/>
              <a:t> Team Canvas </a:t>
            </a:r>
            <a:r>
              <a:rPr lang="de-DE" dirty="0" err="1"/>
              <a:t>you</a:t>
            </a:r>
            <a:r>
              <a:rPr lang="de-DE" dirty="0"/>
              <a:t> </a:t>
            </a:r>
            <a:r>
              <a:rPr lang="de-DE" dirty="0" err="1"/>
              <a:t>define</a:t>
            </a:r>
            <a:r>
              <a:rPr lang="de-DE" dirty="0"/>
              <a:t> all </a:t>
            </a:r>
            <a:r>
              <a:rPr lang="de-DE" dirty="0" err="1"/>
              <a:t>aspects</a:t>
            </a:r>
            <a:r>
              <a:rPr lang="de-DE" dirty="0"/>
              <a:t> </a:t>
            </a:r>
            <a:r>
              <a:rPr lang="de-DE" dirty="0" err="1"/>
              <a:t>for</a:t>
            </a:r>
            <a:r>
              <a:rPr lang="de-DE" dirty="0"/>
              <a:t> a </a:t>
            </a:r>
            <a:r>
              <a:rPr lang="de-DE" dirty="0" err="1"/>
              <a:t>successful</a:t>
            </a:r>
            <a:r>
              <a:rPr lang="de-DE" dirty="0"/>
              <a:t> </a:t>
            </a:r>
            <a:r>
              <a:rPr lang="de-DE" dirty="0" err="1"/>
              <a:t>cooperation</a:t>
            </a:r>
            <a:r>
              <a:rPr lang="de-DE" dirty="0"/>
              <a:t> in </a:t>
            </a:r>
            <a:r>
              <a:rPr lang="de-DE" dirty="0" err="1"/>
              <a:t>writing</a:t>
            </a:r>
            <a:r>
              <a:rPr lang="de-DE" dirty="0"/>
              <a:t>.
</a:t>
            </a:r>
            <a:r>
              <a:rPr lang="de-DE" dirty="0" err="1"/>
              <a:t>It's</a:t>
            </a:r>
            <a:r>
              <a:rPr lang="de-DE" dirty="0"/>
              <a:t> </a:t>
            </a:r>
            <a:r>
              <a:rPr lang="de-DE" dirty="0" err="1"/>
              <a:t>best</a:t>
            </a:r>
            <a:r>
              <a:rPr lang="de-DE" dirty="0"/>
              <a:t> </a:t>
            </a:r>
            <a:r>
              <a:rPr lang="de-DE" dirty="0" err="1"/>
              <a:t>to</a:t>
            </a:r>
            <a:r>
              <a:rPr lang="de-DE" dirty="0"/>
              <a:t> </a:t>
            </a:r>
            <a:r>
              <a:rPr lang="de-DE" dirty="0" err="1"/>
              <a:t>start</a:t>
            </a:r>
            <a:r>
              <a:rPr lang="de-DE" dirty="0"/>
              <a:t> in </a:t>
            </a:r>
            <a:r>
              <a:rPr lang="de-DE" dirty="0" err="1"/>
              <a:t>the</a:t>
            </a:r>
            <a:r>
              <a:rPr lang="de-DE" dirty="0"/>
              <a:t> </a:t>
            </a:r>
            <a:r>
              <a:rPr lang="de-DE" dirty="0" err="1"/>
              <a:t>middle</a:t>
            </a:r>
            <a:r>
              <a:rPr lang="de-DE" dirty="0"/>
              <a:t>: </a:t>
            </a:r>
            <a:r>
              <a:rPr lang="de-DE" dirty="0" err="1"/>
              <a:t>What</a:t>
            </a:r>
            <a:r>
              <a:rPr lang="de-DE" dirty="0"/>
              <a:t> </a:t>
            </a:r>
            <a:r>
              <a:rPr lang="de-DE" dirty="0" err="1"/>
              <a:t>is</a:t>
            </a:r>
            <a:r>
              <a:rPr lang="de-DE" dirty="0"/>
              <a:t> </a:t>
            </a:r>
            <a:r>
              <a:rPr lang="de-DE" dirty="0" err="1"/>
              <a:t>the</a:t>
            </a:r>
            <a:r>
              <a:rPr lang="de-DE" dirty="0"/>
              <a:t> </a:t>
            </a:r>
            <a:r>
              <a:rPr lang="de-DE" dirty="0" err="1"/>
              <a:t>purpose</a:t>
            </a:r>
            <a:r>
              <a:rPr lang="de-DE" dirty="0"/>
              <a:t> </a:t>
            </a:r>
            <a:r>
              <a:rPr lang="de-DE" dirty="0" err="1"/>
              <a:t>of</a:t>
            </a:r>
            <a:r>
              <a:rPr lang="de-DE" dirty="0"/>
              <a:t> </a:t>
            </a:r>
            <a:r>
              <a:rPr lang="de-DE" dirty="0" err="1"/>
              <a:t>the</a:t>
            </a:r>
            <a:r>
              <a:rPr lang="de-DE" dirty="0"/>
              <a:t> </a:t>
            </a:r>
            <a:r>
              <a:rPr lang="de-DE" dirty="0" err="1"/>
              <a:t>team</a:t>
            </a:r>
            <a:r>
              <a:rPr lang="de-DE" dirty="0"/>
              <a:t>? </a:t>
            </a:r>
            <a:r>
              <a:rPr lang="de-DE" dirty="0" err="1"/>
              <a:t>Why</a:t>
            </a:r>
            <a:r>
              <a:rPr lang="de-DE" dirty="0"/>
              <a:t> do </a:t>
            </a:r>
            <a:r>
              <a:rPr lang="de-DE" dirty="0" err="1"/>
              <a:t>we</a:t>
            </a:r>
            <a:r>
              <a:rPr lang="de-DE" dirty="0"/>
              <a:t> </a:t>
            </a:r>
            <a:r>
              <a:rPr lang="de-DE" dirty="0" err="1"/>
              <a:t>work</a:t>
            </a:r>
            <a:r>
              <a:rPr lang="de-DE" dirty="0"/>
              <a:t> </a:t>
            </a:r>
            <a:r>
              <a:rPr lang="de-DE" dirty="0" err="1"/>
              <a:t>together</a:t>
            </a:r>
            <a:r>
              <a:rPr lang="de-DE" dirty="0"/>
              <a:t>?
</a:t>
            </a:r>
            <a:r>
              <a:rPr lang="de-DE" dirty="0" err="1"/>
              <a:t>Then</a:t>
            </a:r>
            <a:r>
              <a:rPr lang="de-DE" dirty="0"/>
              <a:t> follow GOALS, </a:t>
            </a:r>
            <a:r>
              <a:rPr lang="de-DE" dirty="0" err="1"/>
              <a:t>your</a:t>
            </a:r>
            <a:r>
              <a:rPr lang="de-DE" dirty="0"/>
              <a:t> </a:t>
            </a:r>
            <a:r>
              <a:rPr lang="de-DE" dirty="0" err="1"/>
              <a:t>goals</a:t>
            </a:r>
            <a:r>
              <a:rPr lang="de-DE" dirty="0"/>
              <a:t>. </a:t>
            </a:r>
          </a:p>
          <a:p>
            <a:pPr marL="628650" lvl="1" indent="-171450">
              <a:buFont typeface="Arial" panose="020B0604020202020204" pitchFamily="34" charset="0"/>
              <a:buChar char="•"/>
              <a:defRPr/>
            </a:pPr>
            <a:r>
              <a:rPr lang="de-DE" dirty="0" err="1"/>
              <a:t>What</a:t>
            </a:r>
            <a:r>
              <a:rPr lang="de-DE" dirty="0"/>
              <a:t> </a:t>
            </a:r>
            <a:r>
              <a:rPr lang="de-DE" dirty="0" err="1"/>
              <a:t>are</a:t>
            </a:r>
            <a:r>
              <a:rPr lang="de-DE" dirty="0"/>
              <a:t> </a:t>
            </a:r>
            <a:r>
              <a:rPr lang="de-DE" dirty="0" err="1"/>
              <a:t>the</a:t>
            </a:r>
            <a:r>
              <a:rPr lang="de-DE" dirty="0"/>
              <a:t> </a:t>
            </a:r>
            <a:r>
              <a:rPr lang="de-DE" dirty="0" err="1"/>
              <a:t>goals</a:t>
            </a:r>
            <a:r>
              <a:rPr lang="de-DE" dirty="0"/>
              <a:t>, </a:t>
            </a:r>
            <a:r>
              <a:rPr lang="de-DE" dirty="0" err="1"/>
              <a:t>both</a:t>
            </a:r>
            <a:r>
              <a:rPr lang="de-DE" dirty="0"/>
              <a:t> </a:t>
            </a:r>
            <a:r>
              <a:rPr lang="de-DE" dirty="0" err="1"/>
              <a:t>for</a:t>
            </a:r>
            <a:r>
              <a:rPr lang="de-DE" dirty="0"/>
              <a:t> </a:t>
            </a:r>
            <a:r>
              <a:rPr lang="de-DE" dirty="0" err="1"/>
              <a:t>the</a:t>
            </a:r>
            <a:r>
              <a:rPr lang="de-DE" dirty="0"/>
              <a:t> </a:t>
            </a:r>
            <a:r>
              <a:rPr lang="de-DE" dirty="0" err="1"/>
              <a:t>entire</a:t>
            </a:r>
            <a:r>
              <a:rPr lang="de-DE" dirty="0"/>
              <a:t> </a:t>
            </a:r>
            <a:r>
              <a:rPr lang="de-DE" dirty="0" err="1"/>
              <a:t>team</a:t>
            </a:r>
            <a:r>
              <a:rPr lang="de-DE" dirty="0"/>
              <a:t> and </a:t>
            </a:r>
            <a:r>
              <a:rPr lang="de-DE" dirty="0" err="1"/>
              <a:t>for</a:t>
            </a:r>
            <a:r>
              <a:rPr lang="de-DE" dirty="0"/>
              <a:t> </a:t>
            </a:r>
            <a:r>
              <a:rPr lang="de-DE" dirty="0" err="1"/>
              <a:t>each</a:t>
            </a:r>
            <a:r>
              <a:rPr lang="de-DE" dirty="0"/>
              <a:t> individual </a:t>
            </a:r>
            <a:r>
              <a:rPr lang="de-DE" dirty="0" err="1"/>
              <a:t>team</a:t>
            </a:r>
            <a:r>
              <a:rPr lang="de-DE" dirty="0"/>
              <a:t> </a:t>
            </a:r>
            <a:r>
              <a:rPr lang="de-DE" dirty="0" err="1"/>
              <a:t>member</a:t>
            </a:r>
            <a:r>
              <a:rPr lang="de-DE" dirty="0"/>
              <a:t>?</a:t>
            </a:r>
          </a:p>
          <a:p>
            <a:pPr marL="171450" lvl="0" indent="-171450">
              <a:buFont typeface="Arial" panose="020B0604020202020204" pitchFamily="34" charset="0"/>
              <a:buChar char="•"/>
              <a:defRPr/>
            </a:pPr>
            <a:r>
              <a:rPr lang="de-DE" dirty="0"/>
              <a:t>At ROLES </a:t>
            </a:r>
            <a:r>
              <a:rPr lang="de-DE" dirty="0" err="1"/>
              <a:t>you</a:t>
            </a:r>
            <a:r>
              <a:rPr lang="de-DE" dirty="0"/>
              <a:t> </a:t>
            </a:r>
            <a:r>
              <a:rPr lang="de-DE" dirty="0" err="1"/>
              <a:t>can</a:t>
            </a:r>
            <a:r>
              <a:rPr lang="de-DE" dirty="0"/>
              <a:t> </a:t>
            </a:r>
            <a:r>
              <a:rPr lang="de-DE" dirty="0" err="1"/>
              <a:t>enter</a:t>
            </a:r>
            <a:r>
              <a:rPr lang="de-DE" dirty="0"/>
              <a:t> </a:t>
            </a:r>
            <a:r>
              <a:rPr lang="de-DE" dirty="0" err="1"/>
              <a:t>the</a:t>
            </a:r>
            <a:r>
              <a:rPr lang="de-DE" dirty="0"/>
              <a:t> </a:t>
            </a:r>
            <a:r>
              <a:rPr lang="de-DE" dirty="0" err="1"/>
              <a:t>newly</a:t>
            </a:r>
            <a:r>
              <a:rPr lang="de-DE" dirty="0"/>
              <a:t> </a:t>
            </a:r>
            <a:r>
              <a:rPr lang="de-DE" dirty="0" err="1"/>
              <a:t>learned</a:t>
            </a:r>
            <a:r>
              <a:rPr lang="de-DE" dirty="0"/>
              <a:t> </a:t>
            </a:r>
            <a:r>
              <a:rPr lang="de-DE" dirty="0" err="1"/>
              <a:t>Belbin</a:t>
            </a:r>
            <a:r>
              <a:rPr lang="de-DE" dirty="0"/>
              <a:t> </a:t>
            </a:r>
            <a:r>
              <a:rPr lang="de-DE" dirty="0" err="1"/>
              <a:t>roles</a:t>
            </a:r>
            <a:r>
              <a:rPr lang="de-DE" dirty="0"/>
              <a:t> </a:t>
            </a:r>
            <a:r>
              <a:rPr lang="de-DE" dirty="0" err="1"/>
              <a:t>together</a:t>
            </a:r>
            <a:r>
              <a:rPr lang="de-DE" dirty="0"/>
              <a:t> </a:t>
            </a:r>
            <a:r>
              <a:rPr lang="de-DE" dirty="0" err="1"/>
              <a:t>with</a:t>
            </a:r>
            <a:r>
              <a:rPr lang="de-DE" dirty="0"/>
              <a:t> </a:t>
            </a:r>
            <a:r>
              <a:rPr lang="de-DE" dirty="0" err="1"/>
              <a:t>your</a:t>
            </a:r>
            <a:r>
              <a:rPr lang="de-DE" dirty="0"/>
              <a:t> </a:t>
            </a:r>
            <a:r>
              <a:rPr lang="de-DE" dirty="0" err="1"/>
              <a:t>name</a:t>
            </a:r>
            <a:r>
              <a:rPr lang="de-DE" dirty="0"/>
              <a:t>. </a:t>
            </a:r>
          </a:p>
          <a:p>
            <a:pPr marL="628650" lvl="1" indent="-171450">
              <a:buFont typeface="Arial" panose="020B0604020202020204" pitchFamily="34" charset="0"/>
              <a:buChar char="•"/>
              <a:defRPr/>
            </a:pPr>
            <a:r>
              <a:rPr lang="de-DE" dirty="0" err="1"/>
              <a:t>If</a:t>
            </a:r>
            <a:r>
              <a:rPr lang="de-DE" dirty="0"/>
              <a:t> a </a:t>
            </a:r>
            <a:r>
              <a:rPr lang="de-DE" dirty="0" err="1"/>
              <a:t>central</a:t>
            </a:r>
            <a:r>
              <a:rPr lang="de-DE" dirty="0"/>
              <a:t> </a:t>
            </a:r>
            <a:r>
              <a:rPr lang="de-DE" dirty="0" err="1"/>
              <a:t>role</a:t>
            </a:r>
            <a:r>
              <a:rPr lang="de-DE" dirty="0"/>
              <a:t> </a:t>
            </a:r>
            <a:r>
              <a:rPr lang="de-DE" dirty="0" err="1"/>
              <a:t>has</a:t>
            </a:r>
            <a:r>
              <a:rPr lang="de-DE" dirty="0"/>
              <a:t> not </a:t>
            </a:r>
            <a:r>
              <a:rPr lang="de-DE" dirty="0" err="1"/>
              <a:t>yet</a:t>
            </a:r>
            <a:r>
              <a:rPr lang="de-DE" dirty="0"/>
              <a:t> </a:t>
            </a:r>
            <a:r>
              <a:rPr lang="de-DE" dirty="0" err="1"/>
              <a:t>been</a:t>
            </a:r>
            <a:r>
              <a:rPr lang="de-DE" dirty="0"/>
              <a:t> </a:t>
            </a:r>
            <a:r>
              <a:rPr lang="de-DE" dirty="0" err="1"/>
              <a:t>clearly</a:t>
            </a:r>
            <a:r>
              <a:rPr lang="de-DE" dirty="0"/>
              <a:t> </a:t>
            </a:r>
            <a:r>
              <a:rPr lang="de-DE" dirty="0" err="1"/>
              <a:t>assigned</a:t>
            </a:r>
            <a:r>
              <a:rPr lang="de-DE" dirty="0"/>
              <a:t>, </a:t>
            </a:r>
            <a:r>
              <a:rPr lang="de-DE" dirty="0" err="1"/>
              <a:t>you</a:t>
            </a:r>
            <a:r>
              <a:rPr lang="de-DE" dirty="0"/>
              <a:t> </a:t>
            </a:r>
            <a:r>
              <a:rPr lang="de-DE" dirty="0" err="1"/>
              <a:t>can</a:t>
            </a:r>
            <a:r>
              <a:rPr lang="de-DE" dirty="0"/>
              <a:t> also </a:t>
            </a:r>
            <a:r>
              <a:rPr lang="de-DE" dirty="0" err="1"/>
              <a:t>note</a:t>
            </a:r>
            <a:r>
              <a:rPr lang="de-DE" dirty="0"/>
              <a:t> </a:t>
            </a:r>
            <a:r>
              <a:rPr lang="de-DE" dirty="0" err="1"/>
              <a:t>this</a:t>
            </a:r>
            <a:r>
              <a:rPr lang="de-DE" dirty="0"/>
              <a:t>.</a:t>
            </a:r>
          </a:p>
          <a:p>
            <a:pPr marL="171450" lvl="0" indent="-171450">
              <a:buFont typeface="Arial" panose="020B0604020202020204" pitchFamily="34" charset="0"/>
              <a:buChar char="•"/>
              <a:defRPr/>
            </a:pPr>
            <a:r>
              <a:rPr lang="de-DE" dirty="0"/>
              <a:t>In RULES </a:t>
            </a:r>
            <a:r>
              <a:rPr lang="de-DE" dirty="0" err="1"/>
              <a:t>you</a:t>
            </a:r>
            <a:r>
              <a:rPr lang="de-DE" dirty="0"/>
              <a:t> </a:t>
            </a:r>
            <a:r>
              <a:rPr lang="de-DE" dirty="0" err="1"/>
              <a:t>write</a:t>
            </a:r>
            <a:r>
              <a:rPr lang="de-DE" dirty="0"/>
              <a:t> down </a:t>
            </a:r>
            <a:r>
              <a:rPr lang="de-DE" dirty="0" err="1"/>
              <a:t>the</a:t>
            </a:r>
            <a:r>
              <a:rPr lang="de-DE" dirty="0"/>
              <a:t> </a:t>
            </a:r>
            <a:r>
              <a:rPr lang="de-DE" dirty="0" err="1"/>
              <a:t>basic</a:t>
            </a:r>
            <a:r>
              <a:rPr lang="de-DE" dirty="0"/>
              <a:t> </a:t>
            </a:r>
            <a:r>
              <a:rPr lang="de-DE" dirty="0" err="1"/>
              <a:t>rules</a:t>
            </a:r>
            <a:r>
              <a:rPr lang="de-DE" dirty="0"/>
              <a:t> </a:t>
            </a:r>
            <a:r>
              <a:rPr lang="de-DE" dirty="0" err="1"/>
              <a:t>you</a:t>
            </a:r>
            <a:r>
              <a:rPr lang="de-DE" dirty="0"/>
              <a:t> </a:t>
            </a:r>
            <a:r>
              <a:rPr lang="de-DE" dirty="0" err="1"/>
              <a:t>want</a:t>
            </a:r>
            <a:r>
              <a:rPr lang="de-DE" dirty="0"/>
              <a:t> </a:t>
            </a:r>
            <a:r>
              <a:rPr lang="de-DE" dirty="0" err="1"/>
              <a:t>to</a:t>
            </a:r>
            <a:r>
              <a:rPr lang="de-DE" dirty="0"/>
              <a:t> </a:t>
            </a:r>
            <a:r>
              <a:rPr lang="de-DE" dirty="0" err="1"/>
              <a:t>agree</a:t>
            </a:r>
            <a:r>
              <a:rPr lang="de-DE" dirty="0"/>
              <a:t> on. </a:t>
            </a:r>
          </a:p>
          <a:p>
            <a:pPr marL="628650" lvl="1" indent="-171450">
              <a:buFont typeface="Arial" panose="020B0604020202020204" pitchFamily="34" charset="0"/>
              <a:buChar char="•"/>
              <a:defRPr/>
            </a:pPr>
            <a:r>
              <a:rPr lang="de-DE" dirty="0" err="1"/>
              <a:t>How</a:t>
            </a:r>
            <a:r>
              <a:rPr lang="de-DE" dirty="0"/>
              <a:t> will </a:t>
            </a:r>
            <a:r>
              <a:rPr lang="de-DE" dirty="0" err="1"/>
              <a:t>you</a:t>
            </a:r>
            <a:r>
              <a:rPr lang="de-DE" dirty="0"/>
              <a:t> </a:t>
            </a:r>
            <a:r>
              <a:rPr lang="de-DE" dirty="0" err="1"/>
              <a:t>communicate</a:t>
            </a:r>
            <a:r>
              <a:rPr lang="de-DE" dirty="0"/>
              <a:t> </a:t>
            </a:r>
            <a:r>
              <a:rPr lang="de-DE" dirty="0" err="1"/>
              <a:t>with</a:t>
            </a:r>
            <a:r>
              <a:rPr lang="de-DE" dirty="0"/>
              <a:t> </a:t>
            </a:r>
            <a:r>
              <a:rPr lang="de-DE" dirty="0" err="1"/>
              <a:t>each</a:t>
            </a:r>
            <a:r>
              <a:rPr lang="de-DE" dirty="0"/>
              <a:t> </a:t>
            </a:r>
            <a:r>
              <a:rPr lang="de-DE" dirty="0" err="1"/>
              <a:t>other</a:t>
            </a:r>
            <a:r>
              <a:rPr lang="de-DE" dirty="0"/>
              <a:t>? </a:t>
            </a:r>
          </a:p>
          <a:p>
            <a:pPr marL="628650" lvl="1" indent="-171450">
              <a:buFont typeface="Arial" panose="020B0604020202020204" pitchFamily="34" charset="0"/>
              <a:buChar char="•"/>
              <a:defRPr/>
            </a:pPr>
            <a:r>
              <a:rPr lang="de-DE" dirty="0" err="1"/>
              <a:t>How</a:t>
            </a:r>
            <a:r>
              <a:rPr lang="de-DE" dirty="0"/>
              <a:t> do </a:t>
            </a:r>
            <a:r>
              <a:rPr lang="de-DE" dirty="0" err="1"/>
              <a:t>you</a:t>
            </a:r>
            <a:r>
              <a:rPr lang="de-DE" dirty="0"/>
              <a:t> </a:t>
            </a:r>
            <a:r>
              <a:rPr lang="de-DE" dirty="0" err="1"/>
              <a:t>want</a:t>
            </a:r>
            <a:r>
              <a:rPr lang="de-DE" dirty="0"/>
              <a:t> </a:t>
            </a:r>
            <a:r>
              <a:rPr lang="de-DE" dirty="0" err="1"/>
              <a:t>to</a:t>
            </a:r>
            <a:r>
              <a:rPr lang="de-DE" dirty="0"/>
              <a:t> </a:t>
            </a:r>
            <a:r>
              <a:rPr lang="de-DE" dirty="0" err="1"/>
              <a:t>make</a:t>
            </a:r>
            <a:r>
              <a:rPr lang="de-DE" dirty="0"/>
              <a:t> </a:t>
            </a:r>
            <a:r>
              <a:rPr lang="de-DE" dirty="0" err="1"/>
              <a:t>decisions</a:t>
            </a:r>
            <a:r>
              <a:rPr lang="de-DE" dirty="0"/>
              <a:t>? &gt; </a:t>
            </a:r>
            <a:r>
              <a:rPr lang="de-DE" dirty="0" err="1"/>
              <a:t>here</a:t>
            </a:r>
            <a:r>
              <a:rPr lang="de-DE" dirty="0"/>
              <a:t> </a:t>
            </a:r>
            <a:r>
              <a:rPr lang="de-DE" dirty="0" err="1"/>
              <a:t>there</a:t>
            </a:r>
            <a:r>
              <a:rPr lang="de-DE" dirty="0"/>
              <a:t> </a:t>
            </a:r>
            <a:r>
              <a:rPr lang="de-DE" dirty="0" err="1"/>
              <a:t>is</a:t>
            </a:r>
            <a:r>
              <a:rPr lang="de-DE" dirty="0"/>
              <a:t> a </a:t>
            </a:r>
            <a:r>
              <a:rPr lang="de-DE" dirty="0" err="1"/>
              <a:t>difference</a:t>
            </a:r>
            <a:r>
              <a:rPr lang="de-DE" dirty="0"/>
              <a:t> </a:t>
            </a:r>
            <a:r>
              <a:rPr lang="de-DE" dirty="0" err="1"/>
              <a:t>between</a:t>
            </a:r>
            <a:r>
              <a:rPr lang="de-DE" dirty="0"/>
              <a:t> </a:t>
            </a:r>
            <a:r>
              <a:rPr lang="de-DE" dirty="0" err="1"/>
              <a:t>consensus</a:t>
            </a:r>
            <a:r>
              <a:rPr lang="de-DE" dirty="0"/>
              <a:t> and </a:t>
            </a:r>
            <a:r>
              <a:rPr lang="de-DE" dirty="0" err="1"/>
              <a:t>majority</a:t>
            </a:r>
            <a:r>
              <a:rPr lang="de-DE" dirty="0"/>
              <a:t> </a:t>
            </a:r>
            <a:r>
              <a:rPr lang="de-DE" dirty="0" err="1"/>
              <a:t>decisions</a:t>
            </a:r>
            <a:r>
              <a:rPr lang="de-DE" dirty="0"/>
              <a:t>. </a:t>
            </a:r>
          </a:p>
          <a:p>
            <a:pPr marL="628650" lvl="1" indent="-171450">
              <a:buFont typeface="Arial" panose="020B0604020202020204" pitchFamily="34" charset="0"/>
              <a:buChar char="•"/>
              <a:defRPr/>
            </a:pPr>
            <a:r>
              <a:rPr lang="de-DE" dirty="0" err="1"/>
              <a:t>How</a:t>
            </a:r>
            <a:r>
              <a:rPr lang="de-DE" dirty="0"/>
              <a:t> do </a:t>
            </a:r>
            <a:r>
              <a:rPr lang="de-DE" dirty="0" err="1"/>
              <a:t>you</a:t>
            </a:r>
            <a:r>
              <a:rPr lang="de-DE" dirty="0"/>
              <a:t> plan? </a:t>
            </a:r>
          </a:p>
          <a:p>
            <a:pPr marL="628650" lvl="1" indent="-171450">
              <a:buFont typeface="Arial" panose="020B0604020202020204" pitchFamily="34" charset="0"/>
              <a:buChar char="•"/>
              <a:defRPr/>
            </a:pPr>
            <a:r>
              <a:rPr lang="de-DE" dirty="0" err="1"/>
              <a:t>What</a:t>
            </a:r>
            <a:r>
              <a:rPr lang="de-DE" dirty="0"/>
              <a:t> </a:t>
            </a:r>
            <a:r>
              <a:rPr lang="de-DE" dirty="0" err="1"/>
              <a:t>are</a:t>
            </a:r>
            <a:r>
              <a:rPr lang="de-DE" dirty="0"/>
              <a:t> </a:t>
            </a:r>
            <a:r>
              <a:rPr lang="de-DE" dirty="0" err="1"/>
              <a:t>your</a:t>
            </a:r>
            <a:r>
              <a:rPr lang="de-DE" dirty="0"/>
              <a:t> </a:t>
            </a:r>
            <a:r>
              <a:rPr lang="de-DE" dirty="0" err="1"/>
              <a:t>central</a:t>
            </a:r>
            <a:r>
              <a:rPr lang="de-DE" dirty="0"/>
              <a:t> </a:t>
            </a:r>
            <a:r>
              <a:rPr lang="de-DE" dirty="0" err="1"/>
              <a:t>accomplishments</a:t>
            </a:r>
            <a:r>
              <a:rPr lang="de-DE" dirty="0"/>
              <a:t>? </a:t>
            </a:r>
          </a:p>
          <a:p>
            <a:pPr marL="628650" lvl="1" indent="-171450">
              <a:buFont typeface="Arial" panose="020B0604020202020204" pitchFamily="34" charset="0"/>
              <a:buChar char="•"/>
              <a:defRPr/>
            </a:pPr>
            <a:r>
              <a:rPr lang="de-DE" dirty="0"/>
              <a:t>Do </a:t>
            </a:r>
            <a:r>
              <a:rPr lang="de-DE" dirty="0" err="1"/>
              <a:t>you</a:t>
            </a:r>
            <a:r>
              <a:rPr lang="de-DE" dirty="0"/>
              <a:t> </a:t>
            </a:r>
            <a:r>
              <a:rPr lang="de-DE" dirty="0" err="1"/>
              <a:t>want</a:t>
            </a:r>
            <a:r>
              <a:rPr lang="de-DE" dirty="0"/>
              <a:t> </a:t>
            </a:r>
            <a:r>
              <a:rPr lang="de-DE" dirty="0" err="1"/>
              <a:t>to</a:t>
            </a:r>
            <a:r>
              <a:rPr lang="de-DE" dirty="0"/>
              <a:t> </a:t>
            </a:r>
            <a:r>
              <a:rPr lang="de-DE" dirty="0" err="1"/>
              <a:t>set</a:t>
            </a:r>
            <a:r>
              <a:rPr lang="de-DE" dirty="0"/>
              <a:t> </a:t>
            </a:r>
            <a:r>
              <a:rPr lang="de-DE" dirty="0" err="1"/>
              <a:t>fixed</a:t>
            </a:r>
            <a:r>
              <a:rPr lang="de-DE" dirty="0"/>
              <a:t> </a:t>
            </a:r>
            <a:r>
              <a:rPr lang="de-DE" dirty="0" err="1"/>
              <a:t>deadlines</a:t>
            </a:r>
            <a:r>
              <a:rPr lang="de-DE" dirty="0"/>
              <a:t> </a:t>
            </a:r>
            <a:r>
              <a:rPr lang="de-DE" dirty="0" err="1"/>
              <a:t>for</a:t>
            </a:r>
            <a:r>
              <a:rPr lang="de-DE" dirty="0"/>
              <a:t> </a:t>
            </a:r>
            <a:r>
              <a:rPr lang="de-DE" dirty="0" err="1"/>
              <a:t>this</a:t>
            </a:r>
            <a:r>
              <a:rPr lang="de-DE" dirty="0"/>
              <a:t>, </a:t>
            </a:r>
            <a:r>
              <a:rPr lang="de-DE" dirty="0" err="1"/>
              <a:t>or</a:t>
            </a:r>
            <a:r>
              <a:rPr lang="de-DE" dirty="0"/>
              <a:t> </a:t>
            </a:r>
            <a:r>
              <a:rPr lang="de-DE" dirty="0" err="1"/>
              <a:t>stay</a:t>
            </a:r>
            <a:r>
              <a:rPr lang="de-DE" dirty="0"/>
              <a:t> flexible?</a:t>
            </a:r>
          </a:p>
          <a:p>
            <a:pPr marL="171450" lvl="0" indent="-171450">
              <a:buFont typeface="Arial" panose="020B0604020202020204" pitchFamily="34" charset="0"/>
              <a:buChar char="•"/>
              <a:defRPr/>
            </a:pPr>
            <a:r>
              <a:rPr lang="de-DE" dirty="0" err="1"/>
              <a:t>Finally</a:t>
            </a:r>
            <a:r>
              <a:rPr lang="de-DE" dirty="0"/>
              <a:t>, </a:t>
            </a:r>
            <a:r>
              <a:rPr lang="de-DE" dirty="0" err="1"/>
              <a:t>your</a:t>
            </a:r>
            <a:r>
              <a:rPr lang="de-DE" dirty="0"/>
              <a:t> VALUES. </a:t>
            </a:r>
          </a:p>
          <a:p>
            <a:pPr marL="628650" lvl="1" indent="-171450">
              <a:buFont typeface="Arial" panose="020B0604020202020204" pitchFamily="34" charset="0"/>
              <a:buChar char="•"/>
              <a:defRPr/>
            </a:pPr>
            <a:r>
              <a:rPr lang="de-DE" dirty="0" err="1"/>
              <a:t>What</a:t>
            </a:r>
            <a:r>
              <a:rPr lang="de-DE" dirty="0"/>
              <a:t> </a:t>
            </a:r>
            <a:r>
              <a:rPr lang="de-DE" dirty="0" err="1"/>
              <a:t>are</a:t>
            </a:r>
            <a:r>
              <a:rPr lang="de-DE" dirty="0"/>
              <a:t> </a:t>
            </a:r>
            <a:r>
              <a:rPr lang="de-DE" dirty="0" err="1"/>
              <a:t>the</a:t>
            </a:r>
            <a:r>
              <a:rPr lang="de-DE" dirty="0"/>
              <a:t> </a:t>
            </a:r>
            <a:r>
              <a:rPr lang="de-DE" dirty="0" err="1"/>
              <a:t>values</a:t>
            </a:r>
            <a:r>
              <a:rPr lang="de-DE" dirty="0"/>
              <a:t> </a:t>
            </a:r>
            <a:r>
              <a:rPr lang="de-DE" dirty="0" err="1"/>
              <a:t>that</a:t>
            </a:r>
            <a:r>
              <a:rPr lang="de-DE" dirty="0"/>
              <a:t> </a:t>
            </a:r>
            <a:r>
              <a:rPr lang="de-DE" dirty="0" err="1"/>
              <a:t>you</a:t>
            </a:r>
            <a:r>
              <a:rPr lang="de-DE" dirty="0"/>
              <a:t> </a:t>
            </a:r>
            <a:r>
              <a:rPr lang="de-DE" dirty="0" err="1"/>
              <a:t>share</a:t>
            </a:r>
            <a:r>
              <a:rPr lang="de-DE" dirty="0"/>
              <a:t> and </a:t>
            </a:r>
            <a:r>
              <a:rPr lang="de-DE" dirty="0" err="1"/>
              <a:t>that</a:t>
            </a:r>
            <a:r>
              <a:rPr lang="de-DE" dirty="0"/>
              <a:t> </a:t>
            </a:r>
            <a:r>
              <a:rPr lang="de-DE" dirty="0" err="1"/>
              <a:t>should</a:t>
            </a:r>
            <a:r>
              <a:rPr lang="de-DE" dirty="0"/>
              <a:t> also </a:t>
            </a:r>
            <a:r>
              <a:rPr lang="de-DE" dirty="0" err="1"/>
              <a:t>make</a:t>
            </a:r>
            <a:r>
              <a:rPr lang="de-DE" dirty="0"/>
              <a:t> </a:t>
            </a:r>
            <a:r>
              <a:rPr lang="de-DE" dirty="0" err="1"/>
              <a:t>you</a:t>
            </a:r>
            <a:r>
              <a:rPr lang="de-DE" dirty="0"/>
              <a:t> </a:t>
            </a:r>
            <a:r>
              <a:rPr lang="de-DE" dirty="0" err="1"/>
              <a:t>feel</a:t>
            </a:r>
            <a:r>
              <a:rPr lang="de-DE" dirty="0"/>
              <a:t> </a:t>
            </a:r>
            <a:r>
              <a:rPr lang="de-DE" dirty="0" err="1"/>
              <a:t>as</a:t>
            </a:r>
            <a:r>
              <a:rPr lang="de-DE" dirty="0"/>
              <a:t> a </a:t>
            </a:r>
            <a:r>
              <a:rPr lang="de-DE" dirty="0" err="1"/>
              <a:t>team</a:t>
            </a:r>
            <a:r>
              <a:rPr lang="de-DE" dirty="0"/>
              <a:t>?</a:t>
            </a:r>
          </a:p>
          <a:p>
            <a:pPr marL="171450" lvl="0" indent="-171450">
              <a:buFont typeface="Arial" panose="020B0604020202020204" pitchFamily="34" charset="0"/>
              <a:buChar char="•"/>
              <a:defRPr/>
            </a:pPr>
            <a:r>
              <a:rPr lang="de-DE" dirty="0"/>
              <a:t>Go back </a:t>
            </a:r>
            <a:r>
              <a:rPr lang="de-DE" dirty="0" err="1"/>
              <a:t>to</a:t>
            </a:r>
            <a:r>
              <a:rPr lang="de-DE" dirty="0"/>
              <a:t> </a:t>
            </a:r>
            <a:r>
              <a:rPr lang="de-DE" dirty="0" err="1"/>
              <a:t>your</a:t>
            </a:r>
            <a:r>
              <a:rPr lang="de-DE" dirty="0"/>
              <a:t> </a:t>
            </a:r>
            <a:r>
              <a:rPr lang="de-DE" dirty="0" err="1"/>
              <a:t>fictional</a:t>
            </a:r>
            <a:r>
              <a:rPr lang="de-DE" dirty="0"/>
              <a:t> </a:t>
            </a:r>
            <a:r>
              <a:rPr lang="de-DE" dirty="0" err="1"/>
              <a:t>groups</a:t>
            </a:r>
            <a:r>
              <a:rPr lang="de-DE" dirty="0"/>
              <a:t>. Imagine </a:t>
            </a:r>
            <a:r>
              <a:rPr lang="de-DE" dirty="0" err="1"/>
              <a:t>that</a:t>
            </a:r>
            <a:r>
              <a:rPr lang="de-DE" dirty="0"/>
              <a:t> </a:t>
            </a:r>
            <a:r>
              <a:rPr lang="de-DE" dirty="0" err="1"/>
              <a:t>you</a:t>
            </a:r>
            <a:r>
              <a:rPr lang="de-DE" dirty="0"/>
              <a:t> </a:t>
            </a:r>
            <a:r>
              <a:rPr lang="de-DE" dirty="0" err="1"/>
              <a:t>would</a:t>
            </a:r>
            <a:r>
              <a:rPr lang="de-DE" dirty="0"/>
              <a:t> </a:t>
            </a:r>
            <a:r>
              <a:rPr lang="de-DE" dirty="0" err="1"/>
              <a:t>now</a:t>
            </a:r>
            <a:r>
              <a:rPr lang="de-DE" dirty="0"/>
              <a:t> do </a:t>
            </a:r>
            <a:r>
              <a:rPr lang="de-DE" dirty="0" err="1"/>
              <a:t>your</a:t>
            </a:r>
            <a:r>
              <a:rPr lang="de-DE" dirty="0"/>
              <a:t> </a:t>
            </a:r>
            <a:r>
              <a:rPr lang="de-DE" dirty="0" err="1"/>
              <a:t>project</a:t>
            </a:r>
            <a:r>
              <a:rPr lang="de-DE" dirty="0"/>
              <a:t> </a:t>
            </a:r>
            <a:r>
              <a:rPr lang="de-DE" dirty="0" err="1"/>
              <a:t>work</a:t>
            </a:r>
            <a:r>
              <a:rPr lang="de-DE" dirty="0"/>
              <a:t> in </a:t>
            </a:r>
            <a:r>
              <a:rPr lang="de-DE" dirty="0" err="1"/>
              <a:t>this</a:t>
            </a:r>
            <a:r>
              <a:rPr lang="de-DE" dirty="0"/>
              <a:t> </a:t>
            </a:r>
            <a:r>
              <a:rPr lang="de-DE" dirty="0" err="1"/>
              <a:t>one</a:t>
            </a:r>
            <a:r>
              <a:rPr lang="de-DE" dirty="0"/>
              <a:t>. </a:t>
            </a:r>
            <a:r>
              <a:rPr lang="de-DE" dirty="0" err="1"/>
              <a:t>Populates</a:t>
            </a:r>
            <a:r>
              <a:rPr lang="de-DE" dirty="0"/>
              <a:t> </a:t>
            </a:r>
            <a:r>
              <a:rPr lang="de-DE" dirty="0" err="1"/>
              <a:t>the</a:t>
            </a:r>
            <a:r>
              <a:rPr lang="de-DE" dirty="0"/>
              <a:t> Team Canvas </a:t>
            </a:r>
            <a:r>
              <a:rPr lang="de-DE" dirty="0" err="1"/>
              <a:t>together</a:t>
            </a:r>
            <a:r>
              <a:rPr lang="de-DE" dirty="0"/>
              <a:t>. Pay </a:t>
            </a:r>
            <a:r>
              <a:rPr lang="de-DE" dirty="0" err="1"/>
              <a:t>attention</a:t>
            </a:r>
            <a:r>
              <a:rPr lang="de-DE" dirty="0"/>
              <a:t> </a:t>
            </a:r>
            <a:r>
              <a:rPr lang="de-DE" dirty="0" err="1"/>
              <a:t>to</a:t>
            </a:r>
            <a:r>
              <a:rPr lang="de-DE" dirty="0"/>
              <a:t> </a:t>
            </a:r>
            <a:r>
              <a:rPr lang="de-DE" dirty="0" err="1"/>
              <a:t>both</a:t>
            </a:r>
            <a:r>
              <a:rPr lang="de-DE" dirty="0"/>
              <a:t> </a:t>
            </a:r>
            <a:r>
              <a:rPr lang="de-DE" dirty="0" err="1"/>
              <a:t>your</a:t>
            </a:r>
            <a:r>
              <a:rPr lang="de-DE" dirty="0"/>
              <a:t> and </a:t>
            </a:r>
            <a:r>
              <a:rPr lang="de-DE" dirty="0" err="1"/>
              <a:t>other</a:t>
            </a:r>
            <a:r>
              <a:rPr lang="de-DE" dirty="0"/>
              <a:t> </a:t>
            </a:r>
            <a:r>
              <a:rPr lang="de-DE" dirty="0" err="1"/>
              <a:t>skills</a:t>
            </a:r>
            <a:r>
              <a:rPr lang="de-DE" dirty="0"/>
              <a:t>.</a:t>
            </a:r>
          </a:p>
        </p:txBody>
      </p:sp>
      <p:sp>
        <p:nvSpPr>
          <p:cNvPr id="4" name="Foliennummernplatzhalter 3"/>
          <p:cNvSpPr>
            <a:spLocks noGrp="1"/>
          </p:cNvSpPr>
          <p:nvPr>
            <p:ph type="sldNum" sz="quarter" idx="5"/>
          </p:nvPr>
        </p:nvSpPr>
        <p:spPr/>
        <p:txBody>
          <a:bodyPr/>
          <a:lstStyle/>
          <a:p>
            <a:fld id="{91C7837A-BE0C-8E44-AC6E-3BD867A160FB}" type="slidenum">
              <a:rPr lang="de-DE" smtClean="0"/>
              <a:t>12</a:t>
            </a:fld>
            <a:endParaRPr lang="de-DE"/>
          </a:p>
        </p:txBody>
      </p:sp>
    </p:spTree>
    <p:extLst>
      <p:ext uri="{BB962C8B-B14F-4D97-AF65-F5344CB8AC3E}">
        <p14:creationId xmlns:p14="http://schemas.microsoft.com/office/powerpoint/2010/main" val="42706890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4.svg"/><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3581400"/>
          </a:xfrm>
        </p:spPr>
        <p:txBody>
          <a:bodyPr anchor="b"/>
          <a:lstStyle>
            <a:lvl1pPr algn="ctr">
              <a:defRPr sz="6000"/>
            </a:lvl1pPr>
          </a:lstStyle>
          <a:p>
            <a:r>
              <a:rPr lang="de-DE" dirty="0"/>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Tutor*in: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 name="Untertitel 2">
            <a:extLst>
              <a:ext uri="{FF2B5EF4-FFF2-40B4-BE49-F238E27FC236}">
                <a16:creationId xmlns:a16="http://schemas.microsoft.com/office/drawing/2014/main" id="{098E5780-8526-6089-883C-304A7B1FEF87}"/>
              </a:ext>
            </a:extLst>
          </p:cNvPr>
          <p:cNvSpPr txBox="1">
            <a:spLocks/>
          </p:cNvSpPr>
          <p:nvPr userDrawn="1"/>
        </p:nvSpPr>
        <p:spPr>
          <a:xfrm>
            <a:off x="2205642" y="6228658"/>
            <a:ext cx="13716000" cy="12760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Master-Untertitelformat bearbeiten</a:t>
            </a:r>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9144000" y="7982337"/>
            <a:ext cx="6777643" cy="7831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Datum: </a:t>
            </a:r>
          </a:p>
        </p:txBody>
      </p:sp>
    </p:spTree>
    <p:extLst>
      <p:ext uri="{BB962C8B-B14F-4D97-AF65-F5344CB8AC3E}">
        <p14:creationId xmlns:p14="http://schemas.microsoft.com/office/powerpoint/2010/main" val="353831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6000"/>
            </a:lvl1pPr>
          </a:lstStyle>
          <a:p>
            <a:r>
              <a:rPr lang="de-DE" dirty="0"/>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2018666" y="506518"/>
            <a:ext cx="2809405" cy="2643335"/>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562784" y="4424673"/>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1766" y="-260603"/>
            <a:ext cx="3894251" cy="4068485"/>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4998235" y="987245"/>
            <a:ext cx="3473526" cy="291463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4548476" y="-705407"/>
            <a:ext cx="3201123" cy="3188050"/>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366738" y="782145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050506" y="-563810"/>
            <a:ext cx="2158222" cy="2864923"/>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r>
              <a:rPr lang="de-DE" dirty="0"/>
              <a:t> </a:t>
            </a:r>
          </a:p>
          <a:p>
            <a:pPr lvl="1"/>
            <a:r>
              <a:rPr lang="de-DE" dirty="0"/>
              <a:t>  </a:t>
            </a:r>
          </a:p>
          <a:p>
            <a:pPr lvl="0"/>
            <a:r>
              <a:rPr lang="de-DE" dirty="0"/>
              <a:t>  </a:t>
            </a:r>
          </a:p>
          <a:p>
            <a:pPr lvl="1"/>
            <a:r>
              <a:rPr lang="de-DE" dirty="0"/>
              <a:t>  </a:t>
            </a:r>
          </a:p>
          <a:p>
            <a:pPr lvl="1"/>
            <a:r>
              <a:rPr lang="de-DE" dirty="0"/>
              <a:t> </a:t>
            </a:r>
          </a:p>
          <a:p>
            <a:pPr lvl="0"/>
            <a:r>
              <a:rPr lang="de-DE" dirty="0"/>
              <a:t>  </a:t>
            </a:r>
          </a:p>
          <a:p>
            <a:pPr lvl="1"/>
            <a:r>
              <a:rPr lang="de-DE" dirty="0"/>
              <a:t> </a:t>
            </a:r>
          </a:p>
          <a:p>
            <a:pPr lvl="1"/>
            <a:r>
              <a:rPr lang="de-DE" dirty="0"/>
              <a:t> </a:t>
            </a:r>
          </a:p>
          <a:p>
            <a:pPr lvl="1"/>
            <a:r>
              <a:rPr lang="de-DE" dirty="0"/>
              <a:t> </a:t>
            </a:r>
          </a:p>
          <a:p>
            <a:pPr lvl="0"/>
            <a:r>
              <a:rPr lang="de-DE" dirty="0"/>
              <a:t> </a:t>
            </a:r>
          </a:p>
          <a:p>
            <a:pPr lvl="0"/>
            <a:endParaRPr lang="de-DE" dirty="0"/>
          </a:p>
        </p:txBody>
      </p:sp>
    </p:spTree>
    <p:extLst>
      <p:ext uri="{BB962C8B-B14F-4D97-AF65-F5344CB8AC3E}">
        <p14:creationId xmlns:p14="http://schemas.microsoft.com/office/powerpoint/2010/main" val="3544296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483674"/>
          </a:xfrm>
        </p:spPr>
        <p:txBody>
          <a:bodyPr lIns="90000" anchor="ctr"/>
          <a:lstStyle>
            <a:lvl1pPr>
              <a:defRPr sz="6000"/>
            </a:lvl1pPr>
          </a:lstStyle>
          <a:p>
            <a:r>
              <a:rPr lang="de-DE" dirty="0"/>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9913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1944000" y="1301860"/>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1944000" y="2738828"/>
            <a:ext cx="14400000" cy="64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806140" y="-803735"/>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5926566D-A50F-E915-FB4C-1392EE78A825}"/>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FD49F164-DAE8-6727-6DAB-B303AC9C1A18}"/>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16771767" y="216258"/>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15646620" y="-376703"/>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811538" y="3739758"/>
            <a:ext cx="2509961" cy="2095591"/>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17318415" y="2283638"/>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565003B8-E35C-4A98-29B0-022ACADD0DE8}"/>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Tree>
    <p:extLst>
      <p:ext uri="{BB962C8B-B14F-4D97-AF65-F5344CB8AC3E}">
        <p14:creationId xmlns:p14="http://schemas.microsoft.com/office/powerpoint/2010/main" val="241548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3955611"/>
          </a:xfrm>
        </p:spPr>
        <p:txBody>
          <a:bodyPr lIns="90000" anchor="b"/>
          <a:lstStyle>
            <a:lvl1pPr>
              <a:defRPr sz="6000"/>
            </a:lvl1pPr>
          </a:lstStyle>
          <a:p>
            <a:r>
              <a:rPr lang="de-DE" dirty="0"/>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1537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229704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179945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1944000" y="1366765"/>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19440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92202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92922934-2D9F-FFEA-894A-C9CB5345C80F}"/>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1653257" y="-539706"/>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407556" y="850423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243BE1EB-BFDE-6083-A284-87D7CF37DB8D}"/>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16401541" y="71447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16917043" y="6687679"/>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400313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1944000" y="1174623"/>
            <a:ext cx="14400000" cy="1260000"/>
          </a:xfrm>
        </p:spPr>
        <p:txBody>
          <a:bodyPr/>
          <a:lstStyle/>
          <a:p>
            <a:r>
              <a:rPr lang="de-DE" dirty="0"/>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1944000" y="3757613"/>
            <a:ext cx="7052362"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9258301" y="3757613"/>
            <a:ext cx="7085700"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2" name="Freeform 4">
            <a:extLst>
              <a:ext uri="{FF2B5EF4-FFF2-40B4-BE49-F238E27FC236}">
                <a16:creationId xmlns:a16="http://schemas.microsoft.com/office/drawing/2014/main" id="{35889E93-2A5D-58AD-C395-D2FD5A443DED}"/>
              </a:ext>
            </a:extLst>
          </p:cNvPr>
          <p:cNvSpPr/>
          <p:nvPr userDrawn="1"/>
        </p:nvSpPr>
        <p:spPr>
          <a:xfrm>
            <a:off x="16605940" y="6291738"/>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16672693" y="5865697"/>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16710104" y="1053145"/>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15390336" y="-527401"/>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17157286" y="131932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1" name="Freeform 13">
            <a:extLst>
              <a:ext uri="{FF2B5EF4-FFF2-40B4-BE49-F238E27FC236}">
                <a16:creationId xmlns:a16="http://schemas.microsoft.com/office/drawing/2014/main" id="{ED978E30-DF37-EF1E-4EDA-D257DB52A802}"/>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2" name="Freeform 2">
            <a:extLst>
              <a:ext uri="{FF2B5EF4-FFF2-40B4-BE49-F238E27FC236}">
                <a16:creationId xmlns:a16="http://schemas.microsoft.com/office/drawing/2014/main" id="{BC28FAE3-EF77-16F7-D36F-89291BDBA23F}"/>
              </a:ext>
            </a:extLst>
          </p:cNvPr>
          <p:cNvSpPr/>
          <p:nvPr userDrawn="1"/>
        </p:nvSpPr>
        <p:spPr>
          <a:xfrm>
            <a:off x="-1249582" y="4137531"/>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755376" y="4673141"/>
            <a:ext cx="1600955" cy="1645696"/>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dirty="0"/>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754582" y="-207773"/>
            <a:ext cx="1882775" cy="168495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5" name="Freeform 4">
            <a:extLst>
              <a:ext uri="{FF2B5EF4-FFF2-40B4-BE49-F238E27FC236}">
                <a16:creationId xmlns:a16="http://schemas.microsoft.com/office/drawing/2014/main" id="{64108208-23A2-8DFE-FE94-2A9E0DE10064}"/>
              </a:ext>
            </a:extLst>
          </p:cNvPr>
          <p:cNvSpPr/>
          <p:nvPr userDrawn="1"/>
        </p:nvSpPr>
        <p:spPr>
          <a:xfrm>
            <a:off x="-613526" y="-932654"/>
            <a:ext cx="2609805" cy="259339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Tree>
    <p:extLst>
      <p:ext uri="{BB962C8B-B14F-4D97-AF65-F5344CB8AC3E}">
        <p14:creationId xmlns:p14="http://schemas.microsoft.com/office/powerpoint/2010/main" val="157391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dirty="0"/>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634233" y="-130796"/>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92944" y="603209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817599" y="-741416"/>
            <a:ext cx="2912187" cy="310971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5833994" y="712804"/>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296953" y="7886423"/>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Tree>
    <p:extLst>
      <p:ext uri="{BB962C8B-B14F-4D97-AF65-F5344CB8AC3E}">
        <p14:creationId xmlns:p14="http://schemas.microsoft.com/office/powerpoint/2010/main" val="201178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1848993" y="-392157"/>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5" name="Freeform 2">
            <a:extLst>
              <a:ext uri="{FF2B5EF4-FFF2-40B4-BE49-F238E27FC236}">
                <a16:creationId xmlns:a16="http://schemas.microsoft.com/office/drawing/2014/main" id="{7138968B-20AA-CAF8-700F-BAB93331E2BF}"/>
              </a:ext>
            </a:extLst>
          </p:cNvPr>
          <p:cNvSpPr/>
          <p:nvPr userDrawn="1"/>
        </p:nvSpPr>
        <p:spPr>
          <a:xfrm>
            <a:off x="351158" y="5589207"/>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7" name="Freeform 4">
            <a:extLst>
              <a:ext uri="{FF2B5EF4-FFF2-40B4-BE49-F238E27FC236}">
                <a16:creationId xmlns:a16="http://schemas.microsoft.com/office/drawing/2014/main" id="{9CF66559-D777-73EC-5EEC-F85C25559919}"/>
              </a:ext>
            </a:extLst>
          </p:cNvPr>
          <p:cNvSpPr/>
          <p:nvPr userDrawn="1"/>
        </p:nvSpPr>
        <p:spPr>
          <a:xfrm>
            <a:off x="-817599" y="-741417"/>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15358696" y="245178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702797" y="573633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15741562" y="989320"/>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14830585" y="-257242"/>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17027787" y="496651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619918" y="699121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16212870" y="1083509"/>
            <a:ext cx="2213171" cy="2273738"/>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3">
            <a:extLst>
              <a:ext uri="{FF2B5EF4-FFF2-40B4-BE49-F238E27FC236}">
                <a16:creationId xmlns:a16="http://schemas.microsoft.com/office/drawing/2014/main" id="{16DFAD4E-E1FC-D536-8781-C7766040C289}"/>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Tree>
    <p:extLst>
      <p:ext uri="{BB962C8B-B14F-4D97-AF65-F5344CB8AC3E}">
        <p14:creationId xmlns:p14="http://schemas.microsoft.com/office/powerpoint/2010/main" val="2780893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1944000" y="1481138"/>
            <a:ext cx="5235566" cy="1260000"/>
          </a:xfrm>
        </p:spPr>
        <p:txBody>
          <a:bodyPr anchor="b"/>
          <a:lstStyle>
            <a:lvl1pPr>
              <a:defRPr sz="3200"/>
            </a:lvl1pPr>
          </a:lstStyle>
          <a:p>
            <a:r>
              <a:rPr lang="de-DE" dirty="0"/>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22" name="Freeform 2">
            <a:extLst>
              <a:ext uri="{FF2B5EF4-FFF2-40B4-BE49-F238E27FC236}">
                <a16:creationId xmlns:a16="http://schemas.microsoft.com/office/drawing/2014/main" id="{B785267F-9B21-E2D1-8B7C-5852346519D4}"/>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4" name="Freeform 5">
            <a:extLst>
              <a:ext uri="{FF2B5EF4-FFF2-40B4-BE49-F238E27FC236}">
                <a16:creationId xmlns:a16="http://schemas.microsoft.com/office/drawing/2014/main" id="{A2353211-40FC-5740-32CD-1C4B636D7A37}"/>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Tree>
    <p:extLst>
      <p:ext uri="{BB962C8B-B14F-4D97-AF65-F5344CB8AC3E}">
        <p14:creationId xmlns:p14="http://schemas.microsoft.com/office/powerpoint/2010/main" val="141122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8" name="Freeform 2">
            <a:extLst>
              <a:ext uri="{FF2B5EF4-FFF2-40B4-BE49-F238E27FC236}">
                <a16:creationId xmlns:a16="http://schemas.microsoft.com/office/drawing/2014/main" id="{90BB0451-57CE-6C95-DCE7-EB3A0D295758}"/>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AAC90572-095E-D207-28CC-5CC7CE8AAB54}"/>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88CBCFF4-7254-B7D0-3D1F-F21E7E31B92C}"/>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1944000" y="1481138"/>
            <a:ext cx="5235566" cy="1260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dirty="0"/>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121150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30294"/>
          </a:xfrm>
        </p:spPr>
        <p:txBody>
          <a:bodyPr anchor="ctr"/>
          <a:lstStyle>
            <a:lvl1pPr algn="ctr">
              <a:defRPr sz="6000"/>
            </a:lvl1pPr>
          </a:lstStyle>
          <a:p>
            <a:r>
              <a:rPr lang="de-DE" dirty="0"/>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4168728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21384"/>
          </a:xfrm>
        </p:spPr>
        <p:txBody>
          <a:bodyPr anchor="ctr"/>
          <a:lstStyle>
            <a:lvl1pPr algn="ctr">
              <a:defRPr sz="6000"/>
            </a:lvl1pPr>
          </a:lstStyle>
          <a:p>
            <a:r>
              <a:rPr lang="de-DE" dirty="0"/>
              <a:t>Schön das Ihr da wart!</a:t>
            </a:r>
            <a:br>
              <a:rPr lang="de-DE" dirty="0"/>
            </a:br>
            <a:r>
              <a:rPr lang="de-DE" dirty="0"/>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076106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15876905" y="4807323"/>
            <a:ext cx="2373813" cy="1592764"/>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12021566" y="6891802"/>
            <a:ext cx="1502640" cy="1592764"/>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13639800" y="6638689"/>
            <a:ext cx="1949303" cy="1592764"/>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9677723" y="6922092"/>
            <a:ext cx="2258684" cy="1592764"/>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11326904" y="5064484"/>
            <a:ext cx="2033866" cy="1592764"/>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14485268" y="3220983"/>
            <a:ext cx="1775341" cy="1592764"/>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16220430" y="8526750"/>
            <a:ext cx="2080242" cy="1592764"/>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2349260" y="4800008"/>
            <a:ext cx="2193219" cy="1592764"/>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16093202" y="3146603"/>
            <a:ext cx="2157516" cy="1592764"/>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2970519" y="3831316"/>
            <a:ext cx="1196899" cy="839754"/>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910516" y="742994"/>
            <a:ext cx="1205798" cy="1180532"/>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6088394" y="3574688"/>
            <a:ext cx="974938" cy="974938"/>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4514349" y="3536998"/>
            <a:ext cx="1005134" cy="1005134"/>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7906067" y="1750254"/>
            <a:ext cx="1622856" cy="1562899"/>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700124" y="890575"/>
            <a:ext cx="2921000" cy="2108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4529618" y="1217924"/>
            <a:ext cx="3721100" cy="208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3755809" y="4850217"/>
            <a:ext cx="1726057" cy="14535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2232967" y="3095399"/>
            <a:ext cx="1887615" cy="17548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675959" y="5412782"/>
            <a:ext cx="2620189" cy="10748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417133" y="8901354"/>
            <a:ext cx="2390510" cy="115722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03731" y="6936730"/>
            <a:ext cx="2288833" cy="1587749"/>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6184729" y="6678395"/>
            <a:ext cx="1949303" cy="15194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5525448" y="6847298"/>
            <a:ext cx="1562381" cy="1577404"/>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9443146" y="9086104"/>
            <a:ext cx="1646901" cy="979116"/>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958330" y="8641236"/>
            <a:ext cx="1939938" cy="136379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7255942" y="8924883"/>
            <a:ext cx="1706562" cy="113770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cstate="print">
            <a:extLst>
              <a:ext uri="{28A0092B-C50C-407E-A947-70E740481C1C}">
                <a14:useLocalDpi xmlns:a14="http://schemas.microsoft.com/office/drawing/2010/main" val="0"/>
              </a:ext>
            </a:extLst>
          </a:blip>
          <a:srcRect/>
          <a:stretch>
            <a:fillRect/>
          </a:stretch>
        </p:blipFill>
        <p:spPr bwMode="auto">
          <a:xfrm>
            <a:off x="14059336" y="8424702"/>
            <a:ext cx="2033866" cy="1538664"/>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4693598" y="4800301"/>
            <a:ext cx="16637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cstate="print">
            <a:extLst>
              <a:ext uri="{28A0092B-C50C-407E-A947-70E740481C1C}">
                <a14:useLocalDpi xmlns:a14="http://schemas.microsoft.com/office/drawing/2010/main" val="0"/>
              </a:ext>
            </a:extLst>
          </a:blip>
          <a:srcRect/>
          <a:stretch>
            <a:fillRect/>
          </a:stretch>
        </p:blipFill>
        <p:spPr bwMode="auto">
          <a:xfrm>
            <a:off x="6494308" y="5049355"/>
            <a:ext cx="18034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cstate="print">
            <a:extLst>
              <a:ext uri="{28A0092B-C50C-407E-A947-70E740481C1C}">
                <a14:useLocalDpi xmlns:a14="http://schemas.microsoft.com/office/drawing/2010/main" val="0"/>
              </a:ext>
            </a:extLst>
          </a:blip>
          <a:srcRect/>
          <a:stretch>
            <a:fillRect/>
          </a:stretch>
        </p:blipFill>
        <p:spPr bwMode="auto">
          <a:xfrm>
            <a:off x="2382363" y="8468714"/>
            <a:ext cx="1658539" cy="1494652"/>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cstate="print">
            <a:extLst>
              <a:ext uri="{28A0092B-C50C-407E-A947-70E740481C1C}">
                <a14:useLocalDpi xmlns:a14="http://schemas.microsoft.com/office/drawing/2010/main" val="0"/>
              </a:ext>
            </a:extLst>
          </a:blip>
          <a:srcRect/>
          <a:stretch>
            <a:fillRect/>
          </a:stretch>
        </p:blipFill>
        <p:spPr bwMode="auto">
          <a:xfrm>
            <a:off x="2775411" y="6582177"/>
            <a:ext cx="2565400" cy="161290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9831262" y="2000770"/>
            <a:ext cx="1868862" cy="1211023"/>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cstate="print">
            <a:extLst>
              <a:ext uri="{28A0092B-C50C-407E-A947-70E740481C1C}">
                <a14:useLocalDpi xmlns:a14="http://schemas.microsoft.com/office/drawing/2010/main" val="0"/>
              </a:ext>
            </a:extLst>
          </a:blip>
          <a:srcRect/>
          <a:stretch>
            <a:fillRect/>
          </a:stretch>
        </p:blipFill>
        <p:spPr bwMode="auto">
          <a:xfrm>
            <a:off x="7359737" y="3540548"/>
            <a:ext cx="2377773" cy="131982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cstate="print">
            <a:extLst>
              <a:ext uri="{28A0092B-C50C-407E-A947-70E740481C1C}">
                <a14:useLocalDpi xmlns:a14="http://schemas.microsoft.com/office/drawing/2010/main" val="0"/>
              </a:ext>
            </a:extLst>
          </a:blip>
          <a:srcRect/>
          <a:stretch>
            <a:fillRect/>
          </a:stretch>
        </p:blipFill>
        <p:spPr bwMode="auto">
          <a:xfrm>
            <a:off x="197038" y="6967110"/>
            <a:ext cx="2098998" cy="1547746"/>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cstate="print">
            <a:extLst>
              <a:ext uri="{28A0092B-C50C-407E-A947-70E740481C1C}">
                <a14:useLocalDpi xmlns:a14="http://schemas.microsoft.com/office/drawing/2010/main" val="0"/>
              </a:ext>
            </a:extLst>
          </a:blip>
          <a:srcRect/>
          <a:stretch>
            <a:fillRect/>
          </a:stretch>
        </p:blipFill>
        <p:spPr bwMode="auto">
          <a:xfrm>
            <a:off x="27529" y="8712074"/>
            <a:ext cx="2167269" cy="1429476"/>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305392" y="2225969"/>
            <a:ext cx="2416046" cy="369332"/>
          </a:xfrm>
          <a:prstGeom prst="rect">
            <a:avLst/>
          </a:prstGeom>
          <a:noFill/>
        </p:spPr>
        <p:txBody>
          <a:bodyPr wrap="none" rtlCol="0">
            <a:spAutoFit/>
          </a:bodyPr>
          <a:lstStyle/>
          <a:p>
            <a:r>
              <a:rPr lang="de-DE" dirty="0"/>
              <a:t>Icon für extra Material</a:t>
            </a:r>
          </a:p>
        </p:txBody>
      </p:sp>
    </p:spTree>
    <p:extLst>
      <p:ext uri="{BB962C8B-B14F-4D97-AF65-F5344CB8AC3E}">
        <p14:creationId xmlns:p14="http://schemas.microsoft.com/office/powerpoint/2010/main" val="1633780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1944000" y="1322140"/>
            <a:ext cx="14400000" cy="1260000"/>
          </a:xfrm>
          <a:prstGeom prst="rect">
            <a:avLst/>
          </a:prstGeom>
        </p:spPr>
        <p:txBody>
          <a:bodyPr vert="horz" lIns="91440" tIns="45720" rIns="91440" bIns="45720" rtlCol="0" anchor="ctr" anchorCtr="1">
            <a:normAutofit/>
          </a:bodyPr>
          <a:lstStyle/>
          <a:p>
            <a:r>
              <a:rPr lang="de-DE" dirty="0"/>
              <a:t>Mastertitelformat bearbeiten</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1944000" y="2769111"/>
            <a:ext cx="14400000" cy="64800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a:p>
        </p:txBody>
      </p:sp>
    </p:spTree>
    <p:extLst>
      <p:ext uri="{BB962C8B-B14F-4D97-AF65-F5344CB8AC3E}">
        <p14:creationId xmlns:p14="http://schemas.microsoft.com/office/powerpoint/2010/main" val="3020001494"/>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3" r:id="rId3"/>
    <p:sldLayoutId id="2147483662" r:id="rId4"/>
    <p:sldLayoutId id="2147483663" r:id="rId5"/>
    <p:sldLayoutId id="2147483671" r:id="rId6"/>
    <p:sldLayoutId id="2147483672" r:id="rId7"/>
    <p:sldLayoutId id="2147483664" r:id="rId8"/>
    <p:sldLayoutId id="2147483665" r:id="rId9"/>
    <p:sldLayoutId id="2147483666" r:id="rId10"/>
    <p:sldLayoutId id="2147483667" r:id="rId11"/>
    <p:sldLayoutId id="2147483668" r:id="rId12"/>
    <p:sldLayoutId id="2147483669" r:id="rId13"/>
    <p:sldLayoutId id="2147483674" r:id="rId14"/>
    <p:sldLayoutId id="2147483676" r:id="rId15"/>
    <p:sldLayoutId id="214748367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629D2E-CA01-9782-F867-19335E23C86D}"/>
              </a:ext>
            </a:extLst>
          </p:cNvPr>
          <p:cNvSpPr>
            <a:spLocks noGrp="1"/>
          </p:cNvSpPr>
          <p:nvPr>
            <p:ph type="ctrTitle"/>
          </p:nvPr>
        </p:nvSpPr>
        <p:spPr/>
        <p:txBody>
          <a:bodyPr/>
          <a:lstStyle/>
          <a:p>
            <a:r>
              <a:rPr lang="de-DE" sz="6000" dirty="0">
                <a:latin typeface="Lora"/>
              </a:rPr>
              <a:t>Work </a:t>
            </a:r>
            <a:r>
              <a:rPr lang="de-DE" sz="6000" dirty="0" err="1">
                <a:latin typeface="Lora"/>
              </a:rPr>
              <a:t>successfully</a:t>
            </a:r>
            <a:r>
              <a:rPr lang="de-DE" sz="6000" dirty="0">
                <a:latin typeface="Lora"/>
              </a:rPr>
              <a:t> in </a:t>
            </a:r>
            <a:r>
              <a:rPr lang="de-DE" sz="6000" dirty="0" err="1">
                <a:latin typeface="Lora"/>
              </a:rPr>
              <a:t>groups</a:t>
            </a:r>
            <a:br>
              <a:rPr lang="de-DE" sz="6000" dirty="0">
                <a:latin typeface="Lora"/>
              </a:rPr>
            </a:br>
            <a:endParaRPr lang="de-DE" dirty="0"/>
          </a:p>
        </p:txBody>
      </p:sp>
      <p:sp>
        <p:nvSpPr>
          <p:cNvPr id="3" name="Untertitel 2">
            <a:extLst>
              <a:ext uri="{FF2B5EF4-FFF2-40B4-BE49-F238E27FC236}">
                <a16:creationId xmlns:a16="http://schemas.microsoft.com/office/drawing/2014/main" id="{6CB3BB7D-61A1-DFC7-EA97-FDD7A6839BF1}"/>
              </a:ext>
            </a:extLst>
          </p:cNvPr>
          <p:cNvSpPr>
            <a:spLocks noGrp="1"/>
          </p:cNvSpPr>
          <p:nvPr>
            <p:ph type="subTitle" idx="1"/>
          </p:nvPr>
        </p:nvSpPr>
        <p:spPr/>
        <p:txBody>
          <a:bodyPr/>
          <a:lstStyle/>
          <a:p>
            <a:endParaRPr lang="de-DE"/>
          </a:p>
        </p:txBody>
      </p:sp>
    </p:spTree>
    <p:extLst>
      <p:ext uri="{BB962C8B-B14F-4D97-AF65-F5344CB8AC3E}">
        <p14:creationId xmlns:p14="http://schemas.microsoft.com/office/powerpoint/2010/main" val="219094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87BFC7-9BD2-7BD4-EFBA-90444924231E}"/>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AA8416EE-1AE2-5884-0E8D-F88CF0CF91A1}"/>
              </a:ext>
            </a:extLst>
          </p:cNvPr>
          <p:cNvSpPr>
            <a:spLocks noGrp="1"/>
          </p:cNvSpPr>
          <p:nvPr>
            <p:ph idx="1"/>
          </p:nvPr>
        </p:nvSpPr>
        <p:spPr/>
        <p:txBody>
          <a:bodyPr>
            <a:normAutofit/>
          </a:bodyPr>
          <a:lstStyle/>
          <a:p>
            <a:pPr marL="342900" indent="-342900">
              <a:lnSpc>
                <a:spcPct val="150000"/>
              </a:lnSpc>
              <a:buFont typeface="+mj-lt"/>
              <a:buAutoNum type="arabicPeriod"/>
              <a:defRPr/>
            </a:pPr>
            <a:r>
              <a:rPr lang="en-US" sz="3600" dirty="0">
                <a:latin typeface="+mn-lt"/>
              </a:rPr>
              <a:t>Why group work?
How does a team become capable of acting?
How can roles and tasks be distributed?
How do you manage the work process correctly?</a:t>
            </a:r>
            <a:r>
              <a:rPr lang="de-DE" dirty="0"/>
              <a:t> </a:t>
            </a:r>
          </a:p>
        </p:txBody>
      </p:sp>
    </p:spTree>
    <p:extLst>
      <p:ext uri="{BB962C8B-B14F-4D97-AF65-F5344CB8AC3E}">
        <p14:creationId xmlns:p14="http://schemas.microsoft.com/office/powerpoint/2010/main" val="116830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54EE25-6DB5-A8B3-73ED-80E08B7CE1A5}"/>
              </a:ext>
            </a:extLst>
          </p:cNvPr>
          <p:cNvSpPr>
            <a:spLocks noGrp="1"/>
          </p:cNvSpPr>
          <p:nvPr>
            <p:ph type="title"/>
          </p:nvPr>
        </p:nvSpPr>
        <p:spPr>
          <a:xfrm>
            <a:off x="4572000" y="2095500"/>
            <a:ext cx="9523200" cy="6483674"/>
          </a:xfrm>
        </p:spPr>
        <p:txBody>
          <a:bodyPr>
            <a:normAutofit/>
          </a:bodyPr>
          <a:lstStyle/>
          <a:p>
            <a:pPr marL="0" indent="0" algn="ctr"/>
            <a:r>
              <a:rPr lang="en-US" sz="5400" dirty="0"/>
              <a:t>What constitutes group work?</a:t>
            </a:r>
            <a:br>
              <a:rPr lang="en-US" sz="5400" dirty="0"/>
            </a:br>
            <a:br>
              <a:rPr lang="en-US" sz="5400" dirty="0"/>
            </a:br>
            <a:r>
              <a:rPr lang="en-US" sz="5400" dirty="0"/>
              <a:t>What are their opportunities, what are their challenges?</a:t>
            </a:r>
          </a:p>
        </p:txBody>
      </p:sp>
    </p:spTree>
    <p:extLst>
      <p:ext uri="{BB962C8B-B14F-4D97-AF65-F5344CB8AC3E}">
        <p14:creationId xmlns:p14="http://schemas.microsoft.com/office/powerpoint/2010/main" val="2684030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8C0DBE73-0643-4846-6A2E-2EB31080D08D}"/>
              </a:ext>
            </a:extLst>
          </p:cNvPr>
          <p:cNvSpPr>
            <a:spLocks noGrp="1"/>
          </p:cNvSpPr>
          <p:nvPr>
            <p:ph type="title"/>
          </p:nvPr>
        </p:nvSpPr>
        <p:spPr>
          <a:xfrm>
            <a:off x="1944000" y="1301860"/>
            <a:ext cx="14400000" cy="1260000"/>
          </a:xfrm>
        </p:spPr>
        <p:txBody>
          <a:bodyPr/>
          <a:lstStyle/>
          <a:p>
            <a:r>
              <a:rPr lang="de-DE" dirty="0"/>
              <a:t>2. </a:t>
            </a:r>
            <a:r>
              <a:rPr lang="de-DE" dirty="0" err="1"/>
              <a:t>How</a:t>
            </a:r>
            <a:r>
              <a:rPr lang="de-DE" dirty="0"/>
              <a:t> </a:t>
            </a:r>
            <a:r>
              <a:rPr lang="de-DE" dirty="0" err="1"/>
              <a:t>does</a:t>
            </a:r>
            <a:r>
              <a:rPr lang="de-DE" dirty="0"/>
              <a:t> a </a:t>
            </a:r>
            <a:r>
              <a:rPr lang="de-DE" dirty="0" err="1"/>
              <a:t>team</a:t>
            </a:r>
            <a:r>
              <a:rPr lang="de-DE" dirty="0"/>
              <a:t> </a:t>
            </a:r>
            <a:r>
              <a:rPr lang="de-DE" dirty="0" err="1"/>
              <a:t>become</a:t>
            </a:r>
            <a:r>
              <a:rPr lang="de-DE" dirty="0"/>
              <a:t> </a:t>
            </a:r>
            <a:r>
              <a:rPr lang="de-DE" dirty="0" err="1"/>
              <a:t>capable</a:t>
            </a:r>
            <a:r>
              <a:rPr lang="de-DE" dirty="0"/>
              <a:t> </a:t>
            </a:r>
            <a:r>
              <a:rPr lang="de-DE" dirty="0" err="1"/>
              <a:t>of</a:t>
            </a:r>
            <a:r>
              <a:rPr lang="de-DE" dirty="0"/>
              <a:t> </a:t>
            </a:r>
            <a:r>
              <a:rPr lang="de-DE" dirty="0" err="1"/>
              <a:t>acting</a:t>
            </a:r>
            <a:r>
              <a:rPr lang="de-DE" dirty="0"/>
              <a:t>?</a:t>
            </a:r>
          </a:p>
        </p:txBody>
      </p:sp>
      <p:sp>
        <p:nvSpPr>
          <p:cNvPr id="6" name="Inhaltsplatzhalter 2">
            <a:extLst>
              <a:ext uri="{FF2B5EF4-FFF2-40B4-BE49-F238E27FC236}">
                <a16:creationId xmlns:a16="http://schemas.microsoft.com/office/drawing/2014/main" id="{652AF4D1-A5D9-EFB3-3365-E7C3C88FB756}"/>
              </a:ext>
            </a:extLst>
          </p:cNvPr>
          <p:cNvSpPr>
            <a:spLocks noGrp="1"/>
          </p:cNvSpPr>
          <p:nvPr>
            <p:ph idx="1"/>
          </p:nvPr>
        </p:nvSpPr>
        <p:spPr>
          <a:xfrm>
            <a:off x="1944000" y="2738828"/>
            <a:ext cx="14400000" cy="6480000"/>
          </a:xfrm>
        </p:spPr>
        <p:txBody>
          <a:bodyPr/>
          <a:lstStyle/>
          <a:p>
            <a:pPr marL="0" indent="0">
              <a:lnSpc>
                <a:spcPct val="150000"/>
              </a:lnSpc>
              <a:buNone/>
              <a:defRPr/>
            </a:pPr>
            <a:r>
              <a:rPr lang="en-US" sz="2800" dirty="0">
                <a:latin typeface="+mn-lt"/>
              </a:rPr>
              <a:t>The central factors for successful group work are...</a:t>
            </a:r>
            <a:endParaRPr lang="en-US" dirty="0"/>
          </a:p>
          <a:p>
            <a:pPr marL="514350" indent="-514350">
              <a:lnSpc>
                <a:spcPct val="150000"/>
              </a:lnSpc>
              <a:buAutoNum type="arabicPeriod"/>
              <a:defRPr/>
            </a:pPr>
            <a:r>
              <a:rPr lang="en-US" sz="2800" dirty="0">
                <a:latin typeface="Arial"/>
                <a:ea typeface="Arial"/>
                <a:cs typeface="Arial"/>
              </a:rPr>
              <a:t>Clear common goals</a:t>
            </a:r>
          </a:p>
          <a:p>
            <a:pPr marL="514350" indent="-514350">
              <a:lnSpc>
                <a:spcPct val="150000"/>
              </a:lnSpc>
              <a:buAutoNum type="arabicPeriod"/>
              <a:defRPr/>
            </a:pPr>
            <a:r>
              <a:rPr lang="en-US" sz="2800" dirty="0">
                <a:latin typeface="Arial"/>
                <a:ea typeface="Arial"/>
                <a:cs typeface="Arial"/>
              </a:rPr>
              <a:t>Functioning communication
Clear responsibilities</a:t>
            </a:r>
            <a:endParaRPr lang="en-US" dirty="0"/>
          </a:p>
        </p:txBody>
      </p:sp>
      <p:pic>
        <p:nvPicPr>
          <p:cNvPr id="7" name="Grafik 6">
            <a:extLst>
              <a:ext uri="{FF2B5EF4-FFF2-40B4-BE49-F238E27FC236}">
                <a16:creationId xmlns:a16="http://schemas.microsoft.com/office/drawing/2014/main" id="{72E14C3D-25E5-8F11-DF31-5FBE217DA97B}"/>
              </a:ext>
            </a:extLst>
          </p:cNvPr>
          <p:cNvPicPr>
            <a:picLocks noChangeAspect="1"/>
          </p:cNvPicPr>
          <p:nvPr/>
        </p:nvPicPr>
        <p:blipFill>
          <a:blip r:embed="rId3"/>
          <a:stretch/>
        </p:blipFill>
        <p:spPr bwMode="auto">
          <a:xfrm>
            <a:off x="9448800" y="4610100"/>
            <a:ext cx="4960334" cy="5023442"/>
          </a:xfrm>
          <a:prstGeom prst="rect">
            <a:avLst/>
          </a:prstGeom>
        </p:spPr>
      </p:pic>
    </p:spTree>
    <p:extLst>
      <p:ext uri="{BB962C8B-B14F-4D97-AF65-F5344CB8AC3E}">
        <p14:creationId xmlns:p14="http://schemas.microsoft.com/office/powerpoint/2010/main" val="3266079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3. </a:t>
            </a:r>
            <a:r>
              <a:rPr lang="de-DE" dirty="0" err="1"/>
              <a:t>How</a:t>
            </a:r>
            <a:r>
              <a:rPr lang="de-DE" dirty="0"/>
              <a:t> </a:t>
            </a:r>
            <a:r>
              <a:rPr lang="de-DE" dirty="0" err="1"/>
              <a:t>can</a:t>
            </a:r>
            <a:r>
              <a:rPr lang="de-DE" dirty="0"/>
              <a:t> </a:t>
            </a:r>
            <a:r>
              <a:rPr lang="de-DE" dirty="0" err="1"/>
              <a:t>roles</a:t>
            </a:r>
            <a:r>
              <a:rPr lang="de-DE" dirty="0"/>
              <a:t> and </a:t>
            </a:r>
            <a:r>
              <a:rPr lang="de-DE" dirty="0" err="1"/>
              <a:t>tasks</a:t>
            </a:r>
            <a:r>
              <a:rPr lang="de-DE" dirty="0"/>
              <a:t> </a:t>
            </a:r>
            <a:r>
              <a:rPr lang="de-DE" dirty="0" err="1"/>
              <a:t>be</a:t>
            </a:r>
            <a:r>
              <a:rPr lang="de-DE" dirty="0"/>
              <a:t> </a:t>
            </a:r>
            <a:r>
              <a:rPr lang="de-DE" dirty="0" err="1"/>
              <a:t>distributed</a:t>
            </a:r>
            <a:r>
              <a:rPr lang="de-DE" dirty="0"/>
              <a:t>?</a:t>
            </a:r>
          </a:p>
        </p:txBody>
      </p:sp>
      <p:sp>
        <p:nvSpPr>
          <p:cNvPr id="3" name="Inhaltsplatzhalter 2">
            <a:extLst>
              <a:ext uri="{FF2B5EF4-FFF2-40B4-BE49-F238E27FC236}">
                <a16:creationId xmlns:a16="http://schemas.microsoft.com/office/drawing/2014/main" id="{0C7B010D-E664-70F4-31A1-DE1BBFD897E7}"/>
              </a:ext>
            </a:extLst>
          </p:cNvPr>
          <p:cNvSpPr>
            <a:spLocks noGrp="1"/>
          </p:cNvSpPr>
          <p:nvPr>
            <p:ph idx="1"/>
          </p:nvPr>
        </p:nvSpPr>
        <p:spPr/>
        <p:txBody>
          <a:bodyPr/>
          <a:lstStyle/>
          <a:p>
            <a:pPr marL="0" indent="0">
              <a:buNone/>
              <a:defRPr/>
            </a:pPr>
            <a:r>
              <a:rPr lang="en-US" sz="2800" dirty="0">
                <a:latin typeface="+mn-lt"/>
              </a:rPr>
              <a:t>We clarify in the following...</a:t>
            </a:r>
          </a:p>
          <a:p>
            <a:pPr marL="0" indent="0">
              <a:buNone/>
              <a:defRPr/>
            </a:pPr>
            <a:endParaRPr lang="en-US" sz="2800" dirty="0"/>
          </a:p>
          <a:p>
            <a:pPr>
              <a:lnSpc>
                <a:spcPct val="150000"/>
              </a:lnSpc>
              <a:defRPr/>
            </a:pPr>
            <a:r>
              <a:rPr lang="en-US" sz="2800" dirty="0">
                <a:latin typeface="+mn-lt"/>
              </a:rPr>
              <a:t>What‘s my tick?</a:t>
            </a:r>
            <a:br>
              <a:rPr lang="en-US" sz="2800" dirty="0">
                <a:latin typeface="+mn-lt"/>
              </a:rPr>
            </a:br>
            <a:r>
              <a:rPr lang="en-US" sz="2800" dirty="0">
                <a:latin typeface="+mn-lt"/>
              </a:rPr>
              <a:t>→ </a:t>
            </a:r>
            <a:r>
              <a:rPr lang="en-US" sz="2800" i="1" dirty="0">
                <a:latin typeface="+mn-lt"/>
              </a:rPr>
              <a:t>Big Five </a:t>
            </a:r>
            <a:r>
              <a:rPr lang="en-US" sz="2800" dirty="0">
                <a:latin typeface="+mn-lt"/>
              </a:rPr>
              <a:t>of personality</a:t>
            </a:r>
          </a:p>
          <a:p>
            <a:pPr marL="0" indent="0">
              <a:lnSpc>
                <a:spcPct val="150000"/>
              </a:lnSpc>
              <a:buNone/>
              <a:defRPr/>
            </a:pPr>
            <a:endParaRPr lang="en-US" dirty="0"/>
          </a:p>
          <a:p>
            <a:pPr>
              <a:lnSpc>
                <a:spcPct val="150000"/>
              </a:lnSpc>
              <a:defRPr/>
            </a:pPr>
            <a:r>
              <a:rPr lang="en-US" sz="2800" dirty="0">
                <a:latin typeface="+mn-lt"/>
              </a:rPr>
              <a:t>What role can/should I play in the team?</a:t>
            </a:r>
            <a:br>
              <a:rPr lang="en-US" sz="2800" dirty="0">
                <a:latin typeface="+mn-lt"/>
              </a:rPr>
            </a:br>
            <a:r>
              <a:rPr lang="en-US" sz="2800" dirty="0">
                <a:latin typeface="+mn-lt"/>
              </a:rPr>
              <a:t>→ </a:t>
            </a:r>
            <a:r>
              <a:rPr lang="en-US" sz="2800" i="1" dirty="0">
                <a:latin typeface="+mn-lt"/>
              </a:rPr>
              <a:t>Belbin Roles</a:t>
            </a:r>
            <a:endParaRPr lang="en-US" i="1" dirty="0"/>
          </a:p>
          <a:p>
            <a:endParaRPr lang="de-DE" dirty="0"/>
          </a:p>
        </p:txBody>
      </p:sp>
      <p:pic>
        <p:nvPicPr>
          <p:cNvPr id="11" name="Grafik 10">
            <a:extLst>
              <a:ext uri="{FF2B5EF4-FFF2-40B4-BE49-F238E27FC236}">
                <a16:creationId xmlns:a16="http://schemas.microsoft.com/office/drawing/2014/main" id="{2EDAF1AC-9F6B-9889-842B-4359BCFB87DF}"/>
              </a:ext>
            </a:extLst>
          </p:cNvPr>
          <p:cNvPicPr>
            <a:picLocks noChangeAspect="1"/>
          </p:cNvPicPr>
          <p:nvPr/>
        </p:nvPicPr>
        <p:blipFill rotWithShape="1">
          <a:blip r:embed="rId3"/>
          <a:srcRect t="15921"/>
          <a:stretch/>
        </p:blipFill>
        <p:spPr bwMode="auto">
          <a:xfrm>
            <a:off x="10515600" y="2711361"/>
            <a:ext cx="5934323" cy="3886200"/>
          </a:xfrm>
          <a:prstGeom prst="rect">
            <a:avLst/>
          </a:prstGeom>
        </p:spPr>
      </p:pic>
    </p:spTree>
    <p:extLst>
      <p:ext uri="{BB962C8B-B14F-4D97-AF65-F5344CB8AC3E}">
        <p14:creationId xmlns:p14="http://schemas.microsoft.com/office/powerpoint/2010/main" val="2161551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076E08-DBAE-B593-FC82-387B662C6A7C}"/>
              </a:ext>
            </a:extLst>
          </p:cNvPr>
          <p:cNvSpPr>
            <a:spLocks noGrp="1"/>
          </p:cNvSpPr>
          <p:nvPr>
            <p:ph type="title"/>
          </p:nvPr>
        </p:nvSpPr>
        <p:spPr/>
        <p:txBody>
          <a:bodyPr/>
          <a:lstStyle/>
          <a:p>
            <a:r>
              <a:rPr lang="de-DE" dirty="0"/>
              <a:t>3. Die Big Five einer Persönlichkeit</a:t>
            </a:r>
          </a:p>
        </p:txBody>
      </p:sp>
      <p:sp>
        <p:nvSpPr>
          <p:cNvPr id="32" name="Textfeld 31">
            <a:extLst>
              <a:ext uri="{FF2B5EF4-FFF2-40B4-BE49-F238E27FC236}">
                <a16:creationId xmlns:a16="http://schemas.microsoft.com/office/drawing/2014/main" id="{F978F412-76ED-30F5-723A-3477AD207D6A}"/>
              </a:ext>
            </a:extLst>
          </p:cNvPr>
          <p:cNvSpPr txBox="1"/>
          <p:nvPr/>
        </p:nvSpPr>
        <p:spPr bwMode="auto">
          <a:xfrm>
            <a:off x="7338688" y="8643036"/>
            <a:ext cx="2400016" cy="523220"/>
          </a:xfrm>
          <a:prstGeom prst="rect">
            <a:avLst/>
          </a:prstGeom>
          <a:noFill/>
        </p:spPr>
        <p:txBody>
          <a:bodyPr wrap="none" rtlCol="0">
            <a:spAutoFit/>
          </a:bodyPr>
          <a:lstStyle/>
          <a:p>
            <a:pPr algn="ctr">
              <a:defRPr/>
            </a:pPr>
            <a:r>
              <a:rPr lang="de-DE" sz="2800" b="1" dirty="0">
                <a:solidFill>
                  <a:srgbClr val="7E0D31"/>
                </a:solidFill>
                <a:latin typeface="Lora"/>
              </a:rPr>
              <a:t>Extraversion</a:t>
            </a:r>
          </a:p>
        </p:txBody>
      </p:sp>
      <p:sp>
        <p:nvSpPr>
          <p:cNvPr id="33" name="Textfeld 32">
            <a:extLst>
              <a:ext uri="{FF2B5EF4-FFF2-40B4-BE49-F238E27FC236}">
                <a16:creationId xmlns:a16="http://schemas.microsoft.com/office/drawing/2014/main" id="{0350FB0B-5DC4-D724-6AD8-EE2D657B4D47}"/>
              </a:ext>
            </a:extLst>
          </p:cNvPr>
          <p:cNvSpPr txBox="1"/>
          <p:nvPr/>
        </p:nvSpPr>
        <p:spPr bwMode="auto">
          <a:xfrm>
            <a:off x="6938496" y="7387035"/>
            <a:ext cx="3200400" cy="523220"/>
          </a:xfrm>
          <a:prstGeom prst="rect">
            <a:avLst/>
          </a:prstGeom>
          <a:noFill/>
        </p:spPr>
        <p:txBody>
          <a:bodyPr wrap="square" rtlCol="0">
            <a:spAutoFit/>
          </a:bodyPr>
          <a:lstStyle/>
          <a:p>
            <a:pPr algn="ctr">
              <a:defRPr/>
            </a:pPr>
            <a:r>
              <a:rPr lang="de-DE" sz="2800" b="1" dirty="0" err="1">
                <a:solidFill>
                  <a:srgbClr val="7E0D31"/>
                </a:solidFill>
                <a:latin typeface="Lora"/>
              </a:rPr>
              <a:t>Agreeableness</a:t>
            </a:r>
            <a:endParaRPr lang="de-DE" sz="2800" b="1" dirty="0">
              <a:solidFill>
                <a:srgbClr val="7E0D31"/>
              </a:solidFill>
              <a:latin typeface="Lora"/>
            </a:endParaRPr>
          </a:p>
        </p:txBody>
      </p:sp>
      <p:cxnSp>
        <p:nvCxnSpPr>
          <p:cNvPr id="35" name="Gerade Verbindung mit Pfeil 34">
            <a:extLst>
              <a:ext uri="{FF2B5EF4-FFF2-40B4-BE49-F238E27FC236}">
                <a16:creationId xmlns:a16="http://schemas.microsoft.com/office/drawing/2014/main" id="{065D2174-2DE3-4394-D7AA-A721886365EB}"/>
              </a:ext>
            </a:extLst>
          </p:cNvPr>
          <p:cNvCxnSpPr>
            <a:cxnSpLocks/>
          </p:cNvCxnSpPr>
          <p:nvPr/>
        </p:nvCxnSpPr>
        <p:spPr bwMode="auto">
          <a:xfrm>
            <a:off x="5647446" y="6618255"/>
            <a:ext cx="6120000" cy="0"/>
          </a:xfrm>
          <a:prstGeom prst="straightConnector1">
            <a:avLst/>
          </a:prstGeom>
          <a:ln w="28575">
            <a:solidFill>
              <a:srgbClr val="7E0D31"/>
            </a:solidFill>
            <a:headEnd type="arrow" w="med" len="sm"/>
            <a:tailEnd type="arrow" w="med" len="sm"/>
          </a:ln>
        </p:spPr>
        <p:style>
          <a:lnRef idx="1">
            <a:schemeClr val="accent2"/>
          </a:lnRef>
          <a:fillRef idx="0">
            <a:schemeClr val="accent2"/>
          </a:fillRef>
          <a:effectRef idx="0">
            <a:schemeClr val="accent2"/>
          </a:effectRef>
          <a:fontRef idx="minor">
            <a:schemeClr val="tx1"/>
          </a:fontRef>
        </p:style>
      </p:cxnSp>
      <p:sp>
        <p:nvSpPr>
          <p:cNvPr id="36" name="Textfeld 35">
            <a:extLst>
              <a:ext uri="{FF2B5EF4-FFF2-40B4-BE49-F238E27FC236}">
                <a16:creationId xmlns:a16="http://schemas.microsoft.com/office/drawing/2014/main" id="{CF342CA0-D64B-E555-287D-AE50D9535A18}"/>
              </a:ext>
            </a:extLst>
          </p:cNvPr>
          <p:cNvSpPr txBox="1"/>
          <p:nvPr/>
        </p:nvSpPr>
        <p:spPr bwMode="auto">
          <a:xfrm>
            <a:off x="6793366" y="6063930"/>
            <a:ext cx="3397232" cy="523220"/>
          </a:xfrm>
          <a:prstGeom prst="rect">
            <a:avLst/>
          </a:prstGeom>
          <a:noFill/>
        </p:spPr>
        <p:txBody>
          <a:bodyPr wrap="none" lIns="90000" rtlCol="0">
            <a:spAutoFit/>
          </a:bodyPr>
          <a:lstStyle/>
          <a:p>
            <a:pPr algn="ctr">
              <a:defRPr/>
            </a:pPr>
            <a:r>
              <a:rPr lang="de-DE" sz="2800" b="1" dirty="0" err="1">
                <a:solidFill>
                  <a:srgbClr val="7E0D31"/>
                </a:solidFill>
                <a:latin typeface="Lora"/>
              </a:rPr>
              <a:t>Conscientiousness</a:t>
            </a:r>
            <a:endParaRPr lang="de-DE" sz="2800" b="1" dirty="0">
              <a:solidFill>
                <a:srgbClr val="7E0D31"/>
              </a:solidFill>
              <a:latin typeface="Lora"/>
            </a:endParaRPr>
          </a:p>
        </p:txBody>
      </p:sp>
      <p:cxnSp>
        <p:nvCxnSpPr>
          <p:cNvPr id="38" name="Gerade Verbindung mit Pfeil 37">
            <a:extLst>
              <a:ext uri="{FF2B5EF4-FFF2-40B4-BE49-F238E27FC236}">
                <a16:creationId xmlns:a16="http://schemas.microsoft.com/office/drawing/2014/main" id="{C231CE93-CDA0-1731-AB1E-7D12FC8701B0}"/>
              </a:ext>
            </a:extLst>
          </p:cNvPr>
          <p:cNvCxnSpPr>
            <a:cxnSpLocks/>
          </p:cNvCxnSpPr>
          <p:nvPr/>
        </p:nvCxnSpPr>
        <p:spPr bwMode="auto">
          <a:xfrm>
            <a:off x="5630189" y="5333936"/>
            <a:ext cx="6120000" cy="0"/>
          </a:xfrm>
          <a:prstGeom prst="straightConnector1">
            <a:avLst/>
          </a:prstGeom>
          <a:ln w="28575">
            <a:solidFill>
              <a:srgbClr val="7E0D31"/>
            </a:solidFill>
            <a:headEnd type="arrow" w="med" len="sm"/>
            <a:tailEnd type="arrow" w="med" len="sm"/>
          </a:ln>
        </p:spPr>
        <p:style>
          <a:lnRef idx="1">
            <a:schemeClr val="accent2"/>
          </a:lnRef>
          <a:fillRef idx="0">
            <a:schemeClr val="accent2"/>
          </a:fillRef>
          <a:effectRef idx="0">
            <a:schemeClr val="accent2"/>
          </a:effectRef>
          <a:fontRef idx="minor">
            <a:schemeClr val="tx1"/>
          </a:fontRef>
        </p:style>
      </p:cxnSp>
      <p:sp>
        <p:nvSpPr>
          <p:cNvPr id="39" name="Textfeld 38">
            <a:extLst>
              <a:ext uri="{FF2B5EF4-FFF2-40B4-BE49-F238E27FC236}">
                <a16:creationId xmlns:a16="http://schemas.microsoft.com/office/drawing/2014/main" id="{623F1289-FF0E-C8C6-DDBF-56A492FDB25E}"/>
              </a:ext>
            </a:extLst>
          </p:cNvPr>
          <p:cNvSpPr txBox="1"/>
          <p:nvPr/>
        </p:nvSpPr>
        <p:spPr bwMode="auto">
          <a:xfrm>
            <a:off x="7374756" y="4716526"/>
            <a:ext cx="2327880" cy="523220"/>
          </a:xfrm>
          <a:prstGeom prst="rect">
            <a:avLst/>
          </a:prstGeom>
          <a:noFill/>
        </p:spPr>
        <p:txBody>
          <a:bodyPr wrap="none" rtlCol="0">
            <a:spAutoFit/>
          </a:bodyPr>
          <a:lstStyle/>
          <a:p>
            <a:pPr algn="ctr">
              <a:defRPr/>
            </a:pPr>
            <a:r>
              <a:rPr lang="de-DE" sz="2800" b="1" dirty="0" err="1">
                <a:solidFill>
                  <a:srgbClr val="7E0D31"/>
                </a:solidFill>
                <a:latin typeface="Lora"/>
              </a:rPr>
              <a:t>Neuroticism</a:t>
            </a:r>
            <a:endParaRPr lang="de-DE" sz="2800" b="1" dirty="0">
              <a:solidFill>
                <a:srgbClr val="7E0D31"/>
              </a:solidFill>
              <a:latin typeface="Lora"/>
            </a:endParaRPr>
          </a:p>
        </p:txBody>
      </p:sp>
      <p:cxnSp>
        <p:nvCxnSpPr>
          <p:cNvPr id="41" name="Gerade Verbindung mit Pfeil 40">
            <a:extLst>
              <a:ext uri="{FF2B5EF4-FFF2-40B4-BE49-F238E27FC236}">
                <a16:creationId xmlns:a16="http://schemas.microsoft.com/office/drawing/2014/main" id="{EC8956C5-9533-90D4-5DB6-B07CCC73D10F}"/>
              </a:ext>
            </a:extLst>
          </p:cNvPr>
          <p:cNvCxnSpPr>
            <a:cxnSpLocks/>
          </p:cNvCxnSpPr>
          <p:nvPr/>
        </p:nvCxnSpPr>
        <p:spPr bwMode="auto">
          <a:xfrm>
            <a:off x="5630189" y="4058470"/>
            <a:ext cx="6120000" cy="0"/>
          </a:xfrm>
          <a:prstGeom prst="straightConnector1">
            <a:avLst/>
          </a:prstGeom>
          <a:ln w="28575" cmpd="sng">
            <a:solidFill>
              <a:srgbClr val="7E0D31"/>
            </a:solidFill>
            <a:prstDash val="solid"/>
            <a:headEnd type="arrow" w="med" len="sm"/>
            <a:tailEnd type="arrow" w="med" len="sm"/>
          </a:ln>
        </p:spPr>
        <p:style>
          <a:lnRef idx="1">
            <a:schemeClr val="accent3"/>
          </a:lnRef>
          <a:fillRef idx="0">
            <a:schemeClr val="accent3"/>
          </a:fillRef>
          <a:effectRef idx="0">
            <a:schemeClr val="accent3"/>
          </a:effectRef>
          <a:fontRef idx="minor">
            <a:schemeClr val="tx1"/>
          </a:fontRef>
        </p:style>
      </p:cxnSp>
      <p:sp>
        <p:nvSpPr>
          <p:cNvPr id="42" name="Textfeld 41">
            <a:extLst>
              <a:ext uri="{FF2B5EF4-FFF2-40B4-BE49-F238E27FC236}">
                <a16:creationId xmlns:a16="http://schemas.microsoft.com/office/drawing/2014/main" id="{55E1BF05-E59B-AA8B-1352-FC4F42CDE604}"/>
              </a:ext>
            </a:extLst>
          </p:cNvPr>
          <p:cNvSpPr txBox="1"/>
          <p:nvPr/>
        </p:nvSpPr>
        <p:spPr bwMode="auto">
          <a:xfrm>
            <a:off x="6386505" y="3487083"/>
            <a:ext cx="4304383" cy="523220"/>
          </a:xfrm>
          <a:prstGeom prst="rect">
            <a:avLst/>
          </a:prstGeom>
          <a:noFill/>
        </p:spPr>
        <p:txBody>
          <a:bodyPr wrap="none" rtlCol="0">
            <a:spAutoFit/>
          </a:bodyPr>
          <a:lstStyle/>
          <a:p>
            <a:pPr algn="ctr">
              <a:defRPr/>
            </a:pPr>
            <a:r>
              <a:rPr lang="de-DE" sz="2800" b="1" dirty="0" err="1">
                <a:solidFill>
                  <a:srgbClr val="7E0D31"/>
                </a:solidFill>
                <a:latin typeface="Lora"/>
              </a:rPr>
              <a:t>Openness</a:t>
            </a:r>
            <a:r>
              <a:rPr lang="de-DE" sz="2800" b="1" dirty="0">
                <a:solidFill>
                  <a:srgbClr val="7E0D31"/>
                </a:solidFill>
                <a:latin typeface="Lora"/>
              </a:rPr>
              <a:t> </a:t>
            </a:r>
            <a:r>
              <a:rPr lang="de-DE" sz="2800" b="1" dirty="0" err="1">
                <a:solidFill>
                  <a:srgbClr val="7E0D31"/>
                </a:solidFill>
                <a:latin typeface="Lora"/>
              </a:rPr>
              <a:t>to</a:t>
            </a:r>
            <a:r>
              <a:rPr lang="de-DE" sz="2800" b="1" dirty="0">
                <a:solidFill>
                  <a:srgbClr val="7E0D31"/>
                </a:solidFill>
                <a:latin typeface="Lora"/>
              </a:rPr>
              <a:t> </a:t>
            </a:r>
            <a:r>
              <a:rPr lang="de-DE" sz="2800" b="1" dirty="0" err="1">
                <a:solidFill>
                  <a:srgbClr val="7E0D31"/>
                </a:solidFill>
                <a:latin typeface="Lora"/>
              </a:rPr>
              <a:t>experience</a:t>
            </a:r>
            <a:endParaRPr lang="de-DE" sz="2800" b="1" dirty="0">
              <a:solidFill>
                <a:srgbClr val="7E0D31"/>
              </a:solidFill>
              <a:latin typeface="Lora"/>
            </a:endParaRPr>
          </a:p>
        </p:txBody>
      </p:sp>
      <p:cxnSp>
        <p:nvCxnSpPr>
          <p:cNvPr id="43" name="Gerade Verbindung mit Pfeil 42">
            <a:extLst>
              <a:ext uri="{FF2B5EF4-FFF2-40B4-BE49-F238E27FC236}">
                <a16:creationId xmlns:a16="http://schemas.microsoft.com/office/drawing/2014/main" id="{8D830273-9A23-BE47-2DE3-92396901D288}"/>
              </a:ext>
            </a:extLst>
          </p:cNvPr>
          <p:cNvCxnSpPr>
            <a:cxnSpLocks/>
          </p:cNvCxnSpPr>
          <p:nvPr/>
        </p:nvCxnSpPr>
        <p:spPr bwMode="auto">
          <a:xfrm>
            <a:off x="5636791" y="7911427"/>
            <a:ext cx="6120000" cy="0"/>
          </a:xfrm>
          <a:prstGeom prst="straightConnector1">
            <a:avLst/>
          </a:prstGeom>
          <a:ln w="28575">
            <a:solidFill>
              <a:srgbClr val="7E0D31"/>
            </a:solidFill>
            <a:headEnd type="arrow" w="med" len="sm"/>
            <a:tailEnd type="arrow" w="med" len="sm"/>
          </a:ln>
        </p:spPr>
        <p:style>
          <a:lnRef idx="1">
            <a:schemeClr val="accent2"/>
          </a:lnRef>
          <a:fillRef idx="0">
            <a:schemeClr val="accent2"/>
          </a:fillRef>
          <a:effectRef idx="0">
            <a:schemeClr val="accent2"/>
          </a:effectRef>
          <a:fontRef idx="minor">
            <a:schemeClr val="tx1"/>
          </a:fontRef>
        </p:style>
      </p:cxnSp>
      <p:cxnSp>
        <p:nvCxnSpPr>
          <p:cNvPr id="44" name="Gerade Verbindung mit Pfeil 43">
            <a:extLst>
              <a:ext uri="{FF2B5EF4-FFF2-40B4-BE49-F238E27FC236}">
                <a16:creationId xmlns:a16="http://schemas.microsoft.com/office/drawing/2014/main" id="{B259547D-BB96-5AE4-DF88-39F0371F7E93}"/>
              </a:ext>
            </a:extLst>
          </p:cNvPr>
          <p:cNvCxnSpPr>
            <a:cxnSpLocks/>
          </p:cNvCxnSpPr>
          <p:nvPr/>
        </p:nvCxnSpPr>
        <p:spPr bwMode="auto">
          <a:xfrm>
            <a:off x="5659645" y="9213450"/>
            <a:ext cx="6120000" cy="0"/>
          </a:xfrm>
          <a:prstGeom prst="straightConnector1">
            <a:avLst/>
          </a:prstGeom>
          <a:ln w="28575">
            <a:solidFill>
              <a:srgbClr val="7E0D31"/>
            </a:solidFill>
            <a:headEnd type="arrow" w="med" len="sm"/>
            <a:tailEnd type="arrow" w="med" len="sm"/>
          </a:ln>
        </p:spPr>
        <p:style>
          <a:lnRef idx="1">
            <a:schemeClr val="accent2"/>
          </a:lnRef>
          <a:fillRef idx="0">
            <a:schemeClr val="accent2"/>
          </a:fillRef>
          <a:effectRef idx="0">
            <a:schemeClr val="accent2"/>
          </a:effectRef>
          <a:fontRef idx="minor">
            <a:schemeClr val="tx1"/>
          </a:fontRef>
        </p:style>
      </p:cxnSp>
      <p:sp>
        <p:nvSpPr>
          <p:cNvPr id="51" name="Textfeld 50">
            <a:extLst>
              <a:ext uri="{FF2B5EF4-FFF2-40B4-BE49-F238E27FC236}">
                <a16:creationId xmlns:a16="http://schemas.microsoft.com/office/drawing/2014/main" id="{DDCED456-63CF-F727-0FFA-B815ECA6326B}"/>
              </a:ext>
            </a:extLst>
          </p:cNvPr>
          <p:cNvSpPr txBox="1"/>
          <p:nvPr/>
        </p:nvSpPr>
        <p:spPr bwMode="auto">
          <a:xfrm>
            <a:off x="11906491" y="3775249"/>
            <a:ext cx="3743332" cy="523220"/>
          </a:xfrm>
          <a:prstGeom prst="rect">
            <a:avLst/>
          </a:prstGeom>
          <a:noFill/>
        </p:spPr>
        <p:txBody>
          <a:bodyPr wrap="none" rtlCol="0">
            <a:spAutoFit/>
          </a:bodyPr>
          <a:lstStyle/>
          <a:p>
            <a:pPr>
              <a:defRPr/>
            </a:pPr>
            <a:r>
              <a:rPr lang="de-DE" sz="2800" dirty="0" err="1"/>
              <a:t>conservative</a:t>
            </a:r>
            <a:r>
              <a:rPr lang="de-DE" sz="2800" dirty="0"/>
              <a:t>, </a:t>
            </a:r>
            <a:r>
              <a:rPr lang="de-DE" sz="2800" dirty="0" err="1"/>
              <a:t>cautious</a:t>
            </a:r>
            <a:endParaRPr lang="de-DE" sz="2000" dirty="0"/>
          </a:p>
        </p:txBody>
      </p:sp>
      <p:sp>
        <p:nvSpPr>
          <p:cNvPr id="52" name="Textfeld 51">
            <a:extLst>
              <a:ext uri="{FF2B5EF4-FFF2-40B4-BE49-F238E27FC236}">
                <a16:creationId xmlns:a16="http://schemas.microsoft.com/office/drawing/2014/main" id="{0204A051-E442-3F51-9B9F-C9E1D84BBBB1}"/>
              </a:ext>
            </a:extLst>
          </p:cNvPr>
          <p:cNvSpPr txBox="1"/>
          <p:nvPr/>
        </p:nvSpPr>
        <p:spPr bwMode="auto">
          <a:xfrm>
            <a:off x="11906491" y="4625230"/>
            <a:ext cx="3225562" cy="954107"/>
          </a:xfrm>
          <a:prstGeom prst="rect">
            <a:avLst/>
          </a:prstGeom>
          <a:noFill/>
        </p:spPr>
        <p:txBody>
          <a:bodyPr wrap="none" rtlCol="0">
            <a:spAutoFit/>
          </a:bodyPr>
          <a:lstStyle/>
          <a:p>
            <a:pPr>
              <a:defRPr/>
            </a:pPr>
            <a:r>
              <a:rPr lang="de-DE" sz="2800" dirty="0"/>
              <a:t>emotional, </a:t>
            </a:r>
            <a:r>
              <a:rPr lang="de-DE" sz="2800" dirty="0" err="1"/>
              <a:t>nervous</a:t>
            </a:r>
            <a:r>
              <a:rPr lang="de-DE" sz="2800" dirty="0"/>
              <a:t>
</a:t>
            </a:r>
            <a:r>
              <a:rPr lang="de-DE" sz="2800" dirty="0" err="1"/>
              <a:t>misplaced</a:t>
            </a:r>
            <a:r>
              <a:rPr lang="de-DE" sz="2800" dirty="0"/>
              <a:t>, </a:t>
            </a:r>
            <a:r>
              <a:rPr lang="de-DE" sz="2800" dirty="0" err="1"/>
              <a:t>unsafe</a:t>
            </a:r>
            <a:endParaRPr lang="de-DE" sz="2000" dirty="0"/>
          </a:p>
        </p:txBody>
      </p:sp>
      <p:sp>
        <p:nvSpPr>
          <p:cNvPr id="53" name="Textfeld 52">
            <a:extLst>
              <a:ext uri="{FF2B5EF4-FFF2-40B4-BE49-F238E27FC236}">
                <a16:creationId xmlns:a16="http://schemas.microsoft.com/office/drawing/2014/main" id="{BF85C80B-A4BF-7B43-BED4-4FE50A36BEA0}"/>
              </a:ext>
            </a:extLst>
          </p:cNvPr>
          <p:cNvSpPr txBox="1"/>
          <p:nvPr/>
        </p:nvSpPr>
        <p:spPr bwMode="auto">
          <a:xfrm>
            <a:off x="11906491" y="5914951"/>
            <a:ext cx="4105611" cy="954107"/>
          </a:xfrm>
          <a:prstGeom prst="rect">
            <a:avLst/>
          </a:prstGeom>
          <a:noFill/>
        </p:spPr>
        <p:txBody>
          <a:bodyPr wrap="none" rtlCol="0">
            <a:spAutoFit/>
          </a:bodyPr>
          <a:lstStyle/>
          <a:p>
            <a:pPr>
              <a:defRPr/>
            </a:pPr>
            <a:r>
              <a:rPr lang="de-DE" sz="2800" dirty="0" err="1"/>
              <a:t>carefree</a:t>
            </a:r>
            <a:r>
              <a:rPr lang="de-DE" sz="2800" dirty="0"/>
              <a:t>, </a:t>
            </a:r>
            <a:r>
              <a:rPr lang="de-DE" sz="2800" dirty="0" err="1"/>
              <a:t>careless</a:t>
            </a:r>
            <a:r>
              <a:rPr lang="de-DE" sz="2800" dirty="0"/>
              <a:t>
</a:t>
            </a:r>
            <a:r>
              <a:rPr lang="de-DE" sz="2800" dirty="0" err="1"/>
              <a:t>inaccurate</a:t>
            </a:r>
            <a:r>
              <a:rPr lang="de-DE" sz="2800" dirty="0"/>
              <a:t>, </a:t>
            </a:r>
            <a:r>
              <a:rPr lang="de-DE" sz="2800" dirty="0" err="1"/>
              <a:t>spontaneous</a:t>
            </a:r>
            <a:endParaRPr lang="de-DE" sz="2000" dirty="0"/>
          </a:p>
        </p:txBody>
      </p:sp>
      <p:sp>
        <p:nvSpPr>
          <p:cNvPr id="54" name="Textfeld 53">
            <a:extLst>
              <a:ext uri="{FF2B5EF4-FFF2-40B4-BE49-F238E27FC236}">
                <a16:creationId xmlns:a16="http://schemas.microsoft.com/office/drawing/2014/main" id="{F9172B28-A783-0744-4D1F-05D849A225AF}"/>
              </a:ext>
            </a:extLst>
          </p:cNvPr>
          <p:cNvSpPr txBox="1"/>
          <p:nvPr/>
        </p:nvSpPr>
        <p:spPr bwMode="auto">
          <a:xfrm>
            <a:off x="11906491" y="7213525"/>
            <a:ext cx="3703258" cy="954107"/>
          </a:xfrm>
          <a:prstGeom prst="rect">
            <a:avLst/>
          </a:prstGeom>
          <a:noFill/>
        </p:spPr>
        <p:txBody>
          <a:bodyPr wrap="none" rtlCol="0">
            <a:spAutoFit/>
          </a:bodyPr>
          <a:lstStyle/>
          <a:p>
            <a:pPr>
              <a:defRPr/>
            </a:pPr>
            <a:r>
              <a:rPr lang="de-DE" sz="2800" dirty="0" err="1"/>
              <a:t>Competitive</a:t>
            </a:r>
            <a:r>
              <a:rPr lang="de-DE" sz="2800" dirty="0"/>
              <a:t>
</a:t>
            </a:r>
            <a:r>
              <a:rPr lang="de-DE" sz="2800" dirty="0" err="1"/>
              <a:t>suspicious</a:t>
            </a:r>
            <a:r>
              <a:rPr lang="de-DE" sz="2800" dirty="0"/>
              <a:t>, </a:t>
            </a:r>
            <a:r>
              <a:rPr lang="de-DE" sz="2800" dirty="0" err="1"/>
              <a:t>combative</a:t>
            </a:r>
            <a:endParaRPr lang="de-DE" sz="2000" dirty="0"/>
          </a:p>
        </p:txBody>
      </p:sp>
      <p:sp>
        <p:nvSpPr>
          <p:cNvPr id="55" name="Textfeld 54">
            <a:extLst>
              <a:ext uri="{FF2B5EF4-FFF2-40B4-BE49-F238E27FC236}">
                <a16:creationId xmlns:a16="http://schemas.microsoft.com/office/drawing/2014/main" id="{E6C069E6-A8A1-3928-380C-1B50AF220310}"/>
              </a:ext>
            </a:extLst>
          </p:cNvPr>
          <p:cNvSpPr txBox="1"/>
          <p:nvPr/>
        </p:nvSpPr>
        <p:spPr bwMode="auto">
          <a:xfrm>
            <a:off x="11906491" y="8520952"/>
            <a:ext cx="3185487" cy="954107"/>
          </a:xfrm>
          <a:prstGeom prst="rect">
            <a:avLst/>
          </a:prstGeom>
          <a:noFill/>
        </p:spPr>
        <p:txBody>
          <a:bodyPr wrap="none" rtlCol="0">
            <a:spAutoFit/>
          </a:bodyPr>
          <a:lstStyle/>
          <a:p>
            <a:pPr>
              <a:defRPr/>
            </a:pPr>
            <a:r>
              <a:rPr lang="de-DE" sz="2800" dirty="0" err="1"/>
              <a:t>reserved</a:t>
            </a:r>
            <a:r>
              <a:rPr lang="de-DE" sz="2800" dirty="0"/>
              <a:t>, </a:t>
            </a:r>
            <a:r>
              <a:rPr lang="de-DE" sz="2800" dirty="0" err="1"/>
              <a:t>reserved</a:t>
            </a:r>
            <a:r>
              <a:rPr lang="de-DE" sz="2800" dirty="0"/>
              <a:t>
</a:t>
            </a:r>
            <a:r>
              <a:rPr lang="de-DE" sz="2800" dirty="0" err="1"/>
              <a:t>independently</a:t>
            </a:r>
            <a:endParaRPr lang="de-DE" sz="2000" dirty="0"/>
          </a:p>
        </p:txBody>
      </p:sp>
      <p:sp>
        <p:nvSpPr>
          <p:cNvPr id="56" name="Textfeld 55">
            <a:extLst>
              <a:ext uri="{FF2B5EF4-FFF2-40B4-BE49-F238E27FC236}">
                <a16:creationId xmlns:a16="http://schemas.microsoft.com/office/drawing/2014/main" id="{7097049C-36C2-B7C9-1A81-CF6FD696FC16}"/>
              </a:ext>
            </a:extLst>
          </p:cNvPr>
          <p:cNvSpPr txBox="1"/>
          <p:nvPr/>
        </p:nvSpPr>
        <p:spPr bwMode="auto">
          <a:xfrm rot="16200000">
            <a:off x="13575699" y="1423816"/>
            <a:ext cx="615553" cy="3266215"/>
          </a:xfrm>
          <a:prstGeom prst="rect">
            <a:avLst/>
          </a:prstGeom>
          <a:noFill/>
        </p:spPr>
        <p:txBody>
          <a:bodyPr vert="vert" wrap="none" rtlCol="0">
            <a:spAutoFit/>
          </a:bodyPr>
          <a:lstStyle/>
          <a:p>
            <a:pPr>
              <a:defRPr/>
            </a:pPr>
            <a:r>
              <a:rPr lang="de-DE" sz="2800" dirty="0" err="1">
                <a:solidFill>
                  <a:srgbClr val="7E0D31"/>
                </a:solidFill>
              </a:rPr>
              <a:t>Weakly</a:t>
            </a:r>
            <a:r>
              <a:rPr lang="de-DE" sz="2800" dirty="0">
                <a:solidFill>
                  <a:srgbClr val="7E0D31"/>
                </a:solidFill>
              </a:rPr>
              <a:t> </a:t>
            </a:r>
            <a:r>
              <a:rPr lang="de-DE" sz="2800" dirty="0" err="1">
                <a:solidFill>
                  <a:srgbClr val="7E0D31"/>
                </a:solidFill>
              </a:rPr>
              <a:t>pronounced</a:t>
            </a:r>
            <a:endParaRPr lang="de-DE" sz="2800" dirty="0">
              <a:solidFill>
                <a:srgbClr val="7E0D31"/>
              </a:solidFill>
            </a:endParaRPr>
          </a:p>
        </p:txBody>
      </p:sp>
      <p:sp>
        <p:nvSpPr>
          <p:cNvPr id="57" name="Textfeld 56">
            <a:extLst>
              <a:ext uri="{FF2B5EF4-FFF2-40B4-BE49-F238E27FC236}">
                <a16:creationId xmlns:a16="http://schemas.microsoft.com/office/drawing/2014/main" id="{CDF5C22D-E492-2981-DCC8-6E67E31109F9}"/>
              </a:ext>
            </a:extLst>
          </p:cNvPr>
          <p:cNvSpPr txBox="1"/>
          <p:nvPr/>
        </p:nvSpPr>
        <p:spPr bwMode="auto">
          <a:xfrm>
            <a:off x="1506254" y="3581416"/>
            <a:ext cx="3785011" cy="954107"/>
          </a:xfrm>
          <a:prstGeom prst="rect">
            <a:avLst/>
          </a:prstGeom>
          <a:noFill/>
        </p:spPr>
        <p:txBody>
          <a:bodyPr wrap="none" rtlCol="0">
            <a:spAutoFit/>
          </a:bodyPr>
          <a:lstStyle/>
          <a:p>
            <a:pPr algn="r">
              <a:defRPr/>
            </a:pPr>
            <a:r>
              <a:rPr lang="de-DE" sz="2800" dirty="0" err="1"/>
              <a:t>inventive</a:t>
            </a:r>
            <a:r>
              <a:rPr lang="de-DE" sz="2800" dirty="0"/>
              <a:t>, </a:t>
            </a:r>
            <a:r>
              <a:rPr lang="de-DE" sz="2800" dirty="0" err="1"/>
              <a:t>curious</a:t>
            </a:r>
            <a:br>
              <a:rPr lang="de-DE" sz="2800" dirty="0"/>
            </a:br>
            <a:r>
              <a:rPr lang="de-DE" sz="2800" dirty="0"/>
              <a:t>imaginative, inquisitive</a:t>
            </a:r>
            <a:endParaRPr lang="de-DE" sz="2000" dirty="0"/>
          </a:p>
        </p:txBody>
      </p:sp>
      <p:sp>
        <p:nvSpPr>
          <p:cNvPr id="58" name="Textfeld 57">
            <a:extLst>
              <a:ext uri="{FF2B5EF4-FFF2-40B4-BE49-F238E27FC236}">
                <a16:creationId xmlns:a16="http://schemas.microsoft.com/office/drawing/2014/main" id="{7B92155A-3942-CB1E-3964-EC8E04C43897}"/>
              </a:ext>
            </a:extLst>
          </p:cNvPr>
          <p:cNvSpPr txBox="1"/>
          <p:nvPr/>
        </p:nvSpPr>
        <p:spPr bwMode="auto">
          <a:xfrm>
            <a:off x="1500112" y="4791222"/>
            <a:ext cx="3791153" cy="954107"/>
          </a:xfrm>
          <a:prstGeom prst="rect">
            <a:avLst/>
          </a:prstGeom>
          <a:noFill/>
        </p:spPr>
        <p:txBody>
          <a:bodyPr wrap="square" rtlCol="0">
            <a:spAutoFit/>
          </a:bodyPr>
          <a:lstStyle/>
          <a:p>
            <a:pPr algn="r">
              <a:defRPr/>
            </a:pPr>
            <a:r>
              <a:rPr lang="de-DE" sz="2800" dirty="0" err="1"/>
              <a:t>confident</a:t>
            </a:r>
            <a:r>
              <a:rPr lang="de-DE" sz="2800" dirty="0"/>
              <a:t>, </a:t>
            </a:r>
            <a:r>
              <a:rPr lang="de-DE" sz="2800" dirty="0" err="1"/>
              <a:t>quiet</a:t>
            </a:r>
            <a:br>
              <a:rPr lang="de-DE" sz="2800" dirty="0"/>
            </a:br>
            <a:r>
              <a:rPr lang="de-DE" sz="2800" dirty="0"/>
              <a:t>relaxed</a:t>
            </a:r>
            <a:endParaRPr lang="de-DE" sz="2000" dirty="0"/>
          </a:p>
        </p:txBody>
      </p:sp>
      <p:sp>
        <p:nvSpPr>
          <p:cNvPr id="59" name="Textfeld 58">
            <a:extLst>
              <a:ext uri="{FF2B5EF4-FFF2-40B4-BE49-F238E27FC236}">
                <a16:creationId xmlns:a16="http://schemas.microsoft.com/office/drawing/2014/main" id="{7D630C90-12E4-28D7-0909-F15FD3D6D621}"/>
              </a:ext>
            </a:extLst>
          </p:cNvPr>
          <p:cNvSpPr txBox="1"/>
          <p:nvPr/>
        </p:nvSpPr>
        <p:spPr bwMode="auto">
          <a:xfrm rot="5400000">
            <a:off x="3246026" y="1232550"/>
            <a:ext cx="1046440" cy="3413755"/>
          </a:xfrm>
          <a:prstGeom prst="rect">
            <a:avLst/>
          </a:prstGeom>
          <a:noFill/>
        </p:spPr>
        <p:txBody>
          <a:bodyPr vert="vert270" wrap="none" rtlCol="0">
            <a:spAutoFit/>
          </a:bodyPr>
          <a:lstStyle/>
          <a:p>
            <a:pPr>
              <a:defRPr/>
            </a:pPr>
            <a:r>
              <a:rPr lang="de-DE" sz="2800" dirty="0" err="1">
                <a:solidFill>
                  <a:srgbClr val="7E0D31"/>
                </a:solidFill>
              </a:rPr>
              <a:t>Strongly</a:t>
            </a:r>
            <a:r>
              <a:rPr lang="de-DE" sz="2800" dirty="0">
                <a:solidFill>
                  <a:srgbClr val="7E0D31"/>
                </a:solidFill>
              </a:rPr>
              <a:t> </a:t>
            </a:r>
            <a:r>
              <a:rPr lang="de-DE" sz="2800" dirty="0" err="1">
                <a:solidFill>
                  <a:srgbClr val="7E0D31"/>
                </a:solidFill>
              </a:rPr>
              <a:t>pronounced</a:t>
            </a:r>
            <a:r>
              <a:rPr lang="de-DE" sz="2800" dirty="0">
                <a:solidFill>
                  <a:srgbClr val="7E0D31"/>
                </a:solidFill>
              </a:rPr>
              <a:t>
</a:t>
            </a:r>
            <a:endParaRPr lang="de-DE" sz="2000" dirty="0"/>
          </a:p>
        </p:txBody>
      </p:sp>
      <p:sp>
        <p:nvSpPr>
          <p:cNvPr id="60" name="Textfeld 59">
            <a:extLst>
              <a:ext uri="{FF2B5EF4-FFF2-40B4-BE49-F238E27FC236}">
                <a16:creationId xmlns:a16="http://schemas.microsoft.com/office/drawing/2014/main" id="{ED2A371B-C866-DBE3-8795-1F8135526F04}"/>
              </a:ext>
            </a:extLst>
          </p:cNvPr>
          <p:cNvSpPr txBox="1"/>
          <p:nvPr/>
        </p:nvSpPr>
        <p:spPr bwMode="auto">
          <a:xfrm>
            <a:off x="1993632" y="6009881"/>
            <a:ext cx="3297633" cy="954107"/>
          </a:xfrm>
          <a:prstGeom prst="rect">
            <a:avLst/>
          </a:prstGeom>
          <a:noFill/>
        </p:spPr>
        <p:txBody>
          <a:bodyPr wrap="none" rtlCol="0">
            <a:spAutoFit/>
          </a:bodyPr>
          <a:lstStyle/>
          <a:p>
            <a:pPr algn="r">
              <a:defRPr/>
            </a:pPr>
            <a:r>
              <a:rPr lang="de-DE" sz="2800" dirty="0" err="1"/>
              <a:t>effective</a:t>
            </a:r>
            <a:r>
              <a:rPr lang="de-DE" sz="2800" dirty="0"/>
              <a:t>, </a:t>
            </a:r>
            <a:r>
              <a:rPr lang="de-DE" sz="2800" dirty="0" err="1"/>
              <a:t>organized</a:t>
            </a:r>
            <a:br>
              <a:rPr lang="de-DE" sz="2800" dirty="0"/>
            </a:br>
            <a:r>
              <a:rPr lang="de-DE" sz="2800" dirty="0" err="1"/>
              <a:t>planning</a:t>
            </a:r>
            <a:r>
              <a:rPr lang="de-DE" sz="2800" dirty="0"/>
              <a:t>, reliable</a:t>
            </a:r>
            <a:endParaRPr lang="de-DE" sz="2000" dirty="0"/>
          </a:p>
        </p:txBody>
      </p:sp>
      <p:sp>
        <p:nvSpPr>
          <p:cNvPr id="61" name="Textfeld 60">
            <a:extLst>
              <a:ext uri="{FF2B5EF4-FFF2-40B4-BE49-F238E27FC236}">
                <a16:creationId xmlns:a16="http://schemas.microsoft.com/office/drawing/2014/main" id="{6881E918-665D-FD1F-DC8E-BC248A087857}"/>
              </a:ext>
            </a:extLst>
          </p:cNvPr>
          <p:cNvSpPr txBox="1"/>
          <p:nvPr/>
        </p:nvSpPr>
        <p:spPr bwMode="auto">
          <a:xfrm>
            <a:off x="1353392" y="7237393"/>
            <a:ext cx="3937873" cy="954107"/>
          </a:xfrm>
          <a:prstGeom prst="rect">
            <a:avLst/>
          </a:prstGeom>
          <a:noFill/>
        </p:spPr>
        <p:txBody>
          <a:bodyPr wrap="none" rtlCol="0">
            <a:spAutoFit/>
          </a:bodyPr>
          <a:lstStyle/>
          <a:p>
            <a:pPr algn="r">
              <a:defRPr/>
            </a:pPr>
            <a:r>
              <a:rPr lang="de-DE" sz="2800" dirty="0" err="1"/>
              <a:t>friendly</a:t>
            </a:r>
            <a:r>
              <a:rPr lang="de-DE" sz="2800" dirty="0"/>
              <a:t>, </a:t>
            </a:r>
            <a:r>
              <a:rPr lang="de-DE" sz="2800" dirty="0" err="1"/>
              <a:t>compassionate</a:t>
            </a:r>
            <a:br>
              <a:rPr lang="de-DE" sz="2800" dirty="0"/>
            </a:br>
            <a:r>
              <a:rPr lang="de-DE" sz="2800" dirty="0" err="1"/>
              <a:t>helpful</a:t>
            </a:r>
            <a:r>
              <a:rPr lang="de-DE" sz="2800" dirty="0"/>
              <a:t>, </a:t>
            </a:r>
            <a:r>
              <a:rPr lang="de-DE" sz="2800" dirty="0" err="1"/>
              <a:t>compliant</a:t>
            </a:r>
            <a:endParaRPr lang="de-DE" sz="2000" dirty="0"/>
          </a:p>
        </p:txBody>
      </p:sp>
      <p:sp>
        <p:nvSpPr>
          <p:cNvPr id="62" name="Textfeld 61">
            <a:extLst>
              <a:ext uri="{FF2B5EF4-FFF2-40B4-BE49-F238E27FC236}">
                <a16:creationId xmlns:a16="http://schemas.microsoft.com/office/drawing/2014/main" id="{64F73C20-392F-19F6-E4EA-D5E1564803A3}"/>
              </a:ext>
            </a:extLst>
          </p:cNvPr>
          <p:cNvSpPr txBox="1"/>
          <p:nvPr/>
        </p:nvSpPr>
        <p:spPr bwMode="auto">
          <a:xfrm>
            <a:off x="1470326" y="8473758"/>
            <a:ext cx="3820939" cy="954107"/>
          </a:xfrm>
          <a:prstGeom prst="rect">
            <a:avLst/>
          </a:prstGeom>
          <a:noFill/>
        </p:spPr>
        <p:txBody>
          <a:bodyPr wrap="square" rtlCol="0">
            <a:spAutoFit/>
          </a:bodyPr>
          <a:lstStyle/>
          <a:p>
            <a:pPr algn="r">
              <a:defRPr/>
            </a:pPr>
            <a:r>
              <a:rPr lang="de-DE" sz="2800" dirty="0" err="1"/>
              <a:t>sociable</a:t>
            </a:r>
            <a:r>
              <a:rPr lang="de-DE" sz="2800" dirty="0"/>
              <a:t>, </a:t>
            </a:r>
            <a:r>
              <a:rPr lang="de-DE" sz="2800" dirty="0" err="1"/>
              <a:t>active</a:t>
            </a:r>
            <a:br>
              <a:rPr lang="de-DE" sz="2800" dirty="0"/>
            </a:br>
            <a:r>
              <a:rPr lang="de-DE" sz="2800" dirty="0" err="1"/>
              <a:t>talkative</a:t>
            </a:r>
            <a:r>
              <a:rPr lang="de-DE" sz="2800" dirty="0"/>
              <a:t>, </a:t>
            </a:r>
            <a:r>
              <a:rPr lang="de-DE" sz="2800" dirty="0" err="1"/>
              <a:t>optimistic</a:t>
            </a:r>
            <a:endParaRPr lang="de-DE" sz="2000" dirty="0"/>
          </a:p>
        </p:txBody>
      </p:sp>
    </p:spTree>
    <p:extLst>
      <p:ext uri="{BB962C8B-B14F-4D97-AF65-F5344CB8AC3E}">
        <p14:creationId xmlns:p14="http://schemas.microsoft.com/office/powerpoint/2010/main" val="3936523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3. </a:t>
            </a:r>
            <a:r>
              <a:rPr lang="de-DE" dirty="0" err="1"/>
              <a:t>Belbin</a:t>
            </a:r>
            <a:r>
              <a:rPr lang="de-DE" dirty="0"/>
              <a:t> </a:t>
            </a:r>
            <a:r>
              <a:rPr lang="de-DE" dirty="0" err="1"/>
              <a:t>Roles</a:t>
            </a:r>
            <a:endParaRPr lang="de-DE" dirty="0"/>
          </a:p>
        </p:txBody>
      </p:sp>
      <p:sp>
        <p:nvSpPr>
          <p:cNvPr id="3" name="Inhaltsplatzhalter 2">
            <a:extLst>
              <a:ext uri="{FF2B5EF4-FFF2-40B4-BE49-F238E27FC236}">
                <a16:creationId xmlns:a16="http://schemas.microsoft.com/office/drawing/2014/main" id="{0C7B010D-E664-70F4-31A1-DE1BBFD897E7}"/>
              </a:ext>
            </a:extLst>
          </p:cNvPr>
          <p:cNvSpPr>
            <a:spLocks noGrp="1"/>
          </p:cNvSpPr>
          <p:nvPr>
            <p:ph idx="1"/>
          </p:nvPr>
        </p:nvSpPr>
        <p:spPr/>
        <p:txBody>
          <a:bodyPr/>
          <a:lstStyle/>
          <a:p>
            <a:pPr>
              <a:lnSpc>
                <a:spcPct val="150000"/>
              </a:lnSpc>
              <a:defRPr/>
            </a:pPr>
            <a:r>
              <a:rPr lang="en-US" dirty="0"/>
              <a:t>characteristic behavioral patterns in the team</a:t>
            </a:r>
          </a:p>
          <a:p>
            <a:pPr marL="0" indent="0">
              <a:lnSpc>
                <a:spcPct val="150000"/>
              </a:lnSpc>
              <a:buNone/>
              <a:defRPr/>
            </a:pPr>
            <a:endParaRPr lang="en-US" dirty="0"/>
          </a:p>
          <a:p>
            <a:pPr>
              <a:lnSpc>
                <a:spcPct val="150000"/>
              </a:lnSpc>
              <a:defRPr/>
            </a:pPr>
            <a:r>
              <a:rPr lang="en-US" dirty="0"/>
              <a:t>problems:</a:t>
            </a:r>
          </a:p>
          <a:p>
            <a:pPr lvl="1">
              <a:lnSpc>
                <a:spcPct val="150000"/>
              </a:lnSpc>
              <a:defRPr/>
            </a:pPr>
            <a:r>
              <a:rPr lang="en-US" sz="2800" dirty="0"/>
              <a:t>not performing a role</a:t>
            </a:r>
          </a:p>
          <a:p>
            <a:pPr lvl="1">
              <a:lnSpc>
                <a:spcPct val="150000"/>
              </a:lnSpc>
              <a:defRPr/>
            </a:pPr>
            <a:r>
              <a:rPr lang="en-US" sz="2800" dirty="0"/>
              <a:t>unoccupied roles</a:t>
            </a:r>
          </a:p>
          <a:p>
            <a:pPr lvl="1">
              <a:lnSpc>
                <a:spcPct val="150000"/>
              </a:lnSpc>
              <a:defRPr/>
            </a:pPr>
            <a:r>
              <a:rPr lang="en-US" sz="2800" dirty="0"/>
              <a:t>double cast roles</a:t>
            </a:r>
          </a:p>
          <a:p>
            <a:endParaRPr lang="de-DE" dirty="0"/>
          </a:p>
        </p:txBody>
      </p:sp>
      <p:pic>
        <p:nvPicPr>
          <p:cNvPr id="7" name="Grafik 6">
            <a:extLst>
              <a:ext uri="{FF2B5EF4-FFF2-40B4-BE49-F238E27FC236}">
                <a16:creationId xmlns:a16="http://schemas.microsoft.com/office/drawing/2014/main" id="{1475FFE1-4F58-384C-0215-2BE31206045A}"/>
              </a:ext>
            </a:extLst>
          </p:cNvPr>
          <p:cNvPicPr>
            <a:picLocks noChangeAspect="1"/>
          </p:cNvPicPr>
          <p:nvPr/>
        </p:nvPicPr>
        <p:blipFill>
          <a:blip r:embed="rId3"/>
          <a:stretch/>
        </p:blipFill>
        <p:spPr bwMode="auto">
          <a:xfrm>
            <a:off x="9525000" y="4457700"/>
            <a:ext cx="5273749" cy="3657600"/>
          </a:xfrm>
          <a:prstGeom prst="rect">
            <a:avLst/>
          </a:prstGeom>
        </p:spPr>
      </p:pic>
      <p:grpSp>
        <p:nvGrpSpPr>
          <p:cNvPr id="4" name="Google Shape;421;p40">
            <a:extLst>
              <a:ext uri="{FF2B5EF4-FFF2-40B4-BE49-F238E27FC236}">
                <a16:creationId xmlns:a16="http://schemas.microsoft.com/office/drawing/2014/main" id="{6C8EDC05-6F90-B0AE-7EB2-AFAEFD0707C9}"/>
              </a:ext>
            </a:extLst>
          </p:cNvPr>
          <p:cNvGrpSpPr>
            <a:grpSpLocks noChangeAspect="1"/>
          </p:cNvGrpSpPr>
          <p:nvPr/>
        </p:nvGrpSpPr>
        <p:grpSpPr>
          <a:xfrm>
            <a:off x="2606002" y="8496300"/>
            <a:ext cx="1205798" cy="1180532"/>
            <a:chOff x="1233350" y="1619250"/>
            <a:chExt cx="466500" cy="456725"/>
          </a:xfrm>
        </p:grpSpPr>
        <p:sp>
          <p:nvSpPr>
            <p:cNvPr id="5" name="Google Shape;422;p40">
              <a:extLst>
                <a:ext uri="{FF2B5EF4-FFF2-40B4-BE49-F238E27FC236}">
                  <a16:creationId xmlns:a16="http://schemas.microsoft.com/office/drawing/2014/main" id="{E5D2AAF7-F58A-3AFD-4383-20C36058A531}"/>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23;p40">
              <a:extLst>
                <a:ext uri="{FF2B5EF4-FFF2-40B4-BE49-F238E27FC236}">
                  <a16:creationId xmlns:a16="http://schemas.microsoft.com/office/drawing/2014/main" id="{BCE9D880-C642-3508-C79C-61A971595698}"/>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24;p40">
              <a:extLst>
                <a:ext uri="{FF2B5EF4-FFF2-40B4-BE49-F238E27FC236}">
                  <a16:creationId xmlns:a16="http://schemas.microsoft.com/office/drawing/2014/main" id="{2F2CAA47-078F-D5CF-51E4-364C98B5A161}"/>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5;p40">
              <a:extLst>
                <a:ext uri="{FF2B5EF4-FFF2-40B4-BE49-F238E27FC236}">
                  <a16:creationId xmlns:a16="http://schemas.microsoft.com/office/drawing/2014/main" id="{1D1142F9-BDF1-5F74-7A7E-E327DCBE6735}"/>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Inhaltsplatzhalter 2">
            <a:extLst>
              <a:ext uri="{FF2B5EF4-FFF2-40B4-BE49-F238E27FC236}">
                <a16:creationId xmlns:a16="http://schemas.microsoft.com/office/drawing/2014/main" id="{8ACBF2DC-E836-6A8B-FDBF-D85F4F96FEDC}"/>
              </a:ext>
            </a:extLst>
          </p:cNvPr>
          <p:cNvSpPr txBox="1">
            <a:spLocks/>
          </p:cNvSpPr>
          <p:nvPr/>
        </p:nvSpPr>
        <p:spPr>
          <a:xfrm>
            <a:off x="4001400" y="9104837"/>
            <a:ext cx="2399400" cy="11116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de-DE" dirty="0" err="1"/>
              <a:t>Belbin-Roles</a:t>
            </a:r>
            <a:endParaRPr lang="de-DE" sz="2800" dirty="0"/>
          </a:p>
          <a:p>
            <a:endParaRPr lang="de-DE" dirty="0"/>
          </a:p>
        </p:txBody>
      </p:sp>
    </p:spTree>
    <p:extLst>
      <p:ext uri="{BB962C8B-B14F-4D97-AF65-F5344CB8AC3E}">
        <p14:creationId xmlns:p14="http://schemas.microsoft.com/office/powerpoint/2010/main" val="2798263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D7F040-0A69-F3DB-FC10-6CC2A01773D8}"/>
              </a:ext>
            </a:extLst>
          </p:cNvPr>
          <p:cNvSpPr>
            <a:spLocks noGrp="1"/>
          </p:cNvSpPr>
          <p:nvPr>
            <p:ph type="title"/>
          </p:nvPr>
        </p:nvSpPr>
        <p:spPr/>
        <p:txBody>
          <a:bodyPr/>
          <a:lstStyle/>
          <a:p>
            <a:r>
              <a:rPr lang="de-DE" dirty="0"/>
              <a:t>3. </a:t>
            </a:r>
            <a:r>
              <a:rPr lang="de-DE" dirty="0" err="1"/>
              <a:t>Belbin</a:t>
            </a:r>
            <a:r>
              <a:rPr lang="de-DE" dirty="0"/>
              <a:t> </a:t>
            </a:r>
            <a:r>
              <a:rPr lang="de-DE" dirty="0" err="1"/>
              <a:t>Roles</a:t>
            </a:r>
            <a:endParaRPr lang="de-DE" dirty="0"/>
          </a:p>
        </p:txBody>
      </p:sp>
      <p:sp>
        <p:nvSpPr>
          <p:cNvPr id="7" name="Textfeld 6">
            <a:extLst>
              <a:ext uri="{FF2B5EF4-FFF2-40B4-BE49-F238E27FC236}">
                <a16:creationId xmlns:a16="http://schemas.microsoft.com/office/drawing/2014/main" id="{841B5523-5135-C1E4-DE48-F57749823680}"/>
              </a:ext>
            </a:extLst>
          </p:cNvPr>
          <p:cNvSpPr txBox="1"/>
          <p:nvPr/>
        </p:nvSpPr>
        <p:spPr bwMode="auto">
          <a:xfrm>
            <a:off x="1295400" y="2916550"/>
            <a:ext cx="4325308" cy="523220"/>
          </a:xfrm>
          <a:prstGeom prst="rect">
            <a:avLst/>
          </a:prstGeom>
          <a:noFill/>
        </p:spPr>
        <p:txBody>
          <a:bodyPr wrap="square" rtlCol="0">
            <a:spAutoFit/>
          </a:bodyPr>
          <a:lstStyle/>
          <a:p>
            <a:pPr algn="ctr">
              <a:defRPr/>
            </a:pPr>
            <a:r>
              <a:rPr lang="de-DE" sz="2800" i="1" dirty="0" err="1">
                <a:solidFill>
                  <a:srgbClr val="7E0D31"/>
                </a:solidFill>
              </a:rPr>
              <a:t>thinking</a:t>
            </a:r>
            <a:endParaRPr lang="de-DE" sz="2800" i="1" dirty="0">
              <a:solidFill>
                <a:srgbClr val="7E0D31"/>
              </a:solidFill>
            </a:endParaRPr>
          </a:p>
        </p:txBody>
      </p:sp>
      <p:sp>
        <p:nvSpPr>
          <p:cNvPr id="8" name="Textfeld 7">
            <a:extLst>
              <a:ext uri="{FF2B5EF4-FFF2-40B4-BE49-F238E27FC236}">
                <a16:creationId xmlns:a16="http://schemas.microsoft.com/office/drawing/2014/main" id="{9DF9E341-6AF7-E13C-D5AD-88BA5A624BBB}"/>
              </a:ext>
            </a:extLst>
          </p:cNvPr>
          <p:cNvSpPr txBox="1"/>
          <p:nvPr/>
        </p:nvSpPr>
        <p:spPr bwMode="auto">
          <a:xfrm>
            <a:off x="6019800" y="2916550"/>
            <a:ext cx="4854315" cy="523220"/>
          </a:xfrm>
          <a:prstGeom prst="rect">
            <a:avLst/>
          </a:prstGeom>
          <a:noFill/>
        </p:spPr>
        <p:txBody>
          <a:bodyPr wrap="square" rtlCol="0">
            <a:spAutoFit/>
          </a:bodyPr>
          <a:lstStyle/>
          <a:p>
            <a:pPr algn="ctr">
              <a:defRPr/>
            </a:pPr>
            <a:r>
              <a:rPr lang="de-DE" sz="2800" i="1" dirty="0" err="1">
                <a:solidFill>
                  <a:srgbClr val="7E0D31"/>
                </a:solidFill>
              </a:rPr>
              <a:t>action</a:t>
            </a:r>
            <a:endParaRPr lang="de-DE" sz="2800" i="1" dirty="0">
              <a:solidFill>
                <a:srgbClr val="7E0D31"/>
              </a:solidFill>
            </a:endParaRPr>
          </a:p>
        </p:txBody>
      </p:sp>
      <p:sp>
        <p:nvSpPr>
          <p:cNvPr id="9" name="Textfeld 8">
            <a:extLst>
              <a:ext uri="{FF2B5EF4-FFF2-40B4-BE49-F238E27FC236}">
                <a16:creationId xmlns:a16="http://schemas.microsoft.com/office/drawing/2014/main" id="{024FC005-A085-4ACC-6E31-6B8855162007}"/>
              </a:ext>
            </a:extLst>
          </p:cNvPr>
          <p:cNvSpPr txBox="1"/>
          <p:nvPr/>
        </p:nvSpPr>
        <p:spPr bwMode="auto">
          <a:xfrm>
            <a:off x="11582400" y="2916550"/>
            <a:ext cx="4242250" cy="523220"/>
          </a:xfrm>
          <a:prstGeom prst="rect">
            <a:avLst/>
          </a:prstGeom>
          <a:noFill/>
        </p:spPr>
        <p:txBody>
          <a:bodyPr wrap="square" rtlCol="0">
            <a:spAutoFit/>
          </a:bodyPr>
          <a:lstStyle/>
          <a:p>
            <a:pPr algn="ctr">
              <a:defRPr/>
            </a:pPr>
            <a:r>
              <a:rPr lang="de-DE" sz="2800" i="1" dirty="0">
                <a:solidFill>
                  <a:srgbClr val="7E0D31"/>
                </a:solidFill>
              </a:rPr>
              <a:t>social</a:t>
            </a:r>
          </a:p>
        </p:txBody>
      </p:sp>
      <p:sp>
        <p:nvSpPr>
          <p:cNvPr id="11" name="Textfeld 10">
            <a:extLst>
              <a:ext uri="{FF2B5EF4-FFF2-40B4-BE49-F238E27FC236}">
                <a16:creationId xmlns:a16="http://schemas.microsoft.com/office/drawing/2014/main" id="{352F9FA7-171E-8EAB-AE8D-31B596869E98}"/>
              </a:ext>
            </a:extLst>
          </p:cNvPr>
          <p:cNvSpPr txBox="1"/>
          <p:nvPr/>
        </p:nvSpPr>
        <p:spPr bwMode="auto">
          <a:xfrm>
            <a:off x="7893756" y="4132219"/>
            <a:ext cx="3515242" cy="1169551"/>
          </a:xfrm>
          <a:prstGeom prst="rect">
            <a:avLst/>
          </a:prstGeom>
          <a:noFill/>
        </p:spPr>
        <p:txBody>
          <a:bodyPr wrap="square" rtlCol="0">
            <a:spAutoFit/>
          </a:bodyPr>
          <a:lstStyle/>
          <a:p>
            <a:pPr marR="0">
              <a:spcBef>
                <a:spcPts val="0"/>
              </a:spcBef>
              <a:spcAft>
                <a:spcPts val="0"/>
              </a:spcAft>
            </a:pPr>
            <a:r>
              <a:rPr lang="de-DE" sz="2600" b="0" i="0" dirty="0" err="1">
                <a:solidFill>
                  <a:srgbClr val="000000"/>
                </a:solidFill>
                <a:effectLst/>
                <a:latin typeface="+mj-lt"/>
                <a:ea typeface="Arial" panose="020B0604020202020204" pitchFamily="34" charset="0"/>
                <a:cs typeface="Arial" panose="020B0604020202020204" pitchFamily="34" charset="0"/>
              </a:rPr>
              <a:t>Shaper</a:t>
            </a:r>
            <a:br>
              <a:rPr lang="de-DE" sz="2600" b="0" i="0" dirty="0">
                <a:solidFill>
                  <a:srgbClr val="000000"/>
                </a:solidFill>
                <a:effectLst/>
                <a:latin typeface="+mj-lt"/>
                <a:ea typeface="Arial" panose="020B0604020202020204" pitchFamily="34" charset="0"/>
                <a:cs typeface="Arial" panose="020B0604020202020204" pitchFamily="34" charset="0"/>
              </a:rPr>
            </a:br>
            <a:r>
              <a:rPr lang="de-DE" sz="2200" dirty="0" err="1">
                <a:latin typeface="+mj-lt"/>
              </a:rPr>
              <a:t>has</a:t>
            </a:r>
            <a:r>
              <a:rPr lang="de-DE" sz="2200" dirty="0">
                <a:latin typeface="+mj-lt"/>
              </a:rPr>
              <a:t> </a:t>
            </a:r>
            <a:r>
              <a:rPr lang="de-DE" sz="2200" dirty="0" err="1">
                <a:latin typeface="+mj-lt"/>
              </a:rPr>
              <a:t>the</a:t>
            </a:r>
            <a:r>
              <a:rPr lang="de-DE" sz="2200" dirty="0">
                <a:latin typeface="+mj-lt"/>
              </a:rPr>
              <a:t> </a:t>
            </a:r>
            <a:r>
              <a:rPr lang="de-DE" sz="2200" dirty="0" err="1">
                <a:latin typeface="+mj-lt"/>
              </a:rPr>
              <a:t>drive</a:t>
            </a:r>
            <a:r>
              <a:rPr lang="de-DE" sz="2200" dirty="0">
                <a:latin typeface="+mj-lt"/>
              </a:rPr>
              <a:t> </a:t>
            </a:r>
            <a:r>
              <a:rPr lang="de-DE" sz="2200" dirty="0" err="1">
                <a:latin typeface="+mj-lt"/>
              </a:rPr>
              <a:t>to</a:t>
            </a:r>
            <a:br>
              <a:rPr lang="de-DE" sz="2200" dirty="0">
                <a:latin typeface="+mj-lt"/>
              </a:rPr>
            </a:br>
            <a:r>
              <a:rPr lang="de-DE" sz="2200" dirty="0" err="1">
                <a:latin typeface="+mj-lt"/>
              </a:rPr>
              <a:t>overcome</a:t>
            </a:r>
            <a:r>
              <a:rPr lang="de-DE" sz="2200" dirty="0">
                <a:latin typeface="+mj-lt"/>
              </a:rPr>
              <a:t> </a:t>
            </a:r>
            <a:r>
              <a:rPr lang="de-DE" sz="2200" dirty="0" err="1">
                <a:latin typeface="+mj-lt"/>
              </a:rPr>
              <a:t>obstacles</a:t>
            </a:r>
            <a:endParaRPr lang="de-DE" sz="2200" dirty="0">
              <a:latin typeface="+mj-lt"/>
            </a:endParaRPr>
          </a:p>
        </p:txBody>
      </p:sp>
      <p:sp>
        <p:nvSpPr>
          <p:cNvPr id="12" name="Textfeld 11">
            <a:extLst>
              <a:ext uri="{FF2B5EF4-FFF2-40B4-BE49-F238E27FC236}">
                <a16:creationId xmlns:a16="http://schemas.microsoft.com/office/drawing/2014/main" id="{D35CD36C-3A09-D3F7-7822-B94CDB2DEF80}"/>
              </a:ext>
            </a:extLst>
          </p:cNvPr>
          <p:cNvSpPr txBox="1"/>
          <p:nvPr/>
        </p:nvSpPr>
        <p:spPr bwMode="auto">
          <a:xfrm>
            <a:off x="7893756" y="5700661"/>
            <a:ext cx="3073277" cy="830997"/>
          </a:xfrm>
          <a:prstGeom prst="rect">
            <a:avLst/>
          </a:prstGeom>
          <a:noFill/>
        </p:spPr>
        <p:txBody>
          <a:bodyPr wrap="none" rtlCol="0">
            <a:spAutoFit/>
          </a:bodyPr>
          <a:lstStyle/>
          <a:p>
            <a:pPr>
              <a:defRPr/>
            </a:pPr>
            <a:r>
              <a:rPr lang="de-DE" sz="2600" dirty="0" err="1">
                <a:latin typeface="+mj-lt"/>
              </a:rPr>
              <a:t>Implementer</a:t>
            </a:r>
            <a:br>
              <a:rPr lang="de-DE" sz="2600" dirty="0">
                <a:latin typeface="+mj-lt"/>
              </a:rPr>
            </a:br>
            <a:r>
              <a:rPr lang="de-DE" sz="2200" dirty="0" err="1">
                <a:latin typeface="+mj-lt"/>
              </a:rPr>
              <a:t>turns</a:t>
            </a:r>
            <a:r>
              <a:rPr lang="de-DE" sz="2200" dirty="0">
                <a:latin typeface="+mj-lt"/>
              </a:rPr>
              <a:t> </a:t>
            </a:r>
            <a:r>
              <a:rPr lang="de-DE" sz="2200" dirty="0" err="1">
                <a:latin typeface="+mj-lt"/>
              </a:rPr>
              <a:t>ideas</a:t>
            </a:r>
            <a:r>
              <a:rPr lang="de-DE" sz="2200" dirty="0">
                <a:latin typeface="+mj-lt"/>
              </a:rPr>
              <a:t> </a:t>
            </a:r>
            <a:r>
              <a:rPr lang="de-DE" sz="2200" dirty="0" err="1">
                <a:latin typeface="+mj-lt"/>
              </a:rPr>
              <a:t>into</a:t>
            </a:r>
            <a:r>
              <a:rPr lang="de-DE" sz="2200" dirty="0">
                <a:latin typeface="+mj-lt"/>
              </a:rPr>
              <a:t> </a:t>
            </a:r>
            <a:r>
              <a:rPr lang="de-DE" sz="2200" dirty="0" err="1">
                <a:latin typeface="+mj-lt"/>
              </a:rPr>
              <a:t>actions</a:t>
            </a:r>
            <a:endParaRPr lang="de-DE" sz="2200" dirty="0">
              <a:latin typeface="+mj-lt"/>
            </a:endParaRPr>
          </a:p>
        </p:txBody>
      </p:sp>
      <p:sp>
        <p:nvSpPr>
          <p:cNvPr id="13" name="Textfeld 12">
            <a:extLst>
              <a:ext uri="{FF2B5EF4-FFF2-40B4-BE49-F238E27FC236}">
                <a16:creationId xmlns:a16="http://schemas.microsoft.com/office/drawing/2014/main" id="{CA8621D9-6779-3603-EE38-7D8E2D42DD0F}"/>
              </a:ext>
            </a:extLst>
          </p:cNvPr>
          <p:cNvSpPr txBox="1"/>
          <p:nvPr/>
        </p:nvSpPr>
        <p:spPr bwMode="auto">
          <a:xfrm>
            <a:off x="7893756" y="7291635"/>
            <a:ext cx="3764844" cy="830997"/>
          </a:xfrm>
          <a:prstGeom prst="rect">
            <a:avLst/>
          </a:prstGeom>
          <a:noFill/>
        </p:spPr>
        <p:txBody>
          <a:bodyPr wrap="square" rtlCol="0">
            <a:spAutoFit/>
          </a:bodyPr>
          <a:lstStyle/>
          <a:p>
            <a:pPr>
              <a:defRPr/>
            </a:pPr>
            <a:r>
              <a:rPr lang="de-DE" sz="2600" dirty="0" err="1">
                <a:latin typeface="+mj-lt"/>
              </a:rPr>
              <a:t>Completer</a:t>
            </a:r>
            <a:r>
              <a:rPr lang="de-DE" sz="2600" dirty="0">
                <a:latin typeface="+mj-lt"/>
              </a:rPr>
              <a:t>, </a:t>
            </a:r>
            <a:r>
              <a:rPr lang="de-DE" sz="2600" dirty="0" err="1">
                <a:latin typeface="+mj-lt"/>
              </a:rPr>
              <a:t>Finisher</a:t>
            </a:r>
            <a:br>
              <a:rPr lang="de-DE" sz="2600" dirty="0">
                <a:latin typeface="+mj-lt"/>
              </a:rPr>
            </a:br>
            <a:r>
              <a:rPr lang="de-DE" sz="2200" dirty="0" err="1">
                <a:latin typeface="+mj-lt"/>
              </a:rPr>
              <a:t>polishes</a:t>
            </a:r>
            <a:r>
              <a:rPr lang="de-DE" sz="2200" dirty="0">
                <a:latin typeface="+mj-lt"/>
              </a:rPr>
              <a:t> and </a:t>
            </a:r>
            <a:r>
              <a:rPr lang="de-DE" sz="2200" dirty="0" err="1">
                <a:latin typeface="+mj-lt"/>
              </a:rPr>
              <a:t>perfects</a:t>
            </a:r>
            <a:endParaRPr lang="de-DE" sz="2200" dirty="0">
              <a:latin typeface="+mj-lt"/>
            </a:endParaRPr>
          </a:p>
        </p:txBody>
      </p:sp>
      <p:pic>
        <p:nvPicPr>
          <p:cNvPr id="14" name="Grafik 13" descr="Zahnräder Silhouette">
            <a:extLst>
              <a:ext uri="{FF2B5EF4-FFF2-40B4-BE49-F238E27FC236}">
                <a16:creationId xmlns:a16="http://schemas.microsoft.com/office/drawing/2014/main" id="{3F833283-E550-01B5-ED74-AA3D0B77DDC2}"/>
              </a:ext>
            </a:extLst>
          </p:cNvPr>
          <p:cNvPicPr>
            <a:picLocks noChangeAspect="1"/>
          </p:cNvPicPr>
          <p:nvPr/>
        </p:nvPicPr>
        <p:blipFill>
          <a:blip r:embed="rId3"/>
          <a:stretch/>
        </p:blipFill>
        <p:spPr bwMode="auto">
          <a:xfrm>
            <a:off x="6370874" y="5600700"/>
            <a:ext cx="1095652" cy="1095652"/>
          </a:xfrm>
          <a:prstGeom prst="rect">
            <a:avLst/>
          </a:prstGeom>
        </p:spPr>
      </p:pic>
      <p:pic>
        <p:nvPicPr>
          <p:cNvPr id="15" name="Grafik 14" descr="Pyramidenform Silhouette">
            <a:extLst>
              <a:ext uri="{FF2B5EF4-FFF2-40B4-BE49-F238E27FC236}">
                <a16:creationId xmlns:a16="http://schemas.microsoft.com/office/drawing/2014/main" id="{64ED58F1-5D16-3721-7835-C061563BF175}"/>
              </a:ext>
            </a:extLst>
          </p:cNvPr>
          <p:cNvPicPr>
            <a:picLocks noChangeAspect="1"/>
          </p:cNvPicPr>
          <p:nvPr/>
        </p:nvPicPr>
        <p:blipFill>
          <a:blip r:embed="rId4"/>
          <a:stretch/>
        </p:blipFill>
        <p:spPr bwMode="auto">
          <a:xfrm>
            <a:off x="6370874" y="4076700"/>
            <a:ext cx="1095652" cy="1095652"/>
          </a:xfrm>
          <a:prstGeom prst="rect">
            <a:avLst/>
          </a:prstGeom>
        </p:spPr>
      </p:pic>
      <p:pic>
        <p:nvPicPr>
          <p:cNvPr id="16" name="Grafik 15" descr="Präsentation mit Checkliste Silhouette">
            <a:extLst>
              <a:ext uri="{FF2B5EF4-FFF2-40B4-BE49-F238E27FC236}">
                <a16:creationId xmlns:a16="http://schemas.microsoft.com/office/drawing/2014/main" id="{C3C2579B-71DF-AD22-700D-0F495B566B8A}"/>
              </a:ext>
            </a:extLst>
          </p:cNvPr>
          <p:cNvPicPr>
            <a:picLocks noChangeAspect="1"/>
          </p:cNvPicPr>
          <p:nvPr/>
        </p:nvPicPr>
        <p:blipFill>
          <a:blip r:embed="rId5"/>
          <a:stretch/>
        </p:blipFill>
        <p:spPr bwMode="auto">
          <a:xfrm>
            <a:off x="6369800" y="7200900"/>
            <a:ext cx="1097800" cy="1097800"/>
          </a:xfrm>
          <a:prstGeom prst="rect">
            <a:avLst/>
          </a:prstGeom>
        </p:spPr>
      </p:pic>
      <p:sp>
        <p:nvSpPr>
          <p:cNvPr id="18" name="Textfeld 17">
            <a:extLst>
              <a:ext uri="{FF2B5EF4-FFF2-40B4-BE49-F238E27FC236}">
                <a16:creationId xmlns:a16="http://schemas.microsoft.com/office/drawing/2014/main" id="{AA44964F-E970-1F07-335C-F9FAA29BF83D}"/>
              </a:ext>
            </a:extLst>
          </p:cNvPr>
          <p:cNvSpPr txBox="1"/>
          <p:nvPr/>
        </p:nvSpPr>
        <p:spPr bwMode="auto">
          <a:xfrm>
            <a:off x="2743200" y="4132219"/>
            <a:ext cx="3214096" cy="1169551"/>
          </a:xfrm>
          <a:prstGeom prst="rect">
            <a:avLst/>
          </a:prstGeom>
          <a:noFill/>
        </p:spPr>
        <p:txBody>
          <a:bodyPr wrap="square" rtlCol="0">
            <a:spAutoFit/>
          </a:bodyPr>
          <a:lstStyle/>
          <a:p>
            <a:pPr>
              <a:defRPr/>
            </a:pPr>
            <a:r>
              <a:rPr lang="en-US" sz="2600" dirty="0">
                <a:latin typeface="+mj-lt"/>
              </a:rPr>
              <a:t>Plant</a:t>
            </a:r>
            <a:br>
              <a:rPr lang="en-US" sz="2600" dirty="0">
                <a:latin typeface="+mj-lt"/>
              </a:rPr>
            </a:br>
            <a:r>
              <a:rPr lang="en-US" sz="2200" dirty="0">
                <a:latin typeface="+mj-lt"/>
              </a:rPr>
              <a:t>Generates ideas,</a:t>
            </a:r>
            <a:br>
              <a:rPr lang="en-US" sz="2200" dirty="0">
                <a:latin typeface="+mj-lt"/>
              </a:rPr>
            </a:br>
            <a:r>
              <a:rPr lang="en-US" sz="2200" dirty="0">
                <a:latin typeface="+mj-lt"/>
              </a:rPr>
              <a:t>solves difficult problems</a:t>
            </a:r>
          </a:p>
        </p:txBody>
      </p:sp>
      <p:sp>
        <p:nvSpPr>
          <p:cNvPr id="19" name="Textfeld 18">
            <a:extLst>
              <a:ext uri="{FF2B5EF4-FFF2-40B4-BE49-F238E27FC236}">
                <a16:creationId xmlns:a16="http://schemas.microsoft.com/office/drawing/2014/main" id="{392EE004-5536-E06B-CD70-D353A6381A24}"/>
              </a:ext>
            </a:extLst>
          </p:cNvPr>
          <p:cNvSpPr txBox="1"/>
          <p:nvPr/>
        </p:nvSpPr>
        <p:spPr bwMode="auto">
          <a:xfrm>
            <a:off x="2743200" y="7291635"/>
            <a:ext cx="3190375" cy="1169551"/>
          </a:xfrm>
          <a:prstGeom prst="rect">
            <a:avLst/>
          </a:prstGeom>
          <a:noFill/>
        </p:spPr>
        <p:txBody>
          <a:bodyPr wrap="square" rtlCol="0">
            <a:spAutoFit/>
          </a:bodyPr>
          <a:lstStyle/>
          <a:p>
            <a:pPr>
              <a:defRPr/>
            </a:pPr>
            <a:r>
              <a:rPr lang="en-US" sz="2600" dirty="0">
                <a:latin typeface="+mj-lt"/>
              </a:rPr>
              <a:t>Specialist</a:t>
            </a:r>
          </a:p>
          <a:p>
            <a:pPr>
              <a:defRPr/>
            </a:pPr>
            <a:r>
              <a:rPr lang="en-US" sz="2200" dirty="0">
                <a:latin typeface="+mj-lt"/>
              </a:rPr>
              <a:t>Provides knowledge</a:t>
            </a:r>
            <a:br>
              <a:rPr lang="en-US" sz="2200" dirty="0">
                <a:latin typeface="+mj-lt"/>
              </a:rPr>
            </a:br>
            <a:r>
              <a:rPr lang="en-US" sz="2200" dirty="0">
                <a:latin typeface="+mj-lt"/>
              </a:rPr>
              <a:t>and skills in rare supply</a:t>
            </a:r>
          </a:p>
        </p:txBody>
      </p:sp>
      <p:sp>
        <p:nvSpPr>
          <p:cNvPr id="20" name="Textfeld 19">
            <a:extLst>
              <a:ext uri="{FF2B5EF4-FFF2-40B4-BE49-F238E27FC236}">
                <a16:creationId xmlns:a16="http://schemas.microsoft.com/office/drawing/2014/main" id="{79231BF8-C662-F647-63B6-460270CEBE14}"/>
              </a:ext>
            </a:extLst>
          </p:cNvPr>
          <p:cNvSpPr txBox="1"/>
          <p:nvPr/>
        </p:nvSpPr>
        <p:spPr bwMode="auto">
          <a:xfrm>
            <a:off x="2743200" y="5700661"/>
            <a:ext cx="2875339" cy="1169551"/>
          </a:xfrm>
          <a:prstGeom prst="rect">
            <a:avLst/>
          </a:prstGeom>
          <a:noFill/>
        </p:spPr>
        <p:txBody>
          <a:bodyPr wrap="none" rtlCol="0">
            <a:spAutoFit/>
          </a:bodyPr>
          <a:lstStyle/>
          <a:p>
            <a:pPr>
              <a:defRPr/>
            </a:pPr>
            <a:r>
              <a:rPr lang="en-US" sz="2600" dirty="0">
                <a:latin typeface="+mj-lt"/>
              </a:rPr>
              <a:t>Monitor, Evaluator</a:t>
            </a:r>
          </a:p>
          <a:p>
            <a:pPr>
              <a:defRPr/>
            </a:pPr>
            <a:r>
              <a:rPr lang="en-US" sz="2200" dirty="0">
                <a:latin typeface="+mj-lt"/>
              </a:rPr>
              <a:t>Sees all options and</a:t>
            </a:r>
            <a:br>
              <a:rPr lang="en-US" sz="2200" dirty="0">
                <a:latin typeface="+mj-lt"/>
              </a:rPr>
            </a:br>
            <a:r>
              <a:rPr lang="en-US" sz="2200" dirty="0">
                <a:latin typeface="+mj-lt"/>
              </a:rPr>
              <a:t>judges accurately</a:t>
            </a:r>
          </a:p>
        </p:txBody>
      </p:sp>
      <p:pic>
        <p:nvPicPr>
          <p:cNvPr id="21" name="Grafik 20" descr="Auge Silhouette">
            <a:extLst>
              <a:ext uri="{FF2B5EF4-FFF2-40B4-BE49-F238E27FC236}">
                <a16:creationId xmlns:a16="http://schemas.microsoft.com/office/drawing/2014/main" id="{DEC39979-E790-258A-291D-1572E611541A}"/>
              </a:ext>
            </a:extLst>
          </p:cNvPr>
          <p:cNvPicPr>
            <a:picLocks noChangeAspect="1"/>
          </p:cNvPicPr>
          <p:nvPr/>
        </p:nvPicPr>
        <p:blipFill>
          <a:blip r:embed="rId6"/>
          <a:stretch/>
        </p:blipFill>
        <p:spPr bwMode="auto">
          <a:xfrm>
            <a:off x="1447800" y="5753100"/>
            <a:ext cx="1059695" cy="1059695"/>
          </a:xfrm>
          <a:prstGeom prst="rect">
            <a:avLst/>
          </a:prstGeom>
        </p:spPr>
      </p:pic>
      <p:pic>
        <p:nvPicPr>
          <p:cNvPr id="22" name="Grafik 21" descr="Lupe Silhouette">
            <a:extLst>
              <a:ext uri="{FF2B5EF4-FFF2-40B4-BE49-F238E27FC236}">
                <a16:creationId xmlns:a16="http://schemas.microsoft.com/office/drawing/2014/main" id="{1F047A86-C6D7-56DA-A81D-1B4CC42BA0B5}"/>
              </a:ext>
            </a:extLst>
          </p:cNvPr>
          <p:cNvPicPr>
            <a:picLocks noChangeAspect="1"/>
          </p:cNvPicPr>
          <p:nvPr/>
        </p:nvPicPr>
        <p:blipFill>
          <a:blip r:embed="rId7"/>
          <a:stretch/>
        </p:blipFill>
        <p:spPr bwMode="auto">
          <a:xfrm>
            <a:off x="1447800" y="7360405"/>
            <a:ext cx="1059695" cy="1059695"/>
          </a:xfrm>
          <a:prstGeom prst="rect">
            <a:avLst/>
          </a:prstGeom>
        </p:spPr>
      </p:pic>
      <p:pic>
        <p:nvPicPr>
          <p:cNvPr id="23" name="Grafik 22" descr="Glühbirne und Zahnrad Silhouette">
            <a:extLst>
              <a:ext uri="{FF2B5EF4-FFF2-40B4-BE49-F238E27FC236}">
                <a16:creationId xmlns:a16="http://schemas.microsoft.com/office/drawing/2014/main" id="{ECEFF5B3-8753-5B26-A7EA-11F18130E068}"/>
              </a:ext>
            </a:extLst>
          </p:cNvPr>
          <p:cNvPicPr>
            <a:picLocks noChangeAspect="1"/>
          </p:cNvPicPr>
          <p:nvPr/>
        </p:nvPicPr>
        <p:blipFill>
          <a:blip r:embed="rId8"/>
          <a:stretch/>
        </p:blipFill>
        <p:spPr bwMode="auto">
          <a:xfrm>
            <a:off x="1448836" y="4238278"/>
            <a:ext cx="1057622" cy="1057622"/>
          </a:xfrm>
          <a:prstGeom prst="rect">
            <a:avLst/>
          </a:prstGeom>
        </p:spPr>
      </p:pic>
      <p:sp>
        <p:nvSpPr>
          <p:cNvPr id="25" name="Textfeld 24">
            <a:extLst>
              <a:ext uri="{FF2B5EF4-FFF2-40B4-BE49-F238E27FC236}">
                <a16:creationId xmlns:a16="http://schemas.microsoft.com/office/drawing/2014/main" id="{AF2DACDA-5B7E-272D-1CC1-1378E4CFC70B}"/>
              </a:ext>
            </a:extLst>
          </p:cNvPr>
          <p:cNvSpPr txBox="1"/>
          <p:nvPr/>
        </p:nvSpPr>
        <p:spPr bwMode="auto">
          <a:xfrm>
            <a:off x="13158962" y="4132219"/>
            <a:ext cx="5052838" cy="830997"/>
          </a:xfrm>
          <a:prstGeom prst="rect">
            <a:avLst/>
          </a:prstGeom>
          <a:noFill/>
        </p:spPr>
        <p:txBody>
          <a:bodyPr wrap="square" rtlCol="0">
            <a:spAutoFit/>
          </a:bodyPr>
          <a:lstStyle/>
          <a:p>
            <a:pPr>
              <a:defRPr/>
            </a:pPr>
            <a:r>
              <a:rPr lang="de-DE" sz="2600" dirty="0">
                <a:latin typeface="+mj-lt"/>
              </a:rPr>
              <a:t>Co-</a:t>
            </a:r>
            <a:r>
              <a:rPr lang="de-DE" sz="2600" dirty="0" err="1">
                <a:latin typeface="+mj-lt"/>
              </a:rPr>
              <a:t>ordinator</a:t>
            </a:r>
            <a:br>
              <a:rPr lang="de-DE" sz="2600" dirty="0">
                <a:latin typeface="+mj-lt"/>
              </a:rPr>
            </a:br>
            <a:r>
              <a:rPr lang="de-DE" sz="2200" dirty="0" err="1">
                <a:latin typeface="+mj-lt"/>
              </a:rPr>
              <a:t>delegates</a:t>
            </a:r>
            <a:r>
              <a:rPr lang="de-DE" sz="2200" dirty="0">
                <a:latin typeface="+mj-lt"/>
              </a:rPr>
              <a:t> </a:t>
            </a:r>
            <a:r>
              <a:rPr lang="de-DE" sz="2200" dirty="0" err="1">
                <a:latin typeface="+mj-lt"/>
              </a:rPr>
              <a:t>effectively</a:t>
            </a:r>
            <a:endParaRPr lang="de-DE" sz="2200" dirty="0">
              <a:latin typeface="+mj-lt"/>
            </a:endParaRPr>
          </a:p>
        </p:txBody>
      </p:sp>
      <p:sp>
        <p:nvSpPr>
          <p:cNvPr id="26" name="Textfeld 25">
            <a:extLst>
              <a:ext uri="{FF2B5EF4-FFF2-40B4-BE49-F238E27FC236}">
                <a16:creationId xmlns:a16="http://schemas.microsoft.com/office/drawing/2014/main" id="{0C7E1091-B3E3-7890-1EC9-9CE77099823D}"/>
              </a:ext>
            </a:extLst>
          </p:cNvPr>
          <p:cNvSpPr txBox="1"/>
          <p:nvPr/>
        </p:nvSpPr>
        <p:spPr bwMode="auto">
          <a:xfrm>
            <a:off x="13158962" y="5700661"/>
            <a:ext cx="3292889" cy="830997"/>
          </a:xfrm>
          <a:prstGeom prst="rect">
            <a:avLst/>
          </a:prstGeom>
          <a:noFill/>
        </p:spPr>
        <p:txBody>
          <a:bodyPr wrap="none" rtlCol="0">
            <a:spAutoFit/>
          </a:bodyPr>
          <a:lstStyle/>
          <a:p>
            <a:pPr>
              <a:defRPr/>
            </a:pPr>
            <a:r>
              <a:rPr lang="de-DE" sz="2600" dirty="0" err="1">
                <a:latin typeface="+mj-lt"/>
              </a:rPr>
              <a:t>Teamworker</a:t>
            </a:r>
            <a:br>
              <a:rPr lang="de-DE" sz="2600" dirty="0">
                <a:latin typeface="+mj-lt"/>
              </a:rPr>
            </a:br>
            <a:r>
              <a:rPr lang="de-DE" sz="2200" dirty="0" err="1">
                <a:latin typeface="+mj-lt"/>
              </a:rPr>
              <a:t>listens</a:t>
            </a:r>
            <a:r>
              <a:rPr lang="de-DE" sz="2200" dirty="0">
                <a:latin typeface="+mj-lt"/>
              </a:rPr>
              <a:t> and </a:t>
            </a:r>
            <a:r>
              <a:rPr lang="de-DE" sz="2200" dirty="0" err="1">
                <a:latin typeface="+mj-lt"/>
              </a:rPr>
              <a:t>averts</a:t>
            </a:r>
            <a:r>
              <a:rPr lang="de-DE" sz="2200" dirty="0">
                <a:latin typeface="+mj-lt"/>
              </a:rPr>
              <a:t> </a:t>
            </a:r>
            <a:r>
              <a:rPr lang="de-DE" sz="2200" dirty="0" err="1">
                <a:latin typeface="+mj-lt"/>
              </a:rPr>
              <a:t>friction</a:t>
            </a:r>
            <a:endParaRPr lang="de-DE" sz="2200" dirty="0">
              <a:latin typeface="+mj-lt"/>
            </a:endParaRPr>
          </a:p>
        </p:txBody>
      </p:sp>
      <p:sp>
        <p:nvSpPr>
          <p:cNvPr id="27" name="Textfeld 26">
            <a:extLst>
              <a:ext uri="{FF2B5EF4-FFF2-40B4-BE49-F238E27FC236}">
                <a16:creationId xmlns:a16="http://schemas.microsoft.com/office/drawing/2014/main" id="{245C2502-F8CF-58D4-7F10-7AEE5D099238}"/>
              </a:ext>
            </a:extLst>
          </p:cNvPr>
          <p:cNvSpPr txBox="1"/>
          <p:nvPr/>
        </p:nvSpPr>
        <p:spPr bwMode="auto">
          <a:xfrm>
            <a:off x="13158962" y="7291635"/>
            <a:ext cx="3498073" cy="1169551"/>
          </a:xfrm>
          <a:prstGeom prst="rect">
            <a:avLst/>
          </a:prstGeom>
          <a:noFill/>
        </p:spPr>
        <p:txBody>
          <a:bodyPr wrap="none" rtlCol="0">
            <a:spAutoFit/>
          </a:bodyPr>
          <a:lstStyle/>
          <a:p>
            <a:pPr>
              <a:defRPr/>
            </a:pPr>
            <a:r>
              <a:rPr lang="de-DE" sz="2600" dirty="0" err="1">
                <a:latin typeface="+mj-lt"/>
              </a:rPr>
              <a:t>Resource</a:t>
            </a:r>
            <a:r>
              <a:rPr lang="de-DE" sz="2600" dirty="0">
                <a:latin typeface="+mj-lt"/>
              </a:rPr>
              <a:t> Investigator</a:t>
            </a:r>
            <a:br>
              <a:rPr lang="de-DE" sz="2600" dirty="0">
                <a:latin typeface="+mj-lt"/>
              </a:rPr>
            </a:br>
            <a:r>
              <a:rPr lang="de-DE" sz="2200" dirty="0" err="1">
                <a:latin typeface="+mj-lt"/>
              </a:rPr>
              <a:t>explores</a:t>
            </a:r>
            <a:r>
              <a:rPr lang="de-DE" sz="2200" dirty="0">
                <a:latin typeface="+mj-lt"/>
              </a:rPr>
              <a:t> </a:t>
            </a:r>
            <a:r>
              <a:rPr lang="de-DE" sz="2200" dirty="0" err="1">
                <a:latin typeface="+mj-lt"/>
              </a:rPr>
              <a:t>opportunities</a:t>
            </a:r>
            <a:r>
              <a:rPr lang="de-DE" sz="2200" dirty="0">
                <a:latin typeface="+mj-lt"/>
              </a:rPr>
              <a:t> and</a:t>
            </a:r>
            <a:br>
              <a:rPr lang="de-DE" sz="2200" dirty="0">
                <a:latin typeface="+mj-lt"/>
              </a:rPr>
            </a:br>
            <a:r>
              <a:rPr lang="de-DE" sz="2200" dirty="0" err="1">
                <a:latin typeface="+mj-lt"/>
              </a:rPr>
              <a:t>develops</a:t>
            </a:r>
            <a:r>
              <a:rPr lang="de-DE" sz="2200" dirty="0">
                <a:latin typeface="+mj-lt"/>
              </a:rPr>
              <a:t> </a:t>
            </a:r>
            <a:r>
              <a:rPr lang="de-DE" sz="2200" dirty="0" err="1">
                <a:latin typeface="+mj-lt"/>
              </a:rPr>
              <a:t>contacts</a:t>
            </a:r>
            <a:endParaRPr lang="de-DE" sz="2200" dirty="0">
              <a:latin typeface="+mj-lt"/>
            </a:endParaRPr>
          </a:p>
        </p:txBody>
      </p:sp>
      <p:pic>
        <p:nvPicPr>
          <p:cNvPr id="28" name="Grafik 27" descr="Professorin Silhouette">
            <a:extLst>
              <a:ext uri="{FF2B5EF4-FFF2-40B4-BE49-F238E27FC236}">
                <a16:creationId xmlns:a16="http://schemas.microsoft.com/office/drawing/2014/main" id="{DD9573E8-C7E4-8994-0C4D-AA6365A7344F}"/>
              </a:ext>
            </a:extLst>
          </p:cNvPr>
          <p:cNvPicPr>
            <a:picLocks noChangeAspect="1"/>
          </p:cNvPicPr>
          <p:nvPr/>
        </p:nvPicPr>
        <p:blipFill>
          <a:blip r:embed="rId9"/>
          <a:stretch/>
        </p:blipFill>
        <p:spPr bwMode="auto">
          <a:xfrm>
            <a:off x="11745004" y="4000500"/>
            <a:ext cx="1107966" cy="1107966"/>
          </a:xfrm>
          <a:prstGeom prst="rect">
            <a:avLst/>
          </a:prstGeom>
        </p:spPr>
      </p:pic>
      <p:pic>
        <p:nvPicPr>
          <p:cNvPr id="29" name="Grafik 28" descr="Prost Silhouette">
            <a:extLst>
              <a:ext uri="{FF2B5EF4-FFF2-40B4-BE49-F238E27FC236}">
                <a16:creationId xmlns:a16="http://schemas.microsoft.com/office/drawing/2014/main" id="{0A55C97F-FBCA-3208-8098-8E23C16E737E}"/>
              </a:ext>
            </a:extLst>
          </p:cNvPr>
          <p:cNvPicPr>
            <a:picLocks noChangeAspect="1"/>
          </p:cNvPicPr>
          <p:nvPr/>
        </p:nvPicPr>
        <p:blipFill>
          <a:blip r:embed="rId10"/>
          <a:stretch/>
        </p:blipFill>
        <p:spPr bwMode="auto">
          <a:xfrm>
            <a:off x="11745004" y="5676900"/>
            <a:ext cx="1107966" cy="1107966"/>
          </a:xfrm>
          <a:prstGeom prst="rect">
            <a:avLst/>
          </a:prstGeom>
        </p:spPr>
      </p:pic>
      <p:pic>
        <p:nvPicPr>
          <p:cNvPr id="30" name="Grafik 29" descr="Freisprechanlage Silhouette">
            <a:extLst>
              <a:ext uri="{FF2B5EF4-FFF2-40B4-BE49-F238E27FC236}">
                <a16:creationId xmlns:a16="http://schemas.microsoft.com/office/drawing/2014/main" id="{4734323B-8EF8-D3B1-6117-51CAA76F7097}"/>
              </a:ext>
            </a:extLst>
          </p:cNvPr>
          <p:cNvPicPr>
            <a:picLocks noChangeAspect="1"/>
          </p:cNvPicPr>
          <p:nvPr/>
        </p:nvPicPr>
        <p:blipFill>
          <a:blip r:embed="rId11"/>
          <a:stretch/>
        </p:blipFill>
        <p:spPr bwMode="auto">
          <a:xfrm>
            <a:off x="11745004" y="7353300"/>
            <a:ext cx="1107966" cy="1107966"/>
          </a:xfrm>
          <a:prstGeom prst="rect">
            <a:avLst/>
          </a:prstGeom>
        </p:spPr>
      </p:pic>
      <p:cxnSp>
        <p:nvCxnSpPr>
          <p:cNvPr id="31" name="Gerade Verbindung 41">
            <a:extLst>
              <a:ext uri="{FF2B5EF4-FFF2-40B4-BE49-F238E27FC236}">
                <a16:creationId xmlns:a16="http://schemas.microsoft.com/office/drawing/2014/main" id="{91F93865-9B87-2D7D-7D26-58E5DA08B4CB}"/>
              </a:ext>
            </a:extLst>
          </p:cNvPr>
          <p:cNvCxnSpPr>
            <a:cxnSpLocks/>
          </p:cNvCxnSpPr>
          <p:nvPr/>
        </p:nvCxnSpPr>
        <p:spPr bwMode="auto">
          <a:xfrm flipH="1">
            <a:off x="6045520" y="2872392"/>
            <a:ext cx="50480" cy="6766908"/>
          </a:xfrm>
          <a:prstGeom prst="line">
            <a:avLst/>
          </a:prstGeom>
          <a:ln w="19050">
            <a:solidFill>
              <a:srgbClr val="7E0D31"/>
            </a:solidFill>
          </a:ln>
        </p:spPr>
        <p:style>
          <a:lnRef idx="1">
            <a:schemeClr val="accent1"/>
          </a:lnRef>
          <a:fillRef idx="0">
            <a:schemeClr val="accent1"/>
          </a:fillRef>
          <a:effectRef idx="0">
            <a:schemeClr val="accent1"/>
          </a:effectRef>
          <a:fontRef idx="minor">
            <a:schemeClr val="tx1"/>
          </a:fontRef>
        </p:style>
      </p:cxnSp>
      <p:cxnSp>
        <p:nvCxnSpPr>
          <p:cNvPr id="32" name="Gerade Verbindung 45">
            <a:extLst>
              <a:ext uri="{FF2B5EF4-FFF2-40B4-BE49-F238E27FC236}">
                <a16:creationId xmlns:a16="http://schemas.microsoft.com/office/drawing/2014/main" id="{B8C5D31D-0AE3-D6C0-936B-2935B55A2971}"/>
              </a:ext>
            </a:extLst>
          </p:cNvPr>
          <p:cNvCxnSpPr>
            <a:cxnSpLocks/>
          </p:cNvCxnSpPr>
          <p:nvPr/>
        </p:nvCxnSpPr>
        <p:spPr bwMode="auto">
          <a:xfrm flipH="1">
            <a:off x="11430000" y="2872392"/>
            <a:ext cx="18143" cy="6766908"/>
          </a:xfrm>
          <a:prstGeom prst="line">
            <a:avLst/>
          </a:prstGeom>
          <a:ln w="19050">
            <a:solidFill>
              <a:srgbClr val="7E0D3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9333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6A7E86-F92C-C75E-D530-2097ADB1CC3C}"/>
              </a:ext>
            </a:extLst>
          </p:cNvPr>
          <p:cNvSpPr>
            <a:spLocks noGrp="1"/>
          </p:cNvSpPr>
          <p:nvPr>
            <p:ph type="title"/>
          </p:nvPr>
        </p:nvSpPr>
        <p:spPr>
          <a:xfrm>
            <a:off x="4610100" y="2171700"/>
            <a:ext cx="9067800" cy="6399403"/>
          </a:xfrm>
        </p:spPr>
        <p:txBody>
          <a:bodyPr>
            <a:normAutofit/>
          </a:bodyPr>
          <a:lstStyle/>
          <a:p>
            <a:pPr marL="0" indent="0" algn="ctr">
              <a:buNone/>
              <a:defRPr/>
            </a:pPr>
            <a:r>
              <a:rPr lang="de-DE" sz="3200" b="1" dirty="0">
                <a:latin typeface="Lora"/>
              </a:rPr>
              <a:t>Forms </a:t>
            </a:r>
            <a:r>
              <a:rPr lang="de-DE" sz="3200" b="1" dirty="0" err="1">
                <a:latin typeface="Lora"/>
              </a:rPr>
              <a:t>small</a:t>
            </a:r>
            <a:r>
              <a:rPr lang="de-DE" sz="3200" b="1" dirty="0">
                <a:latin typeface="Lora"/>
              </a:rPr>
              <a:t> </a:t>
            </a:r>
            <a:r>
              <a:rPr lang="de-DE" sz="3200" b="1" dirty="0" err="1">
                <a:latin typeface="Lora"/>
              </a:rPr>
              <a:t>groups</a:t>
            </a:r>
            <a:r>
              <a:rPr lang="de-DE" sz="3200" b="1" dirty="0">
                <a:latin typeface="Lora"/>
              </a:rPr>
              <a:t> (</a:t>
            </a:r>
            <a:r>
              <a:rPr lang="de-DE" sz="3200" b="1" dirty="0" err="1">
                <a:latin typeface="Lora"/>
              </a:rPr>
              <a:t>couples</a:t>
            </a:r>
            <a:r>
              <a:rPr lang="de-DE" sz="3200" b="1" dirty="0">
                <a:latin typeface="Lora"/>
              </a:rPr>
              <a:t> </a:t>
            </a:r>
            <a:r>
              <a:rPr lang="de-DE" sz="3200" b="1" dirty="0" err="1">
                <a:latin typeface="Lora"/>
              </a:rPr>
              <a:t>if</a:t>
            </a:r>
            <a:r>
              <a:rPr lang="de-DE" sz="3200" b="1" dirty="0">
                <a:latin typeface="Lora"/>
              </a:rPr>
              <a:t> </a:t>
            </a:r>
            <a:r>
              <a:rPr lang="de-DE" sz="3200" b="1" dirty="0" err="1">
                <a:latin typeface="Lora"/>
              </a:rPr>
              <a:t>necessary</a:t>
            </a:r>
            <a:r>
              <a:rPr lang="de-DE" sz="3200" b="1" dirty="0">
                <a:latin typeface="Lora"/>
              </a:rPr>
              <a:t>).
</a:t>
            </a:r>
            <a:br>
              <a:rPr lang="de-DE" sz="2800" b="1" dirty="0">
                <a:latin typeface="Lora"/>
              </a:rPr>
            </a:br>
            <a:r>
              <a:rPr lang="de-DE" sz="2800" b="1" dirty="0">
                <a:latin typeface="Lora"/>
              </a:rPr>
              <a:t>Tell </a:t>
            </a:r>
            <a:r>
              <a:rPr lang="de-DE" sz="2800" b="1" dirty="0" err="1">
                <a:latin typeface="Lora"/>
              </a:rPr>
              <a:t>the</a:t>
            </a:r>
            <a:r>
              <a:rPr lang="de-DE" sz="2800" b="1" dirty="0">
                <a:latin typeface="Lora"/>
              </a:rPr>
              <a:t> </a:t>
            </a:r>
            <a:r>
              <a:rPr lang="de-DE" sz="2800" b="1" dirty="0" err="1">
                <a:latin typeface="Lora"/>
              </a:rPr>
              <a:t>others</a:t>
            </a:r>
            <a:r>
              <a:rPr lang="de-DE" sz="2800" b="1" dirty="0">
                <a:latin typeface="Lora"/>
              </a:rPr>
              <a:t> </a:t>
            </a:r>
            <a:r>
              <a:rPr lang="de-DE" sz="2800" b="1" dirty="0" err="1">
                <a:latin typeface="Lora"/>
              </a:rPr>
              <a:t>what</a:t>
            </a:r>
            <a:r>
              <a:rPr lang="de-DE" sz="2800" b="1" dirty="0">
                <a:latin typeface="Lora"/>
              </a:rPr>
              <a:t> </a:t>
            </a:r>
            <a:r>
              <a:rPr lang="de-DE" sz="2800" b="1" dirty="0" err="1">
                <a:latin typeface="Lora"/>
              </a:rPr>
              <a:t>strengths</a:t>
            </a:r>
            <a:r>
              <a:rPr lang="de-DE" sz="2800" b="1" dirty="0">
                <a:latin typeface="Lora"/>
              </a:rPr>
              <a:t> </a:t>
            </a:r>
            <a:r>
              <a:rPr lang="de-DE" sz="2800" b="1" dirty="0" err="1">
                <a:latin typeface="Lora"/>
              </a:rPr>
              <a:t>you</a:t>
            </a:r>
            <a:r>
              <a:rPr lang="de-DE" sz="2800" b="1" dirty="0">
                <a:latin typeface="Lora"/>
              </a:rPr>
              <a:t> </a:t>
            </a:r>
            <a:r>
              <a:rPr lang="de-DE" sz="2800" b="1" dirty="0" err="1">
                <a:latin typeface="Lora"/>
              </a:rPr>
              <a:t>were</a:t>
            </a:r>
            <a:r>
              <a:rPr lang="de-DE" sz="2800" b="1" dirty="0">
                <a:latin typeface="Lora"/>
              </a:rPr>
              <a:t> </a:t>
            </a:r>
            <a:r>
              <a:rPr lang="de-DE" sz="2800" b="1" dirty="0" err="1">
                <a:latin typeface="Lora"/>
              </a:rPr>
              <a:t>able</a:t>
            </a:r>
            <a:r>
              <a:rPr lang="de-DE" sz="2800" b="1" dirty="0">
                <a:latin typeface="Lora"/>
              </a:rPr>
              <a:t> </a:t>
            </a:r>
            <a:r>
              <a:rPr lang="de-DE" sz="2800" b="1" dirty="0" err="1">
                <a:latin typeface="Lora"/>
              </a:rPr>
              <a:t>to</a:t>
            </a:r>
            <a:r>
              <a:rPr lang="de-DE" sz="2800" b="1" dirty="0">
                <a:latin typeface="Lora"/>
              </a:rPr>
              <a:t> find out in </a:t>
            </a:r>
            <a:r>
              <a:rPr lang="de-DE" sz="2800" b="1" dirty="0" err="1">
                <a:latin typeface="Lora"/>
              </a:rPr>
              <a:t>your</a:t>
            </a:r>
            <a:r>
              <a:rPr lang="de-DE" sz="2800" b="1" dirty="0">
                <a:latin typeface="Lora"/>
              </a:rPr>
              <a:t> </a:t>
            </a:r>
            <a:r>
              <a:rPr lang="de-DE" sz="2800" b="1" dirty="0" err="1">
                <a:latin typeface="Lora"/>
              </a:rPr>
              <a:t>personality</a:t>
            </a:r>
            <a:r>
              <a:rPr lang="de-DE" sz="2800" b="1" dirty="0">
                <a:latin typeface="Lora"/>
              </a:rPr>
              <a:t> </a:t>
            </a:r>
            <a:r>
              <a:rPr lang="de-DE" sz="2800" b="1" dirty="0" err="1">
                <a:latin typeface="Lora"/>
              </a:rPr>
              <a:t>test</a:t>
            </a:r>
            <a:r>
              <a:rPr lang="de-DE" sz="2800" b="1" dirty="0">
                <a:latin typeface="Lora"/>
              </a:rPr>
              <a:t>.</a:t>
            </a:r>
            <a:br>
              <a:rPr lang="de-DE" sz="2800" b="1" dirty="0">
                <a:latin typeface="Lora"/>
              </a:rPr>
            </a:br>
            <a:r>
              <a:rPr lang="de-DE" sz="2800" b="1" dirty="0">
                <a:latin typeface="Lora"/>
              </a:rPr>
              <a:t>
</a:t>
            </a:r>
            <a:r>
              <a:rPr lang="de-DE" sz="2800" b="1" dirty="0" err="1">
                <a:latin typeface="Lora"/>
              </a:rPr>
              <a:t>Your</a:t>
            </a:r>
            <a:r>
              <a:rPr lang="de-DE" sz="2800" b="1" dirty="0">
                <a:latin typeface="Lora"/>
              </a:rPr>
              <a:t> </a:t>
            </a:r>
            <a:r>
              <a:rPr lang="de-DE" sz="2800" b="1" dirty="0" err="1">
                <a:latin typeface="Lora"/>
              </a:rPr>
              <a:t>counterpart</a:t>
            </a:r>
            <a:r>
              <a:rPr lang="de-DE" sz="2800" b="1" dirty="0">
                <a:latin typeface="Lora"/>
              </a:rPr>
              <a:t> </a:t>
            </a:r>
            <a:r>
              <a:rPr lang="de-DE" sz="2800" b="1" dirty="0" err="1">
                <a:latin typeface="Lora"/>
              </a:rPr>
              <a:t>suggests</a:t>
            </a:r>
            <a:r>
              <a:rPr lang="de-DE" sz="2800" b="1" dirty="0">
                <a:latin typeface="Lora"/>
              </a:rPr>
              <a:t> </a:t>
            </a:r>
            <a:r>
              <a:rPr lang="de-DE" sz="2800" b="1" dirty="0" err="1">
                <a:latin typeface="Lora"/>
              </a:rPr>
              <a:t>suitable</a:t>
            </a:r>
            <a:r>
              <a:rPr lang="de-DE" sz="2800" b="1" dirty="0">
                <a:latin typeface="Lora"/>
              </a:rPr>
              <a:t> </a:t>
            </a:r>
            <a:r>
              <a:rPr lang="de-DE" sz="2800" b="1" dirty="0" err="1">
                <a:latin typeface="Lora"/>
              </a:rPr>
              <a:t>team</a:t>
            </a:r>
            <a:r>
              <a:rPr lang="de-DE" sz="2800" b="1" dirty="0">
                <a:latin typeface="Lora"/>
              </a:rPr>
              <a:t> </a:t>
            </a:r>
            <a:r>
              <a:rPr lang="de-DE" sz="2800" b="1" dirty="0" err="1">
                <a:latin typeface="Lora"/>
              </a:rPr>
              <a:t>roles</a:t>
            </a:r>
            <a:r>
              <a:rPr lang="de-DE" sz="2800" b="1" dirty="0">
                <a:latin typeface="Lora"/>
              </a:rPr>
              <a:t> and </a:t>
            </a:r>
            <a:r>
              <a:rPr lang="de-DE" sz="2800" b="1" dirty="0" err="1">
                <a:latin typeface="Lora"/>
              </a:rPr>
              <a:t>advises</a:t>
            </a:r>
            <a:r>
              <a:rPr lang="de-DE" sz="2800" b="1" dirty="0">
                <a:latin typeface="Lora"/>
              </a:rPr>
              <a:t> </a:t>
            </a:r>
            <a:r>
              <a:rPr lang="de-DE" sz="2800" b="1" dirty="0" err="1">
                <a:latin typeface="Lora"/>
              </a:rPr>
              <a:t>you</a:t>
            </a:r>
            <a:r>
              <a:rPr lang="de-DE" sz="2800" b="1" dirty="0">
                <a:latin typeface="Lora"/>
              </a:rPr>
              <a:t> </a:t>
            </a:r>
            <a:r>
              <a:rPr lang="de-DE" sz="2800" b="1" dirty="0" err="1">
                <a:latin typeface="Lora"/>
              </a:rPr>
              <a:t>against</a:t>
            </a:r>
            <a:r>
              <a:rPr lang="de-DE" sz="2800" b="1" dirty="0">
                <a:latin typeface="Lora"/>
              </a:rPr>
              <a:t> </a:t>
            </a:r>
            <a:r>
              <a:rPr lang="de-DE" sz="2800" b="1" dirty="0" err="1">
                <a:latin typeface="Lora"/>
              </a:rPr>
              <a:t>others</a:t>
            </a:r>
            <a:r>
              <a:rPr lang="de-DE" sz="2800" b="1" dirty="0">
                <a:latin typeface="Lora"/>
              </a:rPr>
              <a:t>.</a:t>
            </a:r>
            <a:endParaRPr lang="de-DE" sz="3200" dirty="0">
              <a:latin typeface="Lora"/>
            </a:endParaRPr>
          </a:p>
        </p:txBody>
      </p:sp>
    </p:spTree>
    <p:extLst>
      <p:ext uri="{BB962C8B-B14F-4D97-AF65-F5344CB8AC3E}">
        <p14:creationId xmlns:p14="http://schemas.microsoft.com/office/powerpoint/2010/main" val="2135470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D77CBA-B4F4-AE54-D2C2-163B1AD35A11}"/>
              </a:ext>
            </a:extLst>
          </p:cNvPr>
          <p:cNvSpPr>
            <a:spLocks noGrp="1"/>
          </p:cNvSpPr>
          <p:nvPr>
            <p:ph type="title"/>
          </p:nvPr>
        </p:nvSpPr>
        <p:spPr>
          <a:xfrm>
            <a:off x="5182500" y="2171700"/>
            <a:ext cx="7923000" cy="6399403"/>
          </a:xfrm>
        </p:spPr>
        <p:txBody>
          <a:bodyPr>
            <a:normAutofit/>
          </a:bodyPr>
          <a:lstStyle/>
          <a:p>
            <a:pPr marL="0" indent="0" algn="ctr">
              <a:buNone/>
              <a:defRPr/>
            </a:pPr>
            <a:r>
              <a:rPr lang="en-US" sz="3600" b="1" dirty="0">
                <a:latin typeface="Lora"/>
              </a:rPr>
              <a:t>In plenary:</a:t>
            </a:r>
            <a:br>
              <a:rPr lang="en-US" sz="800" dirty="0"/>
            </a:br>
            <a:br>
              <a:rPr lang="en-US" sz="3200" b="1" dirty="0">
                <a:latin typeface="Lora"/>
              </a:rPr>
            </a:br>
            <a:r>
              <a:rPr lang="en-US" sz="3200" b="1" dirty="0">
                <a:latin typeface="Lora"/>
              </a:rPr>
              <a:t>Are you satisfied with your distribution of roles?</a:t>
            </a:r>
            <a:br>
              <a:rPr lang="en-US" sz="3200" b="1" dirty="0">
                <a:latin typeface="Lora"/>
              </a:rPr>
            </a:br>
            <a:r>
              <a:rPr lang="en-US" sz="3200" b="1" dirty="0">
                <a:latin typeface="Lora"/>
              </a:rPr>
              <a:t>
Do they coincide with the roles I take on in my current group work? </a:t>
            </a:r>
            <a:br>
              <a:rPr lang="en-US" sz="3200" b="1" dirty="0">
                <a:latin typeface="Lora"/>
              </a:rPr>
            </a:br>
            <a:r>
              <a:rPr lang="en-US" sz="3200" b="1" dirty="0">
                <a:latin typeface="Lora"/>
              </a:rPr>
              <a:t>
What were the difficulties?</a:t>
            </a:r>
            <a:br>
              <a:rPr lang="en-US" sz="3200" b="1" dirty="0">
                <a:latin typeface="Lora"/>
              </a:rPr>
            </a:br>
            <a:endParaRPr lang="en-US" sz="2800" b="1" dirty="0">
              <a:latin typeface="Lora"/>
            </a:endParaRPr>
          </a:p>
        </p:txBody>
      </p:sp>
    </p:spTree>
    <p:extLst>
      <p:ext uri="{BB962C8B-B14F-4D97-AF65-F5344CB8AC3E}">
        <p14:creationId xmlns:p14="http://schemas.microsoft.com/office/powerpoint/2010/main" val="1711204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3. </a:t>
            </a:r>
            <a:r>
              <a:rPr lang="de-DE" dirty="0" err="1"/>
              <a:t>What</a:t>
            </a:r>
            <a:r>
              <a:rPr lang="de-DE" dirty="0"/>
              <a:t> </a:t>
            </a:r>
            <a:r>
              <a:rPr lang="de-DE" dirty="0" err="1"/>
              <a:t>does</a:t>
            </a:r>
            <a:r>
              <a:rPr lang="de-DE" dirty="0"/>
              <a:t> a </a:t>
            </a:r>
            <a:r>
              <a:rPr lang="de-DE" dirty="0" err="1"/>
              <a:t>process</a:t>
            </a:r>
            <a:r>
              <a:rPr lang="de-DE" dirty="0"/>
              <a:t> </a:t>
            </a:r>
            <a:r>
              <a:rPr lang="de-DE" dirty="0" err="1"/>
              <a:t>of</a:t>
            </a:r>
            <a:r>
              <a:rPr lang="de-DE" dirty="0"/>
              <a:t> </a:t>
            </a:r>
            <a:r>
              <a:rPr lang="de-DE" dirty="0" err="1"/>
              <a:t>group</a:t>
            </a:r>
            <a:r>
              <a:rPr lang="de-DE" dirty="0"/>
              <a:t> </a:t>
            </a:r>
            <a:r>
              <a:rPr lang="de-DE" dirty="0" err="1"/>
              <a:t>work</a:t>
            </a:r>
            <a:r>
              <a:rPr lang="de-DE" dirty="0"/>
              <a:t> </a:t>
            </a:r>
            <a:r>
              <a:rPr lang="de-DE" dirty="0" err="1"/>
              <a:t>look</a:t>
            </a:r>
            <a:r>
              <a:rPr lang="de-DE" dirty="0"/>
              <a:t> like?</a:t>
            </a:r>
          </a:p>
        </p:txBody>
      </p:sp>
      <p:graphicFrame>
        <p:nvGraphicFramePr>
          <p:cNvPr id="4" name="Diagramm 3">
            <a:extLst>
              <a:ext uri="{FF2B5EF4-FFF2-40B4-BE49-F238E27FC236}">
                <a16:creationId xmlns:a16="http://schemas.microsoft.com/office/drawing/2014/main" id="{CB10BDB7-1904-5E2B-08A9-086F5A0E4462}"/>
              </a:ext>
            </a:extLst>
          </p:cNvPr>
          <p:cNvGraphicFramePr>
            <a:graphicFrameLocks/>
          </p:cNvGraphicFramePr>
          <p:nvPr>
            <p:extLst>
              <p:ext uri="{D42A27DB-BD31-4B8C-83A1-F6EECF244321}">
                <p14:modId xmlns:p14="http://schemas.microsoft.com/office/powerpoint/2010/main" val="2601381756"/>
              </p:ext>
            </p:extLst>
          </p:nvPr>
        </p:nvGraphicFramePr>
        <p:xfrm>
          <a:off x="3276600" y="2561860"/>
          <a:ext cx="12738981" cy="7077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8305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a:extLst>
              <a:ext uri="{FF2B5EF4-FFF2-40B4-BE49-F238E27FC236}">
                <a16:creationId xmlns:a16="http://schemas.microsoft.com/office/drawing/2014/main" id="{390AB711-02CC-A430-E335-CF234CDC00E0}"/>
              </a:ext>
            </a:extLst>
          </p:cNvPr>
          <p:cNvGrpSpPr/>
          <p:nvPr/>
        </p:nvGrpSpPr>
        <p:grpSpPr bwMode="auto">
          <a:xfrm>
            <a:off x="2285999" y="1409700"/>
            <a:ext cx="12813233" cy="8610600"/>
            <a:chOff x="2253400" y="173415"/>
            <a:chExt cx="7460220" cy="5016908"/>
          </a:xfrm>
        </p:grpSpPr>
        <p:pic>
          <p:nvPicPr>
            <p:cNvPr id="8" name="Grafik 7">
              <a:extLst>
                <a:ext uri="{FF2B5EF4-FFF2-40B4-BE49-F238E27FC236}">
                  <a16:creationId xmlns:a16="http://schemas.microsoft.com/office/drawing/2014/main" id="{8BFC14BE-8E3A-9120-8094-D46C34E812B1}"/>
                </a:ext>
              </a:extLst>
            </p:cNvPr>
            <p:cNvPicPr>
              <a:picLocks noChangeAspect="1"/>
            </p:cNvPicPr>
            <p:nvPr/>
          </p:nvPicPr>
          <p:blipFill>
            <a:blip r:embed="rId3"/>
            <a:stretch/>
          </p:blipFill>
          <p:spPr bwMode="auto">
            <a:xfrm>
              <a:off x="2253400" y="714191"/>
              <a:ext cx="7460220" cy="4476132"/>
            </a:xfrm>
            <a:prstGeom prst="rect">
              <a:avLst/>
            </a:prstGeom>
          </p:spPr>
        </p:pic>
        <p:pic>
          <p:nvPicPr>
            <p:cNvPr id="9" name="Grafik 8">
              <a:extLst>
                <a:ext uri="{FF2B5EF4-FFF2-40B4-BE49-F238E27FC236}">
                  <a16:creationId xmlns:a16="http://schemas.microsoft.com/office/drawing/2014/main" id="{B310965A-ED91-0D14-E3FA-44E21B531274}"/>
                </a:ext>
              </a:extLst>
            </p:cNvPr>
            <p:cNvPicPr>
              <a:picLocks noChangeAspect="1"/>
            </p:cNvPicPr>
            <p:nvPr/>
          </p:nvPicPr>
          <p:blipFill>
            <a:blip r:embed="rId4"/>
            <a:stretch/>
          </p:blipFill>
          <p:spPr bwMode="auto">
            <a:xfrm>
              <a:off x="2686091" y="173415"/>
              <a:ext cx="6615617" cy="662475"/>
            </a:xfrm>
            <a:prstGeom prst="rect">
              <a:avLst/>
            </a:prstGeom>
          </p:spPr>
        </p:pic>
      </p:grpSp>
      <p:grpSp>
        <p:nvGrpSpPr>
          <p:cNvPr id="2" name="Google Shape;421;p40">
            <a:extLst>
              <a:ext uri="{FF2B5EF4-FFF2-40B4-BE49-F238E27FC236}">
                <a16:creationId xmlns:a16="http://schemas.microsoft.com/office/drawing/2014/main" id="{323BEDD5-F896-5EAE-6DD3-AE9B7002A900}"/>
              </a:ext>
            </a:extLst>
          </p:cNvPr>
          <p:cNvGrpSpPr>
            <a:grpSpLocks noChangeAspect="1"/>
          </p:cNvGrpSpPr>
          <p:nvPr/>
        </p:nvGrpSpPr>
        <p:grpSpPr>
          <a:xfrm>
            <a:off x="15107253" y="4458763"/>
            <a:ext cx="1205798" cy="1180532"/>
            <a:chOff x="1233350" y="1619250"/>
            <a:chExt cx="466500" cy="456725"/>
          </a:xfrm>
        </p:grpSpPr>
        <p:sp>
          <p:nvSpPr>
            <p:cNvPr id="3" name="Google Shape;422;p40">
              <a:extLst>
                <a:ext uri="{FF2B5EF4-FFF2-40B4-BE49-F238E27FC236}">
                  <a16:creationId xmlns:a16="http://schemas.microsoft.com/office/drawing/2014/main" id="{9E329E14-9EBC-D491-16DB-640FE8D70DC9}"/>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23;p40">
              <a:extLst>
                <a:ext uri="{FF2B5EF4-FFF2-40B4-BE49-F238E27FC236}">
                  <a16:creationId xmlns:a16="http://schemas.microsoft.com/office/drawing/2014/main" id="{FE32130A-9D30-0C8A-05AD-EAB7A6B6D14F}"/>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424;p40">
              <a:extLst>
                <a:ext uri="{FF2B5EF4-FFF2-40B4-BE49-F238E27FC236}">
                  <a16:creationId xmlns:a16="http://schemas.microsoft.com/office/drawing/2014/main" id="{2B800CBA-14DE-E0AF-34AC-F55016AD476F}"/>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25;p40">
              <a:extLst>
                <a:ext uri="{FF2B5EF4-FFF2-40B4-BE49-F238E27FC236}">
                  <a16:creationId xmlns:a16="http://schemas.microsoft.com/office/drawing/2014/main" id="{3245D8D8-621F-0283-5F3B-CC3AE099CA98}"/>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Inhaltsplatzhalter 2">
            <a:extLst>
              <a:ext uri="{FF2B5EF4-FFF2-40B4-BE49-F238E27FC236}">
                <a16:creationId xmlns:a16="http://schemas.microsoft.com/office/drawing/2014/main" id="{5865DF88-B196-6F14-4C48-B8E6AD88D49C}"/>
              </a:ext>
            </a:extLst>
          </p:cNvPr>
          <p:cNvSpPr txBox="1">
            <a:spLocks/>
          </p:cNvSpPr>
          <p:nvPr/>
        </p:nvSpPr>
        <p:spPr>
          <a:xfrm>
            <a:off x="16313051" y="4686300"/>
            <a:ext cx="2475600" cy="111168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de-DE" dirty="0"/>
              <a:t>Team</a:t>
            </a:r>
            <a:br>
              <a:rPr lang="de-DE" dirty="0"/>
            </a:br>
            <a:r>
              <a:rPr lang="de-DE" dirty="0"/>
              <a:t>Canvas</a:t>
            </a:r>
            <a:endParaRPr lang="de-DE" sz="2800" dirty="0"/>
          </a:p>
          <a:p>
            <a:endParaRPr lang="de-DE" dirty="0"/>
          </a:p>
        </p:txBody>
      </p:sp>
    </p:spTree>
    <p:extLst>
      <p:ext uri="{BB962C8B-B14F-4D97-AF65-F5344CB8AC3E}">
        <p14:creationId xmlns:p14="http://schemas.microsoft.com/office/powerpoint/2010/main" val="1743600575"/>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84AAA79-4092-4C7F-BC4A-BA39FBC284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693BEE-16A1-42DD-B745-0C253E13EDE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EAF34CD-D78D-401E-8C87-C7D2B11BA5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2310</Words>
  <Application>Microsoft Office PowerPoint</Application>
  <PresentationFormat>Benutzerdefiniert</PresentationFormat>
  <Paragraphs>154</Paragraphs>
  <Slides>12</Slides>
  <Notes>11</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12</vt:i4>
      </vt:variant>
    </vt:vector>
  </HeadingPairs>
  <TitlesOfParts>
    <vt:vector size="16" baseType="lpstr">
      <vt:lpstr>Arial</vt:lpstr>
      <vt:lpstr>Lora</vt:lpstr>
      <vt:lpstr>Aptos</vt:lpstr>
      <vt:lpstr>Benutzerdefiniertes Design</vt:lpstr>
      <vt:lpstr>Work successfully in groups </vt:lpstr>
      <vt:lpstr>PowerPoint-Präsentation</vt:lpstr>
      <vt:lpstr>What constitutes group work?  What are their opportunities, what are their challenges?</vt:lpstr>
      <vt:lpstr>2. How does a team become capable of acting?</vt:lpstr>
      <vt:lpstr>3. How can roles and tasks be distributed?</vt:lpstr>
      <vt:lpstr>3. Die Big Five einer Persönlichkeit</vt:lpstr>
      <vt:lpstr>3. Belbin Roles</vt:lpstr>
      <vt:lpstr>3. Belbin Roles</vt:lpstr>
      <vt:lpstr>Forms small groups (couples if necessary).
 Tell the others what strengths you were able to find out in your personality test. 
Your counterpart suggests suitable team roles and advises you against others.</vt:lpstr>
      <vt:lpstr>In plenary:  Are you satisfied with your distribution of roles? 
Do they coincide with the roles I take on in my current group work?  
What were the difficulties? </vt:lpstr>
      <vt:lpstr>3. What does a process of group work look like?</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Felix Soltau</cp:lastModifiedBy>
  <cp:revision>8</cp:revision>
  <dcterms:created xsi:type="dcterms:W3CDTF">2006-08-16T00:00:00Z</dcterms:created>
  <dcterms:modified xsi:type="dcterms:W3CDTF">2026-06-22T20:39:25Z</dcterms:modified>
  <dc:identifier>DAGKdR2DXUk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