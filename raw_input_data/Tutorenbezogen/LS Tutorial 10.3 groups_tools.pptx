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</p:sldMasterIdLst>
  <p:notesMasterIdLst>
    <p:notesMasterId r:id="rId10"/>
  </p:notesMasterIdLst>
  <p:sldIdLst>
    <p:sldId id="256" r:id="rId5"/>
    <p:sldId id="257" r:id="rId6"/>
    <p:sldId id="259" r:id="rId7"/>
    <p:sldId id="272" r:id="rId8"/>
    <p:sldId id="263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56" autoAdjust="0"/>
    <p:restoredTop sz="74408" autoAdjust="0"/>
  </p:normalViewPr>
  <p:slideViewPr>
    <p:cSldViewPr>
      <p:cViewPr varScale="1">
        <p:scale>
          <a:sx n="80" d="100"/>
          <a:sy n="80" d="100"/>
        </p:scale>
        <p:origin x="230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AB545-A7A2-C64E-BEC8-51F178C6B1AA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7837A-BE0C-8E44-AC6E-3BD867A160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03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This provides a short overview over some useful tools for group work.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Please add any more tools that you use and enjoy!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Can be substituted if time is short by providing the written information online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435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1789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I suggest you open the websites, briefly explain how they work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 err="1"/>
              <a:t>Etherpad</a:t>
            </a:r>
            <a:r>
              <a:rPr lang="en-US" dirty="0"/>
              <a:t>: simple text editor, in which is written synchronously – author is recognizable by different colors - good for protocols - can be exported to PDFs or DOCs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 err="1"/>
              <a:t>Cryptpad</a:t>
            </a:r>
            <a:r>
              <a:rPr lang="en-US" dirty="0"/>
              <a:t>: especially for </a:t>
            </a:r>
            <a:r>
              <a:rPr lang="en-US" dirty="0" err="1"/>
              <a:t>Leuphana</a:t>
            </a:r>
            <a:r>
              <a:rPr lang="en-US" dirty="0"/>
              <a:t>, should replace </a:t>
            </a:r>
            <a:r>
              <a:rPr lang="en-US" dirty="0" err="1"/>
              <a:t>Etherpad</a:t>
            </a:r>
            <a:r>
              <a:rPr lang="en-US" dirty="0"/>
              <a:t> - text editor that makes communication immediate, works synchronously + asynchronously - perfect for collaboration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Recommendation: create an account, so common calendars can be created and documents can be shared; teams are also possible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Document types: tables, rich text (equivalent to </a:t>
            </a:r>
            <a:r>
              <a:rPr lang="en-US" dirty="0" err="1"/>
              <a:t>Etherpad</a:t>
            </a:r>
            <a:r>
              <a:rPr lang="en-US" dirty="0"/>
              <a:t>), to-do list (= Kanban), code, forms, whiteboards 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this also includes Crypt-Drive to store documents + media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Trello boards: management of work steps and progress in a workspace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Academic Cloud: Cloud service for Lower Saxony, for sharing and editing documents (Sync &amp; Share); Word documents + </a:t>
            </a:r>
            <a:r>
              <a:rPr lang="en-US" dirty="0" err="1"/>
              <a:t>Presos</a:t>
            </a:r>
            <a:r>
              <a:rPr lang="en-US" dirty="0"/>
              <a:t> can thus be edited directly in the cloud without downloading them, also simultaneously with others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Access directly via </a:t>
            </a:r>
            <a:r>
              <a:rPr lang="en-US" dirty="0" err="1"/>
              <a:t>Leuphana</a:t>
            </a:r>
            <a:r>
              <a:rPr lang="en-US" dirty="0"/>
              <a:t> account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more secure than Google Drive, as data is stored in Lower Saxony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extended with video conference "Meet" - not limited to 40min like Zoom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2471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if you want to meet on campus, there are several ways to find a suitable location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Group study rooms in the library and central building: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3 rooms, different sizes and technical equipment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Reservable via </a:t>
            </a:r>
            <a:r>
              <a:rPr lang="en-US" dirty="0" err="1"/>
              <a:t>MyStudy</a:t>
            </a:r>
            <a:r>
              <a:rPr lang="en-US" dirty="0"/>
              <a:t>, but also usable without reservation if free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Reservation up to 7 days in advance, for 3h p.p. and day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Show booking: Resources &gt; Book Resource &gt; Group Study Room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if occupied, then simply search for free rooms on campus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Resources &gt; Search for rooms &gt; Search for free rooms, set filter if necessary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besides, it is always possible to meet (outside the main hours) in the refectory, in summer on the refectory lawn, or in Plan B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Video conferencing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Zoom: 40min limited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Big Blue Button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alternative is "Meet", as already mentioned belonging to the Academic Cloud; based on </a:t>
            </a:r>
            <a:r>
              <a:rPr lang="en-US" dirty="0" err="1"/>
              <a:t>BigBlueBotton</a:t>
            </a:r>
            <a:r>
              <a:rPr lang="en-US" dirty="0"/>
              <a:t>; usable via browser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 err="1"/>
              <a:t>Jitsi</a:t>
            </a:r>
            <a:r>
              <a:rPr lang="en-US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0574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if you want to deliver more than just a PowerPoint presentation for this or later projects, </a:t>
            </a:r>
            <a:r>
              <a:rPr lang="en-US" dirty="0" err="1"/>
              <a:t>Leuphana</a:t>
            </a:r>
            <a:r>
              <a:rPr lang="en-US" dirty="0"/>
              <a:t> provides several resources.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especially for video productions the computer and media center has camcorders, sound equipment and software, Geb.7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for all other equipment, via beamers, laptops, cameras, recording devices): Equipment lending, building 7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only for seminar purposes, with lending card and reservation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especially for qualitative research (interviews, field observations): </a:t>
            </a:r>
            <a:r>
              <a:rPr lang="en-US" dirty="0" err="1"/>
              <a:t>LinA</a:t>
            </a:r>
            <a:r>
              <a:rPr lang="en-US" dirty="0"/>
              <a:t>-Lab, Building 5, with everything needed for transcriptions and field soundings.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965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05643" y="2410767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35F8C20-5144-BCD6-046F-3A4637BEE2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05643" y="7982337"/>
            <a:ext cx="6777643" cy="7831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Tutor*in: 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63302" y="31570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098E5780-8526-6089-883C-304A7B1FEF87}"/>
              </a:ext>
            </a:extLst>
          </p:cNvPr>
          <p:cNvSpPr txBox="1">
            <a:spLocks/>
          </p:cNvSpPr>
          <p:nvPr userDrawn="1"/>
        </p:nvSpPr>
        <p:spPr>
          <a:xfrm>
            <a:off x="2205642" y="6228658"/>
            <a:ext cx="13716000" cy="127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9A44B3A5-D45E-6AC8-EA59-A853F9E8010A}"/>
              </a:ext>
            </a:extLst>
          </p:cNvPr>
          <p:cNvSpPr txBox="1">
            <a:spLocks/>
          </p:cNvSpPr>
          <p:nvPr userDrawn="1"/>
        </p:nvSpPr>
        <p:spPr>
          <a:xfrm>
            <a:off x="9144000" y="7982337"/>
            <a:ext cx="6777643" cy="783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Datum: </a:t>
            </a:r>
          </a:p>
        </p:txBody>
      </p:sp>
    </p:spTree>
    <p:extLst>
      <p:ext uri="{BB962C8B-B14F-4D97-AF65-F5344CB8AC3E}">
        <p14:creationId xmlns:p14="http://schemas.microsoft.com/office/powerpoint/2010/main" val="3538319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C3409-D4E0-6BA5-6B2A-66758ACC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>
            <a:lvl1pPr>
              <a:defRPr sz="6000"/>
            </a:lvl1pPr>
          </a:lstStyle>
          <a:p>
            <a:r>
              <a:rPr lang="de-DE" dirty="0"/>
              <a:t>Agenda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FEFB1F30-94B0-DC85-DC82-E761441E3253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2E75B04F-895F-3DA1-9C2A-C58FD4F32815}"/>
              </a:ext>
            </a:extLst>
          </p:cNvPr>
          <p:cNvSpPr/>
          <p:nvPr userDrawn="1"/>
        </p:nvSpPr>
        <p:spPr>
          <a:xfrm rot="-2487859">
            <a:off x="2018666" y="506518"/>
            <a:ext cx="2809405" cy="2643335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9161E3FC-3BC4-55BC-EC0E-B8D63DB7B1E7}"/>
              </a:ext>
            </a:extLst>
          </p:cNvPr>
          <p:cNvSpPr/>
          <p:nvPr userDrawn="1"/>
        </p:nvSpPr>
        <p:spPr>
          <a:xfrm>
            <a:off x="-562784" y="4424673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927988C0-3255-8D48-C60F-7AAB697B9B5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3" name="Freeform 4">
            <a:extLst>
              <a:ext uri="{FF2B5EF4-FFF2-40B4-BE49-F238E27FC236}">
                <a16:creationId xmlns:a16="http://schemas.microsoft.com/office/drawing/2014/main" id="{B73C15CE-7BD2-833F-6D37-C3BE622A4E85}"/>
              </a:ext>
            </a:extLst>
          </p:cNvPr>
          <p:cNvSpPr/>
          <p:nvPr userDrawn="1"/>
        </p:nvSpPr>
        <p:spPr>
          <a:xfrm>
            <a:off x="-1766" y="-260603"/>
            <a:ext cx="3894251" cy="4068485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D8D305A3-D8CD-8EDA-5D40-B2FA889FB87E}"/>
              </a:ext>
            </a:extLst>
          </p:cNvPr>
          <p:cNvSpPr/>
          <p:nvPr userDrawn="1"/>
        </p:nvSpPr>
        <p:spPr>
          <a:xfrm rot="16008410">
            <a:off x="14998235" y="987245"/>
            <a:ext cx="3473526" cy="291463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465EF946-DAE2-326E-773C-FD6B40EF54EE}"/>
              </a:ext>
            </a:extLst>
          </p:cNvPr>
          <p:cNvSpPr/>
          <p:nvPr userDrawn="1"/>
        </p:nvSpPr>
        <p:spPr>
          <a:xfrm rot="7860679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83D10F2F-D60C-5C95-8C72-D398638FD89E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8" name="Freeform 9">
            <a:extLst>
              <a:ext uri="{FF2B5EF4-FFF2-40B4-BE49-F238E27FC236}">
                <a16:creationId xmlns:a16="http://schemas.microsoft.com/office/drawing/2014/main" id="{73FE52D7-8F19-AD71-6D8B-F8BAB2677DFD}"/>
              </a:ext>
            </a:extLst>
          </p:cNvPr>
          <p:cNvSpPr/>
          <p:nvPr userDrawn="1"/>
        </p:nvSpPr>
        <p:spPr>
          <a:xfrm rot="1296289">
            <a:off x="14548476" y="-705407"/>
            <a:ext cx="3201123" cy="3188050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F82FEDA8-4EF5-352B-0203-0F0F4CED9C42}"/>
              </a:ext>
            </a:extLst>
          </p:cNvPr>
          <p:cNvSpPr/>
          <p:nvPr userDrawn="1"/>
        </p:nvSpPr>
        <p:spPr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78FDF13-7102-6390-E270-30320B7A516D}"/>
              </a:ext>
            </a:extLst>
          </p:cNvPr>
          <p:cNvSpPr/>
          <p:nvPr userDrawn="1"/>
        </p:nvSpPr>
        <p:spPr>
          <a:xfrm rot="1296289">
            <a:off x="-366738" y="7821452"/>
            <a:ext cx="3294095" cy="275408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1" name="Freeform 12">
            <a:extLst>
              <a:ext uri="{FF2B5EF4-FFF2-40B4-BE49-F238E27FC236}">
                <a16:creationId xmlns:a16="http://schemas.microsoft.com/office/drawing/2014/main" id="{1A4604D4-1613-D2EC-3684-B926344CA368}"/>
              </a:ext>
            </a:extLst>
          </p:cNvPr>
          <p:cNvSpPr/>
          <p:nvPr userDrawn="1"/>
        </p:nvSpPr>
        <p:spPr>
          <a:xfrm rot="2046247">
            <a:off x="17050506" y="-563810"/>
            <a:ext cx="2158222" cy="2864923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A5BB02-AE5B-0564-222E-54F98BC7CA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66760" y="2718492"/>
            <a:ext cx="9742165" cy="6480000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3600"/>
            </a:lvl1pPr>
            <a:lvl2pPr marL="971550" indent="-514350">
              <a:buFont typeface="+mj-lt"/>
              <a:buAutoNum type="romanLcPeriod"/>
              <a:defRPr sz="3600"/>
            </a:lvl2pPr>
          </a:lstStyle>
          <a:p>
            <a:pPr lvl="0"/>
            <a:r>
              <a:rPr lang="de-DE" dirty="0"/>
              <a:t> </a:t>
            </a:r>
          </a:p>
          <a:p>
            <a:pPr lvl="1"/>
            <a:r>
              <a:rPr lang="de-DE" dirty="0"/>
              <a:t>  </a:t>
            </a:r>
          </a:p>
          <a:p>
            <a:pPr lvl="0"/>
            <a:r>
              <a:rPr lang="de-DE" dirty="0"/>
              <a:t>  </a:t>
            </a:r>
          </a:p>
          <a:p>
            <a:pPr lvl="1"/>
            <a:r>
              <a:rPr lang="de-DE" dirty="0"/>
              <a:t>  </a:t>
            </a:r>
          </a:p>
          <a:p>
            <a:pPr lvl="1"/>
            <a:r>
              <a:rPr lang="de-DE" dirty="0"/>
              <a:t> </a:t>
            </a:r>
          </a:p>
          <a:p>
            <a:pPr lvl="0"/>
            <a:r>
              <a:rPr lang="de-DE" dirty="0"/>
              <a:t>  </a:t>
            </a:r>
          </a:p>
          <a:p>
            <a:pPr lvl="1"/>
            <a:r>
              <a:rPr lang="de-DE" dirty="0"/>
              <a:t> </a:t>
            </a:r>
          </a:p>
          <a:p>
            <a:pPr lvl="1"/>
            <a:r>
              <a:rPr lang="de-DE" dirty="0"/>
              <a:t> </a:t>
            </a:r>
          </a:p>
          <a:p>
            <a:pPr lvl="1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4296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ck-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3F13051-CF4E-443B-29BC-001C474A56A9}"/>
              </a:ext>
            </a:extLst>
          </p:cNvPr>
          <p:cNvSpPr/>
          <p:nvPr userDrawn="1"/>
        </p:nvSpPr>
        <p:spPr>
          <a:xfrm>
            <a:off x="1895176" y="2183393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6800" y="2171700"/>
            <a:ext cx="14400000" cy="6483674"/>
          </a:xfrm>
        </p:spPr>
        <p:txBody>
          <a:bodyPr lIns="90000" anchor="ctr"/>
          <a:lstStyle>
            <a:lvl1pPr>
              <a:defRPr sz="6000"/>
            </a:lvl1pPr>
          </a:lstStyle>
          <a:p>
            <a:r>
              <a:rPr lang="de-DE" dirty="0"/>
              <a:t>Check-In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1040125" y="-8334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136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EBE749-CE66-C75E-E6F2-FFD0724629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4000" y="1301860"/>
            <a:ext cx="14400000" cy="126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1324FA-E215-DE5C-2D6F-0CD868303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4000" y="2738828"/>
            <a:ext cx="14400000" cy="64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BE0289C6-007F-CC39-352D-152520C8FEE2}"/>
              </a:ext>
            </a:extLst>
          </p:cNvPr>
          <p:cNvSpPr/>
          <p:nvPr userDrawn="1"/>
        </p:nvSpPr>
        <p:spPr>
          <a:xfrm>
            <a:off x="-806140" y="-803735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20151D67-84F6-087A-13ED-2BF5A2A48374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5926566D-A50F-E915-FB4C-1392EE78A825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D49F164-DAE8-6727-6DAB-B303AC9C1A18}"/>
              </a:ext>
            </a:extLst>
          </p:cNvPr>
          <p:cNvSpPr/>
          <p:nvPr userDrawn="1"/>
        </p:nvSpPr>
        <p:spPr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8BC7A24B-F3D9-A693-9531-5D0A3B32C020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BC3FB793-4DEF-326C-B9F2-AAFE13EF7B3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E1DBF27E-8ABB-7894-AF4C-68B34C6EF44A}"/>
              </a:ext>
            </a:extLst>
          </p:cNvPr>
          <p:cNvSpPr/>
          <p:nvPr userDrawn="1"/>
        </p:nvSpPr>
        <p:spPr>
          <a:xfrm rot="-458312">
            <a:off x="16771767" y="216258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BF99FDA7-CEAC-A470-15A2-8AF647F45C2E}"/>
              </a:ext>
            </a:extLst>
          </p:cNvPr>
          <p:cNvSpPr/>
          <p:nvPr userDrawn="1"/>
        </p:nvSpPr>
        <p:spPr>
          <a:xfrm rot="1296289">
            <a:off x="15646620" y="-376703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4B80B37-6A71-F39A-8153-BF8EBFA9CA05}"/>
              </a:ext>
            </a:extLst>
          </p:cNvPr>
          <p:cNvSpPr/>
          <p:nvPr userDrawn="1"/>
        </p:nvSpPr>
        <p:spPr>
          <a:xfrm rot="2310652">
            <a:off x="-811538" y="3739758"/>
            <a:ext cx="2509961" cy="209559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C39BFFC2-02E0-2076-5648-D928091BA4F6}"/>
              </a:ext>
            </a:extLst>
          </p:cNvPr>
          <p:cNvSpPr/>
          <p:nvPr userDrawn="1"/>
        </p:nvSpPr>
        <p:spPr>
          <a:xfrm rot="7628197">
            <a:off x="17318415" y="2283638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565003B8-E35C-4A98-29B0-022ACADD0DE8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548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6800" y="2171700"/>
            <a:ext cx="14400000" cy="3955611"/>
          </a:xfrm>
        </p:spPr>
        <p:txBody>
          <a:bodyPr lIns="90000" anchor="b"/>
          <a:lstStyle>
            <a:lvl1pPr>
              <a:defRPr sz="60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384CE9-ADC6-C3BB-E2FC-2F28B70A4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6800" y="6491289"/>
            <a:ext cx="14400000" cy="2079814"/>
          </a:xfrm>
        </p:spPr>
        <p:txBody>
          <a:bodyPr lIns="90000"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1040125" y="-8334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37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FDF0A71-9CBE-84BC-7998-A4155D1C9C56}"/>
              </a:ext>
            </a:extLst>
          </p:cNvPr>
          <p:cNvSpPr/>
          <p:nvPr userDrawn="1"/>
        </p:nvSpPr>
        <p:spPr>
          <a:xfrm>
            <a:off x="1906799" y="2171700"/>
            <a:ext cx="14399999" cy="63994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r>
              <a:rPr lang="de-DE" dirty="0"/>
              <a:t>PAUSE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1040125" y="-8334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704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z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315B97D-904D-C50B-4A96-2667B117C251}"/>
              </a:ext>
            </a:extLst>
          </p:cNvPr>
          <p:cNvSpPr/>
          <p:nvPr userDrawn="1"/>
        </p:nvSpPr>
        <p:spPr>
          <a:xfrm>
            <a:off x="1906799" y="2171700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r>
              <a:rPr lang="de-DE" dirty="0"/>
              <a:t>ENERGIZER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1040125" y="-8334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457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3C3F7-A725-A168-57F5-A5ACAC9117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4000" y="1366765"/>
            <a:ext cx="14400000" cy="126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BFAA9C-C85A-A03F-D628-0BFBEFFCD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44000" y="2738438"/>
            <a:ext cx="7123800" cy="6527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D0397D-4828-69AF-16C0-77D8182A2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123800" cy="6527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72414888-863A-7F49-938F-5E972A82EA70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92922934-2D9F-FFEA-894A-C9CB5345C80F}"/>
              </a:ext>
            </a:extLst>
          </p:cNvPr>
          <p:cNvSpPr/>
          <p:nvPr userDrawn="1"/>
        </p:nvSpPr>
        <p:spPr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8B06EBE0-28F0-2460-421C-812848A0CF4B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A4327127-659A-AEE9-A699-17689FB4515C}"/>
              </a:ext>
            </a:extLst>
          </p:cNvPr>
          <p:cNvSpPr/>
          <p:nvPr userDrawn="1"/>
        </p:nvSpPr>
        <p:spPr>
          <a:xfrm rot="-2487859">
            <a:off x="1653257" y="-539706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E1420116-728D-9DD6-C96F-FEB09C92235D}"/>
              </a:ext>
            </a:extLst>
          </p:cNvPr>
          <p:cNvSpPr/>
          <p:nvPr userDrawn="1"/>
        </p:nvSpPr>
        <p:spPr>
          <a:xfrm rot="1296289">
            <a:off x="-407556" y="850423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243BE1EB-BFDE-6083-A284-87D7CF37DB8D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FA284C4F-77FA-8BBB-7032-15B26047A961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EF206E22-45CF-248B-6797-2BB7CFC8EBDF}"/>
              </a:ext>
            </a:extLst>
          </p:cNvPr>
          <p:cNvSpPr/>
          <p:nvPr userDrawn="1"/>
        </p:nvSpPr>
        <p:spPr>
          <a:xfrm rot="16008410">
            <a:off x="16401541" y="71447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17FC525E-1B82-33A4-4138-CFFD1DF018B2}"/>
              </a:ext>
            </a:extLst>
          </p:cNvPr>
          <p:cNvSpPr/>
          <p:nvPr userDrawn="1"/>
        </p:nvSpPr>
        <p:spPr>
          <a:xfrm rot="7860679">
            <a:off x="16917043" y="6687679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1DD168A7-BF44-B367-A030-F04BE42823FB}"/>
              </a:ext>
            </a:extLst>
          </p:cNvPr>
          <p:cNvSpPr/>
          <p:nvPr userDrawn="1"/>
        </p:nvSpPr>
        <p:spPr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B1895A35-2902-C1EF-0731-B1979F77C793}"/>
              </a:ext>
            </a:extLst>
          </p:cNvPr>
          <p:cNvSpPr/>
          <p:nvPr userDrawn="1"/>
        </p:nvSpPr>
        <p:spPr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E78247A3-9477-C8B5-82A9-1C29B4E555F6}"/>
              </a:ext>
            </a:extLst>
          </p:cNvPr>
          <p:cNvSpPr/>
          <p:nvPr userDrawn="1"/>
        </p:nvSpPr>
        <p:spPr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133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7A6022-A198-7B99-5333-A92C521AF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4000" y="1174623"/>
            <a:ext cx="14400000" cy="126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A61611-BC98-8FC7-6998-CB2FCAF87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4000" y="2522538"/>
            <a:ext cx="7052362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6CEA97-79C7-8C43-A7ED-2FC609436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44000" y="3757613"/>
            <a:ext cx="7052362" cy="55276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4D4B16-AEDF-5032-88F4-0CB7020E1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1" y="2522538"/>
            <a:ext cx="7085700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F08C4B-3B79-0941-39EA-7FCD122BB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1" y="3757613"/>
            <a:ext cx="7085700" cy="55276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155CCDE1-46E7-C56E-E499-CAC8BE54C302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35889E93-2A5D-58AD-C395-D2FD5A443DED}"/>
              </a:ext>
            </a:extLst>
          </p:cNvPr>
          <p:cNvSpPr/>
          <p:nvPr userDrawn="1"/>
        </p:nvSpPr>
        <p:spPr>
          <a:xfrm>
            <a:off x="16605940" y="6291738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496CF57D-CA1A-A609-3F9C-8F5C6C7CF86E}"/>
              </a:ext>
            </a:extLst>
          </p:cNvPr>
          <p:cNvSpPr/>
          <p:nvPr userDrawn="1"/>
        </p:nvSpPr>
        <p:spPr>
          <a:xfrm rot="7860679">
            <a:off x="16672693" y="586569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EEEBD99B-9609-C10D-B938-37A1D1276820}"/>
              </a:ext>
            </a:extLst>
          </p:cNvPr>
          <p:cNvSpPr/>
          <p:nvPr userDrawn="1"/>
        </p:nvSpPr>
        <p:spPr>
          <a:xfrm rot="-458312">
            <a:off x="16710104" y="1053145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E104128-F882-CD53-0D5D-FECF05E8306F}"/>
              </a:ext>
            </a:extLst>
          </p:cNvPr>
          <p:cNvSpPr/>
          <p:nvPr userDrawn="1"/>
        </p:nvSpPr>
        <p:spPr>
          <a:xfrm rot="1296289">
            <a:off x="15390336" y="-527401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2F05AF10-F9C8-3261-CB2F-ECE3F6CFA40E}"/>
              </a:ext>
            </a:extLst>
          </p:cNvPr>
          <p:cNvSpPr/>
          <p:nvPr userDrawn="1"/>
        </p:nvSpPr>
        <p:spPr>
          <a:xfrm rot="7628197">
            <a:off x="17157286" y="131932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ED978E30-DF37-EF1E-4EDA-D257DB52A802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BC28FAE3-EF77-16F7-D36F-89291BDBA23F}"/>
              </a:ext>
            </a:extLst>
          </p:cNvPr>
          <p:cNvSpPr/>
          <p:nvPr userDrawn="1"/>
        </p:nvSpPr>
        <p:spPr>
          <a:xfrm>
            <a:off x="-1249582" y="4137531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CEB1C3FA-1EEC-56C1-1AF2-E589AD20F890}"/>
              </a:ext>
            </a:extLst>
          </p:cNvPr>
          <p:cNvSpPr/>
          <p:nvPr userDrawn="1"/>
        </p:nvSpPr>
        <p:spPr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B2B7A818-0250-2839-7F03-AE94C1840AFE}"/>
              </a:ext>
            </a:extLst>
          </p:cNvPr>
          <p:cNvSpPr/>
          <p:nvPr userDrawn="1"/>
        </p:nvSpPr>
        <p:spPr>
          <a:xfrm rot="7860679">
            <a:off x="-755376" y="4673141"/>
            <a:ext cx="1600955" cy="1645696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7C0607F9-ADE3-ED8B-F55F-39BB06FB9595}"/>
              </a:ext>
            </a:extLst>
          </p:cNvPr>
          <p:cNvSpPr/>
          <p:nvPr userDrawn="1"/>
        </p:nvSpPr>
        <p:spPr>
          <a:xfrm rot="-2487859">
            <a:off x="754582" y="-207773"/>
            <a:ext cx="1882775" cy="168495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5" name="Freeform 4">
            <a:extLst>
              <a:ext uri="{FF2B5EF4-FFF2-40B4-BE49-F238E27FC236}">
                <a16:creationId xmlns:a16="http://schemas.microsoft.com/office/drawing/2014/main" id="{64108208-23A2-8DFE-FE94-2A9E0DE10064}"/>
              </a:ext>
            </a:extLst>
          </p:cNvPr>
          <p:cNvSpPr/>
          <p:nvPr userDrawn="1"/>
        </p:nvSpPr>
        <p:spPr>
          <a:xfrm>
            <a:off x="-613526" y="-932654"/>
            <a:ext cx="2609805" cy="259339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3916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C3409-D4E0-6BA5-6B2A-66758ACC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FEFB1F30-94B0-DC85-DC82-E761441E3253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2E75B04F-895F-3DA1-9C2A-C58FD4F32815}"/>
              </a:ext>
            </a:extLst>
          </p:cNvPr>
          <p:cNvSpPr/>
          <p:nvPr userDrawn="1"/>
        </p:nvSpPr>
        <p:spPr>
          <a:xfrm rot="-2487859">
            <a:off x="634233" y="-130796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9161E3FC-3BC4-55BC-EC0E-B8D63DB7B1E7}"/>
              </a:ext>
            </a:extLst>
          </p:cNvPr>
          <p:cNvSpPr/>
          <p:nvPr userDrawn="1"/>
        </p:nvSpPr>
        <p:spPr>
          <a:xfrm>
            <a:off x="92944" y="603209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927988C0-3255-8D48-C60F-7AAB697B9B5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3" name="Freeform 4">
            <a:extLst>
              <a:ext uri="{FF2B5EF4-FFF2-40B4-BE49-F238E27FC236}">
                <a16:creationId xmlns:a16="http://schemas.microsoft.com/office/drawing/2014/main" id="{B73C15CE-7BD2-833F-6D37-C3BE622A4E85}"/>
              </a:ext>
            </a:extLst>
          </p:cNvPr>
          <p:cNvSpPr/>
          <p:nvPr userDrawn="1"/>
        </p:nvSpPr>
        <p:spPr>
          <a:xfrm>
            <a:off x="-817599" y="-741416"/>
            <a:ext cx="2912187" cy="310971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D8D305A3-D8CD-8EDA-5D40-B2FA889FB87E}"/>
              </a:ext>
            </a:extLst>
          </p:cNvPr>
          <p:cNvSpPr/>
          <p:nvPr userDrawn="1"/>
        </p:nvSpPr>
        <p:spPr>
          <a:xfrm rot="16008410">
            <a:off x="15833994" y="712804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465EF946-DAE2-326E-773C-FD6B40EF54EE}"/>
              </a:ext>
            </a:extLst>
          </p:cNvPr>
          <p:cNvSpPr/>
          <p:nvPr userDrawn="1"/>
        </p:nvSpPr>
        <p:spPr>
          <a:xfrm rot="7860679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83D10F2F-D60C-5C95-8C72-D398638FD89E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8" name="Freeform 9">
            <a:extLst>
              <a:ext uri="{FF2B5EF4-FFF2-40B4-BE49-F238E27FC236}">
                <a16:creationId xmlns:a16="http://schemas.microsoft.com/office/drawing/2014/main" id="{73FE52D7-8F19-AD71-6D8B-F8BAB2677DFD}"/>
              </a:ext>
            </a:extLst>
          </p:cNvPr>
          <p:cNvSpPr/>
          <p:nvPr userDrawn="1"/>
        </p:nvSpPr>
        <p:spPr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F82FEDA8-4EF5-352B-0203-0F0F4CED9C42}"/>
              </a:ext>
            </a:extLst>
          </p:cNvPr>
          <p:cNvSpPr/>
          <p:nvPr userDrawn="1"/>
        </p:nvSpPr>
        <p:spPr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78FDF13-7102-6390-E270-30320B7A516D}"/>
              </a:ext>
            </a:extLst>
          </p:cNvPr>
          <p:cNvSpPr/>
          <p:nvPr userDrawn="1"/>
        </p:nvSpPr>
        <p:spPr>
          <a:xfrm rot="1296289">
            <a:off x="296953" y="7886423"/>
            <a:ext cx="3294095" cy="275408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1" name="Freeform 12">
            <a:extLst>
              <a:ext uri="{FF2B5EF4-FFF2-40B4-BE49-F238E27FC236}">
                <a16:creationId xmlns:a16="http://schemas.microsoft.com/office/drawing/2014/main" id="{1A4604D4-1613-D2EC-3684-B926344CA368}"/>
              </a:ext>
            </a:extLst>
          </p:cNvPr>
          <p:cNvSpPr/>
          <p:nvPr userDrawn="1"/>
        </p:nvSpPr>
        <p:spPr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78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0">
            <a:extLst>
              <a:ext uri="{FF2B5EF4-FFF2-40B4-BE49-F238E27FC236}">
                <a16:creationId xmlns:a16="http://schemas.microsoft.com/office/drawing/2014/main" id="{39212D54-E1E5-07A5-E13A-D94B11CC73CB}"/>
              </a:ext>
            </a:extLst>
          </p:cNvPr>
          <p:cNvSpPr/>
          <p:nvPr userDrawn="1"/>
        </p:nvSpPr>
        <p:spPr>
          <a:xfrm rot="-2487859">
            <a:off x="1848993" y="-392157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7138968B-20AA-CAF8-700F-BAB93331E2BF}"/>
              </a:ext>
            </a:extLst>
          </p:cNvPr>
          <p:cNvSpPr/>
          <p:nvPr userDrawn="1"/>
        </p:nvSpPr>
        <p:spPr>
          <a:xfrm>
            <a:off x="351158" y="5589207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529E3E70-0077-8ABC-C836-0F50A60F7BFD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9CF66559-D777-73EC-5EEC-F85C25559919}"/>
              </a:ext>
            </a:extLst>
          </p:cNvPr>
          <p:cNvSpPr/>
          <p:nvPr userDrawn="1"/>
        </p:nvSpPr>
        <p:spPr>
          <a:xfrm>
            <a:off x="-817599" y="-741417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650D41EF-FF4F-AD39-D072-DA92CD711E07}"/>
              </a:ext>
            </a:extLst>
          </p:cNvPr>
          <p:cNvSpPr/>
          <p:nvPr userDrawn="1"/>
        </p:nvSpPr>
        <p:spPr>
          <a:xfrm rot="16008410">
            <a:off x="15358696" y="245178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F621165A-D9E9-AFC9-8B13-32E2C07D5C16}"/>
              </a:ext>
            </a:extLst>
          </p:cNvPr>
          <p:cNvSpPr/>
          <p:nvPr userDrawn="1"/>
        </p:nvSpPr>
        <p:spPr>
          <a:xfrm rot="7860679">
            <a:off x="702797" y="573633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0BB7A524-6050-E014-BA58-27ABC302D830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EA399C87-A7CA-F8A4-8F37-8B3B816A02D4}"/>
              </a:ext>
            </a:extLst>
          </p:cNvPr>
          <p:cNvSpPr/>
          <p:nvPr userDrawn="1"/>
        </p:nvSpPr>
        <p:spPr>
          <a:xfrm rot="-458312">
            <a:off x="15741562" y="989320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A521874F-32FC-DCEF-0872-46FCFE4B5C46}"/>
              </a:ext>
            </a:extLst>
          </p:cNvPr>
          <p:cNvSpPr/>
          <p:nvPr userDrawn="1"/>
        </p:nvSpPr>
        <p:spPr>
          <a:xfrm rot="1296289">
            <a:off x="14830585" y="-257242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67DDB4D3-61D7-854C-133A-D14CBB020B2E}"/>
              </a:ext>
            </a:extLst>
          </p:cNvPr>
          <p:cNvSpPr/>
          <p:nvPr userDrawn="1"/>
        </p:nvSpPr>
        <p:spPr>
          <a:xfrm rot="-2487859">
            <a:off x="17027787" y="496651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880A42D8-0EF5-016E-B82E-40B3FD20D517}"/>
              </a:ext>
            </a:extLst>
          </p:cNvPr>
          <p:cNvSpPr/>
          <p:nvPr userDrawn="1"/>
        </p:nvSpPr>
        <p:spPr>
          <a:xfrm rot="1296289">
            <a:off x="619918" y="6991212"/>
            <a:ext cx="3294095" cy="275408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CF364CAB-26D9-242D-2173-35EED9694FFA}"/>
              </a:ext>
            </a:extLst>
          </p:cNvPr>
          <p:cNvSpPr/>
          <p:nvPr userDrawn="1"/>
        </p:nvSpPr>
        <p:spPr>
          <a:xfrm rot="2046247">
            <a:off x="16212870" y="1083509"/>
            <a:ext cx="2213171" cy="2273738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16DFAD4E-E1FC-D536-8781-C7766040C289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0893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16E78-2793-B012-CB0C-646A6A5A9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4000" y="1481138"/>
            <a:ext cx="5235566" cy="1260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BB85FD-ECDA-36AA-2F63-F92D935D9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4" y="1481138"/>
            <a:ext cx="8568425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58A1FB-E57C-5418-EBE1-354F98671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F47AD150-4E7B-64E2-B586-D89BE502678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B785267F-9B21-E2D1-8B7C-5852346519D4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DEC9A8E5-7307-5793-E10D-501433896A88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A2353211-40FC-5740-32CD-1C4B636D7A37}"/>
              </a:ext>
            </a:extLst>
          </p:cNvPr>
          <p:cNvSpPr/>
          <p:nvPr userDrawn="1"/>
        </p:nvSpPr>
        <p:spPr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B03E0420-8A6D-6BE6-D535-527AD41A1A23}"/>
              </a:ext>
            </a:extLst>
          </p:cNvPr>
          <p:cNvSpPr/>
          <p:nvPr userDrawn="1"/>
        </p:nvSpPr>
        <p:spPr>
          <a:xfrm rot="7860679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6" name="Freeform 8">
            <a:extLst>
              <a:ext uri="{FF2B5EF4-FFF2-40B4-BE49-F238E27FC236}">
                <a16:creationId xmlns:a16="http://schemas.microsoft.com/office/drawing/2014/main" id="{AE95795B-3C8A-0529-1C07-E4386818A618}"/>
              </a:ext>
            </a:extLst>
          </p:cNvPr>
          <p:cNvSpPr/>
          <p:nvPr userDrawn="1"/>
        </p:nvSpPr>
        <p:spPr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7" name="Freeform 9">
            <a:extLst>
              <a:ext uri="{FF2B5EF4-FFF2-40B4-BE49-F238E27FC236}">
                <a16:creationId xmlns:a16="http://schemas.microsoft.com/office/drawing/2014/main" id="{7CD293D5-CCCD-DB27-0368-65760863B577}"/>
              </a:ext>
            </a:extLst>
          </p:cNvPr>
          <p:cNvSpPr/>
          <p:nvPr userDrawn="1"/>
        </p:nvSpPr>
        <p:spPr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8" name="Freeform 10">
            <a:extLst>
              <a:ext uri="{FF2B5EF4-FFF2-40B4-BE49-F238E27FC236}">
                <a16:creationId xmlns:a16="http://schemas.microsoft.com/office/drawing/2014/main" id="{1D3F4BBB-70D6-DB0B-303C-DA23C05C8358}"/>
              </a:ext>
            </a:extLst>
          </p:cNvPr>
          <p:cNvSpPr/>
          <p:nvPr userDrawn="1"/>
        </p:nvSpPr>
        <p:spPr>
          <a:xfrm rot="-2487859">
            <a:off x="1742939" y="-107165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9" name="Freeform 11">
            <a:extLst>
              <a:ext uri="{FF2B5EF4-FFF2-40B4-BE49-F238E27FC236}">
                <a16:creationId xmlns:a16="http://schemas.microsoft.com/office/drawing/2014/main" id="{A91B5530-0FF0-FD42-3AB8-DF8DB9D91CC9}"/>
              </a:ext>
            </a:extLst>
          </p:cNvPr>
          <p:cNvSpPr/>
          <p:nvPr userDrawn="1"/>
        </p:nvSpPr>
        <p:spPr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23FCDB0A-FE28-5239-063A-55FF77DAEA5E}"/>
              </a:ext>
            </a:extLst>
          </p:cNvPr>
          <p:cNvSpPr/>
          <p:nvPr userDrawn="1"/>
        </p:nvSpPr>
        <p:spPr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AF83C77C-7708-6BFD-1A3A-1A7FE688E2D6}"/>
              </a:ext>
            </a:extLst>
          </p:cNvPr>
          <p:cNvSpPr/>
          <p:nvPr userDrawn="1"/>
        </p:nvSpPr>
        <p:spPr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45E5D326-E072-5757-7F26-55041BCADC38}"/>
              </a:ext>
            </a:extLst>
          </p:cNvPr>
          <p:cNvSpPr/>
          <p:nvPr userDrawn="1"/>
        </p:nvSpPr>
        <p:spPr>
          <a:xfrm rot="7860679">
            <a:off x="16251956" y="8185608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122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A5FF1BE-6E89-BD9B-6F40-A62ECDE55D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8568424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90BB0451-57CE-6C95-DCE7-EB3A0D295758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5CA1BBC5-0EE1-A6FB-D24A-FE0784B1A512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AC90572-095E-D207-28CC-5CC7CE8AAB54}"/>
              </a:ext>
            </a:extLst>
          </p:cNvPr>
          <p:cNvSpPr/>
          <p:nvPr userDrawn="1"/>
        </p:nvSpPr>
        <p:spPr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6F91B3CD-CC8F-0B3A-D18E-D660FC7D92FD}"/>
              </a:ext>
            </a:extLst>
          </p:cNvPr>
          <p:cNvSpPr/>
          <p:nvPr userDrawn="1"/>
        </p:nvSpPr>
        <p:spPr>
          <a:xfrm rot="7860679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9163308A-5476-0EE0-5224-021FE11335A9}"/>
              </a:ext>
            </a:extLst>
          </p:cNvPr>
          <p:cNvSpPr/>
          <p:nvPr userDrawn="1"/>
        </p:nvSpPr>
        <p:spPr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E41D98E6-757A-F89B-A562-5CC2FF52C434}"/>
              </a:ext>
            </a:extLst>
          </p:cNvPr>
          <p:cNvSpPr/>
          <p:nvPr userDrawn="1"/>
        </p:nvSpPr>
        <p:spPr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25F7D7F9-A4A2-443D-DB6B-12FBDA0EBEF5}"/>
              </a:ext>
            </a:extLst>
          </p:cNvPr>
          <p:cNvSpPr/>
          <p:nvPr userDrawn="1"/>
        </p:nvSpPr>
        <p:spPr>
          <a:xfrm rot="-2487859">
            <a:off x="1742939" y="-107165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16B66D66-EF89-D409-F216-68548596F9D9}"/>
              </a:ext>
            </a:extLst>
          </p:cNvPr>
          <p:cNvSpPr/>
          <p:nvPr userDrawn="1"/>
        </p:nvSpPr>
        <p:spPr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5DADAE46-D778-7C30-362F-6F7AE6433EFC}"/>
              </a:ext>
            </a:extLst>
          </p:cNvPr>
          <p:cNvSpPr/>
          <p:nvPr userDrawn="1"/>
        </p:nvSpPr>
        <p:spPr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88CBCFF4-7254-B7D0-3D1F-F21E7E31B92C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02BC145F-1719-414C-C71E-C2EC49EB0A6C}"/>
              </a:ext>
            </a:extLst>
          </p:cNvPr>
          <p:cNvSpPr txBox="1">
            <a:spLocks/>
          </p:cNvSpPr>
          <p:nvPr userDrawn="1"/>
        </p:nvSpPr>
        <p:spPr>
          <a:xfrm>
            <a:off x="1944000" y="1481138"/>
            <a:ext cx="5235566" cy="126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C519E988-B3EA-8638-30E0-6D5CC7C1CA3E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BFAEB560-E424-6593-FE5E-1B75DEA3BB45}"/>
              </a:ext>
            </a:extLst>
          </p:cNvPr>
          <p:cNvSpPr/>
          <p:nvPr userDrawn="1"/>
        </p:nvSpPr>
        <p:spPr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AB5C5D13-66A6-41D5-C8D9-D17B7D1DDE76}"/>
              </a:ext>
            </a:extLst>
          </p:cNvPr>
          <p:cNvSpPr/>
          <p:nvPr userDrawn="1"/>
        </p:nvSpPr>
        <p:spPr>
          <a:xfrm rot="7860679">
            <a:off x="16251956" y="8185608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1507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9158FE7-BF23-3A43-1F93-3546E5471C12}"/>
              </a:ext>
            </a:extLst>
          </p:cNvPr>
          <p:cNvSpPr/>
          <p:nvPr userDrawn="1"/>
        </p:nvSpPr>
        <p:spPr>
          <a:xfrm>
            <a:off x="2186282" y="2403128"/>
            <a:ext cx="13716000" cy="62379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05643" y="2410767"/>
            <a:ext cx="13716000" cy="6230294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de-DE" dirty="0"/>
              <a:t>Gibt es offene Fragen?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63302" y="31570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8728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9158FE7-BF23-3A43-1F93-3546E5471C12}"/>
              </a:ext>
            </a:extLst>
          </p:cNvPr>
          <p:cNvSpPr/>
          <p:nvPr userDrawn="1"/>
        </p:nvSpPr>
        <p:spPr>
          <a:xfrm>
            <a:off x="2205643" y="2394218"/>
            <a:ext cx="13716000" cy="623793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05643" y="2410767"/>
            <a:ext cx="13716000" cy="6221384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de-DE" dirty="0"/>
              <a:t>Schön das Ihr da wart!</a:t>
            </a:r>
            <a:br>
              <a:rPr lang="de-DE" dirty="0"/>
            </a:br>
            <a:r>
              <a:rPr lang="de-DE" dirty="0"/>
              <a:t>Bis nächste Woche 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63302" y="31570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6106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7E3A0CB0-E9D5-E099-7793-E4F66CD0D4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6905" y="4807323"/>
            <a:ext cx="2373813" cy="1592764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F9AFEAC-D5A8-503D-7C40-CF3CBCA3C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021566" y="6891802"/>
            <a:ext cx="1502640" cy="1592764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3EA40C45-80E3-9DBE-0D88-9108036EE6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639800" y="6638689"/>
            <a:ext cx="1949303" cy="1592764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EF5E2560-0A3A-94A2-5A16-9B894912A2B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677723" y="6922092"/>
            <a:ext cx="2258684" cy="159276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CE314E4-F661-2E60-D488-01881579C4E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326904" y="5064484"/>
            <a:ext cx="2033866" cy="1592764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CC1A16C3-D223-9B94-BC6D-9D2FC378475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485268" y="3220983"/>
            <a:ext cx="1775341" cy="1592764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35FDDE54-74CC-5209-2E8E-94F46737BDF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6220430" y="8526750"/>
            <a:ext cx="2080242" cy="1592764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4559DBB7-12D0-1FD0-FC5C-934CA88C7871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349260" y="4800008"/>
            <a:ext cx="2193219" cy="1592764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>
            <a:extLst>
              <a:ext uri="{FF2B5EF4-FFF2-40B4-BE49-F238E27FC236}">
                <a16:creationId xmlns:a16="http://schemas.microsoft.com/office/drawing/2014/main" id="{C6AD4F95-6B05-C91C-C7FC-AA231BBD4F4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6093202" y="3146603"/>
            <a:ext cx="2157516" cy="1592764"/>
          </a:xfrm>
          <a:prstGeom prst="rect">
            <a:avLst/>
          </a:prstGeom>
        </p:spPr>
      </p:pic>
      <p:grpSp>
        <p:nvGrpSpPr>
          <p:cNvPr id="27" name="Google Shape;418;p40">
            <a:extLst>
              <a:ext uri="{FF2B5EF4-FFF2-40B4-BE49-F238E27FC236}">
                <a16:creationId xmlns:a16="http://schemas.microsoft.com/office/drawing/2014/main" id="{E2968DC3-638A-2497-5ACE-FC13D198B37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970519" y="3831316"/>
            <a:ext cx="1196899" cy="839754"/>
            <a:chOff x="559275" y="1683950"/>
            <a:chExt cx="466500" cy="327300"/>
          </a:xfrm>
        </p:grpSpPr>
        <p:sp>
          <p:nvSpPr>
            <p:cNvPr id="28" name="Google Shape;419;p40">
              <a:extLst>
                <a:ext uri="{FF2B5EF4-FFF2-40B4-BE49-F238E27FC236}">
                  <a16:creationId xmlns:a16="http://schemas.microsoft.com/office/drawing/2014/main" id="{D4E07169-9311-A919-A5B1-3A2BC489A820}"/>
                </a:ext>
              </a:extLst>
            </p:cNvPr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20;p40">
              <a:extLst>
                <a:ext uri="{FF2B5EF4-FFF2-40B4-BE49-F238E27FC236}">
                  <a16:creationId xmlns:a16="http://schemas.microsoft.com/office/drawing/2014/main" id="{503B8EED-9682-4157-D085-145252C22655}"/>
                </a:ext>
              </a:extLst>
            </p:cNvPr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421;p40">
            <a:extLst>
              <a:ext uri="{FF2B5EF4-FFF2-40B4-BE49-F238E27FC236}">
                <a16:creationId xmlns:a16="http://schemas.microsoft.com/office/drawing/2014/main" id="{BE107EB6-45D4-F910-C895-A11AE900F66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0516" y="742994"/>
            <a:ext cx="1205798" cy="1180532"/>
            <a:chOff x="1233350" y="1619250"/>
            <a:chExt cx="466500" cy="456725"/>
          </a:xfrm>
        </p:grpSpPr>
        <p:sp>
          <p:nvSpPr>
            <p:cNvPr id="31" name="Google Shape;422;p40">
              <a:extLst>
                <a:ext uri="{FF2B5EF4-FFF2-40B4-BE49-F238E27FC236}">
                  <a16:creationId xmlns:a16="http://schemas.microsoft.com/office/drawing/2014/main" id="{006AC4A0-2301-F011-43E4-1034601DD5D6}"/>
                </a:ext>
              </a:extLst>
            </p:cNvPr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23;p40">
              <a:extLst>
                <a:ext uri="{FF2B5EF4-FFF2-40B4-BE49-F238E27FC236}">
                  <a16:creationId xmlns:a16="http://schemas.microsoft.com/office/drawing/2014/main" id="{60AAD319-02B2-666F-121E-42411FF22D72}"/>
                </a:ext>
              </a:extLst>
            </p:cNvPr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24;p40">
              <a:extLst>
                <a:ext uri="{FF2B5EF4-FFF2-40B4-BE49-F238E27FC236}">
                  <a16:creationId xmlns:a16="http://schemas.microsoft.com/office/drawing/2014/main" id="{44DD9E97-9119-8124-24B5-C0B800995E2E}"/>
                </a:ext>
              </a:extLst>
            </p:cNvPr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25;p40">
              <a:extLst>
                <a:ext uri="{FF2B5EF4-FFF2-40B4-BE49-F238E27FC236}">
                  <a16:creationId xmlns:a16="http://schemas.microsoft.com/office/drawing/2014/main" id="{100C8D06-9AEA-8401-04DC-63DB0F2CAFAC}"/>
                </a:ext>
              </a:extLst>
            </p:cNvPr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426;p40">
            <a:extLst>
              <a:ext uri="{FF2B5EF4-FFF2-40B4-BE49-F238E27FC236}">
                <a16:creationId xmlns:a16="http://schemas.microsoft.com/office/drawing/2014/main" id="{86012837-28A8-42E6-68F8-3AFCF165B60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088394" y="3574688"/>
            <a:ext cx="974938" cy="974938"/>
            <a:chOff x="1922075" y="1629000"/>
            <a:chExt cx="437200" cy="437200"/>
          </a:xfrm>
        </p:grpSpPr>
        <p:sp>
          <p:nvSpPr>
            <p:cNvPr id="36" name="Google Shape;427;p40">
              <a:extLst>
                <a:ext uri="{FF2B5EF4-FFF2-40B4-BE49-F238E27FC236}">
                  <a16:creationId xmlns:a16="http://schemas.microsoft.com/office/drawing/2014/main" id="{6764EFCE-92F1-8642-0498-86DD8044119E}"/>
                </a:ext>
              </a:extLst>
            </p:cNvPr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28;p40">
              <a:extLst>
                <a:ext uri="{FF2B5EF4-FFF2-40B4-BE49-F238E27FC236}">
                  <a16:creationId xmlns:a16="http://schemas.microsoft.com/office/drawing/2014/main" id="{D94B9682-90C7-4D36-A683-146DF7F296A3}"/>
                </a:ext>
              </a:extLst>
            </p:cNvPr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429;p40">
            <a:extLst>
              <a:ext uri="{FF2B5EF4-FFF2-40B4-BE49-F238E27FC236}">
                <a16:creationId xmlns:a16="http://schemas.microsoft.com/office/drawing/2014/main" id="{D48921D5-D733-0731-440C-0B989FD7E93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14349" y="3536998"/>
            <a:ext cx="1005134" cy="1005134"/>
            <a:chOff x="2594325" y="1627175"/>
            <a:chExt cx="440850" cy="440850"/>
          </a:xfrm>
        </p:grpSpPr>
        <p:sp>
          <p:nvSpPr>
            <p:cNvPr id="39" name="Google Shape;430;p40">
              <a:extLst>
                <a:ext uri="{FF2B5EF4-FFF2-40B4-BE49-F238E27FC236}">
                  <a16:creationId xmlns:a16="http://schemas.microsoft.com/office/drawing/2014/main" id="{D3F9DF86-A4E3-1AB6-7530-BA688BF05453}"/>
                </a:ext>
              </a:extLst>
            </p:cNvPr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31;p40">
              <a:extLst>
                <a:ext uri="{FF2B5EF4-FFF2-40B4-BE49-F238E27FC236}">
                  <a16:creationId xmlns:a16="http://schemas.microsoft.com/office/drawing/2014/main" id="{38ABD5BF-A56E-F107-7C2C-893D44E1ED88}"/>
                </a:ext>
              </a:extLst>
            </p:cNvPr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32;p40">
              <a:extLst>
                <a:ext uri="{FF2B5EF4-FFF2-40B4-BE49-F238E27FC236}">
                  <a16:creationId xmlns:a16="http://schemas.microsoft.com/office/drawing/2014/main" id="{54FDEDA8-B57D-D039-0C8D-D9EF4911BE4E}"/>
                </a:ext>
              </a:extLst>
            </p:cNvPr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Google Shape;488;p40">
            <a:extLst>
              <a:ext uri="{FF2B5EF4-FFF2-40B4-BE49-F238E27FC236}">
                <a16:creationId xmlns:a16="http://schemas.microsoft.com/office/drawing/2014/main" id="{7ED12B17-1993-D628-7799-0159ECA94621}"/>
              </a:ext>
            </a:extLst>
          </p:cNvPr>
          <p:cNvSpPr>
            <a:spLocks noChangeAspect="1"/>
          </p:cNvSpPr>
          <p:nvPr userDrawn="1"/>
        </p:nvSpPr>
        <p:spPr>
          <a:xfrm>
            <a:off x="6225064" y="1724791"/>
            <a:ext cx="1245939" cy="1599223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89;p40">
            <a:extLst>
              <a:ext uri="{FF2B5EF4-FFF2-40B4-BE49-F238E27FC236}">
                <a16:creationId xmlns:a16="http://schemas.microsoft.com/office/drawing/2014/main" id="{C237BCA3-79DE-8D6E-1CEF-A0F9100C268E}"/>
              </a:ext>
            </a:extLst>
          </p:cNvPr>
          <p:cNvSpPr>
            <a:spLocks noChangeAspect="1"/>
          </p:cNvSpPr>
          <p:nvPr userDrawn="1"/>
        </p:nvSpPr>
        <p:spPr>
          <a:xfrm>
            <a:off x="4980938" y="1713050"/>
            <a:ext cx="903927" cy="1566072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" name="Google Shape;490;p40">
            <a:extLst>
              <a:ext uri="{FF2B5EF4-FFF2-40B4-BE49-F238E27FC236}">
                <a16:creationId xmlns:a16="http://schemas.microsoft.com/office/drawing/2014/main" id="{44661FAB-0382-6414-522D-17D926C903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906067" y="1750254"/>
            <a:ext cx="1622856" cy="1562899"/>
            <a:chOff x="2583325" y="2972875"/>
            <a:chExt cx="462850" cy="445750"/>
          </a:xfrm>
        </p:grpSpPr>
        <p:sp>
          <p:nvSpPr>
            <p:cNvPr id="45" name="Google Shape;491;p40">
              <a:extLst>
                <a:ext uri="{FF2B5EF4-FFF2-40B4-BE49-F238E27FC236}">
                  <a16:creationId xmlns:a16="http://schemas.microsoft.com/office/drawing/2014/main" id="{CD8B1178-8556-58A7-6C61-8230E44A88D1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92;p40">
              <a:extLst>
                <a:ext uri="{FF2B5EF4-FFF2-40B4-BE49-F238E27FC236}">
                  <a16:creationId xmlns:a16="http://schemas.microsoft.com/office/drawing/2014/main" id="{D4FAA2DC-1C82-D242-D22B-E4F855F5EF6D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" name="Grafik 57">
            <a:extLst>
              <a:ext uri="{FF2B5EF4-FFF2-40B4-BE49-F238E27FC236}">
                <a16:creationId xmlns:a16="http://schemas.microsoft.com/office/drawing/2014/main" id="{FFB91F42-563A-857E-ADB7-A2E30A242D6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10142224" y="3651773"/>
            <a:ext cx="1726057" cy="115842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805B4E8-9696-B68F-92F9-40125CB5CB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0124" y="890575"/>
            <a:ext cx="2921000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D5DAD8-AA8F-28C4-CBA3-9566777CF9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9618" y="1217924"/>
            <a:ext cx="37211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9E89FE1-B766-3D6E-AA9F-15331AADCC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5809" y="4850217"/>
            <a:ext cx="1726057" cy="1453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B72872D-A5BF-026C-D2EA-08D5BCAC6C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2967" y="3095399"/>
            <a:ext cx="1887615" cy="175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CB4904A-0C43-3B98-0730-12DF8DD96E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959" y="5412782"/>
            <a:ext cx="2620189" cy="107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F54383CC-19F7-BFAF-9B67-AAB145D7E5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133" y="8901354"/>
            <a:ext cx="2390510" cy="1157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63BBA0AB-BEBB-21E6-04D6-1E1D4A2A28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731" y="6936730"/>
            <a:ext cx="2288833" cy="158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4516BB9C-6534-0611-1C86-FB414A1A7A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4729" y="6678395"/>
            <a:ext cx="1949303" cy="151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A88FC152-7268-69BB-7621-E5132DEA47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5448" y="6847298"/>
            <a:ext cx="1562381" cy="157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>
            <a:extLst>
              <a:ext uri="{FF2B5EF4-FFF2-40B4-BE49-F238E27FC236}">
                <a16:creationId xmlns:a16="http://schemas.microsoft.com/office/drawing/2014/main" id="{77E04DC4-2858-564A-AE69-5FA3BADB20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146" y="9086104"/>
            <a:ext cx="1646901" cy="97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>
            <a:extLst>
              <a:ext uri="{FF2B5EF4-FFF2-40B4-BE49-F238E27FC236}">
                <a16:creationId xmlns:a16="http://schemas.microsoft.com/office/drawing/2014/main" id="{3252BC43-E7BD-710C-A290-251F91050F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330" y="8641236"/>
            <a:ext cx="1939938" cy="1363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5765752B-A385-7379-1871-746ED91151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942" y="8924883"/>
            <a:ext cx="1706562" cy="1137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1A133E14-E11F-3439-BE67-B088A1B717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9336" y="8424702"/>
            <a:ext cx="2033866" cy="1538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4A84675B-44FB-5F5D-4E1A-E9C1B770FD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598" y="4800301"/>
            <a:ext cx="16637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>
            <a:extLst>
              <a:ext uri="{FF2B5EF4-FFF2-40B4-BE49-F238E27FC236}">
                <a16:creationId xmlns:a16="http://schemas.microsoft.com/office/drawing/2014/main" id="{0457828F-C838-CBC5-58C0-55B7A98CAA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308" y="5049355"/>
            <a:ext cx="18034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31">
            <a:extLst>
              <a:ext uri="{FF2B5EF4-FFF2-40B4-BE49-F238E27FC236}">
                <a16:creationId xmlns:a16="http://schemas.microsoft.com/office/drawing/2014/main" id="{BEA7027E-96E3-F6DC-7457-15884382C4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363" y="8468714"/>
            <a:ext cx="1658539" cy="1494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33">
            <a:extLst>
              <a:ext uri="{FF2B5EF4-FFF2-40B4-BE49-F238E27FC236}">
                <a16:creationId xmlns:a16="http://schemas.microsoft.com/office/drawing/2014/main" id="{E4E65B55-224F-E51E-929B-C616F58CA4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411" y="6582177"/>
            <a:ext cx="2565400" cy="161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35">
            <a:extLst>
              <a:ext uri="{FF2B5EF4-FFF2-40B4-BE49-F238E27FC236}">
                <a16:creationId xmlns:a16="http://schemas.microsoft.com/office/drawing/2014/main" id="{F375770D-1F75-FA8B-30CD-6ED7F25A728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1262" y="2000770"/>
            <a:ext cx="1868862" cy="121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Picture 37">
            <a:extLst>
              <a:ext uri="{FF2B5EF4-FFF2-40B4-BE49-F238E27FC236}">
                <a16:creationId xmlns:a16="http://schemas.microsoft.com/office/drawing/2014/main" id="{1D0C0EBA-5A68-0EE5-F218-E7F7096B32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737" y="3540548"/>
            <a:ext cx="2377773" cy="131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3" name="Picture 39">
            <a:extLst>
              <a:ext uri="{FF2B5EF4-FFF2-40B4-BE49-F238E27FC236}">
                <a16:creationId xmlns:a16="http://schemas.microsoft.com/office/drawing/2014/main" id="{BC89B3E6-A176-0E23-5AB9-D799200C38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38" y="6967110"/>
            <a:ext cx="2098998" cy="154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7D91AAE0-509C-AE87-7A0C-2AE9116F83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9" y="8712074"/>
            <a:ext cx="2167269" cy="142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feld 59">
            <a:extLst>
              <a:ext uri="{FF2B5EF4-FFF2-40B4-BE49-F238E27FC236}">
                <a16:creationId xmlns:a16="http://schemas.microsoft.com/office/drawing/2014/main" id="{36A8B709-8CC6-C6AC-D0ED-E7F706206975}"/>
              </a:ext>
            </a:extLst>
          </p:cNvPr>
          <p:cNvSpPr txBox="1"/>
          <p:nvPr userDrawn="1"/>
        </p:nvSpPr>
        <p:spPr>
          <a:xfrm>
            <a:off x="305392" y="2225969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Icon für extra Material</a:t>
            </a:r>
          </a:p>
        </p:txBody>
      </p:sp>
    </p:spTree>
    <p:extLst>
      <p:ext uri="{BB962C8B-B14F-4D97-AF65-F5344CB8AC3E}">
        <p14:creationId xmlns:p14="http://schemas.microsoft.com/office/powerpoint/2010/main" val="1633780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27CF1F7-0937-F9F7-257C-5A064E57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000" y="1322140"/>
            <a:ext cx="14400000" cy="126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F10457-F989-7DA5-F7A2-573216F11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4000" y="2769111"/>
            <a:ext cx="14400000" cy="64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958ADD56-CB6F-8E99-36ED-1E96FDC0D4A7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0001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3" r:id="rId3"/>
    <p:sldLayoutId id="2147483662" r:id="rId4"/>
    <p:sldLayoutId id="2147483663" r:id="rId5"/>
    <p:sldLayoutId id="2147483671" r:id="rId6"/>
    <p:sldLayoutId id="2147483672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4" r:id="rId14"/>
    <p:sldLayoutId id="2147483676" r:id="rId15"/>
    <p:sldLayoutId id="214748367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therpad.leuphana.d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academiccloud.de/" TargetMode="External"/><Relationship Id="rId5" Type="http://schemas.openxmlformats.org/officeDocument/2006/relationships/hyperlink" Target="https://docs.cryptpad.fr/de/user_guide/index.html" TargetMode="External"/><Relationship Id="rId4" Type="http://schemas.openxmlformats.org/officeDocument/2006/relationships/hyperlink" Target="https://pad.leuphana.de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629D2E-CA01-9782-F867-19335E23C8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Tools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work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CB3BB7D-61A1-DFC7-EA97-FDD7A6839B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0947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7BFC7-9BD2-7BD4-EFBA-90444924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8416EE-1AE2-5884-0E8D-F88CF0CF9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Tools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collaboration</a:t>
            </a:r>
            <a:br>
              <a:rPr lang="de-DE" dirty="0"/>
            </a:br>
            <a:endParaRPr lang="de-DE" dirty="0"/>
          </a:p>
          <a:p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work</a:t>
            </a:r>
            <a:br>
              <a:rPr lang="de-DE" dirty="0"/>
            </a:br>
            <a:endParaRPr lang="de-DE" dirty="0"/>
          </a:p>
          <a:p>
            <a:r>
              <a:rPr lang="de-DE" dirty="0"/>
              <a:t>Lending </a:t>
            </a:r>
            <a:r>
              <a:rPr lang="de-DE" dirty="0" err="1"/>
              <a:t>equipment</a:t>
            </a:r>
            <a:endParaRPr lang="de-DE" dirty="0"/>
          </a:p>
        </p:txBody>
      </p:sp>
      <p:grpSp>
        <p:nvGrpSpPr>
          <p:cNvPr id="4" name="Google Shape;421;p40">
            <a:extLst>
              <a:ext uri="{FF2B5EF4-FFF2-40B4-BE49-F238E27FC236}">
                <a16:creationId xmlns:a16="http://schemas.microsoft.com/office/drawing/2014/main" id="{051C686B-2EEA-2BF0-3CBE-4F2DD4586F37}"/>
              </a:ext>
            </a:extLst>
          </p:cNvPr>
          <p:cNvGrpSpPr>
            <a:grpSpLocks noChangeAspect="1"/>
          </p:cNvGrpSpPr>
          <p:nvPr/>
        </p:nvGrpSpPr>
        <p:grpSpPr>
          <a:xfrm>
            <a:off x="9525000" y="8267700"/>
            <a:ext cx="1205798" cy="1180532"/>
            <a:chOff x="1233350" y="1619250"/>
            <a:chExt cx="466500" cy="456725"/>
          </a:xfrm>
        </p:grpSpPr>
        <p:sp>
          <p:nvSpPr>
            <p:cNvPr id="5" name="Google Shape;422;p40">
              <a:extLst>
                <a:ext uri="{FF2B5EF4-FFF2-40B4-BE49-F238E27FC236}">
                  <a16:creationId xmlns:a16="http://schemas.microsoft.com/office/drawing/2014/main" id="{C3C0AA3E-467D-78B8-29C7-516D2DDE2913}"/>
                </a:ext>
              </a:extLst>
            </p:cNvPr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23;p40">
              <a:extLst>
                <a:ext uri="{FF2B5EF4-FFF2-40B4-BE49-F238E27FC236}">
                  <a16:creationId xmlns:a16="http://schemas.microsoft.com/office/drawing/2014/main" id="{975C5B7C-9317-A62F-6284-C58A95625D75}"/>
                </a:ext>
              </a:extLst>
            </p:cNvPr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24;p40">
              <a:extLst>
                <a:ext uri="{FF2B5EF4-FFF2-40B4-BE49-F238E27FC236}">
                  <a16:creationId xmlns:a16="http://schemas.microsoft.com/office/drawing/2014/main" id="{77650914-383A-1098-2DE0-3AA224ED3438}"/>
                </a:ext>
              </a:extLst>
            </p:cNvPr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25;p40">
              <a:extLst>
                <a:ext uri="{FF2B5EF4-FFF2-40B4-BE49-F238E27FC236}">
                  <a16:creationId xmlns:a16="http://schemas.microsoft.com/office/drawing/2014/main" id="{FB8767DF-6BDC-57D5-93E8-79D37848AB69}"/>
                </a:ext>
              </a:extLst>
            </p:cNvPr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9217730A-658E-D1BF-4D40-20983B9C15CD}"/>
              </a:ext>
            </a:extLst>
          </p:cNvPr>
          <p:cNvSpPr txBox="1">
            <a:spLocks/>
          </p:cNvSpPr>
          <p:nvPr/>
        </p:nvSpPr>
        <p:spPr>
          <a:xfrm>
            <a:off x="10825598" y="8472793"/>
            <a:ext cx="3195202" cy="111168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br>
              <a:rPr lang="de-DE" dirty="0"/>
            </a:br>
            <a:r>
              <a:rPr lang="de-DE" dirty="0"/>
              <a:t>manage </a:t>
            </a:r>
            <a:r>
              <a:rPr lang="de-DE" dirty="0" err="1"/>
              <a:t>projects</a:t>
            </a:r>
            <a:endParaRPr lang="de-DE" sz="280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8306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E7BC2-CC26-1799-8444-917E8520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Tools für Kollaborationen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7B010D-E664-70F4-31A1-DE1BBFD89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200" dirty="0" err="1">
                <a:latin typeface="+mn-lt"/>
              </a:rPr>
              <a:t>Etherpad</a:t>
            </a:r>
            <a:r>
              <a:rPr lang="en-US" sz="3200" dirty="0">
                <a:latin typeface="+mn-lt"/>
              </a:rPr>
              <a:t>: </a:t>
            </a:r>
            <a:r>
              <a:rPr lang="en-US" sz="3200" dirty="0">
                <a:latin typeface="+mn-lt"/>
                <a:hlinkClick r:id="rId3"/>
              </a:rPr>
              <a:t>https://etherpad.leuphana.de</a:t>
            </a:r>
            <a:r>
              <a:rPr lang="en-US" sz="3200" dirty="0">
                <a:latin typeface="+mn-lt"/>
              </a:rPr>
              <a:t> - simple text editor</a:t>
            </a:r>
            <a:endParaRPr lang="en-US" sz="3200" dirty="0"/>
          </a:p>
          <a:p>
            <a:pPr>
              <a:lnSpc>
                <a:spcPct val="150000"/>
              </a:lnSpc>
              <a:defRPr/>
            </a:pPr>
            <a:r>
              <a:rPr lang="en-US" sz="3200" i="1" dirty="0" err="1">
                <a:latin typeface="+mn-lt"/>
              </a:rPr>
              <a:t>Cryptpad</a:t>
            </a:r>
            <a:r>
              <a:rPr lang="en-US" sz="3200" i="1" dirty="0">
                <a:latin typeface="+mn-lt"/>
              </a:rPr>
              <a:t>*: </a:t>
            </a:r>
            <a:r>
              <a:rPr lang="en-US" sz="3200" u="sng" dirty="0">
                <a:latin typeface="+mn-lt"/>
                <a:hlinkClick r:id="rId4" tooltip="https://pad.leuphana.de/"/>
              </a:rPr>
              <a:t>https://pad.leuphana.de/</a:t>
            </a:r>
            <a:r>
              <a:rPr lang="en-US" sz="3200" dirty="0">
                <a:latin typeface="+mn-lt"/>
              </a:rPr>
              <a:t>- text editor with several functions</a:t>
            </a:r>
            <a:endParaRPr lang="en-US" sz="3200" dirty="0"/>
          </a:p>
          <a:p>
            <a:pPr lvl="1">
              <a:lnSpc>
                <a:spcPct val="150000"/>
              </a:lnSpc>
              <a:defRPr/>
            </a:pPr>
            <a:r>
              <a:rPr lang="de-DE" sz="3200" dirty="0" err="1">
                <a:latin typeface="+mn-lt"/>
              </a:rPr>
              <a:t>Instructions</a:t>
            </a:r>
            <a:r>
              <a:rPr lang="de-DE" sz="3200" dirty="0">
                <a:latin typeface="+mn-lt"/>
              </a:rPr>
              <a:t> at </a:t>
            </a:r>
            <a:r>
              <a:rPr lang="de-DE" sz="3200" u="sng" dirty="0">
                <a:latin typeface="+mn-lt"/>
                <a:hlinkClick r:id="rId5" tooltip="https://docs.cryptpad.fr/de/user_guide/index.html"/>
              </a:rPr>
              <a:t>https://docs.cryptpad.fr/de/user_guide/index.html</a:t>
            </a:r>
            <a:endParaRPr lang="de-DE" sz="3200" dirty="0">
              <a:latin typeface="+mn-lt"/>
            </a:endParaRPr>
          </a:p>
          <a:p>
            <a:pPr lvl="1">
              <a:lnSpc>
                <a:spcPct val="150000"/>
              </a:lnSpc>
              <a:defRPr/>
            </a:pPr>
            <a:r>
              <a:rPr lang="de-DE" sz="3200" dirty="0">
                <a:latin typeface="+mn-lt"/>
              </a:rPr>
              <a:t>Crypt-Drive</a:t>
            </a:r>
            <a:endParaRPr lang="de-DE" sz="3200" dirty="0"/>
          </a:p>
          <a:p>
            <a:pPr>
              <a:lnSpc>
                <a:spcPct val="150000"/>
              </a:lnSpc>
              <a:defRPr/>
            </a:pPr>
            <a:r>
              <a:rPr lang="de-DE" sz="3200" dirty="0" err="1">
                <a:latin typeface="+mn-lt"/>
              </a:rPr>
              <a:t>Trello</a:t>
            </a:r>
            <a:r>
              <a:rPr lang="de-DE" sz="3200" dirty="0">
                <a:latin typeface="+mn-lt"/>
              </a:rPr>
              <a:t>: </a:t>
            </a:r>
            <a:r>
              <a:rPr lang="de-DE" sz="3200" u="sng" dirty="0">
                <a:latin typeface="+mn-lt"/>
                <a:hlinkClick r:id="rId6" tooltip="https://academiccloud.de/"/>
              </a:rPr>
              <a:t>https://academiccloud.de</a:t>
            </a:r>
            <a:endParaRPr lang="de-DE" sz="3200" dirty="0">
              <a:latin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de-DE" sz="3200" i="1" dirty="0">
                <a:latin typeface="+mn-lt"/>
              </a:rPr>
              <a:t>Academic Cloud*: </a:t>
            </a:r>
            <a:r>
              <a:rPr lang="de-DE" sz="3200" u="sng" dirty="0">
                <a:latin typeface="+mn-lt"/>
                <a:hlinkClick r:id="rId6" tooltip="https://academiccloud.de/"/>
              </a:rPr>
              <a:t>https://academiccloud.de</a:t>
            </a:r>
            <a:endParaRPr lang="de-DE" sz="3200" dirty="0">
              <a:latin typeface="+mn-lt"/>
            </a:endParaRPr>
          </a:p>
          <a:p>
            <a:pPr>
              <a:lnSpc>
                <a:spcPct val="150000"/>
              </a:lnSpc>
              <a:defRPr/>
            </a:pPr>
            <a:endParaRPr lang="de-DE" sz="3200" dirty="0"/>
          </a:p>
          <a:p>
            <a:pPr marL="0" indent="0">
              <a:buNone/>
              <a:defRPr/>
            </a:pPr>
            <a:r>
              <a:rPr lang="de-DE" sz="3200" i="1" dirty="0"/>
              <a:t>*Leuphana-</a:t>
            </a:r>
            <a:r>
              <a:rPr lang="de-DE" sz="3200" i="1" dirty="0" err="1"/>
              <a:t>associated</a:t>
            </a:r>
            <a:endParaRPr lang="de-DE" sz="3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de-DE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2134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E7BC2-CC26-1799-8444-917E8520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work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7B010D-E664-70F4-31A1-DE1BBFD89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defRPr/>
            </a:pPr>
            <a:r>
              <a:rPr lang="en-US" sz="4000" dirty="0">
                <a:latin typeface="+mn-lt"/>
              </a:rPr>
              <a:t>Group study rooms in the library &amp; central building</a:t>
            </a:r>
          </a:p>
          <a:p>
            <a:pPr>
              <a:lnSpc>
                <a:spcPct val="150000"/>
              </a:lnSpc>
              <a:defRPr/>
            </a:pPr>
            <a:r>
              <a:rPr lang="en-US" sz="4000" dirty="0">
                <a:latin typeface="+mn-lt"/>
              </a:rPr>
              <a:t>Room search via </a:t>
            </a:r>
            <a:r>
              <a:rPr lang="en-US" sz="4000" dirty="0" err="1">
                <a:latin typeface="+mn-lt"/>
              </a:rPr>
              <a:t>myStudy</a:t>
            </a:r>
            <a:endParaRPr lang="en-US" sz="4000" dirty="0">
              <a:latin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en-US" sz="4000" dirty="0">
                <a:latin typeface="+mn-lt"/>
              </a:rPr>
              <a:t>other rooms on the campus</a:t>
            </a:r>
          </a:p>
          <a:p>
            <a:pPr>
              <a:lnSpc>
                <a:spcPct val="150000"/>
              </a:lnSpc>
              <a:defRPr/>
            </a:pPr>
            <a:r>
              <a:rPr lang="en-US" sz="4000" dirty="0">
                <a:latin typeface="+mn-lt"/>
              </a:rPr>
              <a:t>Video conferencing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3600" dirty="0">
                <a:latin typeface="+mn-lt"/>
              </a:rPr>
              <a:t>Zoom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3600" dirty="0">
                <a:latin typeface="+mn-lt"/>
              </a:rPr>
              <a:t>Meet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3600" dirty="0"/>
              <a:t>Big Blue Button</a:t>
            </a:r>
            <a:endParaRPr lang="de-DE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04669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076E08-DBAE-B593-FC82-387B662C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Lending </a:t>
            </a:r>
            <a:r>
              <a:rPr lang="de-DE" dirty="0" err="1"/>
              <a:t>equipment</a:t>
            </a:r>
            <a:endParaRPr lang="de-DE" dirty="0"/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C1DD2E6-F2B8-308C-897A-A3E6A7D49FE9}"/>
              </a:ext>
            </a:extLst>
          </p:cNvPr>
          <p:cNvSpPr txBox="1">
            <a:spLocks/>
          </p:cNvSpPr>
          <p:nvPr/>
        </p:nvSpPr>
        <p:spPr bwMode="auto">
          <a:xfrm>
            <a:off x="2079866" y="3429000"/>
            <a:ext cx="13693534" cy="377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US" sz="3200" dirty="0"/>
              <a:t>Camcorder, sound equipment, editing suites </a:t>
            </a:r>
            <a:r>
              <a:rPr lang="en-US" sz="3200" dirty="0">
                <a:sym typeface="Wingdings" panose="05000000000000000000" pitchFamily="2" charset="2"/>
              </a:rPr>
              <a:t> </a:t>
            </a:r>
            <a:r>
              <a:rPr lang="en-US" sz="3200" dirty="0"/>
              <a:t>MIZ, Building 7</a:t>
            </a:r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US" sz="3200" dirty="0"/>
              <a:t>Recording equipment (audio, video), digital cameras, projectors </a:t>
            </a:r>
            <a:r>
              <a:rPr lang="en-US" sz="3200" dirty="0">
                <a:sym typeface="Wingdings" panose="05000000000000000000" pitchFamily="2" charset="2"/>
              </a:rPr>
              <a:t> </a:t>
            </a:r>
            <a:r>
              <a:rPr lang="en-US" sz="3200" dirty="0"/>
              <a:t>Equipment lending, Building 7</a:t>
            </a:r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US" sz="3200" dirty="0"/>
              <a:t>Recording equipment, transcription software </a:t>
            </a:r>
            <a:r>
              <a:rPr lang="en-US" sz="3200" dirty="0">
                <a:sym typeface="Wingdings" panose="05000000000000000000" pitchFamily="2" charset="2"/>
              </a:rPr>
              <a:t> </a:t>
            </a:r>
            <a:r>
              <a:rPr lang="en-US" sz="3200" dirty="0" err="1"/>
              <a:t>LinA</a:t>
            </a:r>
            <a:r>
              <a:rPr lang="en-US" sz="3200" dirty="0"/>
              <a:t>-Lab, Building 1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E4C6457-8521-9B18-ECA5-D3CFB4A37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505200" y="6945865"/>
            <a:ext cx="3344926" cy="307462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524173F-BE9B-8C85-420E-676CBB1A4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908702" y="6326637"/>
            <a:ext cx="3864698" cy="335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648099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71E891A511D040A52CA52D008DEB36" ma:contentTypeVersion="3" ma:contentTypeDescription="Ein neues Dokument erstellen." ma:contentTypeScope="" ma:versionID="4cba4315779cb03d474ae37b2c0aa786">
  <xsd:schema xmlns:xsd="http://www.w3.org/2001/XMLSchema" xmlns:xs="http://www.w3.org/2001/XMLSchema" xmlns:p="http://schemas.microsoft.com/office/2006/metadata/properties" xmlns:ns2="e0647eb4-fdd8-4a76-905c-ef029484ffcd" targetNamespace="http://schemas.microsoft.com/office/2006/metadata/properties" ma:root="true" ma:fieldsID="ffc498f6898bc391fabeb722ec17ef06" ns2:_="">
    <xsd:import namespace="e0647eb4-fdd8-4a76-905c-ef029484ff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5A5956-2598-49F1-B91D-50B1190B08A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CA0B066-42AE-42F4-B335-FE7AFD942C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7073CF-1938-4E2B-AC72-1F96D0A23A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647eb4-fdd8-4a76-905c-ef029484ff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657</Words>
  <Application>Microsoft Office PowerPoint</Application>
  <PresentationFormat>Benutzerdefiniert</PresentationFormat>
  <Paragraphs>64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Wingdings</vt:lpstr>
      <vt:lpstr>Arial</vt:lpstr>
      <vt:lpstr>Benutzerdefiniertes Design</vt:lpstr>
      <vt:lpstr>Tools for group work</vt:lpstr>
      <vt:lpstr>PowerPoint-Präsentation</vt:lpstr>
      <vt:lpstr>Tools für Kollaborationen</vt:lpstr>
      <vt:lpstr>Where to work</vt:lpstr>
      <vt:lpstr>Lending equipment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Felix Soltau</cp:lastModifiedBy>
  <cp:revision>10</cp:revision>
  <dcterms:created xsi:type="dcterms:W3CDTF">2006-08-16T00:00:00Z</dcterms:created>
  <dcterms:modified xsi:type="dcterms:W3CDTF">2026-06-22T20:40:00Z</dcterms:modified>
  <dc:identifier>DAGKdR2DXUk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</Properties>
</file>