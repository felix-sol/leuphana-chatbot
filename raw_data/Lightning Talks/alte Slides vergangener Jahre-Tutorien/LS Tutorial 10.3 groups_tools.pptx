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72" r:id="rId6"/>
    <p:sldId id="263" r:id="rId7"/>
    <p:sldId id="261" r:id="rId8"/>
    <p:sldId id="262" r:id="rId9"/>
    <p:sldId id="269" r:id="rId10"/>
    <p:sldId id="270" r:id="rId11"/>
    <p:sldId id="271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56" autoAdjust="0"/>
    <p:restoredTop sz="74408" autoAdjust="0"/>
  </p:normalViewPr>
  <p:slideViewPr>
    <p:cSldViewPr>
      <p:cViewPr varScale="1">
        <p:scale>
          <a:sx n="50" d="100"/>
          <a:sy n="50" d="100"/>
        </p:scale>
        <p:origin x="220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AB545-A7A2-C64E-BEC8-51F178C6B1AA}" type="datetimeFigureOut">
              <a:rPr lang="de-DE" smtClean="0"/>
              <a:t>15.11.24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7837A-BE0C-8E44-AC6E-3BD867A160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3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This provides a short overview over some useful tools for group work.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Please add any more tools that you use and enjoy!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Can be substituted if time is short by providing the written information online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435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789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I suggest you open the websites, briefly explain how they work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Etherpad</a:t>
            </a:r>
            <a:r>
              <a:rPr lang="en-US" dirty="0"/>
              <a:t>: simple text editor, in which is written synchronously – author is recognizable by different colors - good for protocols - can be exported to PDFs or DOCs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Cryptpad</a:t>
            </a:r>
            <a:r>
              <a:rPr lang="en-US" dirty="0"/>
              <a:t>: especially for </a:t>
            </a:r>
            <a:r>
              <a:rPr lang="en-US" dirty="0" err="1"/>
              <a:t>Leuphana</a:t>
            </a:r>
            <a:r>
              <a:rPr lang="en-US" dirty="0"/>
              <a:t>, should replace </a:t>
            </a:r>
            <a:r>
              <a:rPr lang="en-US" dirty="0" err="1"/>
              <a:t>Etherpad</a:t>
            </a:r>
            <a:r>
              <a:rPr lang="en-US" dirty="0"/>
              <a:t> - text editor that makes communication immediate, works synchronously + asynchronously - perfect for collaboration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Recommendation: create an account, so common calendars can be created and documents can be shared; teams are also possible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Document types: tables, rich text (equivalent to </a:t>
            </a:r>
            <a:r>
              <a:rPr lang="en-US" dirty="0" err="1"/>
              <a:t>Etherpad</a:t>
            </a:r>
            <a:r>
              <a:rPr lang="en-US" dirty="0"/>
              <a:t>), to-do list (= Kanban), code, forms, whiteboards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this also includes Crypt-Drive to store documents + media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Trello boards: management of work steps and progress in a workspace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Academic Cloud: Cloud service for Lower Saxony, for sharing and editing documents (Sync &amp; Share); Word documents + </a:t>
            </a:r>
            <a:r>
              <a:rPr lang="en-US" dirty="0" err="1"/>
              <a:t>Presos</a:t>
            </a:r>
            <a:r>
              <a:rPr lang="en-US" dirty="0"/>
              <a:t> can thus be edited directly in the cloud without downloading them, also simultaneously with others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Access directly via </a:t>
            </a:r>
            <a:r>
              <a:rPr lang="en-US" dirty="0" err="1"/>
              <a:t>Leuphana</a:t>
            </a:r>
            <a:r>
              <a:rPr lang="en-US" dirty="0"/>
              <a:t> account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more secure than Google Drive, as data is stored in Lower Saxony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extended with video conference "Meet" - not limited to 40min like Zoom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471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if you want to meet on campus, there are several ways to find a suitable location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Group study rooms in the library and central building: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3 rooms, different sizes and technical equipment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Reservable via </a:t>
            </a:r>
            <a:r>
              <a:rPr lang="en-US" dirty="0" err="1"/>
              <a:t>MyStudy</a:t>
            </a:r>
            <a:r>
              <a:rPr lang="en-US" dirty="0"/>
              <a:t>, but also usable without reservation if free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Reservation up to 7 days in advance, for 3h p.p. and day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Show booking: Resources &gt; Book Resource &gt; Group Study Room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if occupied, then simply search for free rooms on campus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Resources &gt; Search for rooms &gt; Search for free rooms, set filter if necessary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besides, it is always possible to meet (outside the main hours) in the refectory, in summer on the refectory lawn, or in Plan B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Video conferencing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Zoom: 40min limited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Big Blue Button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alternative is "Meet", as already mentioned belonging to the Academic Cloud; based on </a:t>
            </a:r>
            <a:r>
              <a:rPr lang="en-US" dirty="0" err="1"/>
              <a:t>BigBlueBotton</a:t>
            </a:r>
            <a:r>
              <a:rPr lang="en-US" dirty="0"/>
              <a:t>; usable via browser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Jitsi</a:t>
            </a:r>
            <a:r>
              <a:rPr lang="en-US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574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if you want to deliver more than just a PowerPoint presentation for this or later projects, </a:t>
            </a:r>
            <a:r>
              <a:rPr lang="en-US" dirty="0" err="1"/>
              <a:t>Leuphana</a:t>
            </a:r>
            <a:r>
              <a:rPr lang="en-US" dirty="0"/>
              <a:t> provides several resources.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especially for video productions the computer and media center has camcorders, sound equipment and software, Geb.7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for all other equipment, via beamers, laptops, cameras, recording devices): Equipment lending, building 7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only for seminar purposes, with lending card and reservation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dirty="0"/>
              <a:t>especially for qualitative research (interviews, field observations): </a:t>
            </a:r>
            <a:r>
              <a:rPr lang="en-US" dirty="0" err="1"/>
              <a:t>LinA</a:t>
            </a:r>
            <a:r>
              <a:rPr lang="en-US" dirty="0"/>
              <a:t>-Lab, Building 5, with everything needed for transcriptions and field soundings.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65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9.svg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9.svg"/><Relationship Id="rId9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1.jpe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5F8C20-5144-BCD6-046F-3A4637BEE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Tutor*in: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098E5780-8526-6089-883C-304A7B1FEF87}"/>
              </a:ext>
            </a:extLst>
          </p:cNvPr>
          <p:cNvSpPr txBox="1">
            <a:spLocks/>
          </p:cNvSpPr>
          <p:nvPr userDrawn="1"/>
        </p:nvSpPr>
        <p:spPr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A44B3A5-D45E-6AC8-EA59-A853F9E8010A}"/>
              </a:ext>
            </a:extLst>
          </p:cNvPr>
          <p:cNvSpPr txBox="1">
            <a:spLocks/>
          </p:cNvSpPr>
          <p:nvPr userDrawn="1"/>
        </p:nvSpPr>
        <p:spPr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Datum: </a:t>
            </a:r>
          </a:p>
        </p:txBody>
      </p:sp>
    </p:spTree>
    <p:extLst>
      <p:ext uri="{BB962C8B-B14F-4D97-AF65-F5344CB8AC3E}">
        <p14:creationId xmlns:p14="http://schemas.microsoft.com/office/powerpoint/2010/main" val="353831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6000"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-366738" y="7821452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A5BB02-AE5B-0564-222E-54F98BC7CA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/>
            <a:r>
              <a:rPr lang="de-DE" dirty="0"/>
              <a:t> </a:t>
            </a:r>
          </a:p>
          <a:p>
            <a:pPr lvl="1"/>
            <a:r>
              <a:rPr lang="de-DE" dirty="0"/>
              <a:t> 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429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F13051-CF4E-443B-29BC-001C474A56A9}"/>
              </a:ext>
            </a:extLst>
          </p:cNvPr>
          <p:cNvSpPr/>
          <p:nvPr userDrawn="1"/>
        </p:nvSpPr>
        <p:spPr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Check-In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36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BE749-CE66-C75E-E6F2-FFD072462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301860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24FA-E215-DE5C-2D6F-0CD86830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000" y="2738828"/>
            <a:ext cx="14400000" cy="64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E0289C6-007F-CC39-352D-152520C8FEE2}"/>
              </a:ext>
            </a:extLst>
          </p:cNvPr>
          <p:cNvSpPr/>
          <p:nvPr userDrawn="1"/>
        </p:nvSpPr>
        <p:spPr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0151D67-84F6-087A-13ED-2BF5A2A4837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926566D-A50F-E915-FB4C-1392EE78A825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49F164-DAE8-6727-6DAB-B303AC9C1A18}"/>
              </a:ext>
            </a:extLst>
          </p:cNvPr>
          <p:cNvSpPr/>
          <p:nvPr userDrawn="1"/>
        </p:nvSpPr>
        <p:spPr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BC7A24B-F3D9-A693-9531-5D0A3B32C020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C3FB793-4DEF-326C-B9F2-AAFE13EF7B3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E1DBF27E-8ABB-7894-AF4C-68B34C6EF44A}"/>
              </a:ext>
            </a:extLst>
          </p:cNvPr>
          <p:cNvSpPr/>
          <p:nvPr userDrawn="1"/>
        </p:nvSpPr>
        <p:spPr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BF99FDA7-CEAC-A470-15A2-8AF647F45C2E}"/>
              </a:ext>
            </a:extLst>
          </p:cNvPr>
          <p:cNvSpPr/>
          <p:nvPr userDrawn="1"/>
        </p:nvSpPr>
        <p:spPr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4B80B37-6A71-F39A-8153-BF8EBFA9CA05}"/>
              </a:ext>
            </a:extLst>
          </p:cNvPr>
          <p:cNvSpPr/>
          <p:nvPr userDrawn="1"/>
        </p:nvSpPr>
        <p:spPr>
          <a:xfrm rot="2310652">
            <a:off x="-811538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39BFFC2-02E0-2076-5648-D928091BA4F6}"/>
              </a:ext>
            </a:extLst>
          </p:cNvPr>
          <p:cNvSpPr/>
          <p:nvPr userDrawn="1"/>
        </p:nvSpPr>
        <p:spPr>
          <a:xfrm rot="7628197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65003B8-E35C-4A98-29B0-022ACADD0DE8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48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84CE9-ADC6-C3BB-E2FC-2F28B70A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7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FDF0A71-9CBE-84BC-7998-A4155D1C9C56}"/>
              </a:ext>
            </a:extLst>
          </p:cNvPr>
          <p:cNvSpPr/>
          <p:nvPr userDrawn="1"/>
        </p:nvSpPr>
        <p:spPr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0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15B97D-904D-C50B-4A96-2667B117C251}"/>
              </a:ext>
            </a:extLst>
          </p:cNvPr>
          <p:cNvSpPr/>
          <p:nvPr userDrawn="1"/>
        </p:nvSpPr>
        <p:spPr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ENERGIZER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45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3C3F7-A725-A168-57F5-A5ACAC911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366765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FAA9C-C85A-A03F-D628-0BFBEFFC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4000" y="2738438"/>
            <a:ext cx="7123800" cy="652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0397D-4828-69AF-16C0-77D8182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123800" cy="652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2414888-863A-7F49-938F-5E972A82EA70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2922934-2D9F-FFEA-894A-C9CB5345C80F}"/>
              </a:ext>
            </a:extLst>
          </p:cNvPr>
          <p:cNvSpPr/>
          <p:nvPr userDrawn="1"/>
        </p:nvSpPr>
        <p:spPr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B06EBE0-28F0-2460-421C-812848A0CF4B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327127-659A-AEE9-A699-17689FB4515C}"/>
              </a:ext>
            </a:extLst>
          </p:cNvPr>
          <p:cNvSpPr/>
          <p:nvPr userDrawn="1"/>
        </p:nvSpPr>
        <p:spPr>
          <a:xfrm rot="-2487859">
            <a:off x="1653257" y="-539706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1420116-728D-9DD6-C96F-FEB09C92235D}"/>
              </a:ext>
            </a:extLst>
          </p:cNvPr>
          <p:cNvSpPr/>
          <p:nvPr userDrawn="1"/>
        </p:nvSpPr>
        <p:spPr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3BE1EB-BFDE-6083-A284-87D7CF37DB8D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A284C4F-77FA-8BBB-7032-15B26047A961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F206E22-45CF-248B-6797-2BB7CFC8EBDF}"/>
              </a:ext>
            </a:extLst>
          </p:cNvPr>
          <p:cNvSpPr/>
          <p:nvPr userDrawn="1"/>
        </p:nvSpPr>
        <p:spPr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7FC525E-1B82-33A4-4138-CFFD1DF018B2}"/>
              </a:ext>
            </a:extLst>
          </p:cNvPr>
          <p:cNvSpPr/>
          <p:nvPr userDrawn="1"/>
        </p:nvSpPr>
        <p:spPr>
          <a:xfrm rot="7860679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DD168A7-BF44-B367-A030-F04BE42823FB}"/>
              </a:ext>
            </a:extLst>
          </p:cNvPr>
          <p:cNvSpPr/>
          <p:nvPr userDrawn="1"/>
        </p:nvSpPr>
        <p:spPr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B1895A35-2902-C1EF-0731-B1979F77C793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E78247A3-9477-C8B5-82A9-1C29B4E555F6}"/>
              </a:ext>
            </a:extLst>
          </p:cNvPr>
          <p:cNvSpPr/>
          <p:nvPr userDrawn="1"/>
        </p:nvSpPr>
        <p:spPr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13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6022-A198-7B99-5333-A92C521AF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174623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61611-BC98-8FC7-6998-CB2FCAF8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97-79C7-8C43-A7ED-2FC609436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4000" y="3757613"/>
            <a:ext cx="7052362" cy="55276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4D4B16-AEDF-5032-88F4-0CB7020E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08C4B-3B79-0941-39EA-7FCD122BB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1" y="3757613"/>
            <a:ext cx="7085700" cy="55276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55CCDE1-46E7-C56E-E499-CAC8BE54C302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35889E93-2A5D-58AD-C395-D2FD5A443DED}"/>
              </a:ext>
            </a:extLst>
          </p:cNvPr>
          <p:cNvSpPr/>
          <p:nvPr userDrawn="1"/>
        </p:nvSpPr>
        <p:spPr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96CF57D-CA1A-A609-3F9C-8F5C6C7CF86E}"/>
              </a:ext>
            </a:extLst>
          </p:cNvPr>
          <p:cNvSpPr/>
          <p:nvPr userDrawn="1"/>
        </p:nvSpPr>
        <p:spPr>
          <a:xfrm rot="7860679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EEEBD99B-9609-C10D-B938-37A1D1276820}"/>
              </a:ext>
            </a:extLst>
          </p:cNvPr>
          <p:cNvSpPr/>
          <p:nvPr userDrawn="1"/>
        </p:nvSpPr>
        <p:spPr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104128-F882-CD53-0D5D-FECF05E8306F}"/>
              </a:ext>
            </a:extLst>
          </p:cNvPr>
          <p:cNvSpPr/>
          <p:nvPr userDrawn="1"/>
        </p:nvSpPr>
        <p:spPr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F05AF10-F9C8-3261-CB2F-ECE3F6CFA40E}"/>
              </a:ext>
            </a:extLst>
          </p:cNvPr>
          <p:cNvSpPr/>
          <p:nvPr userDrawn="1"/>
        </p:nvSpPr>
        <p:spPr>
          <a:xfrm rot="7628197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ED978E30-DF37-EF1E-4EDA-D257DB52A802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C28FAE3-EF77-16F7-D36F-89291BDBA23F}"/>
              </a:ext>
            </a:extLst>
          </p:cNvPr>
          <p:cNvSpPr/>
          <p:nvPr userDrawn="1"/>
        </p:nvSpPr>
        <p:spPr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CEB1C3FA-1EEC-56C1-1AF2-E589AD20F890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2B7A818-0250-2839-7F03-AE94C1840AFE}"/>
              </a:ext>
            </a:extLst>
          </p:cNvPr>
          <p:cNvSpPr/>
          <p:nvPr userDrawn="1"/>
        </p:nvSpPr>
        <p:spPr>
          <a:xfrm rot="7860679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7C0607F9-ADE3-ED8B-F55F-39BB06FB9595}"/>
              </a:ext>
            </a:extLst>
          </p:cNvPr>
          <p:cNvSpPr/>
          <p:nvPr userDrawn="1"/>
        </p:nvSpPr>
        <p:spPr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64108208-23A2-8DFE-FE94-2A9E0DE10064}"/>
              </a:ext>
            </a:extLst>
          </p:cNvPr>
          <p:cNvSpPr/>
          <p:nvPr userDrawn="1"/>
        </p:nvSpPr>
        <p:spPr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391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296953" y="7886423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78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>
            <a:extLst>
              <a:ext uri="{FF2B5EF4-FFF2-40B4-BE49-F238E27FC236}">
                <a16:creationId xmlns:a16="http://schemas.microsoft.com/office/drawing/2014/main" id="{39212D54-E1E5-07A5-E13A-D94B11CC73CB}"/>
              </a:ext>
            </a:extLst>
          </p:cNvPr>
          <p:cNvSpPr/>
          <p:nvPr userDrawn="1"/>
        </p:nvSpPr>
        <p:spPr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138968B-20AA-CAF8-700F-BAB93331E2BF}"/>
              </a:ext>
            </a:extLst>
          </p:cNvPr>
          <p:cNvSpPr/>
          <p:nvPr userDrawn="1"/>
        </p:nvSpPr>
        <p:spPr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29E3E70-0077-8ABC-C836-0F50A60F7BFD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CF66559-D777-73EC-5EEC-F85C25559919}"/>
              </a:ext>
            </a:extLst>
          </p:cNvPr>
          <p:cNvSpPr/>
          <p:nvPr userDrawn="1"/>
        </p:nvSpPr>
        <p:spPr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50D41EF-FF4F-AD39-D072-DA92CD711E07}"/>
              </a:ext>
            </a:extLst>
          </p:cNvPr>
          <p:cNvSpPr/>
          <p:nvPr userDrawn="1"/>
        </p:nvSpPr>
        <p:spPr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621165A-D9E9-AFC9-8B13-32E2C07D5C16}"/>
              </a:ext>
            </a:extLst>
          </p:cNvPr>
          <p:cNvSpPr/>
          <p:nvPr userDrawn="1"/>
        </p:nvSpPr>
        <p:spPr>
          <a:xfrm rot="7860679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BB7A524-6050-E014-BA58-27ABC302D830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A399C87-A7CA-F8A4-8F37-8B3B816A02D4}"/>
              </a:ext>
            </a:extLst>
          </p:cNvPr>
          <p:cNvSpPr/>
          <p:nvPr userDrawn="1"/>
        </p:nvSpPr>
        <p:spPr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521874F-32FC-DCEF-0872-46FCFE4B5C46}"/>
              </a:ext>
            </a:extLst>
          </p:cNvPr>
          <p:cNvSpPr/>
          <p:nvPr userDrawn="1"/>
        </p:nvSpPr>
        <p:spPr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DDB4D3-61D7-854C-133A-D14CBB020B2E}"/>
              </a:ext>
            </a:extLst>
          </p:cNvPr>
          <p:cNvSpPr/>
          <p:nvPr userDrawn="1"/>
        </p:nvSpPr>
        <p:spPr>
          <a:xfrm rot="-2487859">
            <a:off x="17027787" y="496651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0A42D8-0EF5-016E-B82E-40B3FD20D517}"/>
              </a:ext>
            </a:extLst>
          </p:cNvPr>
          <p:cNvSpPr/>
          <p:nvPr userDrawn="1"/>
        </p:nvSpPr>
        <p:spPr>
          <a:xfrm rot="1296289">
            <a:off x="619918" y="6991212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F364CAB-26D9-242D-2173-35EED9694FFA}"/>
              </a:ext>
            </a:extLst>
          </p:cNvPr>
          <p:cNvSpPr/>
          <p:nvPr userDrawn="1"/>
        </p:nvSpPr>
        <p:spPr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16DFAD4E-E1FC-D536-8781-C7766040C289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893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16E78-2793-B012-CB0C-646A6A5A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B85FD-ECDA-36AA-2F63-F92D935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8A1FB-E57C-5418-EBE1-354F9867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F47AD150-4E7B-64E2-B586-D89BE502678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785267F-9B21-E2D1-8B7C-5852346519D4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EC9A8E5-7307-5793-E10D-501433896A88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353211-40FC-5740-32CD-1C4B636D7A37}"/>
              </a:ext>
            </a:extLst>
          </p:cNvPr>
          <p:cNvSpPr/>
          <p:nvPr userDrawn="1"/>
        </p:nvSpPr>
        <p:spPr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03E0420-8A6D-6BE6-D535-527AD41A1A23}"/>
              </a:ext>
            </a:extLst>
          </p:cNvPr>
          <p:cNvSpPr/>
          <p:nvPr userDrawn="1"/>
        </p:nvSpPr>
        <p:spPr>
          <a:xfrm rot="7860679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95795B-3C8A-0529-1C07-E4386818A618}"/>
              </a:ext>
            </a:extLst>
          </p:cNvPr>
          <p:cNvSpPr/>
          <p:nvPr userDrawn="1"/>
        </p:nvSpPr>
        <p:spPr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7CD293D5-CCCD-DB27-0368-65760863B577}"/>
              </a:ext>
            </a:extLst>
          </p:cNvPr>
          <p:cNvSpPr/>
          <p:nvPr userDrawn="1"/>
        </p:nvSpPr>
        <p:spPr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D3F4BBB-70D6-DB0B-303C-DA23C05C8358}"/>
              </a:ext>
            </a:extLst>
          </p:cNvPr>
          <p:cNvSpPr/>
          <p:nvPr userDrawn="1"/>
        </p:nvSpPr>
        <p:spPr>
          <a:xfrm rot="-2487859">
            <a:off x="1742939" y="-107165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91B5530-0FF0-FD42-3AB8-DF8DB9D91CC9}"/>
              </a:ext>
            </a:extLst>
          </p:cNvPr>
          <p:cNvSpPr/>
          <p:nvPr userDrawn="1"/>
        </p:nvSpPr>
        <p:spPr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3FCDB0A-FE28-5239-063A-55FF77DAEA5E}"/>
              </a:ext>
            </a:extLst>
          </p:cNvPr>
          <p:cNvSpPr/>
          <p:nvPr userDrawn="1"/>
        </p:nvSpPr>
        <p:spPr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F83C77C-7708-6BFD-1A3A-1A7FE688E2D6}"/>
              </a:ext>
            </a:extLst>
          </p:cNvPr>
          <p:cNvSpPr/>
          <p:nvPr userDrawn="1"/>
        </p:nvSpPr>
        <p:spPr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5E5D326-E072-5757-7F26-55041BCADC38}"/>
              </a:ext>
            </a:extLst>
          </p:cNvPr>
          <p:cNvSpPr/>
          <p:nvPr userDrawn="1"/>
        </p:nvSpPr>
        <p:spPr>
          <a:xfrm rot="7860679">
            <a:off x="16251956" y="8185608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22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5FF1BE-6E89-BD9B-6F40-A62ECDE55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0BB0451-57CE-6C95-DCE7-EB3A0D295758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1BBC5-0EE1-A6FB-D24A-FE0784B1A512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AC90572-095E-D207-28CC-5CC7CE8AAB54}"/>
              </a:ext>
            </a:extLst>
          </p:cNvPr>
          <p:cNvSpPr/>
          <p:nvPr userDrawn="1"/>
        </p:nvSpPr>
        <p:spPr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F91B3CD-CC8F-0B3A-D18E-D660FC7D92FD}"/>
              </a:ext>
            </a:extLst>
          </p:cNvPr>
          <p:cNvSpPr/>
          <p:nvPr userDrawn="1"/>
        </p:nvSpPr>
        <p:spPr>
          <a:xfrm rot="7860679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163308A-5476-0EE0-5224-021FE11335A9}"/>
              </a:ext>
            </a:extLst>
          </p:cNvPr>
          <p:cNvSpPr/>
          <p:nvPr userDrawn="1"/>
        </p:nvSpPr>
        <p:spPr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41D98E6-757A-F89B-A562-5CC2FF52C434}"/>
              </a:ext>
            </a:extLst>
          </p:cNvPr>
          <p:cNvSpPr/>
          <p:nvPr userDrawn="1"/>
        </p:nvSpPr>
        <p:spPr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5F7D7F9-A4A2-443D-DB6B-12FBDA0EBEF5}"/>
              </a:ext>
            </a:extLst>
          </p:cNvPr>
          <p:cNvSpPr/>
          <p:nvPr userDrawn="1"/>
        </p:nvSpPr>
        <p:spPr>
          <a:xfrm rot="-2487859">
            <a:off x="1742939" y="-107165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6B66D66-EF89-D409-F216-68548596F9D9}"/>
              </a:ext>
            </a:extLst>
          </p:cNvPr>
          <p:cNvSpPr/>
          <p:nvPr userDrawn="1"/>
        </p:nvSpPr>
        <p:spPr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DADAE46-D778-7C30-362F-6F7AE6433EFC}"/>
              </a:ext>
            </a:extLst>
          </p:cNvPr>
          <p:cNvSpPr/>
          <p:nvPr userDrawn="1"/>
        </p:nvSpPr>
        <p:spPr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8CBCFF4-7254-B7D0-3D1F-F21E7E31B92C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2BC145F-1719-414C-C71E-C2EC49EB0A6C}"/>
              </a:ext>
            </a:extLst>
          </p:cNvPr>
          <p:cNvSpPr txBox="1">
            <a:spLocks/>
          </p:cNvSpPr>
          <p:nvPr userDrawn="1"/>
        </p:nvSpPr>
        <p:spPr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C519E988-B3EA-8638-30E0-6D5CC7C1CA3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FAEB560-E424-6593-FE5E-1B75DEA3BB45}"/>
              </a:ext>
            </a:extLst>
          </p:cNvPr>
          <p:cNvSpPr/>
          <p:nvPr userDrawn="1"/>
        </p:nvSpPr>
        <p:spPr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B5C5D13-66A6-41D5-C8D9-D17B7D1DDE76}"/>
              </a:ext>
            </a:extLst>
          </p:cNvPr>
          <p:cNvSpPr/>
          <p:nvPr userDrawn="1"/>
        </p:nvSpPr>
        <p:spPr>
          <a:xfrm rot="7860679">
            <a:off x="16251956" y="8185608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507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de-DE" dirty="0"/>
              <a:t>Gibt es offene Fragen?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728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de-DE" dirty="0"/>
              <a:t>Schön das Ihr da wart!</a:t>
            </a:r>
            <a:br>
              <a:rPr lang="de-DE" dirty="0"/>
            </a:br>
            <a:r>
              <a:rPr lang="de-DE" dirty="0"/>
              <a:t>Bis nächste Woche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6106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E3A0CB0-E9D5-E099-7793-E4F66CD0D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9AFEAC-D5A8-503D-7C40-CF3CBCA3C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EA40C45-80E3-9DBE-0D88-9108036EE6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F5E2560-0A3A-94A2-5A16-9B894912A2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E314E4-F661-2E60-D488-01881579C4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C1A16C3-D223-9B94-BC6D-9D2FC378475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5FDDE54-74CC-5209-2E8E-94F46737BD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559DBB7-12D0-1FD0-FC5C-934CA88C78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>
            <a:extLst>
              <a:ext uri="{FF2B5EF4-FFF2-40B4-BE49-F238E27FC236}">
                <a16:creationId xmlns:a16="http://schemas.microsoft.com/office/drawing/2014/main" id="{C6AD4F95-6B05-C91C-C7FC-AA231BBD4F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>
            <a:extLst>
              <a:ext uri="{FF2B5EF4-FFF2-40B4-BE49-F238E27FC236}">
                <a16:creationId xmlns:a16="http://schemas.microsoft.com/office/drawing/2014/main" id="{E2968DC3-638A-2497-5ACE-FC13D198B3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70519" y="3831316"/>
            <a:ext cx="1196899" cy="839754"/>
            <a:chOff x="559275" y="1683950"/>
            <a:chExt cx="466500" cy="327300"/>
          </a:xfrm>
        </p:grpSpPr>
        <p:sp>
          <p:nvSpPr>
            <p:cNvPr id="28" name="Google Shape;419;p40">
              <a:extLst>
                <a:ext uri="{FF2B5EF4-FFF2-40B4-BE49-F238E27FC236}">
                  <a16:creationId xmlns:a16="http://schemas.microsoft.com/office/drawing/2014/main" id="{D4E07169-9311-A919-A5B1-3A2BC489A820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20;p40">
              <a:extLst>
                <a:ext uri="{FF2B5EF4-FFF2-40B4-BE49-F238E27FC236}">
                  <a16:creationId xmlns:a16="http://schemas.microsoft.com/office/drawing/2014/main" id="{503B8EED-9682-4157-D085-145252C22655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421;p40">
            <a:extLst>
              <a:ext uri="{FF2B5EF4-FFF2-40B4-BE49-F238E27FC236}">
                <a16:creationId xmlns:a16="http://schemas.microsoft.com/office/drawing/2014/main" id="{BE107EB6-45D4-F910-C895-A11AE900F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>
              <a:extLst>
                <a:ext uri="{FF2B5EF4-FFF2-40B4-BE49-F238E27FC236}">
                  <a16:creationId xmlns:a16="http://schemas.microsoft.com/office/drawing/2014/main" id="{006AC4A0-2301-F011-43E4-1034601DD5D6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23;p40">
              <a:extLst>
                <a:ext uri="{FF2B5EF4-FFF2-40B4-BE49-F238E27FC236}">
                  <a16:creationId xmlns:a16="http://schemas.microsoft.com/office/drawing/2014/main" id="{60AAD319-02B2-666F-121E-42411FF22D72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24;p40">
              <a:extLst>
                <a:ext uri="{FF2B5EF4-FFF2-40B4-BE49-F238E27FC236}">
                  <a16:creationId xmlns:a16="http://schemas.microsoft.com/office/drawing/2014/main" id="{44DD9E97-9119-8124-24B5-C0B800995E2E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25;p40">
              <a:extLst>
                <a:ext uri="{FF2B5EF4-FFF2-40B4-BE49-F238E27FC236}">
                  <a16:creationId xmlns:a16="http://schemas.microsoft.com/office/drawing/2014/main" id="{100C8D06-9AEA-8401-04DC-63DB0F2CAFAC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426;p40">
            <a:extLst>
              <a:ext uri="{FF2B5EF4-FFF2-40B4-BE49-F238E27FC236}">
                <a16:creationId xmlns:a16="http://schemas.microsoft.com/office/drawing/2014/main" id="{86012837-28A8-42E6-68F8-3AFCF165B6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>
              <a:extLst>
                <a:ext uri="{FF2B5EF4-FFF2-40B4-BE49-F238E27FC236}">
                  <a16:creationId xmlns:a16="http://schemas.microsoft.com/office/drawing/2014/main" id="{6764EFCE-92F1-8642-0498-86DD8044119E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28;p40">
              <a:extLst>
                <a:ext uri="{FF2B5EF4-FFF2-40B4-BE49-F238E27FC236}">
                  <a16:creationId xmlns:a16="http://schemas.microsoft.com/office/drawing/2014/main" id="{D94B9682-90C7-4D36-A683-146DF7F296A3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429;p40">
            <a:extLst>
              <a:ext uri="{FF2B5EF4-FFF2-40B4-BE49-F238E27FC236}">
                <a16:creationId xmlns:a16="http://schemas.microsoft.com/office/drawing/2014/main" id="{D48921D5-D733-0731-440C-0B989FD7E9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14349" y="3536998"/>
            <a:ext cx="1005134" cy="1005134"/>
            <a:chOff x="2594325" y="1627175"/>
            <a:chExt cx="440850" cy="440850"/>
          </a:xfrm>
        </p:grpSpPr>
        <p:sp>
          <p:nvSpPr>
            <p:cNvPr id="39" name="Google Shape;430;p40">
              <a:extLst>
                <a:ext uri="{FF2B5EF4-FFF2-40B4-BE49-F238E27FC236}">
                  <a16:creationId xmlns:a16="http://schemas.microsoft.com/office/drawing/2014/main" id="{D3F9DF86-A4E3-1AB6-7530-BA688BF05453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31;p40">
              <a:extLst>
                <a:ext uri="{FF2B5EF4-FFF2-40B4-BE49-F238E27FC236}">
                  <a16:creationId xmlns:a16="http://schemas.microsoft.com/office/drawing/2014/main" id="{38ABD5BF-A56E-F107-7C2C-893D44E1ED88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32;p40">
              <a:extLst>
                <a:ext uri="{FF2B5EF4-FFF2-40B4-BE49-F238E27FC236}">
                  <a16:creationId xmlns:a16="http://schemas.microsoft.com/office/drawing/2014/main" id="{54FDEDA8-B57D-D039-0C8D-D9EF4911BE4E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88;p40">
            <a:extLst>
              <a:ext uri="{FF2B5EF4-FFF2-40B4-BE49-F238E27FC236}">
                <a16:creationId xmlns:a16="http://schemas.microsoft.com/office/drawing/2014/main" id="{7ED12B17-1993-D628-7799-0159ECA94621}"/>
              </a:ext>
            </a:extLst>
          </p:cNvPr>
          <p:cNvSpPr>
            <a:spLocks noChangeAspect="1"/>
          </p:cNvSpPr>
          <p:nvPr userDrawn="1"/>
        </p:nvSpPr>
        <p:spPr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89;p40">
            <a:extLst>
              <a:ext uri="{FF2B5EF4-FFF2-40B4-BE49-F238E27FC236}">
                <a16:creationId xmlns:a16="http://schemas.microsoft.com/office/drawing/2014/main" id="{C237BCA3-79DE-8D6E-1CEF-A0F9100C268E}"/>
              </a:ext>
            </a:extLst>
          </p:cNvPr>
          <p:cNvSpPr>
            <a:spLocks noChangeAspect="1"/>
          </p:cNvSpPr>
          <p:nvPr userDrawn="1"/>
        </p:nvSpPr>
        <p:spPr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90;p40">
            <a:extLst>
              <a:ext uri="{FF2B5EF4-FFF2-40B4-BE49-F238E27FC236}">
                <a16:creationId xmlns:a16="http://schemas.microsoft.com/office/drawing/2014/main" id="{44661FAB-0382-6414-522D-17D926C903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>
              <a:extLst>
                <a:ext uri="{FF2B5EF4-FFF2-40B4-BE49-F238E27FC236}">
                  <a16:creationId xmlns:a16="http://schemas.microsoft.com/office/drawing/2014/main" id="{CD8B1178-8556-58A7-6C61-8230E44A88D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92;p40">
              <a:extLst>
                <a:ext uri="{FF2B5EF4-FFF2-40B4-BE49-F238E27FC236}">
                  <a16:creationId xmlns:a16="http://schemas.microsoft.com/office/drawing/2014/main" id="{D4FAA2DC-1C82-D242-D22B-E4F855F5EF6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" name="Grafik 57">
            <a:extLst>
              <a:ext uri="{FF2B5EF4-FFF2-40B4-BE49-F238E27FC236}">
                <a16:creationId xmlns:a16="http://schemas.microsoft.com/office/drawing/2014/main" id="{FFB91F42-563A-857E-ADB7-A2E30A242D6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B4E8-9696-B68F-92F9-40125CB5CB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5DAD8-AA8F-28C4-CBA3-9566777CF9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E89FE1-B766-3D6E-AA9F-15331AADCC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72872D-A5BF-026C-D2EA-08D5BCAC6C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CB4904A-0C43-3B98-0730-12DF8DD96E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54383CC-19F7-BFAF-9B67-AAB145D7E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3BBA0AB-BEBB-21E6-04D6-1E1D4A2A2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4516BB9C-6534-0611-1C86-FB414A1A7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8FC152-7268-69BB-7621-E5132DEA4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77E04DC4-2858-564A-AE69-5FA3BADB20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52BC43-E7BD-710C-A290-251F91050F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5765752B-A385-7379-1871-746ED9115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A133E14-E11F-3439-BE67-B088A1B71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4A84675B-44FB-5F5D-4E1A-E9C1B770FD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0457828F-C838-CBC5-58C0-55B7A98CA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EA7027E-96E3-F6DC-7457-15884382C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E4E65B55-224F-E51E-929B-C616F58CA4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F375770D-1F75-FA8B-30CD-6ED7F25A72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1D0C0EBA-5A68-0EE5-F218-E7F7096B3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BC89B3E6-A176-0E23-5AB9-D799200C3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7D91AAE0-509C-AE87-7A0C-2AE9116F83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36A8B709-8CC6-C6AC-D0ED-E7F706206975}"/>
              </a:ext>
            </a:extLst>
          </p:cNvPr>
          <p:cNvSpPr txBox="1"/>
          <p:nvPr userDrawn="1"/>
        </p:nvSpPr>
        <p:spPr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Icon für extra Material</a:t>
            </a:r>
          </a:p>
        </p:txBody>
      </p:sp>
    </p:spTree>
    <p:extLst>
      <p:ext uri="{BB962C8B-B14F-4D97-AF65-F5344CB8AC3E}">
        <p14:creationId xmlns:p14="http://schemas.microsoft.com/office/powerpoint/2010/main" val="1633780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CF1F7-0937-F9F7-257C-5A064E57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F10457-F989-7DA5-F7A2-573216F1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4000" y="2769111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8ADD56-CB6F-8E99-36ED-1E96FDC0D4A7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00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3" r:id="rId3"/>
    <p:sldLayoutId id="2147483662" r:id="rId4"/>
    <p:sldLayoutId id="2147483663" r:id="rId5"/>
    <p:sldLayoutId id="2147483671" r:id="rId6"/>
    <p:sldLayoutId id="2147483672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4" r:id="rId14"/>
    <p:sldLayoutId id="2147483676" r:id="rId15"/>
    <p:sldLayoutId id="214748367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pad.leuphana.d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cademiccloud.de/" TargetMode="External"/><Relationship Id="rId5" Type="http://schemas.openxmlformats.org/officeDocument/2006/relationships/hyperlink" Target="https://docs.cryptpad.fr/de/user_guide/index.html" TargetMode="External"/><Relationship Id="rId4" Type="http://schemas.openxmlformats.org/officeDocument/2006/relationships/hyperlink" Target="https://pad.leuphana.de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29D2E-CA01-9782-F867-19335E23C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Tools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B3BB7D-61A1-DFC7-EA97-FDD7A6839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94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7BFC7-9BD2-7BD4-EFBA-90444924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8416EE-1AE2-5884-0E8D-F88CF0CF9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Tools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collaboration</a:t>
            </a:r>
            <a:br>
              <a:rPr lang="de-DE" dirty="0"/>
            </a:b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br>
              <a:rPr lang="de-DE" dirty="0"/>
            </a:br>
            <a:endParaRPr lang="de-DE" dirty="0"/>
          </a:p>
          <a:p>
            <a:r>
              <a:rPr lang="de-DE" dirty="0"/>
              <a:t>Lending </a:t>
            </a:r>
            <a:r>
              <a:rPr lang="de-DE" dirty="0" err="1"/>
              <a:t>equipment</a:t>
            </a:r>
            <a:endParaRPr lang="de-DE" dirty="0"/>
          </a:p>
        </p:txBody>
      </p:sp>
      <p:grpSp>
        <p:nvGrpSpPr>
          <p:cNvPr id="4" name="Google Shape;421;p40">
            <a:extLst>
              <a:ext uri="{FF2B5EF4-FFF2-40B4-BE49-F238E27FC236}">
                <a16:creationId xmlns:a16="http://schemas.microsoft.com/office/drawing/2014/main" id="{051C686B-2EEA-2BF0-3CBE-4F2DD4586F37}"/>
              </a:ext>
            </a:extLst>
          </p:cNvPr>
          <p:cNvGrpSpPr>
            <a:grpSpLocks noChangeAspect="1"/>
          </p:cNvGrpSpPr>
          <p:nvPr/>
        </p:nvGrpSpPr>
        <p:grpSpPr>
          <a:xfrm>
            <a:off x="9525000" y="8267700"/>
            <a:ext cx="1205798" cy="1180532"/>
            <a:chOff x="1233350" y="1619250"/>
            <a:chExt cx="466500" cy="456725"/>
          </a:xfrm>
        </p:grpSpPr>
        <p:sp>
          <p:nvSpPr>
            <p:cNvPr id="5" name="Google Shape;422;p40">
              <a:extLst>
                <a:ext uri="{FF2B5EF4-FFF2-40B4-BE49-F238E27FC236}">
                  <a16:creationId xmlns:a16="http://schemas.microsoft.com/office/drawing/2014/main" id="{C3C0AA3E-467D-78B8-29C7-516D2DDE2913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23;p40">
              <a:extLst>
                <a:ext uri="{FF2B5EF4-FFF2-40B4-BE49-F238E27FC236}">
                  <a16:creationId xmlns:a16="http://schemas.microsoft.com/office/drawing/2014/main" id="{975C5B7C-9317-A62F-6284-C58A95625D75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24;p40">
              <a:extLst>
                <a:ext uri="{FF2B5EF4-FFF2-40B4-BE49-F238E27FC236}">
                  <a16:creationId xmlns:a16="http://schemas.microsoft.com/office/drawing/2014/main" id="{77650914-383A-1098-2DE0-3AA224ED3438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25;p40">
              <a:extLst>
                <a:ext uri="{FF2B5EF4-FFF2-40B4-BE49-F238E27FC236}">
                  <a16:creationId xmlns:a16="http://schemas.microsoft.com/office/drawing/2014/main" id="{FB8767DF-6BDC-57D5-93E8-79D37848AB69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217730A-658E-D1BF-4D40-20983B9C15CD}"/>
              </a:ext>
            </a:extLst>
          </p:cNvPr>
          <p:cNvSpPr txBox="1">
            <a:spLocks/>
          </p:cNvSpPr>
          <p:nvPr/>
        </p:nvSpPr>
        <p:spPr>
          <a:xfrm>
            <a:off x="10825598" y="8472793"/>
            <a:ext cx="3195202" cy="11116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br>
              <a:rPr lang="de-DE" dirty="0"/>
            </a:br>
            <a:r>
              <a:rPr lang="de-DE" dirty="0"/>
              <a:t>manage </a:t>
            </a:r>
            <a:r>
              <a:rPr lang="de-DE" dirty="0" err="1"/>
              <a:t>projects</a:t>
            </a:r>
            <a:endParaRPr lang="de-DE" sz="2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8306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4EE25-6DB5-A8B3-73ED-80E08B7C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95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Tools für Kollaborationen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dirty="0" err="1">
                <a:latin typeface="+mn-lt"/>
              </a:rPr>
              <a:t>Etherpad</a:t>
            </a:r>
            <a:r>
              <a:rPr lang="en-US" sz="3200" dirty="0">
                <a:latin typeface="+mn-lt"/>
              </a:rPr>
              <a:t>: </a:t>
            </a:r>
            <a:r>
              <a:rPr lang="en-US" sz="3200" dirty="0">
                <a:latin typeface="+mn-lt"/>
                <a:hlinkClick r:id="rId3"/>
              </a:rPr>
              <a:t>https://etherpad.leuphana.de</a:t>
            </a:r>
            <a:r>
              <a:rPr lang="en-US" sz="3200" dirty="0">
                <a:latin typeface="+mn-lt"/>
              </a:rPr>
              <a:t> - simple text editor</a:t>
            </a:r>
            <a:endParaRPr lang="en-US" sz="3200" dirty="0"/>
          </a:p>
          <a:p>
            <a:pPr>
              <a:lnSpc>
                <a:spcPct val="150000"/>
              </a:lnSpc>
              <a:defRPr/>
            </a:pPr>
            <a:r>
              <a:rPr lang="en-US" sz="3200" i="1" dirty="0" err="1">
                <a:latin typeface="+mn-lt"/>
              </a:rPr>
              <a:t>Cryptpad</a:t>
            </a:r>
            <a:r>
              <a:rPr lang="en-US" sz="3200" i="1" dirty="0">
                <a:latin typeface="+mn-lt"/>
              </a:rPr>
              <a:t>*: </a:t>
            </a:r>
            <a:r>
              <a:rPr lang="en-US" sz="3200" u="sng" dirty="0">
                <a:latin typeface="+mn-lt"/>
                <a:hlinkClick r:id="rId4" tooltip="https://pad.leuphana.de/"/>
              </a:rPr>
              <a:t>https://pad.leuphana.de/</a:t>
            </a:r>
            <a:r>
              <a:rPr lang="en-US" sz="3200" dirty="0">
                <a:latin typeface="+mn-lt"/>
              </a:rPr>
              <a:t>- text editor with several functions</a:t>
            </a:r>
            <a:endParaRPr lang="en-US" sz="3200" dirty="0"/>
          </a:p>
          <a:p>
            <a:pPr lvl="1">
              <a:lnSpc>
                <a:spcPct val="150000"/>
              </a:lnSpc>
              <a:defRPr/>
            </a:pPr>
            <a:r>
              <a:rPr lang="de-DE" sz="3200" dirty="0" err="1">
                <a:latin typeface="+mn-lt"/>
              </a:rPr>
              <a:t>Instructions</a:t>
            </a:r>
            <a:r>
              <a:rPr lang="de-DE" sz="3200" dirty="0">
                <a:latin typeface="+mn-lt"/>
              </a:rPr>
              <a:t> at </a:t>
            </a:r>
            <a:r>
              <a:rPr lang="de-DE" sz="3200" u="sng" dirty="0">
                <a:latin typeface="+mn-lt"/>
                <a:hlinkClick r:id="rId5" tooltip="https://docs.cryptpad.fr/de/user_guide/index.html"/>
              </a:rPr>
              <a:t>https://docs.cryptpad.fr/de/user_guide/index.html</a:t>
            </a:r>
            <a:endParaRPr lang="de-DE" sz="3200" dirty="0">
              <a:latin typeface="+mn-lt"/>
            </a:endParaRPr>
          </a:p>
          <a:p>
            <a:pPr lvl="1">
              <a:lnSpc>
                <a:spcPct val="150000"/>
              </a:lnSpc>
              <a:defRPr/>
            </a:pPr>
            <a:r>
              <a:rPr lang="de-DE" sz="3200" dirty="0">
                <a:latin typeface="+mn-lt"/>
              </a:rPr>
              <a:t>Crypt-Drive</a:t>
            </a:r>
            <a:endParaRPr lang="de-DE" sz="3200" dirty="0"/>
          </a:p>
          <a:p>
            <a:pPr>
              <a:lnSpc>
                <a:spcPct val="150000"/>
              </a:lnSpc>
              <a:defRPr/>
            </a:pPr>
            <a:r>
              <a:rPr lang="de-DE" sz="3200" dirty="0" err="1">
                <a:latin typeface="+mn-lt"/>
              </a:rPr>
              <a:t>Trello</a:t>
            </a:r>
            <a:r>
              <a:rPr lang="de-DE" sz="3200" dirty="0">
                <a:latin typeface="+mn-lt"/>
              </a:rPr>
              <a:t>: </a:t>
            </a:r>
            <a:r>
              <a:rPr lang="de-DE" sz="3200" u="sng" dirty="0">
                <a:latin typeface="+mn-lt"/>
                <a:hlinkClick r:id="rId6" tooltip="https://academiccloud.de/"/>
              </a:rPr>
              <a:t>https://academiccloud.de</a:t>
            </a:r>
            <a:endParaRPr lang="de-DE" sz="3200" dirty="0">
              <a:latin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de-DE" sz="3200" i="1" dirty="0">
                <a:latin typeface="+mn-lt"/>
              </a:rPr>
              <a:t>Academic Cloud*: </a:t>
            </a:r>
            <a:r>
              <a:rPr lang="de-DE" sz="3200" u="sng" dirty="0">
                <a:latin typeface="+mn-lt"/>
                <a:hlinkClick r:id="rId6" tooltip="https://academiccloud.de/"/>
              </a:rPr>
              <a:t>https://academiccloud.de</a:t>
            </a:r>
            <a:endParaRPr lang="de-DE" sz="3200" dirty="0">
              <a:latin typeface="+mn-lt"/>
            </a:endParaRPr>
          </a:p>
          <a:p>
            <a:pPr>
              <a:lnSpc>
                <a:spcPct val="150000"/>
              </a:lnSpc>
              <a:defRPr/>
            </a:pPr>
            <a:endParaRPr lang="de-DE" sz="3200" dirty="0"/>
          </a:p>
          <a:p>
            <a:pPr marL="0" indent="0">
              <a:buNone/>
              <a:defRPr/>
            </a:pPr>
            <a:r>
              <a:rPr lang="de-DE" sz="3200" i="1" dirty="0"/>
              <a:t>*Leuphana-</a:t>
            </a:r>
            <a:r>
              <a:rPr lang="de-DE" sz="3200" i="1" dirty="0" err="1"/>
              <a:t>associated</a:t>
            </a:r>
            <a:endParaRPr lang="de-DE" sz="3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de-DE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213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US" sz="4000" dirty="0">
                <a:latin typeface="+mn-lt"/>
              </a:rPr>
              <a:t>Group study rooms in the library &amp; central building</a:t>
            </a:r>
          </a:p>
          <a:p>
            <a:pPr>
              <a:lnSpc>
                <a:spcPct val="150000"/>
              </a:lnSpc>
              <a:defRPr/>
            </a:pPr>
            <a:r>
              <a:rPr lang="en-US" sz="4000" dirty="0">
                <a:latin typeface="+mn-lt"/>
              </a:rPr>
              <a:t>Room search via </a:t>
            </a:r>
            <a:r>
              <a:rPr lang="en-US" sz="4000" dirty="0" err="1">
                <a:latin typeface="+mn-lt"/>
              </a:rPr>
              <a:t>myStudy</a:t>
            </a:r>
            <a:endParaRPr lang="en-US" sz="4000" dirty="0">
              <a:latin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sz="4000" dirty="0">
                <a:latin typeface="+mn-lt"/>
              </a:rPr>
              <a:t>other rooms on the campus</a:t>
            </a:r>
          </a:p>
          <a:p>
            <a:pPr>
              <a:lnSpc>
                <a:spcPct val="150000"/>
              </a:lnSpc>
              <a:defRPr/>
            </a:pPr>
            <a:r>
              <a:rPr lang="en-US" sz="4000" dirty="0">
                <a:latin typeface="+mn-lt"/>
              </a:rPr>
              <a:t>Video conferencing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3600" dirty="0">
                <a:latin typeface="+mn-lt"/>
              </a:rPr>
              <a:t>Zoom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3600" dirty="0">
                <a:latin typeface="+mn-lt"/>
              </a:rPr>
              <a:t>Meet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3600" dirty="0"/>
              <a:t>Big Blue Button</a:t>
            </a:r>
            <a:endParaRPr lang="de-DE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4669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76E08-DBAE-B593-FC82-387B662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Lending </a:t>
            </a:r>
            <a:r>
              <a:rPr lang="de-DE" dirty="0" err="1"/>
              <a:t>equipment</a:t>
            </a:r>
            <a:endParaRPr lang="de-DE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C1DD2E6-F2B8-308C-897A-A3E6A7D49FE9}"/>
              </a:ext>
            </a:extLst>
          </p:cNvPr>
          <p:cNvSpPr txBox="1">
            <a:spLocks/>
          </p:cNvSpPr>
          <p:nvPr/>
        </p:nvSpPr>
        <p:spPr bwMode="auto">
          <a:xfrm>
            <a:off x="2079866" y="3429000"/>
            <a:ext cx="13693534" cy="377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200" dirty="0"/>
              <a:t>Camcorder, sound equipment, editing suites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MIZ, Building 7</a:t>
            </a:r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200" dirty="0"/>
              <a:t>Recording equipment (audio, video), digital cameras, projectors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Equipment lending, Building 7</a:t>
            </a:r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200" dirty="0"/>
              <a:t>Recording equipment, transcription software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 err="1"/>
              <a:t>LinA</a:t>
            </a:r>
            <a:r>
              <a:rPr lang="en-US" sz="3200" dirty="0"/>
              <a:t>-Lab, Building 1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4C6457-8521-9B18-ECA5-D3CFB4A3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05200" y="6945865"/>
            <a:ext cx="3344926" cy="307462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524173F-BE9B-8C85-420E-676CBB1A4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908702" y="6326637"/>
            <a:ext cx="3864698" cy="33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48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77CBA-B4F4-AE54-D2C2-163B1AD3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6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6A7E86-F92C-C75E-D530-2097ADB1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488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600168-6E42-ED0F-C3D0-BDBB12D17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844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714FA0-98A4-3EE3-4CA7-8EE8D54B0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2240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747445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7073CF-1938-4E2B-AC72-1F96D0A23A5A}"/>
</file>

<file path=customXml/itemProps2.xml><?xml version="1.0" encoding="utf-8"?>
<ds:datastoreItem xmlns:ds="http://schemas.openxmlformats.org/officeDocument/2006/customXml" ds:itemID="{8CA0B066-42AE-42F4-B335-FE7AFD942C89}"/>
</file>

<file path=customXml/itemProps3.xml><?xml version="1.0" encoding="utf-8"?>
<ds:datastoreItem xmlns:ds="http://schemas.openxmlformats.org/officeDocument/2006/customXml" ds:itemID="{A35A5956-2598-49F1-B91D-50B1190B08A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657</Words>
  <Application>Microsoft Macintosh PowerPoint</Application>
  <PresentationFormat>Benutzerdefiniert</PresentationFormat>
  <Paragraphs>64</Paragraphs>
  <Slides>11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Wingdings</vt:lpstr>
      <vt:lpstr>Aptos</vt:lpstr>
      <vt:lpstr>Arial</vt:lpstr>
      <vt:lpstr>Benutzerdefiniertes Design</vt:lpstr>
      <vt:lpstr>Tools for group work</vt:lpstr>
      <vt:lpstr>PowerPoint-Präsentation</vt:lpstr>
      <vt:lpstr>PowerPoint-Präsentation</vt:lpstr>
      <vt:lpstr>Tools für Kollaborationen</vt:lpstr>
      <vt:lpstr>Where to work</vt:lpstr>
      <vt:lpstr>Lending equipment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Lina Bücher</cp:lastModifiedBy>
  <cp:revision>9</cp:revision>
  <dcterms:created xsi:type="dcterms:W3CDTF">2006-08-16T00:00:00Z</dcterms:created>
  <dcterms:modified xsi:type="dcterms:W3CDTF">2024-11-15T12:51:43Z</dcterms:modified>
  <dc:identifier>DAGKdR2DXUk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