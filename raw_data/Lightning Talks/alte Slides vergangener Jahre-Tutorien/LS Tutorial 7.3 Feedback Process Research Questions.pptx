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3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72" r:id="rId5"/>
    <p:sldId id="273" r:id="rId6"/>
    <p:sldId id="274" r:id="rId7"/>
    <p:sldId id="262" r:id="rId8"/>
    <p:sldId id="263" r:id="rId9"/>
    <p:sldId id="275" r:id="rId10"/>
    <p:sldId id="276" r:id="rId11"/>
    <p:sldId id="270" r:id="rId12"/>
    <p:sldId id="271" r:id="rId13"/>
  </p:sldIdLst>
  <p:sldSz cx="18288000" cy="10287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551"/>
    <p:restoredTop sz="94629"/>
  </p:normalViewPr>
  <p:slideViewPr>
    <p:cSldViewPr>
      <p:cViewPr varScale="1">
        <p:scale>
          <a:sx n="32" d="100"/>
          <a:sy n="32" d="100"/>
        </p:scale>
        <p:origin x="208" y="12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E8AB545-A7A2-C64E-BEC8-51F178C6B1AA}" type="datetimeFigureOut">
              <a:rPr lang="de-DE"/>
              <a:t>03.12.24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1C7837A-BE0C-8E44-AC6E-3BD867A160FB}" type="slidenum">
              <a:rPr lang="de-DE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8767FD-6736-D867-BBF3-045B5A3E4C3E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3AD9DA-A0BD-65FC-8EA9-B0E9B04B8C07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39646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72950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938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18878D-C32F-E084-386E-7A64EEDD0659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567562-F301-7FD6-2767-C3D45DC8B38A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AB36A2-42F6-4198-6DFE-027E4685F1EE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C8857F-672F-CB88-3211-7B5C12E52FD4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C9D9F4-E26C-8AC2-661D-4D9FA515F304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26" Type="http://schemas.openxmlformats.org/officeDocument/2006/relationships/image" Target="../media/image30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5" Type="http://schemas.openxmlformats.org/officeDocument/2006/relationships/image" Target="../media/image29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29" Type="http://schemas.openxmlformats.org/officeDocument/2006/relationships/image" Target="../media/image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24" Type="http://schemas.openxmlformats.org/officeDocument/2006/relationships/image" Target="../media/image28.png"/><Relationship Id="rId32" Type="http://schemas.openxmlformats.org/officeDocument/2006/relationships/image" Target="../media/image36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23" Type="http://schemas.openxmlformats.org/officeDocument/2006/relationships/image" Target="../media/image27.png"/><Relationship Id="rId28" Type="http://schemas.openxmlformats.org/officeDocument/2006/relationships/image" Target="../media/image32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31" Type="http://schemas.openxmlformats.org/officeDocument/2006/relationships/image" Target="../media/image35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Relationship Id="rId27" Type="http://schemas.openxmlformats.org/officeDocument/2006/relationships/image" Target="../media/image31.png"/><Relationship Id="rId30" Type="http://schemas.openxmlformats.org/officeDocument/2006/relationships/image" Target="../media/image3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2205643" y="2410767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Titel</a:t>
            </a:r>
            <a:endParaRPr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2205643" y="7982337"/>
            <a:ext cx="6777643" cy="7831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Tutor*in: 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63301" y="315707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Untertitel 2"/>
          <p:cNvSpPr txBox="1"/>
          <p:nvPr userDrawn="1"/>
        </p:nvSpPr>
        <p:spPr bwMode="auto">
          <a:xfrm>
            <a:off x="2205642" y="6228658"/>
            <a:ext cx="13716000" cy="1276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/>
              <a:t>Master-Untertitelformat bearbeiten</a:t>
            </a:r>
            <a:endParaRPr/>
          </a:p>
        </p:txBody>
      </p:sp>
      <p:sp>
        <p:nvSpPr>
          <p:cNvPr id="5" name="Untertitel 2"/>
          <p:cNvSpPr txBox="1"/>
          <p:nvPr userDrawn="1"/>
        </p:nvSpPr>
        <p:spPr bwMode="auto">
          <a:xfrm>
            <a:off x="9144000" y="7982337"/>
            <a:ext cx="6777643" cy="783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de-DE"/>
              <a:t>Datum: 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Agenda</a:t>
            </a:r>
            <a:endParaRPr/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0" name="Freeform 10"/>
          <p:cNvSpPr/>
          <p:nvPr userDrawn="1"/>
        </p:nvSpPr>
        <p:spPr bwMode="auto">
          <a:xfrm rot="-2487859">
            <a:off x="2018666" y="506518"/>
            <a:ext cx="2809405" cy="2643335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1" name="Freeform 2"/>
          <p:cNvSpPr/>
          <p:nvPr userDrawn="1"/>
        </p:nvSpPr>
        <p:spPr bwMode="auto">
          <a:xfrm>
            <a:off x="-562784" y="4424673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2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3" name="Freeform 4"/>
          <p:cNvSpPr/>
          <p:nvPr userDrawn="1"/>
        </p:nvSpPr>
        <p:spPr bwMode="auto">
          <a:xfrm>
            <a:off x="-1766" y="-260603"/>
            <a:ext cx="3894251" cy="4068485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4" name="Freeform 5"/>
          <p:cNvSpPr/>
          <p:nvPr userDrawn="1"/>
        </p:nvSpPr>
        <p:spPr bwMode="auto">
          <a:xfrm rot="16008410">
            <a:off x="14998235" y="987245"/>
            <a:ext cx="3473526" cy="291463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5" name="Freeform 6"/>
          <p:cNvSpPr/>
          <p:nvPr userDrawn="1"/>
        </p:nvSpPr>
        <p:spPr bwMode="auto">
          <a:xfrm rot="7860678">
            <a:off x="126546" y="7226320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6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8" name="Freeform 9"/>
          <p:cNvSpPr/>
          <p:nvPr userDrawn="1"/>
        </p:nvSpPr>
        <p:spPr bwMode="auto">
          <a:xfrm rot="1296289">
            <a:off x="14548476" y="-705407"/>
            <a:ext cx="3201123" cy="3188050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9" name="Freeform 10"/>
          <p:cNvSpPr/>
          <p:nvPr userDrawn="1"/>
        </p:nvSpPr>
        <p:spPr bwMode="auto"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0" name="Freeform 11"/>
          <p:cNvSpPr/>
          <p:nvPr userDrawn="1"/>
        </p:nvSpPr>
        <p:spPr bwMode="auto">
          <a:xfrm rot="1296289">
            <a:off x="-366738" y="7821452"/>
            <a:ext cx="3294095" cy="275407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1" name="Freeform 12"/>
          <p:cNvSpPr/>
          <p:nvPr userDrawn="1"/>
        </p:nvSpPr>
        <p:spPr bwMode="auto">
          <a:xfrm rot="2046247">
            <a:off x="17050506" y="-563810"/>
            <a:ext cx="2158222" cy="2864923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auto">
          <a:xfrm>
            <a:off x="4666760" y="2718492"/>
            <a:ext cx="9742165" cy="6480000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3600"/>
            </a:lvl1pPr>
            <a:lvl2pPr marL="971550" indent="-514350">
              <a:buFont typeface="+mj-lt"/>
              <a:buAutoNum type="romanLcPeriod"/>
              <a:defRPr sz="3600"/>
            </a:lvl2pPr>
          </a:lstStyle>
          <a:p>
            <a:pPr lvl="0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 </a:t>
            </a:r>
            <a:endParaRPr/>
          </a:p>
          <a:p>
            <a:pPr lvl="0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r>
              <a:rPr lang="de-DE"/>
              <a:t> 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1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r>
              <a:rPr lang="de-DE"/>
              <a:t> </a:t>
            </a:r>
            <a:endParaRPr/>
          </a:p>
          <a:p>
            <a:pPr lvl="0"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heck-I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1895176" y="2183393"/>
            <a:ext cx="14399999" cy="63994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06800" y="2171700"/>
            <a:ext cx="14400000" cy="6483674"/>
          </a:xfrm>
        </p:spPr>
        <p:txBody>
          <a:bodyPr lIns="90000" anchor="ctr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Check-In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040125" y="-8334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ext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44000" y="1301860"/>
            <a:ext cx="14400000" cy="126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1944000" y="2738828"/>
            <a:ext cx="14400000" cy="64800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806140" y="-803735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241193" y="146185"/>
            <a:ext cx="2085371" cy="2032289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771767" y="216258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646620" y="-376703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2310651">
            <a:off x="-811537" y="3739758"/>
            <a:ext cx="2509961" cy="20955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17318415" y="2283638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Abschnitts-&#10;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06800" y="2171700"/>
            <a:ext cx="14400000" cy="3955611"/>
          </a:xfrm>
        </p:spPr>
        <p:txBody>
          <a:bodyPr lIns="90000" anchor="b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906800" y="6491289"/>
            <a:ext cx="14400000" cy="2079814"/>
          </a:xfrm>
        </p:spPr>
        <p:txBody>
          <a:bodyPr lIns="90000"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040125" y="-8334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Pau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 bwMode="auto">
          <a:xfrm>
            <a:off x="1906799" y="2171700"/>
            <a:ext cx="14399999" cy="63994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06800" y="2171700"/>
            <a:ext cx="14400000" cy="6399403"/>
          </a:xfrm>
        </p:spPr>
        <p:txBody>
          <a:bodyPr lIns="90000" anchor="ctr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PAUSE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040125" y="-8334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Energiz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1906799" y="2171700"/>
            <a:ext cx="14399999" cy="63994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06800" y="2171700"/>
            <a:ext cx="14400000" cy="6399403"/>
          </a:xfrm>
        </p:spPr>
        <p:txBody>
          <a:bodyPr lIns="90000" anchor="ctr"/>
          <a:lstStyle>
            <a:lvl1pPr>
              <a:defRPr sz="6000"/>
            </a:lvl1pPr>
          </a:lstStyle>
          <a:p>
            <a:pPr>
              <a:defRPr/>
            </a:pPr>
            <a:r>
              <a:rPr lang="de-DE"/>
              <a:t>ENERGIZER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844430" y="-193109"/>
            <a:ext cx="2311228" cy="2962220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09917" y="184642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5248400" y="253720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040125" y="-8334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554481" y="867779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15096766" y="-48757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Zwei Inhal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44000" y="1366765"/>
            <a:ext cx="14400000" cy="126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 bwMode="auto">
          <a:xfrm>
            <a:off x="1944000" y="2738437"/>
            <a:ext cx="7123800" cy="65278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9220200" y="2738437"/>
            <a:ext cx="7123800" cy="6527800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8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5"/>
          <p:cNvSpPr/>
          <p:nvPr userDrawn="1"/>
        </p:nvSpPr>
        <p:spPr bwMode="auto">
          <a:xfrm>
            <a:off x="-241193" y="146185"/>
            <a:ext cx="2085371" cy="2032289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6"/>
          <p:cNvSpPr/>
          <p:nvPr userDrawn="1"/>
        </p:nvSpPr>
        <p:spPr bwMode="auto">
          <a:xfrm rot="7860678">
            <a:off x="668732" y="930928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0"/>
          <p:cNvSpPr/>
          <p:nvPr userDrawn="1"/>
        </p:nvSpPr>
        <p:spPr bwMode="auto">
          <a:xfrm rot="-2487859">
            <a:off x="1653257" y="-539706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1"/>
          <p:cNvSpPr/>
          <p:nvPr userDrawn="1"/>
        </p:nvSpPr>
        <p:spPr bwMode="auto">
          <a:xfrm rot="1296289">
            <a:off x="-407556" y="8504231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1" name="Freeform 5"/>
          <p:cNvSpPr/>
          <p:nvPr userDrawn="1"/>
        </p:nvSpPr>
        <p:spPr bwMode="auto">
          <a:xfrm rot="16008410">
            <a:off x="16401541" y="714471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2" name="Freeform 7"/>
          <p:cNvSpPr/>
          <p:nvPr userDrawn="1"/>
        </p:nvSpPr>
        <p:spPr bwMode="auto">
          <a:xfrm rot="7860678">
            <a:off x="16917043" y="6687679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3" name="Freeform 9"/>
          <p:cNvSpPr/>
          <p:nvPr userDrawn="1"/>
        </p:nvSpPr>
        <p:spPr bwMode="auto">
          <a:xfrm rot="1296289">
            <a:off x="15384349" y="-545919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4" name="Freeform 10"/>
          <p:cNvSpPr/>
          <p:nvPr userDrawn="1"/>
        </p:nvSpPr>
        <p:spPr bwMode="auto"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5" name="Freeform 12"/>
          <p:cNvSpPr/>
          <p:nvPr userDrawn="1"/>
        </p:nvSpPr>
        <p:spPr bwMode="auto">
          <a:xfrm rot="2046247">
            <a:off x="17723193" y="-357480"/>
            <a:ext cx="1707091" cy="1936262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Vergleich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44000" y="1174623"/>
            <a:ext cx="14400000" cy="1260000"/>
          </a:xfrm>
        </p:spPr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944000" y="2522538"/>
            <a:ext cx="7052362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 bwMode="auto">
          <a:xfrm>
            <a:off x="1944000" y="3757613"/>
            <a:ext cx="7052362" cy="5527675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9258301" y="2522538"/>
            <a:ext cx="7085700" cy="1235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 bwMode="auto">
          <a:xfrm>
            <a:off x="9258301" y="3757613"/>
            <a:ext cx="7085700" cy="5527675"/>
          </a:xfrm>
        </p:spPr>
        <p:txBody>
          <a:bodyPr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1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4"/>
          <p:cNvSpPr/>
          <p:nvPr userDrawn="1"/>
        </p:nvSpPr>
        <p:spPr bwMode="auto">
          <a:xfrm>
            <a:off x="16605940" y="6291738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7"/>
          <p:cNvSpPr/>
          <p:nvPr userDrawn="1"/>
        </p:nvSpPr>
        <p:spPr bwMode="auto">
          <a:xfrm rot="7860678">
            <a:off x="16672693" y="5865697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8"/>
          <p:cNvSpPr/>
          <p:nvPr userDrawn="1"/>
        </p:nvSpPr>
        <p:spPr bwMode="auto">
          <a:xfrm rot="-458312">
            <a:off x="16710104" y="1053145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9"/>
          <p:cNvSpPr/>
          <p:nvPr userDrawn="1"/>
        </p:nvSpPr>
        <p:spPr bwMode="auto">
          <a:xfrm rot="1296289">
            <a:off x="15390336" y="-527401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" name="Freeform 12"/>
          <p:cNvSpPr/>
          <p:nvPr userDrawn="1"/>
        </p:nvSpPr>
        <p:spPr bwMode="auto">
          <a:xfrm rot="7628196">
            <a:off x="17157286" y="131932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1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2" name="Freeform 2"/>
          <p:cNvSpPr/>
          <p:nvPr userDrawn="1"/>
        </p:nvSpPr>
        <p:spPr bwMode="auto">
          <a:xfrm>
            <a:off x="-1249582" y="4137531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3" name="Freeform 11"/>
          <p:cNvSpPr/>
          <p:nvPr userDrawn="1"/>
        </p:nvSpPr>
        <p:spPr bwMode="auto"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6"/>
          <p:cNvSpPr/>
          <p:nvPr userDrawn="1"/>
        </p:nvSpPr>
        <p:spPr bwMode="auto">
          <a:xfrm rot="7860678">
            <a:off x="-755376" y="4673141"/>
            <a:ext cx="1600955" cy="1645696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4" name="Freeform 10"/>
          <p:cNvSpPr/>
          <p:nvPr userDrawn="1"/>
        </p:nvSpPr>
        <p:spPr bwMode="auto">
          <a:xfrm rot="-2487859">
            <a:off x="754582" y="-207773"/>
            <a:ext cx="1882775" cy="1684956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5" name="Freeform 4"/>
          <p:cNvSpPr/>
          <p:nvPr userDrawn="1"/>
        </p:nvSpPr>
        <p:spPr bwMode="auto">
          <a:xfrm>
            <a:off x="-613526" y="-932654"/>
            <a:ext cx="2609805" cy="259339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17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0" name="Freeform 10"/>
          <p:cNvSpPr/>
          <p:nvPr userDrawn="1"/>
        </p:nvSpPr>
        <p:spPr bwMode="auto">
          <a:xfrm rot="-2487859">
            <a:off x="634233" y="-130796"/>
            <a:ext cx="2100921" cy="2020412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1" name="Freeform 2"/>
          <p:cNvSpPr/>
          <p:nvPr userDrawn="1"/>
        </p:nvSpPr>
        <p:spPr bwMode="auto">
          <a:xfrm>
            <a:off x="92944" y="603209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2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3" name="Freeform 4"/>
          <p:cNvSpPr/>
          <p:nvPr userDrawn="1"/>
        </p:nvSpPr>
        <p:spPr bwMode="auto">
          <a:xfrm>
            <a:off x="-817599" y="-741416"/>
            <a:ext cx="2912187" cy="3109714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4" name="Freeform 5"/>
          <p:cNvSpPr/>
          <p:nvPr userDrawn="1"/>
        </p:nvSpPr>
        <p:spPr bwMode="auto">
          <a:xfrm rot="16008410">
            <a:off x="15833994" y="712804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5" name="Freeform 6"/>
          <p:cNvSpPr/>
          <p:nvPr userDrawn="1"/>
        </p:nvSpPr>
        <p:spPr bwMode="auto">
          <a:xfrm rot="7860678">
            <a:off x="126546" y="7226320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6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8" name="Freeform 9"/>
          <p:cNvSpPr/>
          <p:nvPr userDrawn="1"/>
        </p:nvSpPr>
        <p:spPr bwMode="auto">
          <a:xfrm rot="1296289">
            <a:off x="15384349" y="-545919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9" name="Freeform 10"/>
          <p:cNvSpPr/>
          <p:nvPr userDrawn="1"/>
        </p:nvSpPr>
        <p:spPr bwMode="auto">
          <a:xfrm rot="-2487859">
            <a:off x="16952453" y="4767483"/>
            <a:ext cx="2033723" cy="1619753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0" name="Freeform 11"/>
          <p:cNvSpPr/>
          <p:nvPr userDrawn="1"/>
        </p:nvSpPr>
        <p:spPr bwMode="auto">
          <a:xfrm rot="1296289">
            <a:off x="296953" y="7886423"/>
            <a:ext cx="3294095" cy="275407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1" name="Freeform 12"/>
          <p:cNvSpPr/>
          <p:nvPr userDrawn="1"/>
        </p:nvSpPr>
        <p:spPr bwMode="auto">
          <a:xfrm rot="2046247">
            <a:off x="17723193" y="-357480"/>
            <a:ext cx="1707091" cy="1936262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Freeform 10"/>
          <p:cNvSpPr/>
          <p:nvPr userDrawn="1"/>
        </p:nvSpPr>
        <p:spPr bwMode="auto">
          <a:xfrm rot="-2487859">
            <a:off x="1848993" y="-392157"/>
            <a:ext cx="2100921" cy="2020412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reeform 2"/>
          <p:cNvSpPr/>
          <p:nvPr userDrawn="1"/>
        </p:nvSpPr>
        <p:spPr bwMode="auto">
          <a:xfrm>
            <a:off x="351158" y="5589207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7" name="Freeform 4"/>
          <p:cNvSpPr/>
          <p:nvPr userDrawn="1"/>
        </p:nvSpPr>
        <p:spPr bwMode="auto">
          <a:xfrm>
            <a:off x="-817599" y="-741417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5"/>
          <p:cNvSpPr/>
          <p:nvPr userDrawn="1"/>
        </p:nvSpPr>
        <p:spPr bwMode="auto">
          <a:xfrm rot="16008410">
            <a:off x="15358696" y="2451781"/>
            <a:ext cx="2347587" cy="2305392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6"/>
          <p:cNvSpPr/>
          <p:nvPr userDrawn="1"/>
        </p:nvSpPr>
        <p:spPr bwMode="auto">
          <a:xfrm rot="7860678">
            <a:off x="702797" y="573633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8"/>
          <p:cNvSpPr/>
          <p:nvPr userDrawn="1"/>
        </p:nvSpPr>
        <p:spPr bwMode="auto">
          <a:xfrm rot="-458312">
            <a:off x="15741562" y="989320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9"/>
          <p:cNvSpPr/>
          <p:nvPr userDrawn="1"/>
        </p:nvSpPr>
        <p:spPr bwMode="auto">
          <a:xfrm rot="1296289">
            <a:off x="14830585" y="-257242"/>
            <a:ext cx="2531996" cy="2154648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10"/>
          <p:cNvSpPr/>
          <p:nvPr userDrawn="1"/>
        </p:nvSpPr>
        <p:spPr bwMode="auto">
          <a:xfrm rot="-2487859">
            <a:off x="17027787" y="4966511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11"/>
          <p:cNvSpPr/>
          <p:nvPr userDrawn="1"/>
        </p:nvSpPr>
        <p:spPr bwMode="auto">
          <a:xfrm rot="1296289">
            <a:off x="619918" y="6991212"/>
            <a:ext cx="3294095" cy="2754079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2"/>
          <p:cNvSpPr/>
          <p:nvPr userDrawn="1"/>
        </p:nvSpPr>
        <p:spPr bwMode="auto">
          <a:xfrm rot="2046247">
            <a:off x="16212870" y="1083509"/>
            <a:ext cx="2213171" cy="2273738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Inhalt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auto">
          <a:xfrm>
            <a:off x="1944000" y="1481138"/>
            <a:ext cx="5235566" cy="12600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 bwMode="auto">
          <a:xfrm>
            <a:off x="7775574" y="1481138"/>
            <a:ext cx="8568425" cy="7310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 bwMode="auto">
          <a:xfrm>
            <a:off x="1944000" y="3086100"/>
            <a:ext cx="5214038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2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3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4" name="Freeform 5"/>
          <p:cNvSpPr/>
          <p:nvPr userDrawn="1"/>
        </p:nvSpPr>
        <p:spPr bwMode="auto">
          <a:xfrm>
            <a:off x="-344695" y="-103733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5" name="Freeform 6"/>
          <p:cNvSpPr/>
          <p:nvPr userDrawn="1"/>
        </p:nvSpPr>
        <p:spPr bwMode="auto">
          <a:xfrm rot="7860678">
            <a:off x="184890" y="17076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6" name="Freeform 8"/>
          <p:cNvSpPr/>
          <p:nvPr userDrawn="1"/>
        </p:nvSpPr>
        <p:spPr bwMode="auto">
          <a:xfrm rot="-458312">
            <a:off x="16929227" y="-285243"/>
            <a:ext cx="3155791" cy="3843267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7" name="Freeform 9"/>
          <p:cNvSpPr/>
          <p:nvPr userDrawn="1"/>
        </p:nvSpPr>
        <p:spPr bwMode="auto">
          <a:xfrm rot="1296289">
            <a:off x="15429160" y="-255544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8" name="Freeform 10"/>
          <p:cNvSpPr/>
          <p:nvPr userDrawn="1"/>
        </p:nvSpPr>
        <p:spPr bwMode="auto">
          <a:xfrm rot="-2487859">
            <a:off x="1742939" y="-107165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9" name="Freeform 11"/>
          <p:cNvSpPr/>
          <p:nvPr userDrawn="1"/>
        </p:nvSpPr>
        <p:spPr bwMode="auto">
          <a:xfrm rot="1296289">
            <a:off x="-1078000" y="5865358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0" name="Freeform 12"/>
          <p:cNvSpPr/>
          <p:nvPr userDrawn="1"/>
        </p:nvSpPr>
        <p:spPr bwMode="auto">
          <a:xfrm rot="1597264">
            <a:off x="17342788" y="120854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1" name="Freeform 5"/>
          <p:cNvSpPr/>
          <p:nvPr userDrawn="1"/>
        </p:nvSpPr>
        <p:spPr bwMode="auto">
          <a:xfrm rot="7999432">
            <a:off x="17045216" y="6735395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2" name="Freeform 7"/>
          <p:cNvSpPr/>
          <p:nvPr userDrawn="1"/>
        </p:nvSpPr>
        <p:spPr bwMode="auto">
          <a:xfrm rot="7860678">
            <a:off x="16251956" y="8185607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Bild mit Überschrif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 bwMode="auto">
          <a:xfrm>
            <a:off x="7775575" y="1481138"/>
            <a:ext cx="8568424" cy="73104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de-DE"/>
          </a:p>
        </p:txBody>
      </p:sp>
      <p:sp>
        <p:nvSpPr>
          <p:cNvPr id="8" name="Freeform 2"/>
          <p:cNvSpPr/>
          <p:nvPr userDrawn="1"/>
        </p:nvSpPr>
        <p:spPr bwMode="auto">
          <a:xfrm>
            <a:off x="-988817" y="7307032"/>
            <a:ext cx="2499164" cy="2394654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5"/>
          <p:cNvSpPr/>
          <p:nvPr userDrawn="1"/>
        </p:nvSpPr>
        <p:spPr bwMode="auto">
          <a:xfrm>
            <a:off x="-344695" y="-103733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6"/>
          <p:cNvSpPr/>
          <p:nvPr userDrawn="1"/>
        </p:nvSpPr>
        <p:spPr bwMode="auto">
          <a:xfrm rot="7860678">
            <a:off x="184890" y="170766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8"/>
          <p:cNvSpPr/>
          <p:nvPr userDrawn="1"/>
        </p:nvSpPr>
        <p:spPr bwMode="auto">
          <a:xfrm rot="-458312">
            <a:off x="16929227" y="-285243"/>
            <a:ext cx="3155791" cy="3843267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9"/>
          <p:cNvSpPr/>
          <p:nvPr userDrawn="1"/>
        </p:nvSpPr>
        <p:spPr bwMode="auto">
          <a:xfrm rot="1296289">
            <a:off x="15429160" y="-255544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0"/>
          <p:cNvSpPr/>
          <p:nvPr userDrawn="1"/>
        </p:nvSpPr>
        <p:spPr bwMode="auto">
          <a:xfrm rot="-2487859">
            <a:off x="1742939" y="-107165"/>
            <a:ext cx="1763767" cy="1494391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1"/>
          <p:cNvSpPr/>
          <p:nvPr userDrawn="1"/>
        </p:nvSpPr>
        <p:spPr bwMode="auto">
          <a:xfrm rot="1296289">
            <a:off x="-1078000" y="5865358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8" name="Freeform 12"/>
          <p:cNvSpPr/>
          <p:nvPr userDrawn="1"/>
        </p:nvSpPr>
        <p:spPr bwMode="auto">
          <a:xfrm rot="1597264">
            <a:off x="17342788" y="1208544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9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0" name="Titel 1"/>
          <p:cNvSpPr txBox="1"/>
          <p:nvPr userDrawn="1"/>
        </p:nvSpPr>
        <p:spPr bwMode="auto">
          <a:xfrm>
            <a:off x="1944000" y="1481138"/>
            <a:ext cx="5235566" cy="1260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/>
              <a:t>Überschrift</a:t>
            </a:r>
            <a:endParaRPr/>
          </a:p>
        </p:txBody>
      </p:sp>
      <p:sp>
        <p:nvSpPr>
          <p:cNvPr id="22" name="Textplatzhalter 3"/>
          <p:cNvSpPr>
            <a:spLocks noGrp="1"/>
          </p:cNvSpPr>
          <p:nvPr>
            <p:ph type="body" sz="half" idx="11"/>
          </p:nvPr>
        </p:nvSpPr>
        <p:spPr bwMode="auto">
          <a:xfrm>
            <a:off x="1944000" y="3086100"/>
            <a:ext cx="5214038" cy="57181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de-DE"/>
              <a:t>Mastertextformat bearbeiten</a:t>
            </a:r>
            <a:endParaRPr/>
          </a:p>
        </p:txBody>
      </p:sp>
      <p:sp>
        <p:nvSpPr>
          <p:cNvPr id="24" name="Freeform 5"/>
          <p:cNvSpPr/>
          <p:nvPr userDrawn="1"/>
        </p:nvSpPr>
        <p:spPr bwMode="auto">
          <a:xfrm rot="7999432">
            <a:off x="17045216" y="6735395"/>
            <a:ext cx="2797974" cy="2535765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7"/>
          <p:cNvSpPr/>
          <p:nvPr userDrawn="1"/>
        </p:nvSpPr>
        <p:spPr bwMode="auto">
          <a:xfrm rot="7860678">
            <a:off x="16251956" y="8185607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Frag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2186282" y="2403128"/>
            <a:ext cx="13716000" cy="623793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2205643" y="2410767"/>
            <a:ext cx="13716000" cy="6230294"/>
          </a:xfrm>
        </p:spPr>
        <p:txBody>
          <a:bodyPr anchor="ctr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Gibt es offene Fragen?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63301" y="315707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Abschie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 userDrawn="1"/>
        </p:nvSpPr>
        <p:spPr bwMode="auto">
          <a:xfrm>
            <a:off x="2205643" y="2394218"/>
            <a:ext cx="13716000" cy="623793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auto">
          <a:xfrm>
            <a:off x="2205643" y="2410767"/>
            <a:ext cx="13716000" cy="6221384"/>
          </a:xfrm>
        </p:spPr>
        <p:txBody>
          <a:bodyPr anchor="ctr"/>
          <a:lstStyle>
            <a:lvl1pPr algn="ctr">
              <a:defRPr sz="6000"/>
            </a:lvl1pPr>
          </a:lstStyle>
          <a:p>
            <a:pPr>
              <a:defRPr/>
            </a:pPr>
            <a:r>
              <a:rPr lang="de-DE"/>
              <a:t>Schön das Ihr da wart!</a:t>
            </a:r>
            <a:br>
              <a:rPr lang="de-DE"/>
            </a:br>
            <a:r>
              <a:rPr lang="de-DE"/>
              <a:t>Bis nächste Woche </a:t>
            </a:r>
            <a:endParaRPr/>
          </a:p>
        </p:txBody>
      </p:sp>
      <p:sp>
        <p:nvSpPr>
          <p:cNvPr id="7" name="Freeform 2"/>
          <p:cNvSpPr/>
          <p:nvPr userDrawn="1"/>
        </p:nvSpPr>
        <p:spPr bwMode="auto">
          <a:xfrm>
            <a:off x="-1263092" y="4204093"/>
            <a:ext cx="2499164" cy="5514763"/>
          </a:xfrm>
          <a:custGeom>
            <a:avLst/>
            <a:gdLst/>
            <a:ahLst/>
            <a:cxnLst/>
            <a:rect l="l" t="t" r="r" b="b"/>
            <a:pathLst>
              <a:path w="2499164" h="2394654" extrusionOk="0">
                <a:moveTo>
                  <a:pt x="0" y="0"/>
                </a:moveTo>
                <a:lnTo>
                  <a:pt x="2499165" y="0"/>
                </a:lnTo>
                <a:lnTo>
                  <a:pt x="2499165" y="2394654"/>
                </a:lnTo>
                <a:lnTo>
                  <a:pt x="0" y="2394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reeform 3"/>
          <p:cNvSpPr/>
          <p:nvPr userDrawn="1"/>
        </p:nvSpPr>
        <p:spPr bwMode="auto">
          <a:xfrm rot="4680788">
            <a:off x="16257418" y="8270982"/>
            <a:ext cx="2635834" cy="2525609"/>
          </a:xfrm>
          <a:custGeom>
            <a:avLst/>
            <a:gdLst/>
            <a:ahLst/>
            <a:cxnLst/>
            <a:rect l="l" t="t" r="r" b="b"/>
            <a:pathLst>
              <a:path w="2635834" h="2525609" extrusionOk="0">
                <a:moveTo>
                  <a:pt x="0" y="0"/>
                </a:moveTo>
                <a:lnTo>
                  <a:pt x="2635835" y="0"/>
                </a:lnTo>
                <a:lnTo>
                  <a:pt x="2635835" y="2525608"/>
                </a:lnTo>
                <a:lnTo>
                  <a:pt x="0" y="2525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9" name="Freeform 4"/>
          <p:cNvSpPr/>
          <p:nvPr userDrawn="1"/>
        </p:nvSpPr>
        <p:spPr bwMode="auto">
          <a:xfrm>
            <a:off x="15433702" y="7133471"/>
            <a:ext cx="3505909" cy="3416667"/>
          </a:xfrm>
          <a:custGeom>
            <a:avLst/>
            <a:gdLst/>
            <a:ahLst/>
            <a:cxnLst/>
            <a:rect l="l" t="t" r="r" b="b"/>
            <a:pathLst>
              <a:path w="3505909" h="3416667" extrusionOk="0">
                <a:moveTo>
                  <a:pt x="0" y="0"/>
                </a:moveTo>
                <a:lnTo>
                  <a:pt x="3505909" y="0"/>
                </a:lnTo>
                <a:lnTo>
                  <a:pt x="3505909" y="3416668"/>
                </a:lnTo>
                <a:lnTo>
                  <a:pt x="0" y="34166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0" name="Freeform 5"/>
          <p:cNvSpPr/>
          <p:nvPr userDrawn="1"/>
        </p:nvSpPr>
        <p:spPr bwMode="auto">
          <a:xfrm>
            <a:off x="-241193" y="146185"/>
            <a:ext cx="2813227" cy="2781862"/>
          </a:xfrm>
          <a:custGeom>
            <a:avLst/>
            <a:gdLst/>
            <a:ahLst/>
            <a:cxnLst/>
            <a:rect l="l" t="t" r="r" b="b"/>
            <a:pathLst>
              <a:path w="2085371" h="2032289" extrusionOk="0">
                <a:moveTo>
                  <a:pt x="0" y="0"/>
                </a:moveTo>
                <a:lnTo>
                  <a:pt x="2085371" y="0"/>
                </a:lnTo>
                <a:lnTo>
                  <a:pt x="2085371" y="2032289"/>
                </a:lnTo>
                <a:lnTo>
                  <a:pt x="0" y="20322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1" name="Freeform 6"/>
          <p:cNvSpPr/>
          <p:nvPr userDrawn="1"/>
        </p:nvSpPr>
        <p:spPr bwMode="auto">
          <a:xfrm rot="7860678">
            <a:off x="63301" y="315707"/>
            <a:ext cx="1600955" cy="1490343"/>
          </a:xfrm>
          <a:custGeom>
            <a:avLst/>
            <a:gdLst/>
            <a:ahLst/>
            <a:cxnLst/>
            <a:rect l="l" t="t" r="r" b="b"/>
            <a:pathLst>
              <a:path w="1600955" h="1490343" extrusionOk="0">
                <a:moveTo>
                  <a:pt x="0" y="0"/>
                </a:moveTo>
                <a:lnTo>
                  <a:pt x="1600954" y="0"/>
                </a:lnTo>
                <a:lnTo>
                  <a:pt x="1600954" y="1490343"/>
                </a:lnTo>
                <a:lnTo>
                  <a:pt x="0" y="14903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2" name="Freeform 7"/>
          <p:cNvSpPr/>
          <p:nvPr userDrawn="1"/>
        </p:nvSpPr>
        <p:spPr bwMode="auto">
          <a:xfrm rot="7860678">
            <a:off x="15930678" y="7382404"/>
            <a:ext cx="2243704" cy="2088684"/>
          </a:xfrm>
          <a:custGeom>
            <a:avLst/>
            <a:gdLst/>
            <a:ahLst/>
            <a:cxnLst/>
            <a:rect l="l" t="t" r="r" b="b"/>
            <a:pathLst>
              <a:path w="2243704" h="2088684" extrusionOk="0">
                <a:moveTo>
                  <a:pt x="0" y="0"/>
                </a:moveTo>
                <a:lnTo>
                  <a:pt x="2243704" y="0"/>
                </a:lnTo>
                <a:lnTo>
                  <a:pt x="2243704" y="2088684"/>
                </a:lnTo>
                <a:lnTo>
                  <a:pt x="0" y="2088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3" name="Freeform 8"/>
          <p:cNvSpPr/>
          <p:nvPr userDrawn="1"/>
        </p:nvSpPr>
        <p:spPr bwMode="auto">
          <a:xfrm rot="-458312">
            <a:off x="16269322" y="-478677"/>
            <a:ext cx="3155791" cy="3023821"/>
          </a:xfrm>
          <a:custGeom>
            <a:avLst/>
            <a:gdLst/>
            <a:ahLst/>
            <a:cxnLst/>
            <a:rect l="l" t="t" r="r" b="b"/>
            <a:pathLst>
              <a:path w="3155791" h="3023821" extrusionOk="0">
                <a:moveTo>
                  <a:pt x="0" y="0"/>
                </a:moveTo>
                <a:lnTo>
                  <a:pt x="3155790" y="0"/>
                </a:lnTo>
                <a:lnTo>
                  <a:pt x="3155790" y="3023821"/>
                </a:lnTo>
                <a:lnTo>
                  <a:pt x="0" y="3023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4" name="Freeform 9"/>
          <p:cNvSpPr/>
          <p:nvPr userDrawn="1"/>
        </p:nvSpPr>
        <p:spPr bwMode="auto">
          <a:xfrm rot="1296289">
            <a:off x="16320004" y="1512598"/>
            <a:ext cx="2265599" cy="1919581"/>
          </a:xfrm>
          <a:custGeom>
            <a:avLst/>
            <a:gdLst/>
            <a:ahLst/>
            <a:cxnLst/>
            <a:rect l="l" t="t" r="r" b="b"/>
            <a:pathLst>
              <a:path w="2265599" h="1919581" extrusionOk="0">
                <a:moveTo>
                  <a:pt x="0" y="0"/>
                </a:moveTo>
                <a:lnTo>
                  <a:pt x="2265600" y="0"/>
                </a:lnTo>
                <a:lnTo>
                  <a:pt x="2265600" y="1919581"/>
                </a:lnTo>
                <a:lnTo>
                  <a:pt x="0" y="19195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5" name="Freeform 10"/>
          <p:cNvSpPr/>
          <p:nvPr userDrawn="1"/>
        </p:nvSpPr>
        <p:spPr bwMode="auto">
          <a:xfrm rot="-2487859">
            <a:off x="1794946" y="-277491"/>
            <a:ext cx="2161751" cy="1802118"/>
          </a:xfrm>
          <a:custGeom>
            <a:avLst/>
            <a:gdLst/>
            <a:ahLst/>
            <a:cxnLst/>
            <a:rect l="l" t="t" r="r" b="b"/>
            <a:pathLst>
              <a:path w="1763767" h="1494392" extrusionOk="0">
                <a:moveTo>
                  <a:pt x="0" y="0"/>
                </a:moveTo>
                <a:lnTo>
                  <a:pt x="1763767" y="0"/>
                </a:lnTo>
                <a:lnTo>
                  <a:pt x="1763767" y="1494392"/>
                </a:lnTo>
                <a:lnTo>
                  <a:pt x="0" y="1494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6" name="Freeform 11"/>
          <p:cNvSpPr/>
          <p:nvPr userDrawn="1"/>
        </p:nvSpPr>
        <p:spPr bwMode="auto">
          <a:xfrm rot="1296289">
            <a:off x="-369759" y="7879792"/>
            <a:ext cx="2430280" cy="2059110"/>
          </a:xfrm>
          <a:custGeom>
            <a:avLst/>
            <a:gdLst/>
            <a:ahLst/>
            <a:cxnLst/>
            <a:rect l="l" t="t" r="r" b="b"/>
            <a:pathLst>
              <a:path w="2430280" h="2059110" extrusionOk="0">
                <a:moveTo>
                  <a:pt x="0" y="0"/>
                </a:moveTo>
                <a:lnTo>
                  <a:pt x="2430281" y="0"/>
                </a:lnTo>
                <a:lnTo>
                  <a:pt x="2430281" y="2059110"/>
                </a:lnTo>
                <a:lnTo>
                  <a:pt x="0" y="2059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17" name="Freeform 12"/>
          <p:cNvSpPr/>
          <p:nvPr userDrawn="1"/>
        </p:nvSpPr>
        <p:spPr bwMode="auto">
          <a:xfrm rot="7628196">
            <a:off x="15300850" y="559721"/>
            <a:ext cx="1939168" cy="1805189"/>
          </a:xfrm>
          <a:custGeom>
            <a:avLst/>
            <a:gdLst/>
            <a:ahLst/>
            <a:cxnLst/>
            <a:rect l="l" t="t" r="r" b="b"/>
            <a:pathLst>
              <a:path w="1939168" h="1805189" extrusionOk="0">
                <a:moveTo>
                  <a:pt x="0" y="0"/>
                </a:moveTo>
                <a:lnTo>
                  <a:pt x="1939169" y="0"/>
                </a:lnTo>
                <a:lnTo>
                  <a:pt x="1939169" y="1805189"/>
                </a:lnTo>
                <a:lnTo>
                  <a:pt x="0" y="180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co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15876905" y="4807323"/>
            <a:ext cx="2373813" cy="1592764"/>
          </a:xfrm>
          <a:prstGeom prst="rect">
            <a:avLst/>
          </a:prstGeom>
        </p:spPr>
      </p:pic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12021566" y="6891802"/>
            <a:ext cx="1502640" cy="1592764"/>
          </a:xfrm>
          <a:prstGeom prst="rect">
            <a:avLst/>
          </a:prstGeom>
        </p:spPr>
      </p:pic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13639800" y="6638689"/>
            <a:ext cx="1949303" cy="1592764"/>
          </a:xfrm>
          <a:prstGeom prst="rect">
            <a:avLst/>
          </a:prstGeom>
        </p:spPr>
      </p:pic>
      <p:pic>
        <p:nvPicPr>
          <p:cNvPr id="20" name="Grafik 19"/>
          <p:cNvPicPr>
            <a:picLocks noChangeAspect="1"/>
          </p:cNvPicPr>
          <p:nvPr userDrawn="1"/>
        </p:nvPicPr>
        <p:blipFill>
          <a:blip r:embed="rId5"/>
          <a:stretch/>
        </p:blipFill>
        <p:spPr bwMode="auto">
          <a:xfrm>
            <a:off x="9677723" y="6922092"/>
            <a:ext cx="2258684" cy="1592764"/>
          </a:xfrm>
          <a:prstGeom prst="rect">
            <a:avLst/>
          </a:prstGeom>
        </p:spPr>
      </p:pic>
      <p:pic>
        <p:nvPicPr>
          <p:cNvPr id="21" name="Grafik 20"/>
          <p:cNvPicPr>
            <a:picLocks noChangeAspect="1"/>
          </p:cNvPicPr>
          <p:nvPr userDrawn="1"/>
        </p:nvPicPr>
        <p:blipFill>
          <a:blip r:embed="rId6"/>
          <a:stretch/>
        </p:blipFill>
        <p:spPr bwMode="auto">
          <a:xfrm>
            <a:off x="11326904" y="5064484"/>
            <a:ext cx="2033866" cy="1592764"/>
          </a:xfrm>
          <a:prstGeom prst="rect">
            <a:avLst/>
          </a:prstGeom>
        </p:spPr>
      </p:pic>
      <p:pic>
        <p:nvPicPr>
          <p:cNvPr id="22" name="Grafik 21"/>
          <p:cNvPicPr>
            <a:picLocks noChangeAspect="1"/>
          </p:cNvPicPr>
          <p:nvPr userDrawn="1"/>
        </p:nvPicPr>
        <p:blipFill>
          <a:blip r:embed="rId7"/>
          <a:stretch/>
        </p:blipFill>
        <p:spPr bwMode="auto">
          <a:xfrm>
            <a:off x="14485268" y="3220983"/>
            <a:ext cx="1775341" cy="1592764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8"/>
          <a:stretch/>
        </p:blipFill>
        <p:spPr bwMode="auto">
          <a:xfrm>
            <a:off x="16220430" y="8526750"/>
            <a:ext cx="2080242" cy="1592764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9"/>
          <a:stretch/>
        </p:blipFill>
        <p:spPr bwMode="auto">
          <a:xfrm>
            <a:off x="2349260" y="4800008"/>
            <a:ext cx="2193219" cy="1592764"/>
          </a:xfrm>
          <a:prstGeom prst="rect">
            <a:avLst/>
          </a:prstGeom>
        </p:spPr>
      </p:pic>
      <p:pic>
        <p:nvPicPr>
          <p:cNvPr id="25" name="Grafik 24" descr="Ein Bild, das Mann, stehend, Schnee, haltend enthält.&#10;&#10;Automatisch generierte Beschreibung"/>
          <p:cNvPicPr>
            <a:picLocks noChangeAspect="1"/>
          </p:cNvPicPr>
          <p:nvPr userDrawn="1"/>
        </p:nvPicPr>
        <p:blipFill>
          <a:blip r:embed="rId10"/>
          <a:stretch/>
        </p:blipFill>
        <p:spPr bwMode="auto">
          <a:xfrm>
            <a:off x="16093202" y="3146603"/>
            <a:ext cx="2157516" cy="1592764"/>
          </a:xfrm>
          <a:prstGeom prst="rect">
            <a:avLst/>
          </a:prstGeom>
        </p:spPr>
      </p:pic>
      <p:grpSp>
        <p:nvGrpSpPr>
          <p:cNvPr id="27" name="Google Shape;418;p40"/>
          <p:cNvGrpSpPr>
            <a:grpSpLocks noChangeAspect="1"/>
          </p:cNvGrpSpPr>
          <p:nvPr userDrawn="1"/>
        </p:nvGrpSpPr>
        <p:grpSpPr bwMode="auto">
          <a:xfrm>
            <a:off x="2970519" y="3831315"/>
            <a:ext cx="1196899" cy="839754"/>
            <a:chOff x="559275" y="1683950"/>
            <a:chExt cx="466500" cy="327300"/>
          </a:xfrm>
        </p:grpSpPr>
        <p:sp>
          <p:nvSpPr>
            <p:cNvPr id="28" name="Google Shape;419;p40"/>
            <p:cNvSpPr/>
            <p:nvPr/>
          </p:nvSpPr>
          <p:spPr bwMode="auto"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29" name="Google Shape;420;p40"/>
            <p:cNvSpPr/>
            <p:nvPr/>
          </p:nvSpPr>
          <p:spPr bwMode="auto"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30" name="Google Shape;421;p40"/>
          <p:cNvGrpSpPr>
            <a:grpSpLocks noChangeAspect="1"/>
          </p:cNvGrpSpPr>
          <p:nvPr userDrawn="1"/>
        </p:nvGrpSpPr>
        <p:grpSpPr bwMode="auto">
          <a:xfrm>
            <a:off x="910516" y="742994"/>
            <a:ext cx="1205798" cy="1180532"/>
            <a:chOff x="1233350" y="1619250"/>
            <a:chExt cx="466500" cy="456725"/>
          </a:xfrm>
        </p:grpSpPr>
        <p:sp>
          <p:nvSpPr>
            <p:cNvPr id="31" name="Google Shape;422;p40"/>
            <p:cNvSpPr/>
            <p:nvPr/>
          </p:nvSpPr>
          <p:spPr bwMode="auto"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2" name="Google Shape;423;p40"/>
            <p:cNvSpPr/>
            <p:nvPr/>
          </p:nvSpPr>
          <p:spPr bwMode="auto"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3" name="Google Shape;424;p40"/>
            <p:cNvSpPr/>
            <p:nvPr/>
          </p:nvSpPr>
          <p:spPr bwMode="auto"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4" name="Google Shape;425;p40"/>
            <p:cNvSpPr/>
            <p:nvPr/>
          </p:nvSpPr>
          <p:spPr bwMode="auto"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35" name="Google Shape;426;p40"/>
          <p:cNvGrpSpPr>
            <a:grpSpLocks noChangeAspect="1"/>
          </p:cNvGrpSpPr>
          <p:nvPr userDrawn="1"/>
        </p:nvGrpSpPr>
        <p:grpSpPr bwMode="auto">
          <a:xfrm>
            <a:off x="6088394" y="3574688"/>
            <a:ext cx="974938" cy="974938"/>
            <a:chOff x="1922075" y="1629000"/>
            <a:chExt cx="437200" cy="437200"/>
          </a:xfrm>
        </p:grpSpPr>
        <p:sp>
          <p:nvSpPr>
            <p:cNvPr id="36" name="Google Shape;427;p40"/>
            <p:cNvSpPr/>
            <p:nvPr/>
          </p:nvSpPr>
          <p:spPr bwMode="auto"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37" name="Google Shape;428;p40"/>
            <p:cNvSpPr/>
            <p:nvPr/>
          </p:nvSpPr>
          <p:spPr bwMode="auto"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grpSp>
        <p:nvGrpSpPr>
          <p:cNvPr id="38" name="Google Shape;429;p40"/>
          <p:cNvGrpSpPr>
            <a:grpSpLocks noChangeAspect="1"/>
          </p:cNvGrpSpPr>
          <p:nvPr userDrawn="1"/>
        </p:nvGrpSpPr>
        <p:grpSpPr bwMode="auto">
          <a:xfrm>
            <a:off x="4514349" y="3536997"/>
            <a:ext cx="1005134" cy="1005134"/>
            <a:chOff x="2594325" y="1627175"/>
            <a:chExt cx="440850" cy="440850"/>
          </a:xfrm>
        </p:grpSpPr>
        <p:sp>
          <p:nvSpPr>
            <p:cNvPr id="39" name="Google Shape;430;p40"/>
            <p:cNvSpPr/>
            <p:nvPr/>
          </p:nvSpPr>
          <p:spPr bwMode="auto"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0" name="Google Shape;431;p40"/>
            <p:cNvSpPr/>
            <p:nvPr/>
          </p:nvSpPr>
          <p:spPr bwMode="auto"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1" name="Google Shape;432;p40"/>
            <p:cNvSpPr/>
            <p:nvPr/>
          </p:nvSpPr>
          <p:spPr bwMode="auto"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sp>
        <p:nvSpPr>
          <p:cNvPr id="42" name="Google Shape;488;p40"/>
          <p:cNvSpPr>
            <a:spLocks noChangeAspect="1"/>
          </p:cNvSpPr>
          <p:nvPr userDrawn="1"/>
        </p:nvSpPr>
        <p:spPr bwMode="auto">
          <a:xfrm>
            <a:off x="6225064" y="1724791"/>
            <a:ext cx="1245939" cy="1599223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3" name="Google Shape;489;p40"/>
          <p:cNvSpPr>
            <a:spLocks noChangeAspect="1"/>
          </p:cNvSpPr>
          <p:nvPr userDrawn="1"/>
        </p:nvSpPr>
        <p:spPr bwMode="auto">
          <a:xfrm>
            <a:off x="4980938" y="1713050"/>
            <a:ext cx="903927" cy="1566072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A7A4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grpSp>
        <p:nvGrpSpPr>
          <p:cNvPr id="44" name="Google Shape;490;p40"/>
          <p:cNvGrpSpPr>
            <a:grpSpLocks noChangeAspect="1"/>
          </p:cNvGrpSpPr>
          <p:nvPr userDrawn="1"/>
        </p:nvGrpSpPr>
        <p:grpSpPr bwMode="auto">
          <a:xfrm>
            <a:off x="7906067" y="1750254"/>
            <a:ext cx="1622856" cy="1562899"/>
            <a:chOff x="2583325" y="2972875"/>
            <a:chExt cx="462850" cy="445750"/>
          </a:xfrm>
        </p:grpSpPr>
        <p:sp>
          <p:nvSpPr>
            <p:cNvPr id="45" name="Google Shape;491;p40"/>
            <p:cNvSpPr/>
            <p:nvPr/>
          </p:nvSpPr>
          <p:spPr bwMode="auto">
            <a:xfrm>
              <a:off x="2701774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46" name="Google Shape;492;p40"/>
            <p:cNvSpPr/>
            <p:nvPr/>
          </p:nvSpPr>
          <p:spPr bwMode="auto"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A7A4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</p:grpSp>
      <p:pic>
        <p:nvPicPr>
          <p:cNvPr id="58" name="Grafik 57"/>
          <p:cNvPicPr>
            <a:picLocks noChangeAspect="1"/>
          </p:cNvPicPr>
          <p:nvPr userDrawn="1"/>
        </p:nvPicPr>
        <p:blipFill>
          <a:blip r:embed="rId11"/>
          <a:stretch/>
        </p:blipFill>
        <p:spPr bwMode="auto">
          <a:xfrm>
            <a:off x="10142224" y="3651773"/>
            <a:ext cx="1726057" cy="1158428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2"/>
          <a:stretch/>
        </p:blipFill>
        <p:spPr bwMode="auto">
          <a:xfrm>
            <a:off x="11700124" y="890575"/>
            <a:ext cx="2921000" cy="2108200"/>
          </a:xfrm>
          <a:prstGeom prst="rect">
            <a:avLst/>
          </a:prstGeom>
          <a:noFill/>
        </p:spPr>
      </p:pic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13"/>
          <a:stretch/>
        </p:blipFill>
        <p:spPr bwMode="auto">
          <a:xfrm>
            <a:off x="14529618" y="1217924"/>
            <a:ext cx="3721100" cy="2082800"/>
          </a:xfrm>
          <a:prstGeom prst="rect">
            <a:avLst/>
          </a:prstGeom>
          <a:noFill/>
        </p:spPr>
      </p:pic>
      <p:pic>
        <p:nvPicPr>
          <p:cNvPr id="1030" name="Picture 6"/>
          <p:cNvPicPr>
            <a:picLocks noChangeAspect="1" noChangeArrowheads="1"/>
          </p:cNvPicPr>
          <p:nvPr userDrawn="1"/>
        </p:nvPicPr>
        <p:blipFill>
          <a:blip r:embed="rId14"/>
          <a:stretch/>
        </p:blipFill>
        <p:spPr bwMode="auto">
          <a:xfrm>
            <a:off x="13755809" y="4850217"/>
            <a:ext cx="1726057" cy="1453522"/>
          </a:xfrm>
          <a:prstGeom prst="rect">
            <a:avLst/>
          </a:prstGeom>
          <a:noFill/>
        </p:spPr>
      </p:pic>
      <p:pic>
        <p:nvPicPr>
          <p:cNvPr id="1032" name="Picture 8"/>
          <p:cNvPicPr>
            <a:picLocks noChangeAspect="1" noChangeArrowheads="1"/>
          </p:cNvPicPr>
          <p:nvPr userDrawn="1"/>
        </p:nvPicPr>
        <p:blipFill>
          <a:blip r:embed="rId15"/>
          <a:stretch/>
        </p:blipFill>
        <p:spPr bwMode="auto">
          <a:xfrm>
            <a:off x="12232967" y="3095399"/>
            <a:ext cx="1887615" cy="1754818"/>
          </a:xfrm>
          <a:prstGeom prst="rect">
            <a:avLst/>
          </a:prstGeom>
          <a:noFill/>
        </p:spPr>
      </p:pic>
      <p:pic>
        <p:nvPicPr>
          <p:cNvPr id="1034" name="Picture 10"/>
          <p:cNvPicPr>
            <a:picLocks noChangeAspect="1" noChangeArrowheads="1"/>
          </p:cNvPicPr>
          <p:nvPr userDrawn="1"/>
        </p:nvPicPr>
        <p:blipFill>
          <a:blip r:embed="rId16"/>
          <a:stretch/>
        </p:blipFill>
        <p:spPr bwMode="auto">
          <a:xfrm>
            <a:off x="8675959" y="5412782"/>
            <a:ext cx="2620189" cy="1074812"/>
          </a:xfrm>
          <a:prstGeom prst="rect">
            <a:avLst/>
          </a:prstGeom>
          <a:noFill/>
        </p:spPr>
      </p:pic>
      <p:pic>
        <p:nvPicPr>
          <p:cNvPr id="1036" name="Picture 12"/>
          <p:cNvPicPr>
            <a:picLocks noChangeAspect="1" noChangeArrowheads="1"/>
          </p:cNvPicPr>
          <p:nvPr userDrawn="1"/>
        </p:nvPicPr>
        <p:blipFill>
          <a:blip r:embed="rId17"/>
          <a:stretch/>
        </p:blipFill>
        <p:spPr bwMode="auto">
          <a:xfrm>
            <a:off x="11417133" y="8901354"/>
            <a:ext cx="2390510" cy="1157224"/>
          </a:xfrm>
          <a:prstGeom prst="rect">
            <a:avLst/>
          </a:prstGeom>
          <a:noFill/>
        </p:spPr>
      </p:pic>
      <p:pic>
        <p:nvPicPr>
          <p:cNvPr id="1038" name="Picture 14"/>
          <p:cNvPicPr>
            <a:picLocks noChangeAspect="1" noChangeArrowheads="1"/>
          </p:cNvPicPr>
          <p:nvPr userDrawn="1"/>
        </p:nvPicPr>
        <p:blipFill>
          <a:blip r:embed="rId18"/>
          <a:stretch/>
        </p:blipFill>
        <p:spPr bwMode="auto">
          <a:xfrm>
            <a:off x="7303731" y="6936730"/>
            <a:ext cx="2288833" cy="1587749"/>
          </a:xfrm>
          <a:prstGeom prst="rect">
            <a:avLst/>
          </a:prstGeom>
          <a:noFill/>
        </p:spPr>
      </p:pic>
      <p:pic>
        <p:nvPicPr>
          <p:cNvPr id="1039" name="Picture 15"/>
          <p:cNvPicPr>
            <a:picLocks noChangeAspect="1" noChangeArrowheads="1"/>
          </p:cNvPicPr>
          <p:nvPr userDrawn="1"/>
        </p:nvPicPr>
        <p:blipFill>
          <a:blip r:embed="rId19"/>
          <a:stretch/>
        </p:blipFill>
        <p:spPr bwMode="auto">
          <a:xfrm>
            <a:off x="16184729" y="6678395"/>
            <a:ext cx="1949303" cy="1519457"/>
          </a:xfrm>
          <a:prstGeom prst="rect">
            <a:avLst/>
          </a:prstGeom>
          <a:noFill/>
        </p:spPr>
      </p:pic>
      <p:pic>
        <p:nvPicPr>
          <p:cNvPr id="1040" name="Picture 16"/>
          <p:cNvPicPr>
            <a:picLocks noChangeAspect="1" noChangeArrowheads="1"/>
          </p:cNvPicPr>
          <p:nvPr userDrawn="1"/>
        </p:nvPicPr>
        <p:blipFill>
          <a:blip r:embed="rId20"/>
          <a:stretch/>
        </p:blipFill>
        <p:spPr bwMode="auto">
          <a:xfrm>
            <a:off x="5525448" y="6847298"/>
            <a:ext cx="1562381" cy="1577404"/>
          </a:xfrm>
          <a:prstGeom prst="rect">
            <a:avLst/>
          </a:prstGeom>
          <a:noFill/>
        </p:spPr>
      </p:pic>
      <p:pic>
        <p:nvPicPr>
          <p:cNvPr id="1045" name="Picture 21"/>
          <p:cNvPicPr>
            <a:picLocks noChangeAspect="1" noChangeArrowheads="1"/>
          </p:cNvPicPr>
          <p:nvPr userDrawn="1"/>
        </p:nvPicPr>
        <p:blipFill>
          <a:blip r:embed="rId21"/>
          <a:stretch/>
        </p:blipFill>
        <p:spPr bwMode="auto">
          <a:xfrm>
            <a:off x="9443146" y="9086104"/>
            <a:ext cx="1646901" cy="979116"/>
          </a:xfrm>
          <a:prstGeom prst="rect">
            <a:avLst/>
          </a:prstGeom>
          <a:noFill/>
        </p:spPr>
      </p:pic>
      <p:pic>
        <p:nvPicPr>
          <p:cNvPr id="1047" name="Picture 23"/>
          <p:cNvPicPr>
            <a:picLocks noChangeAspect="1" noChangeArrowheads="1"/>
          </p:cNvPicPr>
          <p:nvPr userDrawn="1"/>
        </p:nvPicPr>
        <p:blipFill>
          <a:blip r:embed="rId22"/>
          <a:stretch/>
        </p:blipFill>
        <p:spPr bwMode="auto">
          <a:xfrm>
            <a:off x="4958330" y="8641236"/>
            <a:ext cx="1939938" cy="1363792"/>
          </a:xfrm>
          <a:prstGeom prst="rect">
            <a:avLst/>
          </a:prstGeom>
          <a:noFill/>
        </p:spPr>
      </p:pic>
      <p:pic>
        <p:nvPicPr>
          <p:cNvPr id="1048" name="Picture 24"/>
          <p:cNvPicPr>
            <a:picLocks noChangeAspect="1" noChangeArrowheads="1"/>
          </p:cNvPicPr>
          <p:nvPr userDrawn="1"/>
        </p:nvPicPr>
        <p:blipFill>
          <a:blip r:embed="rId23"/>
          <a:stretch/>
        </p:blipFill>
        <p:spPr bwMode="auto">
          <a:xfrm>
            <a:off x="7255942" y="8924883"/>
            <a:ext cx="1706562" cy="1137709"/>
          </a:xfrm>
          <a:prstGeom prst="rect">
            <a:avLst/>
          </a:prstGeom>
          <a:noFill/>
        </p:spPr>
      </p:pic>
      <p:pic>
        <p:nvPicPr>
          <p:cNvPr id="1050" name="Picture 26"/>
          <p:cNvPicPr>
            <a:picLocks noChangeAspect="1" noChangeArrowheads="1"/>
          </p:cNvPicPr>
          <p:nvPr userDrawn="1"/>
        </p:nvPicPr>
        <p:blipFill>
          <a:blip r:embed="rId24"/>
          <a:stretch/>
        </p:blipFill>
        <p:spPr bwMode="auto">
          <a:xfrm>
            <a:off x="14059336" y="8424702"/>
            <a:ext cx="2033866" cy="1538664"/>
          </a:xfrm>
          <a:prstGeom prst="rect">
            <a:avLst/>
          </a:prstGeom>
          <a:noFill/>
        </p:spPr>
      </p:pic>
      <p:pic>
        <p:nvPicPr>
          <p:cNvPr id="1052" name="Picture 28"/>
          <p:cNvPicPr>
            <a:picLocks noChangeAspect="1" noChangeArrowheads="1"/>
          </p:cNvPicPr>
          <p:nvPr userDrawn="1"/>
        </p:nvPicPr>
        <p:blipFill>
          <a:blip r:embed="rId25"/>
          <a:stretch/>
        </p:blipFill>
        <p:spPr bwMode="auto">
          <a:xfrm>
            <a:off x="4693598" y="4800301"/>
            <a:ext cx="1663700" cy="1524000"/>
          </a:xfrm>
          <a:prstGeom prst="rect">
            <a:avLst/>
          </a:prstGeom>
          <a:noFill/>
        </p:spPr>
      </p:pic>
      <p:pic>
        <p:nvPicPr>
          <p:cNvPr id="1053" name="Picture 29"/>
          <p:cNvPicPr>
            <a:picLocks noChangeAspect="1" noChangeArrowheads="1"/>
          </p:cNvPicPr>
          <p:nvPr userDrawn="1"/>
        </p:nvPicPr>
        <p:blipFill>
          <a:blip r:embed="rId26"/>
          <a:stretch/>
        </p:blipFill>
        <p:spPr bwMode="auto">
          <a:xfrm>
            <a:off x="6494308" y="5049355"/>
            <a:ext cx="1803400" cy="1562100"/>
          </a:xfrm>
          <a:prstGeom prst="rect">
            <a:avLst/>
          </a:prstGeom>
          <a:noFill/>
        </p:spPr>
      </p:pic>
      <p:pic>
        <p:nvPicPr>
          <p:cNvPr id="1055" name="Picture 31"/>
          <p:cNvPicPr>
            <a:picLocks noChangeAspect="1" noChangeArrowheads="1"/>
          </p:cNvPicPr>
          <p:nvPr userDrawn="1"/>
        </p:nvPicPr>
        <p:blipFill>
          <a:blip r:embed="rId27"/>
          <a:stretch/>
        </p:blipFill>
        <p:spPr bwMode="auto">
          <a:xfrm>
            <a:off x="2382363" y="8468714"/>
            <a:ext cx="1658539" cy="1494652"/>
          </a:xfrm>
          <a:prstGeom prst="rect">
            <a:avLst/>
          </a:prstGeom>
          <a:noFill/>
        </p:spPr>
      </p:pic>
      <p:pic>
        <p:nvPicPr>
          <p:cNvPr id="1057" name="Picture 33"/>
          <p:cNvPicPr>
            <a:picLocks noChangeAspect="1" noChangeArrowheads="1"/>
          </p:cNvPicPr>
          <p:nvPr userDrawn="1"/>
        </p:nvPicPr>
        <p:blipFill>
          <a:blip r:embed="rId28"/>
          <a:stretch/>
        </p:blipFill>
        <p:spPr bwMode="auto">
          <a:xfrm>
            <a:off x="2775411" y="6582177"/>
            <a:ext cx="2565400" cy="1612900"/>
          </a:xfrm>
          <a:prstGeom prst="rect">
            <a:avLst/>
          </a:prstGeom>
          <a:noFill/>
        </p:spPr>
      </p:pic>
      <p:pic>
        <p:nvPicPr>
          <p:cNvPr id="1059" name="Picture 35"/>
          <p:cNvPicPr>
            <a:picLocks noChangeAspect="1" noChangeArrowheads="1"/>
          </p:cNvPicPr>
          <p:nvPr userDrawn="1"/>
        </p:nvPicPr>
        <p:blipFill>
          <a:blip r:embed="rId29"/>
          <a:stretch/>
        </p:blipFill>
        <p:spPr bwMode="auto">
          <a:xfrm>
            <a:off x="9831262" y="2000770"/>
            <a:ext cx="1868862" cy="1211023"/>
          </a:xfrm>
          <a:prstGeom prst="rect">
            <a:avLst/>
          </a:prstGeom>
          <a:noFill/>
        </p:spPr>
      </p:pic>
      <p:pic>
        <p:nvPicPr>
          <p:cNvPr id="1061" name="Picture 37"/>
          <p:cNvPicPr>
            <a:picLocks noChangeAspect="1" noChangeArrowheads="1"/>
          </p:cNvPicPr>
          <p:nvPr userDrawn="1"/>
        </p:nvPicPr>
        <p:blipFill>
          <a:blip r:embed="rId30"/>
          <a:stretch/>
        </p:blipFill>
        <p:spPr bwMode="auto">
          <a:xfrm>
            <a:off x="7359737" y="3540548"/>
            <a:ext cx="2377773" cy="1319821"/>
          </a:xfrm>
          <a:prstGeom prst="rect">
            <a:avLst/>
          </a:prstGeom>
          <a:noFill/>
        </p:spPr>
      </p:pic>
      <p:pic>
        <p:nvPicPr>
          <p:cNvPr id="1063" name="Picture 39"/>
          <p:cNvPicPr>
            <a:picLocks noChangeAspect="1" noChangeArrowheads="1"/>
          </p:cNvPicPr>
          <p:nvPr userDrawn="1"/>
        </p:nvPicPr>
        <p:blipFill>
          <a:blip r:embed="rId31"/>
          <a:stretch/>
        </p:blipFill>
        <p:spPr bwMode="auto">
          <a:xfrm>
            <a:off x="197038" y="6967110"/>
            <a:ext cx="2098998" cy="1547746"/>
          </a:xfrm>
          <a:prstGeom prst="rect">
            <a:avLst/>
          </a:prstGeom>
          <a:noFill/>
        </p:spPr>
      </p:pic>
      <p:pic>
        <p:nvPicPr>
          <p:cNvPr id="1065" name="Picture 41"/>
          <p:cNvPicPr>
            <a:picLocks noChangeAspect="1" noChangeArrowheads="1"/>
          </p:cNvPicPr>
          <p:nvPr userDrawn="1"/>
        </p:nvPicPr>
        <p:blipFill>
          <a:blip r:embed="rId32"/>
          <a:stretch/>
        </p:blipFill>
        <p:spPr bwMode="auto">
          <a:xfrm>
            <a:off x="27529" y="8712074"/>
            <a:ext cx="2167269" cy="1429476"/>
          </a:xfrm>
          <a:prstGeom prst="rect">
            <a:avLst/>
          </a:prstGeom>
          <a:noFill/>
        </p:spPr>
      </p:pic>
      <p:sp>
        <p:nvSpPr>
          <p:cNvPr id="60" name="Textfeld 59"/>
          <p:cNvSpPr txBox="1"/>
          <p:nvPr userDrawn="1"/>
        </p:nvSpPr>
        <p:spPr bwMode="auto">
          <a:xfrm>
            <a:off x="305392" y="2225969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de-DE"/>
              <a:t>Icon für extra Material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auto">
          <a:xfrm>
            <a:off x="1944000" y="1322140"/>
            <a:ext cx="14400000" cy="1260000"/>
          </a:xfrm>
          <a:prstGeom prst="rect">
            <a:avLst/>
          </a:prstGeom>
        </p:spPr>
        <p:txBody>
          <a:bodyPr vert="horz" lIns="91440" tIns="45720" rIns="91440" bIns="45720" rtlCol="0" anchor="ctr" anchorCtr="1">
            <a:norm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1944000" y="2769110"/>
            <a:ext cx="14400000" cy="648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18" name="Freeform 13"/>
          <p:cNvSpPr/>
          <p:nvPr userDrawn="1"/>
        </p:nvSpPr>
        <p:spPr bwMode="auto">
          <a:xfrm>
            <a:off x="7687907" y="30602"/>
            <a:ext cx="2912186" cy="1012162"/>
          </a:xfrm>
          <a:custGeom>
            <a:avLst/>
            <a:gdLst/>
            <a:ahLst/>
            <a:cxnLst/>
            <a:rect l="l" t="t" r="r" b="b"/>
            <a:pathLst>
              <a:path w="2912186" h="1012162" extrusionOk="0">
                <a:moveTo>
                  <a:pt x="0" y="0"/>
                </a:moveTo>
                <a:lnTo>
                  <a:pt x="2912186" y="0"/>
                </a:lnTo>
                <a:lnTo>
                  <a:pt x="2912186" y="1012162"/>
                </a:lnTo>
                <a:lnTo>
                  <a:pt x="0" y="101216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dirty="0"/>
              <a:t>7.3 Feedback </a:t>
            </a:r>
            <a:r>
              <a:rPr lang="de-DE" dirty="0" err="1"/>
              <a:t>Process</a:t>
            </a:r>
            <a:r>
              <a:rPr lang="de-DE" dirty="0"/>
              <a:t> Research Questions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 dirty="0"/>
              <a:t>Tutor*in: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CHECK-IN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2214381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WARM 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6F78B7A1-25A0-DDE6-681C-66156200641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944000" y="3390900"/>
            <a:ext cx="14400000" cy="4267200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de-DE" sz="4400" dirty="0" err="1"/>
              <a:t>Briefly</a:t>
            </a:r>
            <a:r>
              <a:rPr lang="de-DE" sz="4400" dirty="0"/>
              <a:t> </a:t>
            </a:r>
            <a:r>
              <a:rPr lang="de-DE" sz="4400" dirty="0" err="1"/>
              <a:t>present</a:t>
            </a:r>
            <a:r>
              <a:rPr lang="de-DE" sz="4400" dirty="0"/>
              <a:t> </a:t>
            </a:r>
            <a:r>
              <a:rPr lang="de-DE" sz="4400" dirty="0" err="1"/>
              <a:t>the</a:t>
            </a:r>
            <a:r>
              <a:rPr lang="de-DE" sz="4400" dirty="0"/>
              <a:t> </a:t>
            </a:r>
            <a:r>
              <a:rPr lang="de-DE" sz="4400" dirty="0" err="1"/>
              <a:t>planned</a:t>
            </a:r>
            <a:r>
              <a:rPr lang="de-DE" sz="4400" dirty="0"/>
              <a:t> </a:t>
            </a:r>
            <a:r>
              <a:rPr lang="de-DE" sz="4400" dirty="0" err="1"/>
              <a:t>topic</a:t>
            </a:r>
            <a:r>
              <a:rPr lang="de-DE" sz="4400" dirty="0"/>
              <a:t> of </a:t>
            </a:r>
            <a:r>
              <a:rPr lang="de-DE" sz="4400" dirty="0" err="1"/>
              <a:t>your</a:t>
            </a:r>
            <a:r>
              <a:rPr lang="de-DE" sz="4400" dirty="0"/>
              <a:t> </a:t>
            </a:r>
            <a:r>
              <a:rPr lang="de-DE" sz="4400" dirty="0" err="1"/>
              <a:t>portfolio</a:t>
            </a:r>
            <a:r>
              <a:rPr lang="de-DE" sz="4400" dirty="0"/>
              <a:t> and </a:t>
            </a:r>
            <a:r>
              <a:rPr lang="de-DE" sz="4400" dirty="0" err="1"/>
              <a:t>the</a:t>
            </a:r>
            <a:r>
              <a:rPr lang="de-DE" sz="4400" dirty="0"/>
              <a:t> </a:t>
            </a:r>
            <a:r>
              <a:rPr lang="de-DE" sz="4400" dirty="0" err="1"/>
              <a:t>current</a:t>
            </a:r>
            <a:r>
              <a:rPr lang="de-DE" sz="4400" dirty="0"/>
              <a:t> </a:t>
            </a:r>
            <a:r>
              <a:rPr lang="de-DE" sz="4400" dirty="0" err="1"/>
              <a:t>status</a:t>
            </a:r>
            <a:r>
              <a:rPr lang="de-DE" sz="4400" dirty="0"/>
              <a:t> of </a:t>
            </a:r>
            <a:r>
              <a:rPr lang="de-DE" sz="4400" dirty="0" err="1"/>
              <a:t>your</a:t>
            </a:r>
            <a:r>
              <a:rPr lang="de-DE" sz="4400" dirty="0"/>
              <a:t> </a:t>
            </a:r>
            <a:r>
              <a:rPr lang="de-DE" sz="4400" dirty="0" err="1"/>
              <a:t>research</a:t>
            </a:r>
            <a:r>
              <a:rPr lang="de-DE" sz="4400" dirty="0"/>
              <a:t> </a:t>
            </a:r>
            <a:r>
              <a:rPr lang="de-DE" sz="4400" dirty="0" err="1"/>
              <a:t>question</a:t>
            </a:r>
            <a:r>
              <a:rPr lang="de-DE" sz="4400" dirty="0"/>
              <a:t>. </a:t>
            </a:r>
            <a:br>
              <a:rPr lang="de-DE" sz="4400" dirty="0"/>
            </a:br>
            <a:br>
              <a:rPr lang="de-DE" sz="4400" dirty="0"/>
            </a:br>
            <a:r>
              <a:rPr lang="de-DE" sz="4400" dirty="0"/>
              <a:t>2 </a:t>
            </a:r>
            <a:r>
              <a:rPr lang="de-DE" sz="4400" dirty="0" err="1"/>
              <a:t>minutes</a:t>
            </a:r>
            <a:r>
              <a:rPr lang="de-DE" sz="4400" dirty="0"/>
              <a:t> per </a:t>
            </a:r>
            <a:r>
              <a:rPr lang="de-DE" sz="4400" dirty="0" err="1"/>
              <a:t>person</a:t>
            </a:r>
            <a:r>
              <a:rPr lang="de-DE" sz="4400" dirty="0"/>
              <a:t>.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54232267-5683-1B7C-3694-5DAFBC4A568E}"/>
              </a:ext>
            </a:extLst>
          </p:cNvPr>
          <p:cNvSpPr txBox="1">
            <a:spLocks/>
          </p:cNvSpPr>
          <p:nvPr/>
        </p:nvSpPr>
        <p:spPr bwMode="auto">
          <a:xfrm>
            <a:off x="1944000" y="1301860"/>
            <a:ext cx="14400000" cy="1260000"/>
          </a:xfrm>
          <a:prstGeom prst="rect">
            <a:avLst/>
          </a:prstGeom>
        </p:spPr>
        <p:txBody>
          <a:bodyPr vert="horz" lIns="90000" tIns="45720" rIns="91440" bIns="45720" rtlCol="0" anchor="b" anchorCtr="1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 sz="5400" dirty="0" err="1"/>
              <a:t>Presentation</a:t>
            </a:r>
            <a:r>
              <a:rPr lang="de-DE" sz="5400" dirty="0"/>
              <a:t> of </a:t>
            </a:r>
            <a:r>
              <a:rPr lang="de-DE" sz="5400" dirty="0" err="1"/>
              <a:t>the</a:t>
            </a:r>
            <a:r>
              <a:rPr lang="de-DE" sz="5400" dirty="0"/>
              <a:t> Research Question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4120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0D0426-AF9D-F6FB-C1B7-FBC1E88102CB}"/>
              </a:ext>
            </a:extLst>
          </p:cNvPr>
          <p:cNvSpPr txBox="1">
            <a:spLocks/>
          </p:cNvSpPr>
          <p:nvPr/>
        </p:nvSpPr>
        <p:spPr>
          <a:xfrm>
            <a:off x="1944000" y="1301860"/>
            <a:ext cx="14400000" cy="1260000"/>
          </a:xfrm>
          <a:prstGeom prst="rect">
            <a:avLst/>
          </a:prstGeom>
        </p:spPr>
        <p:txBody>
          <a:bodyPr/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5400" dirty="0"/>
              <a:t>Self-</a:t>
            </a:r>
            <a:r>
              <a:rPr lang="de-DE" sz="5400" dirty="0" err="1"/>
              <a:t>Reflection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791AB98-E8D1-B5A7-7405-CD8514CAE28F}"/>
              </a:ext>
            </a:extLst>
          </p:cNvPr>
          <p:cNvSpPr txBox="1">
            <a:spLocks/>
          </p:cNvSpPr>
          <p:nvPr/>
        </p:nvSpPr>
        <p:spPr>
          <a:xfrm>
            <a:off x="1944000" y="2738828"/>
            <a:ext cx="14400000" cy="648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de-DE" sz="4000" dirty="0" err="1"/>
              <a:t>How</a:t>
            </a:r>
            <a:r>
              <a:rPr lang="de-DE" sz="4000" dirty="0"/>
              <a:t> </a:t>
            </a:r>
            <a:r>
              <a:rPr lang="de-DE" sz="4000" dirty="0" err="1"/>
              <a:t>did</a:t>
            </a:r>
            <a:r>
              <a:rPr lang="de-DE" sz="4000" dirty="0"/>
              <a:t> </a:t>
            </a:r>
            <a:r>
              <a:rPr lang="de-DE" sz="4000" dirty="0" err="1"/>
              <a:t>the</a:t>
            </a:r>
            <a:r>
              <a:rPr lang="de-DE" sz="4000" dirty="0"/>
              <a:t> </a:t>
            </a:r>
            <a:r>
              <a:rPr lang="de-DE" sz="4000" dirty="0" err="1"/>
              <a:t>formulation</a:t>
            </a:r>
            <a:r>
              <a:rPr lang="de-DE" sz="4000" dirty="0"/>
              <a:t> of </a:t>
            </a:r>
            <a:r>
              <a:rPr lang="de-DE" sz="4000" dirty="0" err="1"/>
              <a:t>your</a:t>
            </a:r>
            <a:r>
              <a:rPr lang="de-DE" sz="4000" dirty="0"/>
              <a:t> </a:t>
            </a:r>
            <a:r>
              <a:rPr lang="de-DE" sz="4000" dirty="0" err="1"/>
              <a:t>research</a:t>
            </a:r>
            <a:r>
              <a:rPr lang="de-DE" sz="4000" dirty="0"/>
              <a:t> </a:t>
            </a:r>
            <a:r>
              <a:rPr lang="de-DE" sz="4000" dirty="0" err="1"/>
              <a:t>question</a:t>
            </a:r>
            <a:r>
              <a:rPr lang="de-DE" sz="4000" dirty="0"/>
              <a:t> </a:t>
            </a:r>
            <a:r>
              <a:rPr lang="de-DE" sz="4000" dirty="0" err="1"/>
              <a:t>work</a:t>
            </a:r>
            <a:r>
              <a:rPr lang="de-DE" sz="4000" dirty="0"/>
              <a:t>?</a:t>
            </a:r>
          </a:p>
          <a:p>
            <a:pPr algn="ctr">
              <a:lnSpc>
                <a:spcPct val="150000"/>
              </a:lnSpc>
            </a:pPr>
            <a:endParaRPr lang="de-DE" sz="4000" dirty="0"/>
          </a:p>
          <a:p>
            <a:pPr algn="ctr">
              <a:lnSpc>
                <a:spcPct val="150000"/>
              </a:lnSpc>
            </a:pPr>
            <a:r>
              <a:rPr lang="de-DE" sz="4000" dirty="0" err="1"/>
              <a:t>How</a:t>
            </a:r>
            <a:r>
              <a:rPr lang="de-DE" sz="4000" dirty="0"/>
              <a:t> </a:t>
            </a:r>
            <a:r>
              <a:rPr lang="de-DE" sz="4000" dirty="0" err="1"/>
              <a:t>could</a:t>
            </a:r>
            <a:r>
              <a:rPr lang="de-DE" sz="4000" dirty="0"/>
              <a:t> </a:t>
            </a:r>
            <a:r>
              <a:rPr lang="de-DE" sz="4000" dirty="0" err="1"/>
              <a:t>you</a:t>
            </a:r>
            <a:r>
              <a:rPr lang="de-DE" sz="4000" dirty="0"/>
              <a:t> </a:t>
            </a:r>
            <a:r>
              <a:rPr lang="de-DE" sz="4000" dirty="0" err="1"/>
              <a:t>use</a:t>
            </a:r>
            <a:r>
              <a:rPr lang="de-DE" sz="4000" dirty="0"/>
              <a:t> </a:t>
            </a:r>
            <a:r>
              <a:rPr lang="de-DE" sz="4000" dirty="0" err="1"/>
              <a:t>the</a:t>
            </a:r>
            <a:r>
              <a:rPr lang="de-DE" sz="4000" dirty="0"/>
              <a:t> 6 </a:t>
            </a:r>
            <a:r>
              <a:rPr lang="de-DE" sz="4000" dirty="0" err="1"/>
              <a:t>tips</a:t>
            </a:r>
            <a:r>
              <a:rPr lang="de-DE" sz="4000" dirty="0"/>
              <a:t> </a:t>
            </a:r>
            <a:r>
              <a:rPr lang="de-DE" sz="4000" dirty="0" err="1"/>
              <a:t>from</a:t>
            </a:r>
            <a:r>
              <a:rPr lang="de-DE" sz="4000" dirty="0"/>
              <a:t> </a:t>
            </a:r>
            <a:r>
              <a:rPr lang="de-DE" sz="4000" dirty="0" err="1"/>
              <a:t>section</a:t>
            </a:r>
            <a:r>
              <a:rPr lang="de-DE" sz="4000" dirty="0"/>
              <a:t> 7.2 </a:t>
            </a:r>
            <a:r>
              <a:rPr lang="de-DE" sz="4000" dirty="0" err="1"/>
              <a:t>to</a:t>
            </a:r>
            <a:r>
              <a:rPr lang="de-DE" sz="4000" dirty="0"/>
              <a:t> </a:t>
            </a:r>
            <a:r>
              <a:rPr lang="de-DE" sz="4000" dirty="0" err="1"/>
              <a:t>refine</a:t>
            </a:r>
            <a:r>
              <a:rPr lang="de-DE" sz="4000" dirty="0"/>
              <a:t> </a:t>
            </a:r>
            <a:r>
              <a:rPr lang="de-DE" sz="4000" dirty="0" err="1"/>
              <a:t>or</a:t>
            </a:r>
            <a:r>
              <a:rPr lang="de-DE" sz="4000" dirty="0"/>
              <a:t> </a:t>
            </a:r>
            <a:r>
              <a:rPr lang="de-DE" sz="4000" dirty="0" err="1"/>
              <a:t>further</a:t>
            </a:r>
            <a:r>
              <a:rPr lang="de-DE" sz="4000" dirty="0"/>
              <a:t> </a:t>
            </a:r>
            <a:r>
              <a:rPr lang="de-DE" sz="4000" dirty="0" err="1"/>
              <a:t>develop</a:t>
            </a:r>
            <a:r>
              <a:rPr lang="de-DE" sz="4000" dirty="0"/>
              <a:t> </a:t>
            </a:r>
            <a:r>
              <a:rPr lang="de-DE" sz="4000" dirty="0" err="1"/>
              <a:t>your</a:t>
            </a:r>
            <a:r>
              <a:rPr lang="de-DE" sz="4000" dirty="0"/>
              <a:t> </a:t>
            </a:r>
            <a:r>
              <a:rPr lang="de-DE" sz="4000" dirty="0" err="1"/>
              <a:t>question</a:t>
            </a:r>
            <a:r>
              <a:rPr lang="de-DE" sz="4000" dirty="0"/>
              <a:t>?</a:t>
            </a:r>
            <a:endParaRPr lang="de-DE" sz="5400" dirty="0"/>
          </a:p>
        </p:txBody>
      </p:sp>
    </p:spTree>
    <p:extLst>
      <p:ext uri="{BB962C8B-B14F-4D97-AF65-F5344CB8AC3E}">
        <p14:creationId xmlns:p14="http://schemas.microsoft.com/office/powerpoint/2010/main" val="2526715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D978F7CA-FC51-831E-1EDE-04153C095E9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944000" y="2857500"/>
            <a:ext cx="14400000" cy="6127640"/>
          </a:xfrm>
        </p:spPr>
        <p:txBody>
          <a:bodyPr anchor="t"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Present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your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portfolio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topic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and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the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current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status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of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your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research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question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to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a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partner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. </a:t>
            </a:r>
            <a:br>
              <a:rPr lang="de-DE" sz="4000" b="0" i="0" u="none" strike="noStrike" dirty="0">
                <a:solidFill>
                  <a:srgbClr val="000000"/>
                </a:solidFill>
                <a:effectLst/>
              </a:rPr>
            </a:b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3-5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minutes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per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person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.</a:t>
            </a:r>
            <a:br>
              <a:rPr lang="de-DE" sz="4000" b="0" i="0" u="none" strike="noStrike" dirty="0">
                <a:solidFill>
                  <a:srgbClr val="000000"/>
                </a:solidFill>
                <a:effectLst/>
              </a:rPr>
            </a:br>
            <a:br>
              <a:rPr lang="de-DE" sz="4000" b="0" i="0" u="none" strike="noStrike" dirty="0">
                <a:solidFill>
                  <a:srgbClr val="000000"/>
                </a:solidFill>
                <a:effectLst/>
              </a:rPr>
            </a:b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Why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did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you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choose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this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topic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?</a:t>
            </a:r>
            <a:br>
              <a:rPr lang="de-DE" sz="4000" b="0" i="0" u="none" strike="noStrike" dirty="0">
                <a:solidFill>
                  <a:srgbClr val="000000"/>
                </a:solidFill>
                <a:effectLst/>
              </a:rPr>
            </a:b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Which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aspects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have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you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already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explored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in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more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detail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?</a:t>
            </a:r>
            <a:br>
              <a:rPr lang="de-DE" sz="4000" b="0" i="0" u="none" strike="noStrike" dirty="0">
                <a:solidFill>
                  <a:srgbClr val="000000"/>
                </a:solidFill>
                <a:effectLst/>
              </a:rPr>
            </a:b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What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open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questions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or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challenges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de-DE" sz="4000" b="0" i="0" u="none" strike="noStrike" dirty="0" err="1">
                <a:solidFill>
                  <a:srgbClr val="000000"/>
                </a:solidFill>
                <a:effectLst/>
              </a:rPr>
              <a:t>remain</a:t>
            </a:r>
            <a:r>
              <a:rPr lang="de-DE" sz="4000" b="0" i="0" u="none" strike="noStrike" dirty="0">
                <a:solidFill>
                  <a:srgbClr val="000000"/>
                </a:solidFill>
                <a:effectLst/>
              </a:rPr>
              <a:t>?</a:t>
            </a:r>
            <a:br>
              <a:rPr lang="de-DE" sz="4000" b="0" i="0" u="none" strike="noStrike" dirty="0">
                <a:solidFill>
                  <a:srgbClr val="000000"/>
                </a:solidFill>
                <a:effectLst/>
              </a:rPr>
            </a:br>
            <a:endParaRPr lang="de-DE" sz="4000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5166EC02-DEC3-459A-DB71-4240B1B5EE38}"/>
              </a:ext>
            </a:extLst>
          </p:cNvPr>
          <p:cNvSpPr txBox="1">
            <a:spLocks/>
          </p:cNvSpPr>
          <p:nvPr/>
        </p:nvSpPr>
        <p:spPr bwMode="auto">
          <a:xfrm>
            <a:off x="1944000" y="1301860"/>
            <a:ext cx="14400000" cy="1260000"/>
          </a:xfrm>
          <a:prstGeom prst="rect">
            <a:avLst/>
          </a:prstGeom>
        </p:spPr>
        <p:txBody>
          <a:bodyPr vert="horz" lIns="90000" tIns="45720" rIns="91440" bIns="45720" rtlCol="0" anchor="b" anchorCtr="1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de-DE" sz="5400" dirty="0" err="1"/>
              <a:t>Presentation</a:t>
            </a:r>
            <a:r>
              <a:rPr lang="de-DE" sz="5400" dirty="0"/>
              <a:t> of </a:t>
            </a:r>
            <a:r>
              <a:rPr lang="de-DE" sz="5400" dirty="0" err="1"/>
              <a:t>the</a:t>
            </a:r>
            <a:r>
              <a:rPr lang="de-DE" sz="5400" dirty="0"/>
              <a:t> Research Question</a:t>
            </a:r>
          </a:p>
        </p:txBody>
      </p:sp>
    </p:spTree>
    <p:extLst>
      <p:ext uri="{BB962C8B-B14F-4D97-AF65-F5344CB8AC3E}">
        <p14:creationId xmlns:p14="http://schemas.microsoft.com/office/powerpoint/2010/main" val="75366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dirty="0"/>
              <a:t>BREAK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dirty="0"/>
              <a:t>ENERGIZER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>
            <a:extLst>
              <a:ext uri="{FF2B5EF4-FFF2-40B4-BE49-F238E27FC236}">
                <a16:creationId xmlns:a16="http://schemas.microsoft.com/office/drawing/2014/main" id="{4A6E0DEB-0F8D-3B40-9C62-3702CC74C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000" y="1301860"/>
            <a:ext cx="14400000" cy="1260000"/>
          </a:xfrm>
        </p:spPr>
        <p:txBody>
          <a:bodyPr>
            <a:normAutofit/>
          </a:bodyPr>
          <a:lstStyle/>
          <a:p>
            <a:r>
              <a:rPr lang="de-DE" sz="5400" dirty="0"/>
              <a:t>Partner Feedback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18581B20-CA7D-30FC-71C0-23017EF6C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4000" y="2738828"/>
            <a:ext cx="14400000" cy="6480000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200000"/>
              </a:lnSpc>
            </a:pP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research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clear</a:t>
            </a:r>
            <a:r>
              <a:rPr lang="de-DE" dirty="0"/>
              <a:t> and well-</a:t>
            </a:r>
            <a:r>
              <a:rPr lang="de-DE" dirty="0" err="1"/>
              <a:t>formulated</a:t>
            </a:r>
            <a:r>
              <a:rPr lang="de-DE" dirty="0"/>
              <a:t>?</a:t>
            </a:r>
          </a:p>
          <a:p>
            <a:pPr lvl="1">
              <a:lnSpc>
                <a:spcPct val="200000"/>
              </a:lnSpc>
            </a:pP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precise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specific</a:t>
            </a:r>
            <a:r>
              <a:rPr lang="de-DE" dirty="0"/>
              <a:t>?</a:t>
            </a:r>
          </a:p>
          <a:p>
            <a:pPr lvl="1">
              <a:lnSpc>
                <a:spcPct val="200000"/>
              </a:lnSpc>
            </a:pP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fit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topic</a:t>
            </a:r>
            <a:r>
              <a:rPr lang="de-DE" dirty="0"/>
              <a:t> of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portfolio</a:t>
            </a:r>
            <a:r>
              <a:rPr lang="de-DE" dirty="0"/>
              <a:t>?</a:t>
            </a:r>
          </a:p>
          <a:p>
            <a:pPr lvl="1">
              <a:lnSpc>
                <a:spcPct val="200000"/>
              </a:lnSpc>
            </a:pP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too</a:t>
            </a:r>
            <a:r>
              <a:rPr lang="de-DE" dirty="0"/>
              <a:t> </a:t>
            </a:r>
            <a:r>
              <a:rPr lang="de-DE" dirty="0" err="1"/>
              <a:t>broad</a:t>
            </a:r>
            <a:r>
              <a:rPr lang="de-DE" dirty="0"/>
              <a:t>, </a:t>
            </a:r>
            <a:r>
              <a:rPr lang="de-DE" dirty="0" err="1"/>
              <a:t>making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difficult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address</a:t>
            </a:r>
            <a:r>
              <a:rPr lang="de-DE" dirty="0"/>
              <a:t>?</a:t>
            </a:r>
          </a:p>
          <a:p>
            <a:pPr lvl="1">
              <a:lnSpc>
                <a:spcPct val="200000"/>
              </a:lnSpc>
            </a:pP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realistic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on </a:t>
            </a:r>
            <a:r>
              <a:rPr lang="de-DE" dirty="0" err="1"/>
              <a:t>within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available</a:t>
            </a:r>
            <a:r>
              <a:rPr lang="de-DE" dirty="0"/>
              <a:t> time and </a:t>
            </a:r>
            <a:r>
              <a:rPr lang="de-DE" dirty="0" err="1"/>
              <a:t>resources</a:t>
            </a:r>
            <a:r>
              <a:rPr lang="de-DE" dirty="0"/>
              <a:t>?</a:t>
            </a:r>
          </a:p>
          <a:p>
            <a:pPr lvl="1">
              <a:lnSpc>
                <a:spcPct val="200000"/>
              </a:lnSpc>
            </a:pPr>
            <a:r>
              <a:rPr lang="de-DE" dirty="0"/>
              <a:t>Are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necessary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sources</a:t>
            </a:r>
            <a:r>
              <a:rPr lang="de-DE" dirty="0"/>
              <a:t> </a:t>
            </a:r>
            <a:r>
              <a:rPr lang="de-DE" dirty="0" err="1"/>
              <a:t>accessible</a:t>
            </a:r>
            <a:r>
              <a:rPr lang="de-DE" dirty="0"/>
              <a:t>?</a:t>
            </a:r>
          </a:p>
          <a:p>
            <a:pPr lvl="1">
              <a:lnSpc>
                <a:spcPct val="200000"/>
              </a:lnSpc>
            </a:pP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question</a:t>
            </a:r>
            <a:r>
              <a:rPr lang="de-DE" dirty="0"/>
              <a:t> </a:t>
            </a:r>
            <a:r>
              <a:rPr lang="de-DE" dirty="0" err="1"/>
              <a:t>encourage</a:t>
            </a:r>
            <a:r>
              <a:rPr lang="de-DE" dirty="0"/>
              <a:t> </a:t>
            </a:r>
            <a:r>
              <a:rPr lang="de-DE" dirty="0" err="1"/>
              <a:t>critical</a:t>
            </a:r>
            <a:r>
              <a:rPr lang="de-DE" dirty="0"/>
              <a:t> and in-</a:t>
            </a:r>
            <a:r>
              <a:rPr lang="de-DE" dirty="0" err="1"/>
              <a:t>depth</a:t>
            </a:r>
            <a:r>
              <a:rPr lang="de-DE" dirty="0"/>
              <a:t> </a:t>
            </a:r>
            <a:r>
              <a:rPr lang="de-DE" dirty="0" err="1"/>
              <a:t>reflection</a:t>
            </a:r>
            <a:r>
              <a:rPr lang="de-DE" dirty="0"/>
              <a:t>?</a:t>
            </a:r>
          </a:p>
          <a:p>
            <a:pPr lvl="1">
              <a:lnSpc>
                <a:spcPct val="200000"/>
              </a:lnSpc>
            </a:pP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offer</a:t>
            </a:r>
            <a:r>
              <a:rPr lang="de-DE" dirty="0"/>
              <a:t> </a:t>
            </a:r>
            <a:r>
              <a:rPr lang="de-DE" dirty="0" err="1"/>
              <a:t>opportunities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connect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topics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modules</a:t>
            </a:r>
            <a:r>
              <a:rPr lang="de-D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44838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B5286F-160A-0DF7-3E97-090F80E7C458}"/>
              </a:ext>
            </a:extLst>
          </p:cNvPr>
          <p:cNvSpPr txBox="1">
            <a:spLocks/>
          </p:cNvSpPr>
          <p:nvPr/>
        </p:nvSpPr>
        <p:spPr>
          <a:xfrm>
            <a:off x="1944000" y="1301860"/>
            <a:ext cx="14400000" cy="126000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5400" dirty="0"/>
              <a:t>Im Plenum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88D95E-E1B5-B7DB-5E91-2DC966012B08}"/>
              </a:ext>
            </a:extLst>
          </p:cNvPr>
          <p:cNvSpPr txBox="1">
            <a:spLocks/>
          </p:cNvSpPr>
          <p:nvPr/>
        </p:nvSpPr>
        <p:spPr>
          <a:xfrm>
            <a:off x="1944000" y="2738828"/>
            <a:ext cx="14400000" cy="6480000"/>
          </a:xfrm>
          <a:prstGeom prst="rect">
            <a:avLst/>
          </a:prstGeom>
        </p:spPr>
        <p:txBody>
          <a:bodyPr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de-DE" sz="4000" dirty="0" err="1"/>
              <a:t>What</a:t>
            </a:r>
            <a:r>
              <a:rPr lang="de-DE" sz="4000" dirty="0"/>
              <a:t> </a:t>
            </a:r>
            <a:r>
              <a:rPr lang="de-DE" sz="4000" dirty="0" err="1"/>
              <a:t>does</a:t>
            </a:r>
            <a:r>
              <a:rPr lang="de-DE" sz="4000" dirty="0"/>
              <a:t> </a:t>
            </a:r>
            <a:r>
              <a:rPr lang="de-DE" sz="4000" dirty="0" err="1"/>
              <a:t>your</a:t>
            </a:r>
            <a:r>
              <a:rPr lang="de-DE" sz="4000" dirty="0"/>
              <a:t> </a:t>
            </a:r>
            <a:r>
              <a:rPr lang="de-DE" sz="4000" dirty="0" err="1"/>
              <a:t>question</a:t>
            </a:r>
            <a:r>
              <a:rPr lang="de-DE" sz="4000" dirty="0"/>
              <a:t> </a:t>
            </a:r>
            <a:r>
              <a:rPr lang="de-DE" sz="4000" dirty="0" err="1"/>
              <a:t>currently</a:t>
            </a:r>
            <a:r>
              <a:rPr lang="de-DE" sz="4000" dirty="0"/>
              <a:t> </a:t>
            </a:r>
            <a:r>
              <a:rPr lang="de-DE" sz="4000" dirty="0" err="1"/>
              <a:t>look</a:t>
            </a:r>
            <a:r>
              <a:rPr lang="de-DE" sz="4000" dirty="0"/>
              <a:t> like?</a:t>
            </a:r>
          </a:p>
          <a:p>
            <a:pPr algn="ctr">
              <a:lnSpc>
                <a:spcPct val="150000"/>
              </a:lnSpc>
            </a:pPr>
            <a:r>
              <a:rPr lang="de-DE" sz="4000" dirty="0" err="1"/>
              <a:t>What</a:t>
            </a:r>
            <a:r>
              <a:rPr lang="de-DE" sz="4000" dirty="0"/>
              <a:t> </a:t>
            </a:r>
            <a:r>
              <a:rPr lang="de-DE" sz="4000" dirty="0" err="1"/>
              <a:t>is</a:t>
            </a:r>
            <a:r>
              <a:rPr lang="de-DE" sz="4000" dirty="0"/>
              <a:t> still </a:t>
            </a:r>
            <a:r>
              <a:rPr lang="de-DE" sz="4000" dirty="0" err="1"/>
              <a:t>unclear</a:t>
            </a:r>
            <a:r>
              <a:rPr lang="de-DE" sz="4000" dirty="0"/>
              <a:t>?</a:t>
            </a:r>
          </a:p>
          <a:p>
            <a:pPr algn="ctr">
              <a:lnSpc>
                <a:spcPct val="150000"/>
              </a:lnSpc>
            </a:pPr>
            <a:r>
              <a:rPr lang="de-DE" sz="4000" dirty="0" err="1"/>
              <a:t>What</a:t>
            </a:r>
            <a:r>
              <a:rPr lang="de-DE" sz="4000" dirty="0"/>
              <a:t> </a:t>
            </a:r>
            <a:r>
              <a:rPr lang="de-DE" sz="4000" dirty="0" err="1"/>
              <a:t>feedback</a:t>
            </a:r>
            <a:r>
              <a:rPr lang="de-DE" sz="4000" dirty="0"/>
              <a:t> </a:t>
            </a:r>
            <a:r>
              <a:rPr lang="de-DE" sz="4000" dirty="0" err="1"/>
              <a:t>did</a:t>
            </a:r>
            <a:r>
              <a:rPr lang="de-DE" sz="4000" dirty="0"/>
              <a:t> </a:t>
            </a:r>
            <a:r>
              <a:rPr lang="de-DE" sz="4000" dirty="0" err="1"/>
              <a:t>you</a:t>
            </a:r>
            <a:r>
              <a:rPr lang="de-DE" sz="4000" dirty="0"/>
              <a:t> </a:t>
            </a:r>
            <a:r>
              <a:rPr lang="de-DE" sz="4000" dirty="0" err="1"/>
              <a:t>receive</a:t>
            </a:r>
            <a:r>
              <a:rPr lang="de-DE" sz="4000" dirty="0"/>
              <a:t>?</a:t>
            </a:r>
          </a:p>
          <a:p>
            <a:pPr algn="ctr">
              <a:lnSpc>
                <a:spcPct val="150000"/>
              </a:lnSpc>
            </a:pPr>
            <a:r>
              <a:rPr lang="de-DE" sz="4000" dirty="0"/>
              <a:t>Any </a:t>
            </a:r>
            <a:r>
              <a:rPr lang="de-DE" sz="4000" dirty="0" err="1"/>
              <a:t>other</a:t>
            </a:r>
            <a:r>
              <a:rPr lang="de-DE" sz="4000" dirty="0"/>
              <a:t> open </a:t>
            </a:r>
            <a:r>
              <a:rPr lang="de-DE" sz="4000" dirty="0" err="1"/>
              <a:t>questions</a:t>
            </a:r>
            <a:r>
              <a:rPr lang="de-DE" sz="4000" dirty="0"/>
              <a:t> </a:t>
            </a:r>
            <a:r>
              <a:rPr lang="de-DE" sz="4000" dirty="0" err="1"/>
              <a:t>about</a:t>
            </a:r>
            <a:r>
              <a:rPr lang="de-DE" sz="4000" dirty="0"/>
              <a:t> </a:t>
            </a:r>
            <a:r>
              <a:rPr lang="de-DE" sz="4000" dirty="0" err="1"/>
              <a:t>the</a:t>
            </a:r>
            <a:r>
              <a:rPr lang="de-DE" sz="4000" dirty="0"/>
              <a:t> </a:t>
            </a:r>
            <a:r>
              <a:rPr lang="de-DE" sz="4000" dirty="0" err="1"/>
              <a:t>topic</a:t>
            </a:r>
            <a:r>
              <a:rPr lang="de-DE" sz="4000" dirty="0"/>
              <a:t> </a:t>
            </a:r>
            <a:br>
              <a:rPr lang="de-DE" sz="4000" dirty="0"/>
            </a:br>
            <a:r>
              <a:rPr lang="de-DE" sz="4000" dirty="0" err="1"/>
              <a:t>or</a:t>
            </a:r>
            <a:r>
              <a:rPr lang="de-DE" sz="4000" dirty="0"/>
              <a:t> </a:t>
            </a:r>
            <a:r>
              <a:rPr lang="de-DE" sz="4000" dirty="0" err="1"/>
              <a:t>research</a:t>
            </a:r>
            <a:r>
              <a:rPr lang="de-DE" sz="4000" dirty="0"/>
              <a:t> </a:t>
            </a:r>
            <a:r>
              <a:rPr lang="de-DE" sz="4000" dirty="0" err="1"/>
              <a:t>question</a:t>
            </a:r>
            <a:r>
              <a:rPr lang="de-DE" sz="4000" dirty="0"/>
              <a:t>?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53146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dirty="0"/>
              <a:t>Any Open Questions?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 dirty="0"/>
              <a:t>Great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!</a:t>
            </a:r>
            <a:br>
              <a:rPr lang="de-DE" dirty="0"/>
            </a:br>
            <a:r>
              <a:rPr lang="de-DE" dirty="0"/>
              <a:t>See </a:t>
            </a:r>
            <a:r>
              <a:rPr lang="de-DE" dirty="0" err="1"/>
              <a:t>you</a:t>
            </a:r>
            <a:r>
              <a:rPr lang="de-DE" dirty="0"/>
              <a:t>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Benutzerdefiniert 1">
      <a:dk1>
        <a:srgbClr val="000000"/>
      </a:dk1>
      <a:lt1>
        <a:srgbClr val="FFFFFF"/>
      </a:lt1>
      <a:dk2>
        <a:srgbClr val="771334"/>
      </a:dk2>
      <a:lt2>
        <a:srgbClr val="E8BAC7"/>
      </a:lt2>
      <a:accent1>
        <a:srgbClr val="771335"/>
      </a:accent1>
      <a:accent2>
        <a:srgbClr val="C59CAB"/>
      </a:accent2>
      <a:accent3>
        <a:srgbClr val="FECD78"/>
      </a:accent3>
      <a:accent4>
        <a:srgbClr val="8E3255"/>
      </a:accent4>
      <a:accent5>
        <a:srgbClr val="FFDA9C"/>
      </a:accent5>
      <a:accent6>
        <a:srgbClr val="4F4D4D"/>
      </a:accent6>
      <a:hlink>
        <a:srgbClr val="FECC78"/>
      </a:hlink>
      <a:folHlink>
        <a:srgbClr val="C59CAB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A71E891A511D040A52CA52D008DEB36" ma:contentTypeVersion="3" ma:contentTypeDescription="Ein neues Dokument erstellen." ma:contentTypeScope="" ma:versionID="4cba4315779cb03d474ae37b2c0aa786">
  <xsd:schema xmlns:xsd="http://www.w3.org/2001/XMLSchema" xmlns:xs="http://www.w3.org/2001/XMLSchema" xmlns:p="http://schemas.microsoft.com/office/2006/metadata/properties" xmlns:ns2="e0647eb4-fdd8-4a76-905c-ef029484ffcd" targetNamespace="http://schemas.microsoft.com/office/2006/metadata/properties" ma:root="true" ma:fieldsID="ffc498f6898bc391fabeb722ec17ef06" ns2:_="">
    <xsd:import namespace="e0647eb4-fdd8-4a76-905c-ef029484ff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647eb4-fdd8-4a76-905c-ef029484ff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3DCD25A-D399-42B1-84AA-7CA689523F9E}"/>
</file>

<file path=customXml/itemProps2.xml><?xml version="1.0" encoding="utf-8"?>
<ds:datastoreItem xmlns:ds="http://schemas.openxmlformats.org/officeDocument/2006/customXml" ds:itemID="{5A805198-C88C-47E3-BD6E-76C4AE80830E}"/>
</file>

<file path=customXml/itemProps3.xml><?xml version="1.0" encoding="utf-8"?>
<ds:datastoreItem xmlns:ds="http://schemas.openxmlformats.org/officeDocument/2006/customXml" ds:itemID="{86CA0EFF-B706-489C-9F7D-04327889BF2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267</Words>
  <Application>Microsoft Macintosh PowerPoint</Application>
  <DocSecurity>0</DocSecurity>
  <PresentationFormat>Benutzerdefiniert</PresentationFormat>
  <Paragraphs>37</Paragraphs>
  <Slides>12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5" baseType="lpstr">
      <vt:lpstr>Aptos</vt:lpstr>
      <vt:lpstr>Arial</vt:lpstr>
      <vt:lpstr>Benutzerdefiniertes Design</vt:lpstr>
      <vt:lpstr>7.3 Feedback Process Research Questions</vt:lpstr>
      <vt:lpstr>CHECK-IN</vt:lpstr>
      <vt:lpstr>WARM UP</vt:lpstr>
      <vt:lpstr>Briefly present the planned topic of your portfolio and the current status of your research question.   2 minutes per person.</vt:lpstr>
      <vt:lpstr>PowerPoint-Präsentation</vt:lpstr>
      <vt:lpstr>Present your portfolio topic and the current status of your research question to a partner.  3-5 minutes per person.  Why did you choose this topic? Which aspects have you already explored in more detail? What open questions or challenges remain? </vt:lpstr>
      <vt:lpstr>BREAK</vt:lpstr>
      <vt:lpstr>ENERGIZER</vt:lpstr>
      <vt:lpstr>Partner Feedback</vt:lpstr>
      <vt:lpstr>PowerPoint-Präsentation</vt:lpstr>
      <vt:lpstr>Any Open Questions?</vt:lpstr>
      <vt:lpstr>Great to have you here! See you next week.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Elina Brücher</cp:lastModifiedBy>
  <cp:revision>8</cp:revision>
  <dcterms:created xsi:type="dcterms:W3CDTF">2006-08-16T00:00:00Z</dcterms:created>
  <dcterms:modified xsi:type="dcterms:W3CDTF">2024-12-03T14:01:52Z</dcterms:modified>
  <cp:category/>
  <dc:identifier>DAGKdR2DXUk</dc:identifier>
  <cp:contentStatus/>
  <dc:language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0x0101004A71E891A511D040A52CA52D008DEB36</vt:lpwstr>
  </property>
</Properties>
</file>